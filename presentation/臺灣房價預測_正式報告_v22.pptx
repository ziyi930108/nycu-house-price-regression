
<file path=[Content_Types].xml><?xml version="1.0" encoding="utf-8"?>
<Types xmlns="http://schemas.openxmlformats.org/package/2006/content-types">
  <Default Extension="xml" ContentType="application/vnd.openxmlformats-package.core-properties+xml"/>
  <Default Extension="jpeg" ContentType="image/jpe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slides/charts/chart1.xml" ContentType="application/vnd.openxmlformats-officedocument.drawingml.chart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slides/charts/chart2.xml" ContentType="application/vnd.openxmlformats-officedocument.drawingml.chart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slides/charts/chart3.xml" ContentType="application/vnd.openxmlformats-officedocument.drawingml.chart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slides/charts/chart4.xml" ContentType="application/vnd.openxmlformats-officedocument.drawingml.chart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  <Default Extension="xlsx" ContentType="application/vnd.openxmlformats-officedocument.spreadsheetml.sheet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648656a5557643e5" /><Relationship Type="http://schemas.openxmlformats.org/officeDocument/2006/relationships/extended-properties" Target="/docProps/app.xml" Id="R114257e132864b7c" /><Relationship Type="http://schemas.openxmlformats.org/officeDocument/2006/relationships/officeDocument" Target="/ppt/presentation.xml" Id="R4f0c20a7b56945af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f179163807b446a0"/>
  </p:sldMasterIdLst>
  <p:notesMasterIdLst>
    <p:notesMasterId xmlns:r="http://schemas.openxmlformats.org/officeDocument/2006/relationships" r:id="R8d7a60e6d20847ce"/>
  </p:notesMasterIdLst>
  <p:sldIdLst>
    <p:sldId xmlns:r="http://schemas.openxmlformats.org/officeDocument/2006/relationships" id="256" r:id="R256ace0bf8e8436c"/>
    <p:sldId xmlns:r="http://schemas.openxmlformats.org/officeDocument/2006/relationships" id="257" r:id="Rd23b62c045b54c73"/>
    <p:sldId xmlns:r="http://schemas.openxmlformats.org/officeDocument/2006/relationships" id="258" r:id="R2038e4c60ba24381"/>
    <p:sldId xmlns:r="http://schemas.openxmlformats.org/officeDocument/2006/relationships" id="259" r:id="Rd860835c0ab5484f"/>
    <p:sldId xmlns:r="http://schemas.openxmlformats.org/officeDocument/2006/relationships" id="260" r:id="Rc494588fdc6f4171"/>
    <p:sldId xmlns:r="http://schemas.openxmlformats.org/officeDocument/2006/relationships" id="261" r:id="R6c2d84cdad6a4428"/>
    <p:sldId xmlns:r="http://schemas.openxmlformats.org/officeDocument/2006/relationships" id="262" r:id="R1fe5977933974d29"/>
    <p:sldId xmlns:r="http://schemas.openxmlformats.org/officeDocument/2006/relationships" id="263" r:id="Rd22b3f97b83848b8"/>
    <p:sldId xmlns:r="http://schemas.openxmlformats.org/officeDocument/2006/relationships" id="264" r:id="Rb3c94690af4f45e2"/>
    <p:sldId xmlns:r="http://schemas.openxmlformats.org/officeDocument/2006/relationships" id="265" r:id="R95e0b20c3b324f4c"/>
    <p:sldId xmlns:r="http://schemas.openxmlformats.org/officeDocument/2006/relationships" id="266" r:id="Rd8811302f5c145b8"/>
    <p:sldId xmlns:r="http://schemas.openxmlformats.org/officeDocument/2006/relationships" id="267" r:id="Rfeeb183de15c4140"/>
    <p:sldId xmlns:r="http://schemas.openxmlformats.org/officeDocument/2006/relationships" id="268" r:id="Reb8bef58293b4e5a"/>
    <p:sldId xmlns:r="http://schemas.openxmlformats.org/officeDocument/2006/relationships" id="269" r:id="R28fc6784900c4afd"/>
    <p:sldId xmlns:r="http://schemas.openxmlformats.org/officeDocument/2006/relationships" id="270" r:id="Red772d1d2f8c4cd2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b2dafac82dda4ea0" /><Relationship Type="http://schemas.openxmlformats.org/officeDocument/2006/relationships/slideMaster" Target="/ppt/slideMasters/slideMaster1.xml" Id="Rf179163807b446a0" /><Relationship Type="http://schemas.openxmlformats.org/officeDocument/2006/relationships/notesMaster" Target="/ppt/notesMasters/notesMaster1.xml" Id="R8d7a60e6d20847ce" /><Relationship Type="http://schemas.openxmlformats.org/officeDocument/2006/relationships/presProps" Target="/ppt/presProps.xml" Id="R37bbfd20d83e46a2" /><Relationship Type="http://schemas.openxmlformats.org/officeDocument/2006/relationships/tableStyles" Target="/ppt/tableStyles.xml" Id="R8cccf7e1c17043bc" /><Relationship Type="http://schemas.openxmlformats.org/officeDocument/2006/relationships/slide" Target="/ppt/slides/slide1.xml" Id="R256ace0bf8e8436c" /><Relationship Type="http://schemas.openxmlformats.org/officeDocument/2006/relationships/slide" Target="/ppt/slides/slide2.xml" Id="Rd23b62c045b54c73" /><Relationship Type="http://schemas.openxmlformats.org/officeDocument/2006/relationships/slide" Target="/ppt/slides/slide3.xml" Id="R2038e4c60ba24381" /><Relationship Type="http://schemas.openxmlformats.org/officeDocument/2006/relationships/slide" Target="/ppt/slides/slide4.xml" Id="Rd860835c0ab5484f" /><Relationship Type="http://schemas.openxmlformats.org/officeDocument/2006/relationships/slide" Target="/ppt/slides/slide5.xml" Id="Rc494588fdc6f4171" /><Relationship Type="http://schemas.openxmlformats.org/officeDocument/2006/relationships/slide" Target="/ppt/slides/slide6.xml" Id="R6c2d84cdad6a4428" /><Relationship Type="http://schemas.openxmlformats.org/officeDocument/2006/relationships/slide" Target="/ppt/slides/slide7.xml" Id="R1fe5977933974d29" /><Relationship Type="http://schemas.openxmlformats.org/officeDocument/2006/relationships/slide" Target="/ppt/slides/slide8.xml" Id="Rd22b3f97b83848b8" /><Relationship Type="http://schemas.openxmlformats.org/officeDocument/2006/relationships/slide" Target="/ppt/slides/slide9.xml" Id="Rb3c94690af4f45e2" /><Relationship Type="http://schemas.openxmlformats.org/officeDocument/2006/relationships/slide" Target="/ppt/slides/slide10.xml" Id="R95e0b20c3b324f4c" /><Relationship Type="http://schemas.openxmlformats.org/officeDocument/2006/relationships/slide" Target="/ppt/slides/slide11.xml" Id="Rd8811302f5c145b8" /><Relationship Type="http://schemas.openxmlformats.org/officeDocument/2006/relationships/slide" Target="/ppt/slides/slide12.xml" Id="Rfeeb183de15c4140" /><Relationship Type="http://schemas.openxmlformats.org/officeDocument/2006/relationships/slide" Target="/ppt/slides/slide13.xml" Id="Reb8bef58293b4e5a" /><Relationship Type="http://schemas.openxmlformats.org/officeDocument/2006/relationships/slide" Target="/ppt/slides/slide14.xml" Id="R28fc6784900c4afd" /><Relationship Type="http://schemas.openxmlformats.org/officeDocument/2006/relationships/slide" Target="/ppt/slides/slide15.xml" Id="Red772d1d2f8c4cd2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1f9992aaa32c478e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c5b0eb77940b4e8f" /><Relationship Type="http://schemas.openxmlformats.org/officeDocument/2006/relationships/notesMaster" Target="/ppt/notesMasters/notesMaster1.xml" Id="Rc259c213a9264af8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b72118b07a81452c" /><Relationship Type="http://schemas.openxmlformats.org/officeDocument/2006/relationships/notesMaster" Target="/ppt/notesMasters/notesMaster1.xml" Id="Rb695ac7887b14caf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00ed0707fe894e01" /><Relationship Type="http://schemas.openxmlformats.org/officeDocument/2006/relationships/notesMaster" Target="/ppt/notesMasters/notesMaster1.xml" Id="Rb9767b50d2434195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847a7050d373419e" /><Relationship Type="http://schemas.openxmlformats.org/officeDocument/2006/relationships/notesMaster" Target="/ppt/notesMasters/notesMaster1.xml" Id="Rabb6a2385aa1474b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6a631cf89e3441ba" /><Relationship Type="http://schemas.openxmlformats.org/officeDocument/2006/relationships/notesMaster" Target="/ppt/notesMasters/notesMaster1.xml" Id="R042c9740f73c4581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a6d9940e4a344596" /><Relationship Type="http://schemas.openxmlformats.org/officeDocument/2006/relationships/notesMaster" Target="/ppt/notesMasters/notesMaster1.xml" Id="R54149df5864d4c52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21a1a94d9b754f4f" /><Relationship Type="http://schemas.openxmlformats.org/officeDocument/2006/relationships/notesMaster" Target="/ppt/notesMasters/notesMaster1.xml" Id="Rc643f8e47c9f4d8f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ddf0015e823f43c9" /><Relationship Type="http://schemas.openxmlformats.org/officeDocument/2006/relationships/notesMaster" Target="/ppt/notesMasters/notesMaster1.xml" Id="Rd192099664784684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eb75a66ebdb04e56" /><Relationship Type="http://schemas.openxmlformats.org/officeDocument/2006/relationships/notesMaster" Target="/ppt/notesMasters/notesMaster1.xml" Id="R4b29d5e0f1734602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1918ddc8eba341fc" /><Relationship Type="http://schemas.openxmlformats.org/officeDocument/2006/relationships/notesMaster" Target="/ppt/notesMasters/notesMaster1.xml" Id="R8feb044f8c8a4e97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07e4cac5a8a3473d" /><Relationship Type="http://schemas.openxmlformats.org/officeDocument/2006/relationships/notesMaster" Target="/ppt/notesMasters/notesMaster1.xml" Id="R34ae206b63844fb1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3e1c7db6075842c3" /><Relationship Type="http://schemas.openxmlformats.org/officeDocument/2006/relationships/notesMaster" Target="/ppt/notesMasters/notesMaster1.xml" Id="R328a393235624902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5f5d5b6b62ea46a8" /><Relationship Type="http://schemas.openxmlformats.org/officeDocument/2006/relationships/notesMaster" Target="/ppt/notesMasters/notesMaster1.xml" Id="Rf6bca2563df04cea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24473da1af9d4d6d" /><Relationship Type="http://schemas.openxmlformats.org/officeDocument/2006/relationships/notesMaster" Target="/ppt/notesMasters/notesMaster1.xml" Id="Rd84f1315e394495e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9700eb0b95dc46c0" /><Relationship Type="http://schemas.openxmlformats.org/officeDocument/2006/relationships/notesMaster" Target="/ppt/notesMasters/notesMaster1.xml" Id="R6d6734a039644bba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建議時間：20 秒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本專題預測每一筆房屋交易的總價。我們選定一套模型作為最終提交，接下來依序說明資料處理、預測方法、評估結果，以及程式如何重新產生提交檔。目標是預測連續的價格數字，因此這是監督式回歸問題。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資料來源（不必口述）</a:t>
            </a:r>
          </a:p>
          <a:p xmlns:a="http://schemas.openxmlformats.org/drawingml/2006/main">
            <a:r>
              <a:t>REPORT.md，第 2 至 4 節</a:t>
            </a:r>
          </a:p>
          <a:p xmlns:a="http://schemas.openxmlformats.org/drawingml/2006/main">
            <a:r>
              <a:t>Cover photograph: Markus Winkler, Taipei, Taiwan. https://unsplash.com/photos/gray-concrete-building-vztbnMlTDNs</a:t>
            </a:r>
          </a:p>
          <a:p xmlns:a="http://schemas.openxmlformats.org/drawingml/2006/main">
            <a:r>
              <a:t>Photo used under the Unsplash License as contextual imagery only.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建議時間：40 秒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例如一筆交易真價一千萬元，我們預測一千一百萬元，絕對誤差就是一百萬元。把所有評分交易的誤差平均，就是 MAE，越低越好。這是金額誤差，不是準確率。公開分數約使用 test 的三成，Private 使用其餘七成，與另外提供的 valid 檔案不同。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資料來源（不必口述）</a:t>
            </a:r>
          </a:p>
          <a:p xmlns:a="http://schemas.openxmlformats.org/drawingml/2006/main">
            <a:r>
              <a:t>REPORT.md，第 1 節</a:t>
            </a:r>
          </a:p>
          <a:p xmlns:a="http://schemas.openxmlformats.org/drawingml/2006/main">
            <a:r>
              <a:t>evidence/outputs/kaggle_feedback/public_submissions_v19_v24_20260927.json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建議時間：45 秒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原 train 有四十五萬五千七百八十七列，移除混入的三列英文表頭，再排除五百二十九列完全重複交易。最終加入 valid 並移除二十八列跨集重複，得到四十六萬七千二百二十一筆。重複判定包含價格、排除編號，不是按照相同 ID 刪除。年度回測則另按時間切分且不混 valid。test 四萬七千零七十三筆全部保留，依 sample 順序輸出。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資料來源（不必口述）</a:t>
            </a:r>
          </a:p>
          <a:p xmlns:a="http://schemas.openxmlformats.org/drawingml/2006/main">
            <a:r>
              <a:t>REPORT.md，第 2 至 4 節</a:t>
            </a:r>
          </a:p>
          <a:p xmlns:a="http://schemas.openxmlformats.org/drawingml/2006/main">
            <a:r>
              <a:t>research/src/prepare_data.py</a:t>
            </a:r>
          </a:p>
          <a:p xmlns:a="http://schemas.openxmlformats.org/drawingml/2006/main">
            <a:r>
              <a:t>research/src/model_common.py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建議時間：40 秒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共同基礎有八十七個特徵，包括民國日期、中文樓層、地址與面積比例等。單價 CatBoost 再加八個道路地理欄位，共九十五欄，其中二十三欄為類別。其他模型有自己的編碼維度。編號、目標價格、完整備註與解約情形不作輸入。價格標籤只來自課程資料，OSM 道路地圖沒有提供成交價格，也沒有查詢內政部的 test 答案。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資料來源（不必口述）</a:t>
            </a:r>
          </a:p>
          <a:p xmlns:a="http://schemas.openxmlformats.org/drawingml/2006/main">
            <a:r>
              <a:t>REPORT.md，第 2 至 4 節</a:t>
            </a:r>
          </a:p>
          <a:p xmlns:a="http://schemas.openxmlformats.org/drawingml/2006/main">
            <a:r>
              <a:t>research/src/house_features.py</a:t>
            </a:r>
          </a:p>
          <a:p xmlns:a="http://schemas.openxmlformats.org/drawingml/2006/main">
            <a:r>
              <a:t>evidence/data_external/geography/ATTRIBUTION.md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建議時間：55 秒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總價可以從單價乘上面積來理解，所以我們先建立單價分支，學習單位面積價格後乘回面積。對數分支結合直接總價與對數總價，神經網路則用面積連結和價格先驗倍率提供不同的非線性預測。共有三個 CatBoost、一個 LightGBM 和兩個 NN，其中同一個 LightGBM 在三條分支共用，所以模型總數是六個。所有模型先換回總價元，再利用 fit 中的建案、地址或道路等可比成交與時間趨勢修正，支持較弱時補充固定的空間修正。最後才組合三條分支。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資料來源（不必口述）</a:t>
            </a:r>
          </a:p>
          <a:p xmlns:a="http://schemas.openxmlformats.org/drawingml/2006/main">
            <a:r>
              <a:t>REPORT.md，第 2 至 4 節</a:t>
            </a:r>
          </a:p>
          <a:p xmlns:a="http://schemas.openxmlformats.org/drawingml/2006/main">
            <a:r>
              <a:t>src/predict_v22.py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建議時間：50 秒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房價會隨時間改變，單價 CatBoost 因此採三百六十五天半衰期的日期權重。同一 fit 內相差一年的有效交易，較早一筆日期權重約是一半。圖上是正規化前的比例，實際權重會正規化後再乘面積權重。面積權重把單價誤差對齊總價誤差，日期權重提高近期成交在訓練中的影響。舊資料仍保留。這張圖只在說明單價模型的設計，其他分支各有其訓練目標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資料來源（不必口述）</a:t>
            </a:r>
          </a:p>
          <a:p xmlns:a="http://schemas.openxmlformats.org/drawingml/2006/main">
            <a:r>
              <a:t>REPORT.md，第 2 至 4 節</a:t>
            </a:r>
          </a:p>
          <a:p xmlns:a="http://schemas.openxmlformats.org/drawingml/2006/main">
            <a:r>
              <a:t>research/src/round79_recency_unit.py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建議時間：45 秒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這是方便理解的假設例子，不是真實交易。假設三條分支修正後分別預測一千兩百萬、一千三百二十萬和一千九百萬，排序後的中間值是一千三百二十萬，所以它成為這一筆的最終預測。下一筆交易的中間值可能來自另一條分支。這樣能降低單條極端輸出的影響，但若三條一起偏高或偏低，中位數也無法消除共同錯誤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資料來源（不必口述）</a:t>
            </a:r>
          </a:p>
          <a:p xmlns:a="http://schemas.openxmlformats.org/drawingml/2006/main">
            <a:r>
              <a:t>REPORT.md，第 2 至 4 節</a:t>
            </a:r>
          </a:p>
          <a:p xmlns:a="http://schemas.openxmlformats.org/drawingml/2006/main">
            <a:r>
              <a:t>Illustrative numbers only; not model predictions or evaluation evidence.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建議時間：45 秒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我們用三個完整年度做時間回測。每次只用評分起點以前的 train，再預測接下來一年。模型、編碼、價格先驗與成交參考都必須按同一期 fit 建立，避免未來的 query 價格洩漏。回測不加入另外提供的 valid。這些歷史時間窗曾多次參與研究，較晚的訓練也包含較早的評分年度，因此它們不是三次獨立盲測。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資料來源（不必口述）</a:t>
            </a:r>
          </a:p>
          <a:p xmlns:a="http://schemas.openxmlformats.org/drawingml/2006/main">
            <a:r>
              <a:t>REPORT.md，第 5、7 節</a:t>
            </a:r>
          </a:p>
          <a:p xmlns:a="http://schemas.openxmlformats.org/drawingml/2006/main">
            <a:r>
              <a:t>evidence/outputs/round79/plan.json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建議時間：40 秒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固定同一套方法，在三個時間切分分別重建模型與狀態後，整體 MAE 依序約二百三十點九四萬、一百四十點七四萬與一百三十八點三二萬元。這三根柱子的評分交易不同，房屋組成與市場狀態也不同，所以不能把後兩期較低直接解釋成模型改版的進步。它們描述這套方法在不同年度的誤差範圍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資料來源（不必口述）</a:t>
            </a:r>
          </a:p>
          <a:p xmlns:a="http://schemas.openxmlformats.org/drawingml/2006/main">
            <a:r>
              <a:t>REPORT.md，第 5、7 節</a:t>
            </a:r>
          </a:p>
          <a:p xmlns:a="http://schemas.openxmlformats.org/drawingml/2006/main">
            <a:r>
              <a:t>evidence/outputs/round79/results.json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建議時間：40 秒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這套模型提交到 Kaggle 後，Public MAE 是一百九十九萬八千五百六十八點五七零六元，約一百九十九點八六萬元。意思是在公開評分的交易中，平均絕對總價誤差約為這個金額，不代表每筆都錯一樣多。這是 test 的一部分，與前頁三個歷史年度不同，不能把它們的分數直接混算。Private 使用其餘約七成，最終分數還不知道。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資料來源（不必口述）</a:t>
            </a:r>
          </a:p>
          <a:p xmlns:a="http://schemas.openxmlformats.org/drawingml/2006/main">
            <a:r>
              <a:t>evidence/outputs/kaggle_feedback/public_submissions_v19_v24_20260927.json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建議時間：45 秒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這個方法仍有幾項限制。總價 MAE 容易受高價或大面積交易的巨大誤差影響，因此不能只看全體平均，還要檢查價格群和新舊建案。其次，歷史時間窗已多次參與選型，會累積對驗證資料的適應，bootstrap 也不能消除這個偏差。最後，道路位置不是精確門牌，新建案或缺失地址可能找不到可靠參考。這些限制不會因為我們已決定提交模型而消失。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資料來源（不必口述）</a:t>
            </a:r>
          </a:p>
          <a:p xmlns:a="http://schemas.openxmlformats.org/drawingml/2006/main">
            <a:r>
              <a:t>REPORT.md，第 5、7 節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建議時間：50 秒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我們已把推論整理成單一程式入口。從原 test Excel 重新產生特徵，搭配保存的地理、編碼與價格先驗，真正載入四個樹模型及兩個神經網路，再重算三條分支。四萬七千零七十三筆未取整預測全部一致，最大差是零，最終 CSV 的完整 SHA256 也相同。這個入口在同一台電腦既有環境耗時八十四點七四秒，並非訓練時間。全新安裝、從零重訓與地理重建尚未驗證。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資料來源（不必口述）</a:t>
            </a:r>
          </a:p>
          <a:p xmlns:a="http://schemas.openxmlformats.org/drawingml/2006/main">
            <a:r>
              <a:t>evidence/reproduction/integration_verified.json</a:t>
            </a:r>
          </a:p>
          <a:p xmlns:a="http://schemas.openxmlformats.org/drawingml/2006/main">
            <a:r>
              <a:t>docs/REPRODUCIBILITY.md</a:t>
            </a:r>
          </a:p>
          <a:p xmlns:a="http://schemas.openxmlformats.org/drawingml/2006/main">
            <a:r>
              <a:t>src/predict_v22.py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建議時間：30 秒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本研究將房價預測視為總價回歸，結合特徵處理、近期成交加權和不同價格表示，再逐筆取三條分支的中位數。目前 Public MAE 約一百九十九點八六萬元，Private 尚未知。所選模型的推論程式、正式報告及提交檔身分都有保存。畫面是私人 GitHub 儲存庫，閱覽需要授權。謝謝。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資料來源（不必口述）</a:t>
            </a:r>
          </a:p>
          <a:p xmlns:a="http://schemas.openxmlformats.org/drawingml/2006/main">
            <a:r>
              <a:t>REPORT.md</a:t>
            </a:r>
          </a:p>
          <a:p xmlns:a="http://schemas.openxmlformats.org/drawingml/2006/main">
            <a:r>
              <a:t>README.md</a:t>
            </a:r>
          </a:p>
          <a:p xmlns:a="http://schemas.openxmlformats.org/drawingml/2006/main">
            <a:r>
              <a:t>https://github.com/ziyi930108/nycu-house-price-regression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建議時間：問答時使用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C_unit 是近期加權單價 CatBoost，L_unit 是單價 LightGBM 還原總價。C_raw 與 C_log 是直接總價和對數 CatBoost，N_area 與 N_prior 是面積連結和先驗倍率神經網路。所有符號已換回元。R 是 fit 中成交參考與時間趨勢，S 接收原基準及參考結果做空間修正。逐分支修正後才取中位數，最後不再乘面積或重複修正。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資料來源（不必口述）</a:t>
            </a:r>
          </a:p>
          <a:p xmlns:a="http://schemas.openxmlformats.org/drawingml/2006/main">
            <a:r>
              <a:t>REPORT.md，第 2 至 4 節</a:t>
            </a:r>
          </a:p>
          <a:p xmlns:a="http://schemas.openxmlformats.org/drawingml/2006/main">
            <a:r>
              <a:t>src/predict_v22.py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建議時間：問答時使用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有效面積先用正且有限的建物面積，再用車位面積，仍無效才取一。這是數值縮放規則，不是宣稱實際室內面積等於一。CatBoost 使用兩千九百九十九次迭代、深度八、學習率零點零六五、MAE 和 seed 四十二。它不使用 query 價格作訓練、eval_set 或 early stopping。模型推論入口已全量驗證，完整從零重訓仍是不同的工作範圍。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資料來源（不必口述）</a:t>
            </a:r>
          </a:p>
          <a:p xmlns:a="http://schemas.openxmlformats.org/drawingml/2006/main">
            <a:r>
              <a:t>REPORT.md，第 2 至 4 節</a:t>
            </a:r>
          </a:p>
          <a:p xmlns:a="http://schemas.openxmlformats.org/drawingml/2006/main">
            <a:r>
              <a:t>research/src/round79_recency_unit.py</a:t>
            </a:r>
          </a:p>
          <a:p xmlns:a="http://schemas.openxmlformats.org/drawingml/2006/main">
            <a:r>
              <a:t>src/predict_v22.py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5f1a53ff4dbc47c5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cf4fe996b1104cfe" /><Relationship Type="http://schemas.openxmlformats.org/officeDocument/2006/relationships/slideLayout" Target="/ppt/slideLayouts/slideLayout1.xml" Id="Rc353ef50ebf14df7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c353ef50ebf14df7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09ef1db838d4d0c" /><Relationship Type="http://schemas.openxmlformats.org/officeDocument/2006/relationships/image" Target="/ppt/media/image.jpeg" Id="Rca02be455ac24704" /><Relationship Type="http://schemas.openxmlformats.org/officeDocument/2006/relationships/notesSlide" Target="/ppt/notesSlides/notesSlide1.xml" Id="R356e34170eee4e22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3ac4f5d19ab4597" /><Relationship Type="http://schemas.openxmlformats.org/officeDocument/2006/relationships/chart" Target="/ppt/slides/charts/chart1.xml" Id="R80103ba29cae4ef7" /><Relationship Type="http://schemas.openxmlformats.org/officeDocument/2006/relationships/notesSlide" Target="/ppt/notesSlides/notesSlide2.xml" Id="Rfa77a7199b554e9f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79bab8336e04582" /><Relationship Type="http://schemas.openxmlformats.org/officeDocument/2006/relationships/notesSlide" Target="/ppt/notesSlides/notesSlide3.xml" Id="R7938e9174de84bbd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b6cbea8eb4d4f45" /><Relationship Type="http://schemas.openxmlformats.org/officeDocument/2006/relationships/notesSlide" Target="/ppt/notesSlides/notesSlide4.xml" Id="R1363b8fecf984512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d67ec1c9cf341a4" /><Relationship Type="http://schemas.openxmlformats.org/officeDocument/2006/relationships/notesSlide" Target="/ppt/notesSlides/notesSlide5.xml" Id="R392293ddc6f94d7b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14feaac0ac844d3" /><Relationship Type="http://schemas.openxmlformats.org/officeDocument/2006/relationships/chart" Target="/ppt/slides/charts/chart2.xml" Id="R985880dd40d3457c" /><Relationship Type="http://schemas.openxmlformats.org/officeDocument/2006/relationships/notesSlide" Target="/ppt/notesSlides/notesSlide6.xml" Id="Ree79403026634711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c35923f956b4b1e" /><Relationship Type="http://schemas.openxmlformats.org/officeDocument/2006/relationships/chart" Target="/ppt/slides/charts/chart3.xml" Id="R0cdda02f3d594abb" /><Relationship Type="http://schemas.openxmlformats.org/officeDocument/2006/relationships/notesSlide" Target="/ppt/notesSlides/notesSlide7.xml" Id="R894b6b84f6cc4071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c887b3fdfdd47b0" /><Relationship Type="http://schemas.openxmlformats.org/officeDocument/2006/relationships/notesSlide" Target="/ppt/notesSlides/notesSlide8.xml" Id="Rd49039bc2fe24bd0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634a363cb6c4a88" /><Relationship Type="http://schemas.openxmlformats.org/officeDocument/2006/relationships/chart" Target="/ppt/slides/charts/chart4.xml" Id="R56a4e8e5e495416e" /><Relationship Type="http://schemas.openxmlformats.org/officeDocument/2006/relationships/notesSlide" Target="/ppt/notesSlides/notesSlide9.xml" Id="Rfbffabd1e3394474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2c1ab549707406e" /><Relationship Type="http://schemas.openxmlformats.org/officeDocument/2006/relationships/notesSlide" Target="/ppt/notesSlides/notesSlide10.xml" Id="R90e1990b3736481a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ab54940f4fd4313" /><Relationship Type="http://schemas.openxmlformats.org/officeDocument/2006/relationships/notesSlide" Target="/ppt/notesSlides/notesSlide11.xml" Id="Rfa85ddd2a6094dba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d1b351f29394412" /><Relationship Type="http://schemas.openxmlformats.org/officeDocument/2006/relationships/notesSlide" Target="/ppt/notesSlides/notesSlide12.xml" Id="R7a1479e5ef074c22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f049b98d1414298" /><Relationship Type="http://schemas.openxmlformats.org/officeDocument/2006/relationships/notesSlide" Target="/ppt/notesSlides/notesSlide13.xml" Id="Ra65bcaa71c4d4ed4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08bea83367d44bb" /><Relationship Type="http://schemas.openxmlformats.org/officeDocument/2006/relationships/notesSlide" Target="/ppt/notesSlides/notesSlide14.xml" Id="R25fa75a568ab4b2c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1e8306287844ba2" /><Relationship Type="http://schemas.openxmlformats.org/officeDocument/2006/relationships/notesSlide" Target="/ppt/notesSlides/notesSlide15.xml" Id="R3c9bb5f6758c4f4b" /></Relationships>
</file>

<file path=ppt/slides/charts/_rels/chart1.xml.rels><Relationships xmlns="http://schemas.openxmlformats.org/package/2006/relationships"><Relationship Id="rIdChartSnapshot1" Type="http://schemas.openxmlformats.org/officeDocument/2006/relationships/package" Target="../../embeddings/chart-data-snapshot-001.xlsx"/></Relationships>
</file>

<file path=ppt/slides/charts/_rels/chart2.xml.rels><Relationships xmlns="http://schemas.openxmlformats.org/package/2006/relationships"><Relationship Id="rIdChartSnapshot1" Type="http://schemas.openxmlformats.org/officeDocument/2006/relationships/package" Target="../../embeddings/chart-data-snapshot-002.xlsx"/></Relationships>
</file>

<file path=ppt/slides/charts/_rels/chart3.xml.rels><Relationships xmlns="http://schemas.openxmlformats.org/package/2006/relationships"><Relationship Id="rIdChartSnapshot1" Type="http://schemas.openxmlformats.org/officeDocument/2006/relationships/package" Target="../../embeddings/chart-data-snapshot-003.xlsx"/></Relationships>
</file>

<file path=ppt/slides/charts/_rels/chart4.xml.rels><Relationships xmlns="http://schemas.openxmlformats.org/package/2006/relationships"><Relationship Id="rIdChartSnapshot1" Type="http://schemas.openxmlformats.org/officeDocument/2006/relationships/package" Target="../../embeddings/chart-data-snapshot-004.xlsx"/></Relationships>
</file>

<file path=ppt/slides/charts/chart1.xml><?xml version="1.0" encoding="utf-8"?>
<c:chartSpace xmlns:c="http://schemas.openxmlformats.org/drawingml/2006/chart" xmlns:r="http://schemas.openxmlformats.org/officeDocument/2006/relationships">
  <c:lang val="en-US"/>
  <c:chart>
    <c:plotArea>
      <c:doughnutChart>
        <c:ser>
          <c:idx val="0"/>
          <c:order val="0"/>
          <c:tx>
            <c:v>測試資料占比</c:v>
          </c:tx>
          <c:dPt>
            <c:idx val="0"/>
            <c:spPr>
              <a:solidFill xmlns:a="http://schemas.openxmlformats.org/drawingml/2006/main">
                <a:srgbClr val="C8DC9E"/>
              </a:solidFill>
            </c:spPr>
          </c:dPt>
          <c:dPt>
            <c:idx val="1"/>
            <c:spPr>
              <a:solidFill xmlns:a="http://schemas.openxmlformats.org/drawingml/2006/main">
                <a:srgbClr val="86B09A"/>
              </a:solidFill>
            </c:spPr>
          </c:dPt>
          <c:cat>
            <c:strRef>
              <c:f>'Chart Data'!$A$2:$A$3</c:f>
              <c:strCache>
                <c:ptCount val="2"/>
                <c:pt idx="0">
                  <c:v>Public 約 30%</c:v>
                </c:pt>
                <c:pt idx="1">
                  <c:v>Private 約 70%</c:v>
                </c:pt>
              </c:strCache>
            </c:strRef>
          </c:cat>
          <c:val>
            <c:numRef>
              <c:f>'Chart Data'!$B$2:$B$3</c:f>
              <c:numCache>
                <c:formatCode>General</c:formatCode>
                <c:ptCount val="2"/>
                <c:pt idx="0">
                  <c:v>30</c:v>
                </c:pt>
                <c:pt idx="1">
                  <c:v>70</c:v>
                </c:pt>
              </c:numCache>
            </c:numRef>
          </c: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1950" b="1">
                  <a:solidFill>
                    <a:srgbClr val="203D35"/>
                  </a:solidFill>
                  <a:latin typeface="Microsoft JhengHei"/>
                  <a:ea typeface="Microsoft JhengHei"/>
                  <a:cs typeface="Microsoft JhengHei"/>
                </a:defRPr>
              </a:pPr>
            </a:p>
          </c:txPr>
          <c:showLegendKey val="0"/>
          <c:showVal val="0"/>
          <c:showCatName val="0"/>
          <c:showSerName val="0"/>
          <c:showPercent val="1"/>
          <c:showBubbleSize val="0"/>
          <c:showLeaderLines val="0"/>
        </c:dLbls>
        <c:holeSize val="64"/>
      </c:doughnutChart>
    </c:plotArea>
    <c:legend>
      <c:legendPos val="b"/>
      <c:overlay val="0"/>
      <c:txPr>
        <a:bodyPr xmlns:a="http://schemas.openxmlformats.org/drawingml/2006/main" anchorCtr="1"/>
        <a:lstStyle xmlns:a="http://schemas.openxmlformats.org/drawingml/2006/main"/>
        <a:p xmlns:a="http://schemas.openxmlformats.org/drawingml/2006/main">
          <a:pPr>
            <a:defRPr sz="1650">
              <a:solidFill>
                <a:srgbClr val="34483F"/>
              </a:solidFill>
              <a:latin typeface="Microsoft JhengHei"/>
              <a:ea typeface="Microsoft JhengHei"/>
              <a:cs typeface="Microsoft JhengHei"/>
            </a:defRPr>
          </a:pPr>
        </a:p>
      </c:txPr>
    </c:legend>
    <c:plotVisOnly val="1"/>
  </c:chart>
  <c:spPr>
    <a:noFill xmlns:a="http://schemas.openxmlformats.org/drawingml/2006/main"/>
    <a:ln xmlns:a="http://schemas.openxmlformats.org/drawingml/2006/main" w="0">
      <a:noFill/>
    </a:ln>
  </c:spPr>
  <c:externalData r:id="rIdChartSnapshot1">
    <c:autoUpdate val="0"/>
  </c:externalData>
</c:chartSpace>
</file>

<file path=ppt/slides/charts/chart2.xml><?xml version="1.0" encoding="utf-8"?>
<c:chartSpace xmlns:c="http://schemas.openxmlformats.org/drawingml/2006/chart" xmlns:r="http://schemas.openxmlformats.org/officeDocument/2006/relationships">
  <c:lang val="en-US"/>
  <c:chart>
    <c:plotArea>
      <c:lineChart>
        <c:grouping val="standard"/>
        <c:ser>
          <c:idx val="0"/>
          <c:order val="0"/>
          <c:tx>
            <c:v>相對權重</c:v>
          </c:tx>
          <c:spPr>
            <a:ln xmlns:a="http://schemas.openxmlformats.org/drawingml/2006/main" w="38100">
              <a:solidFill>
                <a:srgbClr val="31644F"/>
              </a:solidFill>
            </a:ln>
          </c:spPr>
          <c:marker>
            <c:symbol val="circle"/>
            <c:size val="9"/>
            <c:spPr>
              <a:solidFill xmlns:a="http://schemas.openxmlformats.org/drawingml/2006/main">
                <a:srgbClr val="31644F"/>
              </a:solidFill>
            </c:spPr>
          </c:marker>
          <c:cat>
            <c:strRef>
              <c:f>'Chart Data'!$A$2:$A$5</c:f>
              <c:strCache>
                <c:ptCount val="4"/>
                <c:pt idx="0">
                  <c:v>近期</c:v>
                </c:pt>
                <c:pt idx="1">
                  <c:v>早 1 年</c:v>
                </c:pt>
                <c:pt idx="2">
                  <c:v>早 2 年</c:v>
                </c:pt>
                <c:pt idx="3">
                  <c:v>早 3 年</c:v>
                </c:pt>
              </c:strCache>
            </c:strRef>
          </c:cat>
          <c:val>
            <c:numRef>
              <c:f>'Chart Data'!$B$2:$B$5</c:f>
              <c:numCache>
                <c:formatCode>0.###</c:formatCode>
                <c:ptCount val="4"/>
                <c:pt idx="0">
                  <c:v>1</c:v>
                </c:pt>
                <c:pt idx="1">
                  <c:v>0.5</c:v>
                </c:pt>
                <c:pt idx="2">
                  <c:v>0.25</c:v>
                </c:pt>
                <c:pt idx="3">
                  <c:v>0.125</c:v>
                </c:pt>
              </c:numCache>
            </c:numRef>
          </c: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1725" b="1">
                  <a:solidFill>
                    <a:srgbClr val="31644F"/>
                  </a:solidFill>
                  <a:latin typeface="Microsoft JhengHei"/>
                  <a:ea typeface="Microsoft JhengHei"/>
                  <a:cs typeface="Microsoft JhengHe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axId val="48650112"/>
        <c:axId val="48672768"/>
      </c:line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ABB7AC"/>
            </a:solidFill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725">
                <a:solidFill>
                  <a:srgbClr val="69776D"/>
                </a:solidFill>
                <a:latin typeface="Microsoft JhengHei"/>
                <a:ea typeface="Microsoft JhengHei"/>
                <a:cs typeface="Microsoft JhengHei"/>
              </a:defRPr>
            </a:pPr>
          </a:p>
        </c:txPr>
        <c:crossAx val="48672768"/>
      </c:catAx>
      <c:valAx>
        <c:axId val="48672768"/>
        <c:scaling>
          <c:orientation val="minMax"/>
          <c:max val="1"/>
          <c:min val="0"/>
        </c:scaling>
        <c:delete val="0"/>
        <c:axPos val="l"/>
        <c:majorGridlines>
          <c:spPr>
            <a:ln xmlns:a="http://schemas.openxmlformats.org/drawingml/2006/main" w="9525">
              <a:solidFill>
                <a:srgbClr val="D8DED2"/>
              </a:solidFill>
            </a:ln>
          </c:spPr>
        </c:majorGridlines>
        <c:numFmt formatCode="0.##"/>
        <c:majorTickMark val="none"/>
        <c:minorTickMark val="none"/>
        <c:spPr>
          <a:ln xmlns:a="http://schemas.openxmlformats.org/drawingml/2006/main" w="9525">
            <a:solidFill>
              <a:srgbClr val="ABB7AC"/>
            </a:solidFill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725">
                <a:solidFill>
                  <a:srgbClr val="69776D"/>
                </a:solidFill>
                <a:latin typeface="Microsoft JhengHei"/>
                <a:ea typeface="Microsoft JhengHei"/>
                <a:cs typeface="Microsoft JhengHei"/>
              </a:defRPr>
            </a:pPr>
          </a:p>
        </c:txPr>
        <c:crossAx val="48650112"/>
        <c:crossBetween val="between"/>
        <c:majorUnit val="0.25"/>
      </c:valAx>
      <c:spPr>
        <a:noFill xmlns:a="http://schemas.openxmlformats.org/drawingml/2006/main"/>
      </c:spPr>
    </c:plotArea>
    <c:plotVisOnly val="1"/>
  </c:chart>
  <c:spPr>
    <a:noFill xmlns:a="http://schemas.openxmlformats.org/drawingml/2006/main"/>
    <a:ln xmlns:a="http://schemas.openxmlformats.org/drawingml/2006/main" w="0">
      <a:noFill/>
    </a:ln>
  </c:spPr>
  <c:externalData r:id="rIdChartSnapshot1">
    <c:autoUpdate val="0"/>
  </c:externalData>
</c:chartSpace>
</file>

<file path=ppt/slides/charts/chart3.xml><?xml version="1.0" encoding="utf-8"?>
<c:chartSpace xmlns:c="http://schemas.openxmlformats.org/drawingml/2006/chart" xmlns:r="http://schemas.openxmlformats.org/officeDocument/2006/relationships">
  <c:lang val="en-US"/>
  <c:chart>
    <c:plotArea>
      <c:barChart>
        <c:barDir val="col"/>
        <c:grouping val="clustered"/>
        <c:varyColors val="0"/>
        <c:ser>
          <c:idx val="0"/>
          <c:order val="0"/>
          <c:tx>
            <c:v>假設預測</c:v>
          </c:tx>
          <c:spPr>
            <a:solidFill xmlns:a="http://schemas.openxmlformats.org/drawingml/2006/main">
              <a:srgbClr val="ABB7AC"/>
            </a:solidFill>
          </c:spPr>
          <c:dPt>
            <c:idx val="0"/>
            <c:invertIfNegative val="0"/>
            <c:spPr>
              <a:solidFill xmlns:a="http://schemas.openxmlformats.org/drawingml/2006/main">
                <a:srgbClr val="ABB7AC"/>
              </a:solidFill>
            </c:spPr>
          </c:dPt>
          <c:dPt>
            <c:idx val="1"/>
            <c:invertIfNegative val="0"/>
            <c:spPr>
              <a:solidFill xmlns:a="http://schemas.openxmlformats.org/drawingml/2006/main">
                <a:srgbClr val="31644F"/>
              </a:solidFill>
            </c:spPr>
          </c:dPt>
          <c:dPt>
            <c:idx val="2"/>
            <c:invertIfNegative val="0"/>
            <c:spPr>
              <a:solidFill xmlns:a="http://schemas.openxmlformats.org/drawingml/2006/main">
                <a:srgbClr val="ABB7AC"/>
              </a:solidFill>
            </c:spPr>
          </c:dPt>
          <c:cat>
            <c:strRef>
              <c:f>'Chart Data'!$A$2:$A$4</c:f>
              <c:strCache>
                <c:ptCount val="3"/>
                <c:pt idx="0">
                  <c:v>單價分支</c:v>
                </c:pt>
                <c:pt idx="1">
                  <c:v>對數分支</c:v>
                </c:pt>
                <c:pt idx="2">
                  <c:v>神經網路分支</c:v>
                </c:pt>
              </c:strCache>
            </c:strRef>
          </c:cat>
          <c:val>
            <c:numRef>
              <c:f>'Chart Data'!$B$2:$B$4</c:f>
              <c:numCache>
                <c:formatCode>#,##0</c:formatCode>
                <c:ptCount val="3"/>
                <c:pt idx="0">
                  <c:v>1200</c:v>
                </c:pt>
                <c:pt idx="1">
                  <c:v>1320</c:v>
                </c:pt>
                <c:pt idx="2">
                  <c:v>1900</c:v>
                </c:pt>
              </c:numCache>
            </c:numRef>
          </c: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1800" b="1">
                  <a:solidFill>
                    <a:srgbClr val="34483F"/>
                  </a:solidFill>
                  <a:latin typeface="Microsoft JhengHei"/>
                  <a:ea typeface="Microsoft JhengHei"/>
                  <a:cs typeface="Microsoft JhengHei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00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ABB7AC"/>
            </a:solidFill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725">
                <a:solidFill>
                  <a:srgbClr val="69776D"/>
                </a:solidFill>
                <a:latin typeface="Microsoft JhengHei"/>
                <a:ea typeface="Microsoft JhengHei"/>
                <a:cs typeface="Microsoft JhengHei"/>
              </a:defRPr>
            </a:pPr>
          </a:p>
        </c:txPr>
        <c:crossAx val="48672768"/>
      </c:catAx>
      <c:valAx>
        <c:axId val="48672768"/>
        <c:scaling>
          <c:orientation val="minMax"/>
          <c:max val="2200"/>
          <c:min val="0"/>
        </c:scaling>
        <c:delete val="0"/>
        <c:axPos val="l"/>
        <c:majorGridlines>
          <c:spPr>
            <a:ln xmlns:a="http://schemas.openxmlformats.org/drawingml/2006/main" w="9525">
              <a:solidFill>
                <a:srgbClr val="D8DED2"/>
              </a:solidFill>
            </a:ln>
          </c:spPr>
        </c:majorGridlines>
        <c:numFmt formatCode="#,##0"/>
        <c:majorTickMark val="none"/>
        <c:minorTickMark val="none"/>
        <c:spPr>
          <a:ln xmlns:a="http://schemas.openxmlformats.org/drawingml/2006/main" w="9525">
            <a:solidFill>
              <a:srgbClr val="ABB7AC"/>
            </a:solidFill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725">
                <a:solidFill>
                  <a:srgbClr val="69776D"/>
                </a:solidFill>
                <a:latin typeface="Microsoft JhengHei"/>
                <a:ea typeface="Microsoft JhengHei"/>
                <a:cs typeface="Microsoft JhengHei"/>
              </a:defRPr>
            </a:pPr>
          </a:p>
        </c:txPr>
        <c:crossAx val="48650112"/>
        <c:crossBetween val="between"/>
        <c:majorUnit val="500"/>
      </c:valAx>
      <c:spPr>
        <a:noFill xmlns:a="http://schemas.openxmlformats.org/drawingml/2006/main"/>
      </c:spPr>
    </c:plotArea>
    <c:plotVisOnly val="1"/>
  </c:chart>
  <c:spPr>
    <a:noFill xmlns:a="http://schemas.openxmlformats.org/drawingml/2006/main"/>
    <a:ln xmlns:a="http://schemas.openxmlformats.org/drawingml/2006/main" w="0">
      <a:noFill/>
    </a:ln>
  </c:spPr>
  <c:externalData r:id="rIdChartSnapshot1">
    <c:autoUpdate val="0"/>
  </c:externalData>
</c:chartSpace>
</file>

<file path=ppt/slides/charts/chart4.xml><?xml version="1.0" encoding="utf-8"?>
<c:chartSpace xmlns:c="http://schemas.openxmlformats.org/drawingml/2006/chart" xmlns:r="http://schemas.openxmlformats.org/officeDocument/2006/relationships">
  <c:lang val="en-US"/>
  <c:chart>
    <c:plotArea>
      <c:barChart>
        <c:barDir val="col"/>
        <c:grouping val="clustered"/>
        <c:varyColors val="0"/>
        <c:ser>
          <c:idx val="0"/>
          <c:order val="0"/>
          <c:tx>
            <c:v>提交模型的時間回測</c:v>
          </c:tx>
          <c:spPr>
            <a:solidFill xmlns:a="http://schemas.openxmlformats.org/drawingml/2006/main">
              <a:srgbClr val="31644F"/>
            </a:solidFill>
          </c:spPr>
          <c:cat>
            <c:strRef>
              <c:f>'Chart Data'!$A$2:$A$4</c:f>
              <c:strCache>
                <c:ptCount val="3"/>
                <c:pt idx="0">
                  <c:v>2021–2022</c:v>
                </c:pt>
                <c:pt idx="1">
                  <c:v>2022–2023</c:v>
                </c:pt>
                <c:pt idx="2">
                  <c:v>2023–2024</c:v>
                </c:pt>
              </c:strCache>
            </c:strRef>
          </c:cat>
          <c:val>
            <c:numRef>
              <c:f>'Chart Data'!$B$2:$B$4</c:f>
              <c:numCache>
                <c:formatCode>0.00</c:formatCode>
                <c:ptCount val="3"/>
                <c:pt idx="0">
                  <c:v>230.94</c:v>
                </c:pt>
                <c:pt idx="1">
                  <c:v>140.74</c:v>
                </c:pt>
                <c:pt idx="2">
                  <c:v>138.32</c:v>
                </c:pt>
              </c:numCache>
            </c:numRef>
          </c: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2025" b="1">
                  <a:solidFill>
                    <a:srgbClr val="34483F"/>
                  </a:solidFill>
                  <a:latin typeface="Microsoft JhengHei"/>
                  <a:ea typeface="Microsoft JhengHei"/>
                  <a:cs typeface="Microsoft JhengHei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25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ABB7AC"/>
            </a:solidFill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725">
                <a:solidFill>
                  <a:srgbClr val="69776D"/>
                </a:solidFill>
                <a:latin typeface="Microsoft JhengHei"/>
                <a:ea typeface="Microsoft JhengHei"/>
                <a:cs typeface="Microsoft JhengHei"/>
              </a:defRPr>
            </a:pPr>
          </a:p>
        </c:txPr>
        <c:crossAx val="48672768"/>
      </c:catAx>
      <c:valAx>
        <c:axId val="48672768"/>
        <c:scaling>
          <c:orientation val="minMax"/>
          <c:max val="260"/>
          <c:min val="0"/>
        </c:scaling>
        <c:delete val="0"/>
        <c:axPos val="l"/>
        <c:majorGridlines>
          <c:spPr>
            <a:ln xmlns:a="http://schemas.openxmlformats.org/drawingml/2006/main" w="9525">
              <a:solidFill>
                <a:srgbClr val="D8DED2"/>
              </a:solidFill>
            </a:ln>
          </c:spPr>
        </c:majorGridlines>
        <c:numFmt formatCode="0"/>
        <c:majorTickMark val="none"/>
        <c:minorTickMark val="none"/>
        <c:spPr>
          <a:ln xmlns:a="http://schemas.openxmlformats.org/drawingml/2006/main" w="9525">
            <a:solidFill>
              <a:srgbClr val="ABB7AC"/>
            </a:solidFill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725">
                <a:solidFill>
                  <a:srgbClr val="69776D"/>
                </a:solidFill>
                <a:latin typeface="Microsoft JhengHei"/>
                <a:ea typeface="Microsoft JhengHei"/>
                <a:cs typeface="Microsoft JhengHei"/>
              </a:defRPr>
            </a:pPr>
          </a:p>
        </c:txPr>
        <c:crossAx val="48650112"/>
        <c:crossBetween val="between"/>
        <c:majorUnit val="50"/>
      </c:valAx>
      <c:spPr>
        <a:noFill xmlns:a="http://schemas.openxmlformats.org/drawingml/2006/main"/>
      </c:spPr>
    </c:plotArea>
    <c:plotVisOnly val="1"/>
  </c:chart>
  <c:spPr>
    <a:noFill xmlns:a="http://schemas.openxmlformats.org/drawingml/2006/main"/>
    <a:ln xmlns:a="http://schemas.openxmlformats.org/drawingml/2006/main" w="0">
      <a:noFill/>
    </a:ln>
  </c:spPr>
  <c:externalData r:id="rIdChartSnapshot1">
    <c:autoUpdate val="0"/>
  </c:externalData>
</c:chartSpace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5F3E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a02be455ac24704"/>
          <a:srcRect xmlns:a="http://schemas.openxmlformats.org/drawingml/2006/main" l="25667" t="0" r="25667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277100" y="533400"/>
            <a:ext cx="4229100" cy="5791200"/>
          </a:xfrm>
          <a:prstGeom xmlns:a="http://schemas.openxmlformats.org/drawingml/2006/main" prst="rect">
            <a:avLst/>
          </a:prstGeom>
        </p:spPr>
      </p:pic>
      <p:sp>
        <p:nvSpPr>
          <p:cNvPr id="2" name="text">
            <a:extLst xmlns:a="http://schemas.openxmlformats.org/drawingml/2006/main">
              <a:ext uri="{FF2B5EF4-FFF2-40B4-BE49-F238E27FC236}">
                <a16:creationId xmlns:a16="http://schemas.microsoft.com/office/drawing/2014/main" id="{E0410D95-4F90-41C0-9A59-9C3A86871D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562100"/>
            <a:ext cx="6191250" cy="1809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5550" b="1">
                <a:solidFill>
                  <a:srgbClr val="203D35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5550" b="1">
                <a:solidFill>
                  <a:srgbClr val="203D35"/>
                </a:solidFill>
                <a:latin typeface="Microsoft JhengHei"/>
                <a:ea typeface="Microsoft JhengHei"/>
                <a:cs typeface="Microsoft JhengHei"/>
              </a:rPr>
              <a:t>臺灣房屋</a:t>
            </a:r>
          </a:p>
          <a:p xmlns:a="http://schemas.openxmlformats.org/drawingml/2006/main">
            <a:pPr algn="l">
              <a:defRPr sz="5550" b="1">
                <a:solidFill>
                  <a:srgbClr val="203D35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5550" b="1">
                <a:solidFill>
                  <a:srgbClr val="203D35"/>
                </a:solidFill>
                <a:latin typeface="Microsoft JhengHei"/>
                <a:ea typeface="Microsoft JhengHei"/>
                <a:cs typeface="Microsoft JhengHei"/>
              </a:rPr>
              <a:t>總價預測</a:t>
            </a:r>
          </a:p>
        </p:txBody>
      </p:sp>
      <p:sp>
        <p:nvSpPr>
          <p:cNvPr id="3" name="text">
            <a:extLst xmlns:a="http://schemas.openxmlformats.org/drawingml/2006/main">
              <a:ext uri="{FF2B5EF4-FFF2-40B4-BE49-F238E27FC236}">
                <a16:creationId xmlns:a16="http://schemas.microsoft.com/office/drawing/2014/main" id="{BA06AC2A-FE19-4799-9655-31504DE961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657600"/>
            <a:ext cx="61912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325" b="0">
                <a:solidFill>
                  <a:srgbClr val="31644F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325" b="0">
                <a:solidFill>
                  <a:srgbClr val="31644F"/>
                </a:solidFill>
                <a:latin typeface="Microsoft JhengHei"/>
                <a:ea typeface="Microsoft JhengHei"/>
                <a:cs typeface="Microsoft JhengHei"/>
              </a:rPr>
              <a:t>近期成交加權與多模型回歸</a:t>
            </a:r>
          </a:p>
        </p:txBody>
      </p:sp>
      <p:sp>
        <p:nvSpPr>
          <p:cNvPr id="4" name="text">
            <a:extLst xmlns:a="http://schemas.openxmlformats.org/drawingml/2006/main">
              <a:ext uri="{FF2B5EF4-FFF2-40B4-BE49-F238E27FC236}">
                <a16:creationId xmlns:a16="http://schemas.microsoft.com/office/drawing/2014/main" id="{D8DDDACE-9E9A-4F12-B06A-DA71E973AC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629150"/>
            <a:ext cx="5905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34483F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025" b="0">
                <a:solidFill>
                  <a:srgbClr val="34483F"/>
                </a:solidFill>
                <a:latin typeface="Microsoft JhengHei"/>
                <a:ea typeface="Microsoft JhengHei"/>
                <a:cs typeface="Microsoft JhengHei"/>
              </a:rPr>
              <a:t>本次選定提交模型 v22</a:t>
            </a:r>
          </a:p>
        </p:txBody>
      </p:sp>
      <p:sp>
        <p:nvSpPr>
          <p:cNvPr id="5" name="text">
            <a:extLst xmlns:a="http://schemas.openxmlformats.org/drawingml/2006/main">
              <a:ext uri="{FF2B5EF4-FFF2-40B4-BE49-F238E27FC236}">
                <a16:creationId xmlns:a16="http://schemas.microsoft.com/office/drawing/2014/main" id="{7F0A4845-4E3D-4CA2-933E-717A0C164B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181600"/>
            <a:ext cx="59055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69776D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725" b="0">
                <a:solidFill>
                  <a:srgbClr val="69776D"/>
                </a:solidFill>
                <a:latin typeface="Microsoft JhengHei"/>
                <a:ea typeface="Microsoft JhengHei"/>
                <a:cs typeface="Microsoft JhengHei"/>
              </a:rPr>
              <a:t>機器學習專題報告</a:t>
            </a:r>
          </a:p>
        </p:txBody>
      </p:sp>
      <p:sp>
        <p:nvSpPr>
          <p:cNvPr id="6" name="text">
            <a:extLst xmlns:a="http://schemas.openxmlformats.org/drawingml/2006/main">
              <a:ext uri="{FF2B5EF4-FFF2-40B4-BE49-F238E27FC236}">
                <a16:creationId xmlns:a16="http://schemas.microsoft.com/office/drawing/2014/main" id="{9499BD7C-4D9E-48D6-87D6-C35076F5CB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6038850"/>
            <a:ext cx="2381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69776D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575" b="0">
                <a:solidFill>
                  <a:srgbClr val="69776D"/>
                </a:solidFill>
                <a:latin typeface="Microsoft JhengHei"/>
                <a:ea typeface="Microsoft JhengHei"/>
                <a:cs typeface="Microsoft JhengHei"/>
              </a:rPr>
              <a:t>2026.09.28</a:t>
            </a:r>
          </a:p>
        </p:txBody>
      </p:sp>
    </p:spTree>
    <p:extLst>
      <p:ext uri="{BB962C8B-B14F-4D97-AF65-F5344CB8AC3E}">
        <p14:creationId xmlns:p14="http://schemas.microsoft.com/office/powerpoint/2010/main" val="982052645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5F3E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D1B6CD87-DCC0-49EE-A153-2A904EA975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57200"/>
            <a:ext cx="108204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203D35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3300" b="1">
                <a:solidFill>
                  <a:srgbClr val="203D35"/>
                </a:solidFill>
                <a:latin typeface="Microsoft JhengHei"/>
                <a:ea typeface="Microsoft JhengHei"/>
                <a:cs typeface="Microsoft JhengHei"/>
              </a:rPr>
              <a:t>評分看總價的平均絕對誤差</a:t>
            </a:r>
          </a:p>
        </p:txBody>
      </p:sp>
      <p:sp>
        <p:nvSpPr>
          <p:cNvPr id="2" name="text">
            <a:extLst xmlns:a="http://schemas.openxmlformats.org/drawingml/2006/main">
              <a:ext uri="{FF2B5EF4-FFF2-40B4-BE49-F238E27FC236}">
                <a16:creationId xmlns:a16="http://schemas.microsoft.com/office/drawing/2014/main" id="{D0AE4FB4-CE32-416D-B10B-496C553E1F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38900"/>
            <a:ext cx="6191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69776D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275" b="0">
                <a:solidFill>
                  <a:srgbClr val="69776D"/>
                </a:solidFill>
                <a:latin typeface="Microsoft JhengHei"/>
                <a:ea typeface="Microsoft JhengHei"/>
                <a:cs typeface="Microsoft JhengHei"/>
              </a:rPr>
              <a:t>臺灣房屋總價預測</a:t>
            </a:r>
          </a:p>
        </p:txBody>
      </p:sp>
      <p:sp>
        <p:nvSpPr>
          <p:cNvPr id="3" name="text">
            <a:extLst xmlns:a="http://schemas.openxmlformats.org/drawingml/2006/main">
              <a:ext uri="{FF2B5EF4-FFF2-40B4-BE49-F238E27FC236}">
                <a16:creationId xmlns:a16="http://schemas.microsoft.com/office/drawing/2014/main" id="{034931BA-26DB-4E0B-8F48-A13AA3DFC5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6410325"/>
            <a:ext cx="5524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425" b="0">
                <a:solidFill>
                  <a:srgbClr val="69776D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425" b="0">
                <a:solidFill>
                  <a:srgbClr val="69776D"/>
                </a:solidFill>
                <a:latin typeface="Microsoft JhengHei"/>
                <a:ea typeface="Microsoft JhengHei"/>
                <a:cs typeface="Microsoft JhengHei"/>
              </a:rPr>
              <a:t>02</a:t>
            </a:r>
          </a:p>
        </p:txBody>
      </p:sp>
      <p:sp>
        <p:nvSpPr>
          <p:cNvPr id="4" name="text">
            <a:extLst xmlns:a="http://schemas.openxmlformats.org/drawingml/2006/main">
              <a:ext uri="{FF2B5EF4-FFF2-40B4-BE49-F238E27FC236}">
                <a16:creationId xmlns:a16="http://schemas.microsoft.com/office/drawing/2014/main" id="{2D941C29-048C-441A-BEB1-24A3CEA66C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562100"/>
            <a:ext cx="70008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31644F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400" b="1">
                <a:solidFill>
                  <a:srgbClr val="31644F"/>
                </a:solidFill>
                <a:latin typeface="Microsoft JhengHei"/>
                <a:ea typeface="Microsoft JhengHei"/>
                <a:cs typeface="Microsoft JhengHei"/>
              </a:rPr>
              <a:t>MAE = 平均 | 預測總價 − 真實總價 |</a:t>
            </a:r>
          </a:p>
        </p:txBody>
      </p:sp>
      <p:sp>
        <p:nvSpPr>
          <p:cNvPr id="5" name="text">
            <a:extLst xmlns:a="http://schemas.openxmlformats.org/drawingml/2006/main">
              <a:ext uri="{FF2B5EF4-FFF2-40B4-BE49-F238E27FC236}">
                <a16:creationId xmlns:a16="http://schemas.microsoft.com/office/drawing/2014/main" id="{EF4A6EAF-1C75-4C14-B044-82539D8080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362200"/>
            <a:ext cx="671512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34483F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100" b="0">
                <a:solidFill>
                  <a:srgbClr val="34483F"/>
                </a:solidFill>
                <a:latin typeface="Microsoft JhengHei"/>
                <a:ea typeface="Microsoft JhengHei"/>
                <a:cs typeface="Microsoft JhengHei"/>
              </a:rPr>
              <a:t>單位為新臺幣元，越低越好</a:t>
            </a:r>
          </a:p>
        </p:txBody>
      </p:sp>
      <p:sp>
        <p:nvSpPr>
          <p:cNvPr id="6" name="text">
            <a:extLst xmlns:a="http://schemas.openxmlformats.org/drawingml/2006/main">
              <a:ext uri="{FF2B5EF4-FFF2-40B4-BE49-F238E27FC236}">
                <a16:creationId xmlns:a16="http://schemas.microsoft.com/office/drawing/2014/main" id="{A5BA91BA-4FB2-461E-A4A0-5E4654DF3C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371850"/>
            <a:ext cx="6286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69776D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725" b="0">
                <a:solidFill>
                  <a:srgbClr val="69776D"/>
                </a:solidFill>
                <a:latin typeface="Microsoft JhengHei"/>
                <a:ea typeface="Microsoft JhengHei"/>
                <a:cs typeface="Microsoft JhengHei"/>
              </a:rPr>
              <a:t>假設例子</a:t>
            </a:r>
          </a:p>
        </p:txBody>
      </p:sp>
      <p:sp>
        <p:nvSpPr>
          <p:cNvPr id="7" name="text">
            <a:extLst xmlns:a="http://schemas.openxmlformats.org/drawingml/2006/main">
              <a:ext uri="{FF2B5EF4-FFF2-40B4-BE49-F238E27FC236}">
                <a16:creationId xmlns:a16="http://schemas.microsoft.com/office/drawing/2014/main" id="{ABA5500F-A671-4726-9534-E842DBFF34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905250"/>
            <a:ext cx="6429375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325" b="0">
                <a:solidFill>
                  <a:srgbClr val="34483F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325" b="0">
                <a:solidFill>
                  <a:srgbClr val="34483F"/>
                </a:solidFill>
                <a:latin typeface="Microsoft JhengHei"/>
                <a:ea typeface="Microsoft JhengHei"/>
                <a:cs typeface="Microsoft JhengHei"/>
              </a:rPr>
              <a:t>真價 1,000 萬　預測 1,100 萬</a:t>
            </a:r>
          </a:p>
        </p:txBody>
      </p:sp>
      <p:sp>
        <p:nvSpPr>
          <p:cNvPr id="8" name="text">
            <a:extLst xmlns:a="http://schemas.openxmlformats.org/drawingml/2006/main">
              <a:ext uri="{FF2B5EF4-FFF2-40B4-BE49-F238E27FC236}">
                <a16:creationId xmlns:a16="http://schemas.microsoft.com/office/drawing/2014/main" id="{BC0970BE-5232-489F-A06D-113C025147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629150"/>
            <a:ext cx="6429375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34483F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250" b="1">
                <a:solidFill>
                  <a:srgbClr val="34483F"/>
                </a:solidFill>
                <a:latin typeface="Microsoft JhengHei"/>
                <a:ea typeface="Microsoft JhengHei"/>
                <a:cs typeface="Microsoft JhengHei"/>
              </a:rPr>
              <a:t>這筆絕對誤差為 100 萬元</a:t>
            </a:r>
          </a:p>
        </p:txBody>
      </p:sp>
      <p:graphicFrame>
        <p:nvGraphicFramePr>
          <p:cNvPr id="20" name="Chart"/>
          <p:cNvGraphicFramePr/>
          <p:nvPr/>
        </p:nvGraphicFramePr>
        <p:xfrm>
          <a:off xmlns:a="http://schemas.openxmlformats.org/drawingml/2006/main" x="7905750" y="1466850"/>
          <a:ext xmlns:a="http://schemas.openxmlformats.org/drawingml/2006/main" cx="3505200" cy="358140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80103ba29cae4ef7"/>
          </a:graphicData>
        </a:graphic>
      </p:graphicFrame>
      <p:sp>
        <p:nvSpPr>
          <p:cNvPr id="10" name="text">
            <a:extLst xmlns:a="http://schemas.openxmlformats.org/drawingml/2006/main">
              <a:ext uri="{FF2B5EF4-FFF2-40B4-BE49-F238E27FC236}">
                <a16:creationId xmlns:a16="http://schemas.microsoft.com/office/drawing/2014/main" id="{218CDC12-27C3-4981-BDFA-A5EF198E71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43800" y="5334000"/>
            <a:ext cx="40957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1">
                <a:solidFill>
                  <a:srgbClr val="31644F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025" b="1">
                <a:solidFill>
                  <a:srgbClr val="31644F"/>
                </a:solidFill>
                <a:latin typeface="Microsoft JhengHei"/>
                <a:ea typeface="Microsoft JhengHei"/>
                <a:cs typeface="Microsoft JhengHei"/>
              </a:rPr>
              <a:t>最終成績以 Private 為準</a:t>
            </a:r>
          </a:p>
        </p:txBody>
      </p:sp>
      <p:sp>
        <p:nvSpPr>
          <p:cNvPr id="11" name="text">
            <a:extLst xmlns:a="http://schemas.openxmlformats.org/drawingml/2006/main">
              <a:ext uri="{FF2B5EF4-FFF2-40B4-BE49-F238E27FC236}">
                <a16:creationId xmlns:a16="http://schemas.microsoft.com/office/drawing/2014/main" id="{A245710A-8074-4E34-A708-6DC1EF35DE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867400"/>
            <a:ext cx="7620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69776D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725" b="0">
                <a:solidFill>
                  <a:srgbClr val="69776D"/>
                </a:solidFill>
                <a:latin typeface="Microsoft JhengHei"/>
                <a:ea typeface="Microsoft JhengHei"/>
                <a:cs typeface="Microsoft JhengHei"/>
              </a:rPr>
              <a:t>Public 與 Private 都切自 test</a:t>
            </a:r>
          </a:p>
        </p:txBody>
      </p:sp>
    </p:spTree>
    <p:extLst>
      <p:ext uri="{BB962C8B-B14F-4D97-AF65-F5344CB8AC3E}">
        <p14:creationId xmlns:p14="http://schemas.microsoft.com/office/powerpoint/2010/main" val="1163093219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5F3E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slide-title">
            <a:extLst xmlns:a="http://schemas.openxmlformats.org/drawingml/2006/main">
              <a:ext uri="{FF2B5EF4-FFF2-40B4-BE49-F238E27FC236}">
                <a16:creationId xmlns:a16="http://schemas.microsoft.com/office/drawing/2014/main" id="{483B9307-24E6-4213-98C4-4B645AD338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57200"/>
            <a:ext cx="108204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203D35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3300" b="1">
                <a:solidFill>
                  <a:srgbClr val="203D35"/>
                </a:solidFill>
                <a:latin typeface="Microsoft JhengHei"/>
                <a:ea typeface="Microsoft JhengHei"/>
                <a:cs typeface="Microsoft JhengHei"/>
              </a:rPr>
              <a:t>清理後使用 467,221 筆訓練資料</a:t>
            </a:r>
          </a:p>
        </p:txBody>
      </p:sp>
      <p:sp>
        <p:nvSpPr>
          <p:cNvPr id="2" name="text">
            <a:extLst xmlns:a="http://schemas.openxmlformats.org/drawingml/2006/main">
              <a:ext uri="{FF2B5EF4-FFF2-40B4-BE49-F238E27FC236}">
                <a16:creationId xmlns:a16="http://schemas.microsoft.com/office/drawing/2014/main" id="{5CECA7F2-6585-4851-91AC-E42B1207F7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38900"/>
            <a:ext cx="6191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69776D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275" b="0">
                <a:solidFill>
                  <a:srgbClr val="69776D"/>
                </a:solidFill>
                <a:latin typeface="Microsoft JhengHei"/>
                <a:ea typeface="Microsoft JhengHei"/>
                <a:cs typeface="Microsoft JhengHei"/>
              </a:rPr>
              <a:t>臺灣房屋總價預測</a:t>
            </a:r>
          </a:p>
        </p:txBody>
      </p:sp>
      <p:sp>
        <p:nvSpPr>
          <p:cNvPr id="3" name="text">
            <a:extLst xmlns:a="http://schemas.openxmlformats.org/drawingml/2006/main">
              <a:ext uri="{FF2B5EF4-FFF2-40B4-BE49-F238E27FC236}">
                <a16:creationId xmlns:a16="http://schemas.microsoft.com/office/drawing/2014/main" id="{E67A0C25-DD41-4644-A400-1011D21725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6410325"/>
            <a:ext cx="5524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425" b="0">
                <a:solidFill>
                  <a:srgbClr val="69776D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425" b="0">
                <a:solidFill>
                  <a:srgbClr val="69776D"/>
                </a:solidFill>
                <a:latin typeface="Microsoft JhengHei"/>
                <a:ea typeface="Microsoft JhengHei"/>
                <a:cs typeface="Microsoft JhengHei"/>
              </a:rPr>
              <a:t>03</a:t>
            </a:r>
          </a:p>
        </p:txBody>
      </p:sp>
      <p:graphicFrame>
        <p:nvGraphicFramePr>
          <p:cNvPr id="13" name=""/>
          <p:cNvGraphicFramePr/>
          <p:nvPr/>
        </p:nvGraphicFramePr>
        <p:xfrm>
          <a:off xmlns:a="http://schemas.openxmlformats.org/drawingml/2006/main" x="685800" y="1647825"/>
          <a:ext xmlns:a="http://schemas.openxmlformats.org/drawingml/2006/main" cx="6477000" cy="371475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4495800"/>
                <a:gridCol w="1981200"/>
              </a:tblGrid>
              <a:tr h="619125">
                <a:tc>
                  <a:txBody>
                    <a:bodyPr lIns="152400" tIns="76200" rIns="114300" bIns="76200">
                      <a:noAutofit/>
                    </a:bodyPr>
                    <a:lstStyle/>
                    <a:p>
                      <a:r>
                        <a:rPr sz="1875" b="1">
                          <a:solidFill>
                            <a:srgbClr val="FFFFFF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處理步驟</a:t>
                      </a:r>
                    </a:p>
                  </a:txBody>
                  <a:tcPr marL="91440" marR="91440" marT="45720" marB="45720" anchor="ctr">
                    <a:solidFill>
                      <a:srgbClr val="203D35"/>
                    </a:solidFill>
                  </a:tcPr>
                </a:tc>
                <a:tc>
                  <a:txBody>
                    <a:bodyPr lIns="152400" tIns="76200" rIns="114300" bIns="76200">
                      <a:noAutofit/>
                    </a:bodyPr>
                    <a:lstStyle/>
                    <a:p>
                      <a:r>
                        <a:rPr sz="1875" b="1">
                          <a:solidFill>
                            <a:srgbClr val="FFFFFF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保留筆數</a:t>
                      </a:r>
                    </a:p>
                  </a:txBody>
                  <a:tcPr marL="91440" marR="91440" marT="45720" marB="45720" anchor="ctr">
                    <a:solidFill>
                      <a:srgbClr val="203D35"/>
                    </a:solidFill>
                  </a:tcPr>
                </a:tc>
              </a:tr>
              <a:tr h="619125">
                <a:tc>
                  <a:txBody>
                    <a:bodyPr lIns="152400" tIns="76200" rIns="114300" bIns="76200">
                      <a:noAutofit/>
                    </a:bodyPr>
                    <a:lstStyle/>
                    <a:p>
                      <a:r>
                        <a:rPr sz="1875" b="0">
                          <a:solidFill>
                            <a:srgbClr val="34483F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原始 train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lIns="152400" tIns="76200" rIns="114300" bIns="76200">
                      <a:noAutofit/>
                    </a:bodyPr>
                    <a:lstStyle/>
                    <a:p>
                      <a:r>
                        <a:rPr sz="1875" b="0">
                          <a:solidFill>
                            <a:srgbClr val="34483F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455,787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</a:tr>
              <a:tr h="619125">
                <a:tc>
                  <a:txBody>
                    <a:bodyPr lIns="152400" tIns="76200" rIns="114300" bIns="76200">
                      <a:noAutofit/>
                    </a:bodyPr>
                    <a:lstStyle/>
                    <a:p>
                      <a:r>
                        <a:rPr sz="1875" b="0">
                          <a:solidFill>
                            <a:srgbClr val="34483F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移除 3 列英文表頭</a:t>
                      </a:r>
                    </a:p>
                  </a:txBody>
                  <a:tcPr marL="91440" marR="91440" marT="45720" marB="45720" anchor="ctr">
                    <a:solidFill>
                      <a:srgbClr val="EDEFE6"/>
                    </a:solidFill>
                  </a:tcPr>
                </a:tc>
                <a:tc>
                  <a:txBody>
                    <a:bodyPr lIns="152400" tIns="76200" rIns="114300" bIns="76200">
                      <a:noAutofit/>
                    </a:bodyPr>
                    <a:lstStyle/>
                    <a:p>
                      <a:r>
                        <a:rPr sz="1875" b="0">
                          <a:solidFill>
                            <a:srgbClr val="34483F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455,784</a:t>
                      </a:r>
                    </a:p>
                  </a:txBody>
                  <a:tcPr marL="91440" marR="91440" marT="45720" marB="45720" anchor="ctr">
                    <a:solidFill>
                      <a:srgbClr val="EDEFE6"/>
                    </a:solidFill>
                  </a:tcPr>
                </a:tc>
              </a:tr>
              <a:tr h="619125">
                <a:tc>
                  <a:txBody>
                    <a:bodyPr lIns="152400" tIns="76200" rIns="114300" bIns="76200">
                      <a:noAutofit/>
                    </a:bodyPr>
                    <a:lstStyle/>
                    <a:p>
                      <a:r>
                        <a:rPr sz="1875" b="0">
                          <a:solidFill>
                            <a:srgbClr val="34483F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移除 529 列完全重複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lIns="152400" tIns="76200" rIns="114300" bIns="76200">
                      <a:noAutofit/>
                    </a:bodyPr>
                    <a:lstStyle/>
                    <a:p>
                      <a:r>
                        <a:rPr sz="1875" b="0">
                          <a:solidFill>
                            <a:srgbClr val="34483F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455,255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</a:tr>
              <a:tr h="619125">
                <a:tc>
                  <a:txBody>
                    <a:bodyPr lIns="152400" tIns="76200" rIns="114300" bIns="76200">
                      <a:noAutofit/>
                    </a:bodyPr>
                    <a:lstStyle/>
                    <a:p>
                      <a:r>
                        <a:rPr sz="1875" b="0">
                          <a:solidFill>
                            <a:srgbClr val="34483F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加入 11,994 筆 valid</a:t>
                      </a:r>
                    </a:p>
                  </a:txBody>
                  <a:tcPr marL="91440" marR="91440" marT="45720" marB="45720" anchor="ctr">
                    <a:solidFill>
                      <a:srgbClr val="EDEFE6"/>
                    </a:solidFill>
                  </a:tcPr>
                </a:tc>
                <a:tc>
                  <a:txBody>
                    <a:bodyPr lIns="152400" tIns="76200" rIns="114300" bIns="76200">
                      <a:noAutofit/>
                    </a:bodyPr>
                    <a:lstStyle/>
                    <a:p>
                      <a:r>
                        <a:rPr sz="1875" b="0">
                          <a:solidFill>
                            <a:srgbClr val="34483F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467,249</a:t>
                      </a:r>
                    </a:p>
                  </a:txBody>
                  <a:tcPr marL="91440" marR="91440" marT="45720" marB="45720" anchor="ctr">
                    <a:solidFill>
                      <a:srgbClr val="EDEFE6"/>
                    </a:solidFill>
                  </a:tcPr>
                </a:tc>
              </a:tr>
              <a:tr h="619125">
                <a:tc>
                  <a:txBody>
                    <a:bodyPr lIns="152400" tIns="76200" rIns="114300" bIns="76200">
                      <a:noAutofit/>
                    </a:bodyPr>
                    <a:lstStyle/>
                    <a:p>
                      <a:r>
                        <a:rPr sz="1875" b="1">
                          <a:solidFill>
                            <a:srgbClr val="34483F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移除 28 列跨集重複</a:t>
                      </a:r>
                    </a:p>
                  </a:txBody>
                  <a:tcPr marL="91440" marR="91440" marT="45720" marB="45720" anchor="ctr">
                    <a:solidFill>
                      <a:srgbClr val="DEE8D5"/>
                    </a:solidFill>
                  </a:tcPr>
                </a:tc>
                <a:tc>
                  <a:txBody>
                    <a:bodyPr lIns="152400" tIns="76200" rIns="114300" bIns="76200">
                      <a:noAutofit/>
                    </a:bodyPr>
                    <a:lstStyle/>
                    <a:p>
                      <a:r>
                        <a:rPr sz="1875" b="1">
                          <a:solidFill>
                            <a:srgbClr val="34483F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467,221</a:t>
                      </a:r>
                    </a:p>
                  </a:txBody>
                  <a:tcPr marL="91440" marR="91440" marT="45720" marB="45720" anchor="ctr">
                    <a:solidFill>
                      <a:srgbClr val="DEE8D5"/>
                    </a:solidFill>
                  </a:tcPr>
                </a:tc>
              </a:tr>
            </a:tbl>
          </a:graphicData>
        </a:graphic>
      </p:graphicFrame>
      <p:sp>
        <p:nvSpPr>
          <p:cNvPr id="5" name="text">
            <a:extLst xmlns:a="http://schemas.openxmlformats.org/drawingml/2006/main">
              <a:ext uri="{FF2B5EF4-FFF2-40B4-BE49-F238E27FC236}">
                <a16:creationId xmlns:a16="http://schemas.microsoft.com/office/drawing/2014/main" id="{C362DF0E-6FD7-4A22-BB9B-DBAF1BAAF4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67650" y="1819275"/>
            <a:ext cx="3619500" cy="971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4800" b="1">
                <a:solidFill>
                  <a:srgbClr val="31644F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4800" b="1">
                <a:solidFill>
                  <a:srgbClr val="31644F"/>
                </a:solidFill>
                <a:latin typeface="Microsoft JhengHei"/>
                <a:ea typeface="Microsoft JhengHei"/>
                <a:cs typeface="Microsoft JhengHei"/>
              </a:rPr>
              <a:t>467,221</a:t>
            </a:r>
          </a:p>
        </p:txBody>
      </p:sp>
      <p:sp>
        <p:nvSpPr>
          <p:cNvPr id="6" name="text">
            <a:extLst xmlns:a="http://schemas.openxmlformats.org/drawingml/2006/main">
              <a:ext uri="{FF2B5EF4-FFF2-40B4-BE49-F238E27FC236}">
                <a16:creationId xmlns:a16="http://schemas.microsoft.com/office/drawing/2014/main" id="{2A89942B-925D-4580-932C-816C2FBD47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24800" y="2847975"/>
            <a:ext cx="35242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34483F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025" b="0">
                <a:solidFill>
                  <a:srgbClr val="34483F"/>
                </a:solidFill>
                <a:latin typeface="Microsoft JhengHei"/>
                <a:ea typeface="Microsoft JhengHei"/>
                <a:cs typeface="Microsoft JhengHei"/>
              </a:rPr>
              <a:t>最終訓練筆數</a:t>
            </a:r>
          </a:p>
        </p:txBody>
      </p:sp>
      <p:sp>
        <p:nvSpPr>
          <p:cNvPr id="7" name="text">
            <a:extLst xmlns:a="http://schemas.openxmlformats.org/drawingml/2006/main">
              <a:ext uri="{FF2B5EF4-FFF2-40B4-BE49-F238E27FC236}">
                <a16:creationId xmlns:a16="http://schemas.microsoft.com/office/drawing/2014/main" id="{1442C742-AC74-4298-A0C4-5B039926CE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86700" y="3924300"/>
            <a:ext cx="36195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4350" b="1">
                <a:solidFill>
                  <a:srgbClr val="203D35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4350" b="1">
                <a:solidFill>
                  <a:srgbClr val="203D35"/>
                </a:solidFill>
                <a:latin typeface="Microsoft JhengHei"/>
                <a:ea typeface="Microsoft JhengHei"/>
                <a:cs typeface="Microsoft JhengHei"/>
              </a:rPr>
              <a:t>47,073</a:t>
            </a:r>
          </a:p>
        </p:txBody>
      </p:sp>
      <p:sp>
        <p:nvSpPr>
          <p:cNvPr id="8" name="text">
            <a:extLst xmlns:a="http://schemas.openxmlformats.org/drawingml/2006/main">
              <a:ext uri="{FF2B5EF4-FFF2-40B4-BE49-F238E27FC236}">
                <a16:creationId xmlns:a16="http://schemas.microsoft.com/office/drawing/2014/main" id="{D124BD56-4974-4408-B4B0-9DA9A4CFE6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43850" y="4829175"/>
            <a:ext cx="35242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34483F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025" b="0">
                <a:solidFill>
                  <a:srgbClr val="34483F"/>
                </a:solidFill>
                <a:latin typeface="Microsoft JhengHei"/>
                <a:ea typeface="Microsoft JhengHei"/>
                <a:cs typeface="Microsoft JhengHei"/>
              </a:rPr>
              <a:t>test 全數保留</a:t>
            </a:r>
          </a:p>
        </p:txBody>
      </p:sp>
      <p:sp>
        <p:nvSpPr>
          <p:cNvPr id="9" name="text">
            <a:extLst xmlns:a="http://schemas.openxmlformats.org/drawingml/2006/main">
              <a:ext uri="{FF2B5EF4-FFF2-40B4-BE49-F238E27FC236}">
                <a16:creationId xmlns:a16="http://schemas.microsoft.com/office/drawing/2014/main" id="{FBB14074-DDC9-4477-8D3E-670DEA942C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753100"/>
            <a:ext cx="10820400" cy="371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69776D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800" b="0">
                <a:solidFill>
                  <a:srgbClr val="69776D"/>
                </a:solidFill>
                <a:latin typeface="Microsoft JhengHei"/>
                <a:ea typeface="Microsoft JhengHei"/>
                <a:cs typeface="Microsoft JhengHei"/>
              </a:rPr>
              <a:t>按 sample 的編號順序輸出，編號只用於對齊</a:t>
            </a:r>
          </a:p>
        </p:txBody>
      </p:sp>
    </p:spTree>
    <p:extLst>
      <p:ext uri="{BB962C8B-B14F-4D97-AF65-F5344CB8AC3E}">
        <p14:creationId xmlns:p14="http://schemas.microsoft.com/office/powerpoint/2010/main" val="1040332931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5F3E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slide-title">
            <a:extLst xmlns:a="http://schemas.openxmlformats.org/drawingml/2006/main">
              <a:ext uri="{FF2B5EF4-FFF2-40B4-BE49-F238E27FC236}">
                <a16:creationId xmlns:a16="http://schemas.microsoft.com/office/drawing/2014/main" id="{08436B34-8CBD-40DC-ADCC-DA6A1FD0EA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57200"/>
            <a:ext cx="108204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203D35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3300" b="1">
                <a:solidFill>
                  <a:srgbClr val="203D35"/>
                </a:solidFill>
                <a:latin typeface="Microsoft JhengHei"/>
                <a:ea typeface="Microsoft JhengHei"/>
                <a:cs typeface="Microsoft JhengHei"/>
              </a:rPr>
              <a:t>房屋描述轉成可學習的特徵</a:t>
            </a:r>
          </a:p>
        </p:txBody>
      </p:sp>
      <p:sp>
        <p:nvSpPr>
          <p:cNvPr id="2" name="text">
            <a:extLst xmlns:a="http://schemas.openxmlformats.org/drawingml/2006/main">
              <a:ext uri="{FF2B5EF4-FFF2-40B4-BE49-F238E27FC236}">
                <a16:creationId xmlns:a16="http://schemas.microsoft.com/office/drawing/2014/main" id="{64ED6B25-6187-49A7-A103-D2AD52420C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38900"/>
            <a:ext cx="6191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69776D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275" b="0">
                <a:solidFill>
                  <a:srgbClr val="69776D"/>
                </a:solidFill>
                <a:latin typeface="Microsoft JhengHei"/>
                <a:ea typeface="Microsoft JhengHei"/>
                <a:cs typeface="Microsoft JhengHei"/>
              </a:rPr>
              <a:t>臺灣房屋總價預測</a:t>
            </a:r>
          </a:p>
        </p:txBody>
      </p:sp>
      <p:sp>
        <p:nvSpPr>
          <p:cNvPr id="3" name="text">
            <a:extLst xmlns:a="http://schemas.openxmlformats.org/drawingml/2006/main">
              <a:ext uri="{FF2B5EF4-FFF2-40B4-BE49-F238E27FC236}">
                <a16:creationId xmlns:a16="http://schemas.microsoft.com/office/drawing/2014/main" id="{E0D5D768-B899-4B15-9E95-A2327304C5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6410325"/>
            <a:ext cx="5524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425" b="0">
                <a:solidFill>
                  <a:srgbClr val="69776D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425" b="0">
                <a:solidFill>
                  <a:srgbClr val="69776D"/>
                </a:solidFill>
                <a:latin typeface="Microsoft JhengHei"/>
                <a:ea typeface="Microsoft JhengHei"/>
                <a:cs typeface="Microsoft JhengHei"/>
              </a:rPr>
              <a:t>04</a:t>
            </a:r>
          </a:p>
        </p:txBody>
      </p:sp>
      <p:graphicFrame>
        <p:nvGraphicFramePr>
          <p:cNvPr id="12" name=""/>
          <p:cNvGraphicFramePr/>
          <p:nvPr/>
        </p:nvGraphicFramePr>
        <p:xfrm>
          <a:off xmlns:a="http://schemas.openxmlformats.org/drawingml/2006/main" x="685800" y="1895475"/>
          <a:ext xmlns:a="http://schemas.openxmlformats.org/drawingml/2006/main" cx="7734300" cy="295275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1952625"/>
                <a:gridCol w="5781675"/>
              </a:tblGrid>
              <a:tr h="738188">
                <a:tc>
                  <a:txBody>
                    <a:bodyPr lIns="152400" tIns="76200" rIns="114300" bIns="76200">
                      <a:noAutofit/>
                    </a:bodyPr>
                    <a:lstStyle/>
                    <a:p>
                      <a:r>
                        <a:rPr sz="2025" b="1">
                          <a:solidFill>
                            <a:srgbClr val="FFFFFF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特徵內容</a:t>
                      </a:r>
                    </a:p>
                  </a:txBody>
                  <a:tcPr marL="91440" marR="91440" marT="45720" marB="45720" anchor="ctr">
                    <a:solidFill>
                      <a:srgbClr val="203D35"/>
                    </a:solidFill>
                  </a:tcPr>
                </a:tc>
                <a:tc>
                  <a:txBody>
                    <a:bodyPr lIns="152400" tIns="76200" rIns="114300" bIns="76200">
                      <a:noAutofit/>
                    </a:bodyPr>
                    <a:lstStyle/>
                    <a:p>
                      <a:r>
                        <a:rPr sz="2025" b="1">
                          <a:solidFill>
                            <a:srgbClr val="FFFFFF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代表欄位</a:t>
                      </a:r>
                    </a:p>
                  </a:txBody>
                  <a:tcPr marL="91440" marR="91440" marT="45720" marB="45720" anchor="ctr">
                    <a:solidFill>
                      <a:srgbClr val="203D35"/>
                    </a:solidFill>
                  </a:tcPr>
                </a:tc>
              </a:tr>
              <a:tr h="738188">
                <a:tc>
                  <a:txBody>
                    <a:bodyPr lIns="152400" tIns="76200" rIns="114300" bIns="76200">
                      <a:noAutofit/>
                    </a:bodyPr>
                    <a:lstStyle/>
                    <a:p>
                      <a:r>
                        <a:rPr sz="2025" b="0">
                          <a:solidFill>
                            <a:srgbClr val="34483F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房屋屬性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lIns="152400" tIns="76200" rIns="114300" bIns="76200">
                      <a:noAutofit/>
                    </a:bodyPr>
                    <a:lstStyle/>
                    <a:p>
                      <a:r>
                        <a:rPr sz="2025" b="0">
                          <a:solidFill>
                            <a:srgbClr val="34483F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面積、樓層、格局、主要用途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</a:tr>
              <a:tr h="738188">
                <a:tc>
                  <a:txBody>
                    <a:bodyPr lIns="152400" tIns="76200" rIns="114300" bIns="76200">
                      <a:noAutofit/>
                    </a:bodyPr>
                    <a:lstStyle/>
                    <a:p>
                      <a:r>
                        <a:rPr sz="2025" b="0">
                          <a:solidFill>
                            <a:srgbClr val="34483F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交易資訊</a:t>
                      </a:r>
                    </a:p>
                  </a:txBody>
                  <a:tcPr marL="91440" marR="91440" marT="45720" marB="45720" anchor="ctr">
                    <a:solidFill>
                      <a:srgbClr val="EDEFE6"/>
                    </a:solidFill>
                  </a:tcPr>
                </a:tc>
                <a:tc>
                  <a:txBody>
                    <a:bodyPr lIns="152400" tIns="76200" rIns="114300" bIns="76200">
                      <a:noAutofit/>
                    </a:bodyPr>
                    <a:lstStyle/>
                    <a:p>
                      <a:r>
                        <a:rPr sz="2025" b="0">
                          <a:solidFill>
                            <a:srgbClr val="34483F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交易日期、車位、交易筆棟數</a:t>
                      </a:r>
                    </a:p>
                  </a:txBody>
                  <a:tcPr marL="91440" marR="91440" marT="45720" marB="45720" anchor="ctr">
                    <a:solidFill>
                      <a:srgbClr val="EDEFE6"/>
                    </a:solidFill>
                  </a:tcPr>
                </a:tc>
              </a:tr>
              <a:tr h="738188">
                <a:tc>
                  <a:txBody>
                    <a:bodyPr lIns="152400" tIns="76200" rIns="114300" bIns="76200">
                      <a:noAutofit/>
                    </a:bodyPr>
                    <a:lstStyle/>
                    <a:p>
                      <a:r>
                        <a:rPr sz="2025" b="0">
                          <a:solidFill>
                            <a:srgbClr val="34483F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地理資訊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lIns="152400" tIns="76200" rIns="114300" bIns="76200">
                      <a:noAutofit/>
                    </a:bodyPr>
                    <a:lstStyle/>
                    <a:p>
                      <a:r>
                        <a:rPr sz="2025" b="0">
                          <a:solidFill>
                            <a:srgbClr val="34483F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地址、道路位置、空間網格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">
            <a:extLst xmlns:a="http://schemas.openxmlformats.org/drawingml/2006/main">
              <a:ext uri="{FF2B5EF4-FFF2-40B4-BE49-F238E27FC236}">
                <a16:creationId xmlns:a16="http://schemas.microsoft.com/office/drawing/2014/main" id="{8D4C6F28-4B0E-4ED9-8E83-645A7F6EE7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53525" y="1952625"/>
            <a:ext cx="2209800" cy="1085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6300" b="1">
                <a:solidFill>
                  <a:srgbClr val="31644F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6300" b="1">
                <a:solidFill>
                  <a:srgbClr val="31644F"/>
                </a:solidFill>
                <a:latin typeface="Microsoft JhengHei"/>
                <a:ea typeface="Microsoft JhengHei"/>
                <a:cs typeface="Microsoft JhengHei"/>
              </a:rPr>
              <a:t>95</a:t>
            </a:r>
          </a:p>
        </p:txBody>
      </p:sp>
      <p:sp>
        <p:nvSpPr>
          <p:cNvPr id="6" name="text">
            <a:extLst xmlns:a="http://schemas.openxmlformats.org/drawingml/2006/main">
              <a:ext uri="{FF2B5EF4-FFF2-40B4-BE49-F238E27FC236}">
                <a16:creationId xmlns:a16="http://schemas.microsoft.com/office/drawing/2014/main" id="{1266CD30-CE23-4E1A-AAD0-26DD4CC575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3190875"/>
            <a:ext cx="26670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34483F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025" b="0">
                <a:solidFill>
                  <a:srgbClr val="34483F"/>
                </a:solidFill>
                <a:latin typeface="Microsoft JhengHei"/>
                <a:ea typeface="Microsoft JhengHei"/>
                <a:cs typeface="Microsoft JhengHei"/>
              </a:rPr>
              <a:t>單價 CatBoost</a:t>
            </a:r>
          </a:p>
          <a:p xmlns:a="http://schemas.openxmlformats.org/drawingml/2006/main">
            <a:pPr algn="l">
              <a:defRPr sz="2025" b="0">
                <a:solidFill>
                  <a:srgbClr val="34483F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025" b="0">
                <a:solidFill>
                  <a:srgbClr val="34483F"/>
                </a:solidFill>
                <a:latin typeface="Microsoft JhengHei"/>
                <a:ea typeface="Microsoft JhengHei"/>
                <a:cs typeface="Microsoft JhengHei"/>
              </a:rPr>
              <a:t>使用的特徵數</a:t>
            </a:r>
          </a:p>
        </p:txBody>
      </p:sp>
      <p:sp>
        <p:nvSpPr>
          <p:cNvPr id="7" name="text">
            <a:extLst xmlns:a="http://schemas.openxmlformats.org/drawingml/2006/main">
              <a:ext uri="{FF2B5EF4-FFF2-40B4-BE49-F238E27FC236}">
                <a16:creationId xmlns:a16="http://schemas.microsoft.com/office/drawing/2014/main" id="{02CE8D3D-FC60-48B1-81DB-BBE84D5C2A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4419600"/>
            <a:ext cx="276225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34483F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950" b="1">
                <a:solidFill>
                  <a:srgbClr val="34483F"/>
                </a:solidFill>
                <a:latin typeface="Microsoft JhengHei"/>
                <a:ea typeface="Microsoft JhengHei"/>
                <a:cs typeface="Microsoft JhengHei"/>
              </a:rPr>
              <a:t>其中 23 欄類別</a:t>
            </a:r>
          </a:p>
        </p:txBody>
      </p:sp>
      <p:sp>
        <p:nvSpPr>
          <p:cNvPr id="8" name="text">
            <a:extLst xmlns:a="http://schemas.openxmlformats.org/drawingml/2006/main">
              <a:ext uri="{FF2B5EF4-FFF2-40B4-BE49-F238E27FC236}">
                <a16:creationId xmlns:a16="http://schemas.microsoft.com/office/drawing/2014/main" id="{B8C98B27-01F4-4019-95F2-7A32016B44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419725"/>
            <a:ext cx="108204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875" b="0">
                <a:solidFill>
                  <a:srgbClr val="69776D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875" b="0">
                <a:solidFill>
                  <a:srgbClr val="69776D"/>
                </a:solidFill>
                <a:latin typeface="Microsoft JhengHei"/>
                <a:ea typeface="Microsoft JhengHei"/>
                <a:cs typeface="Microsoft JhengHei"/>
              </a:rPr>
              <a:t>價格標籤來自課程資料，外部地圖僅提供地理資訊</a:t>
            </a:r>
          </a:p>
        </p:txBody>
      </p:sp>
    </p:spTree>
    <p:extLst>
      <p:ext uri="{BB962C8B-B14F-4D97-AF65-F5344CB8AC3E}">
        <p14:creationId xmlns:p14="http://schemas.microsoft.com/office/powerpoint/2010/main" val="764301229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5F3E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slide-title">
            <a:extLst xmlns:a="http://schemas.openxmlformats.org/drawingml/2006/main">
              <a:ext uri="{FF2B5EF4-FFF2-40B4-BE49-F238E27FC236}">
                <a16:creationId xmlns:a16="http://schemas.microsoft.com/office/drawing/2014/main" id="{C57D27F3-B6AE-46A7-B3B1-3385EF975D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57200"/>
            <a:ext cx="108204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203D35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3300" b="1">
                <a:solidFill>
                  <a:srgbClr val="203D35"/>
                </a:solidFill>
                <a:latin typeface="Microsoft JhengHei"/>
                <a:ea typeface="Microsoft JhengHei"/>
                <a:cs typeface="Microsoft JhengHei"/>
              </a:rPr>
              <a:t>六個模型組成三條價格分支</a:t>
            </a:r>
          </a:p>
        </p:txBody>
      </p:sp>
      <p:sp>
        <p:nvSpPr>
          <p:cNvPr id="2" name="text">
            <a:extLst xmlns:a="http://schemas.openxmlformats.org/drawingml/2006/main">
              <a:ext uri="{FF2B5EF4-FFF2-40B4-BE49-F238E27FC236}">
                <a16:creationId xmlns:a16="http://schemas.microsoft.com/office/drawing/2014/main" id="{6E662019-C6ED-4334-98BF-8EED954AE2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38900"/>
            <a:ext cx="6191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69776D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275" b="0">
                <a:solidFill>
                  <a:srgbClr val="69776D"/>
                </a:solidFill>
                <a:latin typeface="Microsoft JhengHei"/>
                <a:ea typeface="Microsoft JhengHei"/>
                <a:cs typeface="Microsoft JhengHei"/>
              </a:rPr>
              <a:t>臺灣房屋總價預測</a:t>
            </a:r>
          </a:p>
        </p:txBody>
      </p:sp>
      <p:sp>
        <p:nvSpPr>
          <p:cNvPr id="3" name="text">
            <a:extLst xmlns:a="http://schemas.openxmlformats.org/drawingml/2006/main">
              <a:ext uri="{FF2B5EF4-FFF2-40B4-BE49-F238E27FC236}">
                <a16:creationId xmlns:a16="http://schemas.microsoft.com/office/drawing/2014/main" id="{567AE44E-F012-409E-BAA9-86C51D2A5F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6410325"/>
            <a:ext cx="5524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425" b="0">
                <a:solidFill>
                  <a:srgbClr val="69776D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425" b="0">
                <a:solidFill>
                  <a:srgbClr val="69776D"/>
                </a:solidFill>
                <a:latin typeface="Microsoft JhengHei"/>
                <a:ea typeface="Microsoft JhengHei"/>
                <a:cs typeface="Microsoft JhengHei"/>
              </a:rPr>
              <a:t>05</a:t>
            </a:r>
          </a:p>
        </p:txBody>
      </p:sp>
      <p:sp>
        <p:nvSpPr>
          <p:cNvPr id="4" name="text">
            <a:extLst xmlns:a="http://schemas.openxmlformats.org/drawingml/2006/main">
              <a:ext uri="{FF2B5EF4-FFF2-40B4-BE49-F238E27FC236}">
                <a16:creationId xmlns:a16="http://schemas.microsoft.com/office/drawing/2014/main" id="{3CDAAF34-D2C1-42B1-A71E-B0F6C2BCA1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381125"/>
            <a:ext cx="108204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1">
                <a:solidFill>
                  <a:srgbClr val="31644F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175" b="1">
                <a:solidFill>
                  <a:srgbClr val="31644F"/>
                </a:solidFill>
                <a:latin typeface="Microsoft JhengHei"/>
                <a:ea typeface="Microsoft JhengHei"/>
                <a:cs typeface="Microsoft JhengHei"/>
              </a:rPr>
              <a:t>單價 × 面積 = 總價，另以不同價格尺度補充預測</a:t>
            </a:r>
          </a:p>
        </p:txBody>
      </p:sp>
      <p:graphicFrame>
        <p:nvGraphicFramePr>
          <p:cNvPr id="12" name=""/>
          <p:cNvGraphicFramePr/>
          <p:nvPr/>
        </p:nvGraphicFramePr>
        <p:xfrm>
          <a:off xmlns:a="http://schemas.openxmlformats.org/drawingml/2006/main" x="685800" y="2028825"/>
          <a:ext xmlns:a="http://schemas.openxmlformats.org/drawingml/2006/main" cx="10820400" cy="2867025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2028825"/>
                <a:gridCol w="5191125"/>
                <a:gridCol w="3600450"/>
              </a:tblGrid>
              <a:tr h="716756">
                <a:tc>
                  <a:txBody>
                    <a:bodyPr lIns="152400" tIns="76200" rIns="114300" bIns="76200">
                      <a:noAutofit/>
                    </a:bodyPr>
                    <a:lstStyle/>
                    <a:p>
                      <a:r>
                        <a:rPr sz="1875" b="1">
                          <a:solidFill>
                            <a:srgbClr val="FFFFFF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價格分支</a:t>
                      </a:r>
                    </a:p>
                  </a:txBody>
                  <a:tcPr marL="91440" marR="91440" marT="45720" marB="45720" anchor="ctr">
                    <a:solidFill>
                      <a:srgbClr val="203D35"/>
                    </a:solidFill>
                  </a:tcPr>
                </a:tc>
                <a:tc>
                  <a:txBody>
                    <a:bodyPr lIns="152400" tIns="76200" rIns="114300" bIns="76200">
                      <a:noAutofit/>
                    </a:bodyPr>
                    <a:lstStyle/>
                    <a:p>
                      <a:r>
                        <a:rPr sz="1875" b="1">
                          <a:solidFill>
                            <a:srgbClr val="FFFFFF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主要模型</a:t>
                      </a:r>
                    </a:p>
                  </a:txBody>
                  <a:tcPr marL="91440" marR="91440" marT="45720" marB="45720" anchor="ctr">
                    <a:solidFill>
                      <a:srgbClr val="203D35"/>
                    </a:solidFill>
                  </a:tcPr>
                </a:tc>
                <a:tc>
                  <a:txBody>
                    <a:bodyPr lIns="152400" tIns="76200" rIns="114300" bIns="76200">
                      <a:noAutofit/>
                    </a:bodyPr>
                    <a:lstStyle/>
                    <a:p>
                      <a:r>
                        <a:rPr sz="1875" b="1">
                          <a:solidFill>
                            <a:srgbClr val="FFFFFF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學習的價格表示</a:t>
                      </a:r>
                    </a:p>
                  </a:txBody>
                  <a:tcPr marL="91440" marR="91440" marT="45720" marB="45720" anchor="ctr">
                    <a:solidFill>
                      <a:srgbClr val="203D35"/>
                    </a:solidFill>
                  </a:tcPr>
                </a:tc>
              </a:tr>
              <a:tr h="716756">
                <a:tc>
                  <a:txBody>
                    <a:bodyPr lIns="152400" tIns="76200" rIns="114300" bIns="76200">
                      <a:noAutofit/>
                    </a:bodyPr>
                    <a:lstStyle/>
                    <a:p>
                      <a:r>
                        <a:rPr sz="1875" b="0">
                          <a:solidFill>
                            <a:srgbClr val="34483F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單價分支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lIns="152400" tIns="76200" rIns="114300" bIns="76200">
                      <a:noAutofit/>
                    </a:bodyPr>
                    <a:lstStyle/>
                    <a:p>
                      <a:r>
                        <a:rPr sz="1875" b="0">
                          <a:solidFill>
                            <a:srgbClr val="34483F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單價 CatBoost + LightGBM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lIns="152400" tIns="76200" rIns="114300" bIns="76200">
                      <a:noAutofit/>
                    </a:bodyPr>
                    <a:lstStyle/>
                    <a:p>
                      <a:r>
                        <a:rPr sz="1875" b="0">
                          <a:solidFill>
                            <a:srgbClr val="34483F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單價乘回面積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</a:tr>
              <a:tr h="716756">
                <a:tc>
                  <a:txBody>
                    <a:bodyPr lIns="152400" tIns="76200" rIns="114300" bIns="76200">
                      <a:noAutofit/>
                    </a:bodyPr>
                    <a:lstStyle/>
                    <a:p>
                      <a:r>
                        <a:rPr sz="1875" b="0">
                          <a:solidFill>
                            <a:srgbClr val="34483F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對數分支</a:t>
                      </a:r>
                    </a:p>
                  </a:txBody>
                  <a:tcPr marL="91440" marR="91440" marT="45720" marB="45720" anchor="ctr">
                    <a:solidFill>
                      <a:srgbClr val="EDEFE6"/>
                    </a:solidFill>
                  </a:tcPr>
                </a:tc>
                <a:tc>
                  <a:txBody>
                    <a:bodyPr lIns="152400" tIns="76200" rIns="114300" bIns="76200">
                      <a:noAutofit/>
                    </a:bodyPr>
                    <a:lstStyle/>
                    <a:p>
                      <a:r>
                        <a:rPr sz="1875" b="0">
                          <a:solidFill>
                            <a:srgbClr val="34483F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總價及 log CatBoost + LightGBM</a:t>
                      </a:r>
                    </a:p>
                  </a:txBody>
                  <a:tcPr marL="91440" marR="91440" marT="45720" marB="45720" anchor="ctr">
                    <a:solidFill>
                      <a:srgbClr val="EDEFE6"/>
                    </a:solidFill>
                  </a:tcPr>
                </a:tc>
                <a:tc>
                  <a:txBody>
                    <a:bodyPr lIns="152400" tIns="76200" rIns="114300" bIns="76200">
                      <a:noAutofit/>
                    </a:bodyPr>
                    <a:lstStyle/>
                    <a:p>
                      <a:r>
                        <a:rPr sz="1875" b="0">
                          <a:solidFill>
                            <a:srgbClr val="34483F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直接總價與對數總價</a:t>
                      </a:r>
                    </a:p>
                  </a:txBody>
                  <a:tcPr marL="91440" marR="91440" marT="45720" marB="45720" anchor="ctr">
                    <a:solidFill>
                      <a:srgbClr val="EDEFE6"/>
                    </a:solidFill>
                  </a:tcPr>
                </a:tc>
              </a:tr>
              <a:tr h="716756">
                <a:tc>
                  <a:txBody>
                    <a:bodyPr lIns="152400" tIns="76200" rIns="114300" bIns="76200">
                      <a:noAutofit/>
                    </a:bodyPr>
                    <a:lstStyle/>
                    <a:p>
                      <a:r>
                        <a:rPr sz="1875" b="0">
                          <a:solidFill>
                            <a:srgbClr val="34483F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神經網路分支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lIns="152400" tIns="76200" rIns="114300" bIns="76200">
                      <a:noAutofit/>
                    </a:bodyPr>
                    <a:lstStyle/>
                    <a:p>
                      <a:r>
                        <a:rPr sz="1875" b="0">
                          <a:solidFill>
                            <a:srgbClr val="34483F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兩個表格 NN + LightGBM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lIns="152400" tIns="76200" rIns="114300" bIns="76200">
                      <a:noAutofit/>
                    </a:bodyPr>
                    <a:lstStyle/>
                    <a:p>
                      <a:r>
                        <a:rPr sz="1875" b="0">
                          <a:solidFill>
                            <a:srgbClr val="34483F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面積連結與先驗倍率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">
            <a:extLst xmlns:a="http://schemas.openxmlformats.org/drawingml/2006/main">
              <a:ext uri="{FF2B5EF4-FFF2-40B4-BE49-F238E27FC236}">
                <a16:creationId xmlns:a16="http://schemas.microsoft.com/office/drawing/2014/main" id="{7F9E8801-0C63-4DD6-AFC7-852396A33A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257800"/>
            <a:ext cx="108204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34483F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100" b="0">
                <a:solidFill>
                  <a:srgbClr val="34483F"/>
                </a:solidFill>
                <a:latin typeface="Microsoft JhengHei"/>
                <a:ea typeface="Microsoft JhengHei"/>
                <a:cs typeface="Microsoft JhengHei"/>
              </a:rPr>
              <a:t>各分支還原成「元」，再做成交參考與空間修正</a:t>
            </a:r>
          </a:p>
        </p:txBody>
      </p:sp>
      <p:sp>
        <p:nvSpPr>
          <p:cNvPr id="7" name="text">
            <a:extLst xmlns:a="http://schemas.openxmlformats.org/drawingml/2006/main">
              <a:ext uri="{FF2B5EF4-FFF2-40B4-BE49-F238E27FC236}">
                <a16:creationId xmlns:a16="http://schemas.microsoft.com/office/drawing/2014/main" id="{52AEA1B1-6C54-44AE-B5ED-D994D52A69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895975"/>
            <a:ext cx="108204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69776D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800" b="0">
                <a:solidFill>
                  <a:srgbClr val="69776D"/>
                </a:solidFill>
                <a:latin typeface="Microsoft JhengHei"/>
                <a:ea typeface="Microsoft JhengHei"/>
                <a:cs typeface="Microsoft JhengHei"/>
              </a:rPr>
              <a:t>3 個 CatBoost ＋ 1 個 LightGBM ＋ 2 個 NN，LightGBM 由三分支共用</a:t>
            </a:r>
          </a:p>
        </p:txBody>
      </p:sp>
    </p:spTree>
    <p:extLst>
      <p:ext uri="{BB962C8B-B14F-4D97-AF65-F5344CB8AC3E}">
        <p14:creationId xmlns:p14="http://schemas.microsoft.com/office/powerpoint/2010/main" val="452734226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5F3E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slide-title">
            <a:extLst xmlns:a="http://schemas.openxmlformats.org/drawingml/2006/main">
              <a:ext uri="{FF2B5EF4-FFF2-40B4-BE49-F238E27FC236}">
                <a16:creationId xmlns:a16="http://schemas.microsoft.com/office/drawing/2014/main" id="{D863F8ED-A199-4500-B22A-E88400BBFF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57200"/>
            <a:ext cx="108204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203D35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3300" b="1">
                <a:solidFill>
                  <a:srgbClr val="203D35"/>
                </a:solidFill>
                <a:latin typeface="Microsoft JhengHei"/>
                <a:ea typeface="Microsoft JhengHei"/>
                <a:cs typeface="Microsoft JhengHei"/>
              </a:rPr>
              <a:t>單價 CatBoost 提高近期成交權重</a:t>
            </a:r>
          </a:p>
        </p:txBody>
      </p:sp>
      <p:sp>
        <p:nvSpPr>
          <p:cNvPr id="2" name="text">
            <a:extLst xmlns:a="http://schemas.openxmlformats.org/drawingml/2006/main">
              <a:ext uri="{FF2B5EF4-FFF2-40B4-BE49-F238E27FC236}">
                <a16:creationId xmlns:a16="http://schemas.microsoft.com/office/drawing/2014/main" id="{C10E0569-A80E-4068-AAA5-3A7C8DCE6C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38900"/>
            <a:ext cx="6191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69776D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275" b="0">
                <a:solidFill>
                  <a:srgbClr val="69776D"/>
                </a:solidFill>
                <a:latin typeface="Microsoft JhengHei"/>
                <a:ea typeface="Microsoft JhengHei"/>
                <a:cs typeface="Microsoft JhengHei"/>
              </a:rPr>
              <a:t>臺灣房屋總價預測</a:t>
            </a:r>
          </a:p>
        </p:txBody>
      </p:sp>
      <p:sp>
        <p:nvSpPr>
          <p:cNvPr id="3" name="text">
            <a:extLst xmlns:a="http://schemas.openxmlformats.org/drawingml/2006/main">
              <a:ext uri="{FF2B5EF4-FFF2-40B4-BE49-F238E27FC236}">
                <a16:creationId xmlns:a16="http://schemas.microsoft.com/office/drawing/2014/main" id="{A774222B-D345-45D0-BCB4-2F0F328052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6410325"/>
            <a:ext cx="5524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425" b="0">
                <a:solidFill>
                  <a:srgbClr val="69776D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425" b="0">
                <a:solidFill>
                  <a:srgbClr val="69776D"/>
                </a:solidFill>
                <a:latin typeface="Microsoft JhengHei"/>
                <a:ea typeface="Microsoft JhengHei"/>
                <a:cs typeface="Microsoft JhengHei"/>
              </a:rPr>
              <a:t>06</a:t>
            </a:r>
          </a:p>
        </p:txBody>
      </p:sp>
      <p:sp>
        <p:nvSpPr>
          <p:cNvPr id="4" name="text">
            <a:extLst xmlns:a="http://schemas.openxmlformats.org/drawingml/2006/main">
              <a:ext uri="{FF2B5EF4-FFF2-40B4-BE49-F238E27FC236}">
                <a16:creationId xmlns:a16="http://schemas.microsoft.com/office/drawing/2014/main" id="{39492D99-7412-4A0C-92AE-5312C5076F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495425"/>
            <a:ext cx="7239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875" b="0">
                <a:solidFill>
                  <a:srgbClr val="69776D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875" b="0">
                <a:solidFill>
                  <a:srgbClr val="69776D"/>
                </a:solidFill>
                <a:latin typeface="Microsoft JhengHei"/>
                <a:ea typeface="Microsoft JhengHei"/>
                <a:cs typeface="Microsoft JhengHei"/>
              </a:rPr>
              <a:t>相對日期權重（正規化前）</a:t>
            </a:r>
          </a:p>
        </p:txBody>
      </p:sp>
      <p:graphicFrame>
        <p:nvGraphicFramePr>
          <p:cNvPr id="15" name="Chart"/>
          <p:cNvGraphicFramePr/>
          <p:nvPr/>
        </p:nvGraphicFramePr>
        <p:xfrm>
          <a:off xmlns:a="http://schemas.openxmlformats.org/drawingml/2006/main" x="685800" y="2047875"/>
          <a:ext xmlns:a="http://schemas.openxmlformats.org/drawingml/2006/main" cx="7162800" cy="3400425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985880dd40d3457c"/>
          </a:graphicData>
        </a:graphic>
      </p:graphicFrame>
      <p:sp>
        <p:nvSpPr>
          <p:cNvPr id="6" name="text">
            <a:extLst xmlns:a="http://schemas.openxmlformats.org/drawingml/2006/main">
              <a:ext uri="{FF2B5EF4-FFF2-40B4-BE49-F238E27FC236}">
                <a16:creationId xmlns:a16="http://schemas.microsoft.com/office/drawing/2014/main" id="{74D049A2-1722-4B3B-B6D1-F85DABF6E5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91550" y="2095500"/>
            <a:ext cx="287655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4575" b="1">
                <a:solidFill>
                  <a:srgbClr val="31644F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4575" b="1">
                <a:solidFill>
                  <a:srgbClr val="31644F"/>
                </a:solidFill>
                <a:latin typeface="Microsoft JhengHei"/>
                <a:ea typeface="Microsoft JhengHei"/>
                <a:cs typeface="Microsoft JhengHei"/>
              </a:rPr>
              <a:t>365 天</a:t>
            </a:r>
          </a:p>
        </p:txBody>
      </p:sp>
      <p:sp>
        <p:nvSpPr>
          <p:cNvPr id="7" name="text">
            <a:extLst xmlns:a="http://schemas.openxmlformats.org/drawingml/2006/main">
              <a:ext uri="{FF2B5EF4-FFF2-40B4-BE49-F238E27FC236}">
                <a16:creationId xmlns:a16="http://schemas.microsoft.com/office/drawing/2014/main" id="{04884381-55A3-4F83-A87B-575A651613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91550" y="3133725"/>
            <a:ext cx="2857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34483F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025" b="0">
                <a:solidFill>
                  <a:srgbClr val="34483F"/>
                </a:solidFill>
                <a:latin typeface="Microsoft JhengHei"/>
                <a:ea typeface="Microsoft JhengHei"/>
                <a:cs typeface="Microsoft JhengHei"/>
              </a:rPr>
              <a:t>日期權重半衰期</a:t>
            </a:r>
          </a:p>
        </p:txBody>
      </p:sp>
      <p:sp>
        <p:nvSpPr>
          <p:cNvPr id="8" name="text">
            <a:extLst xmlns:a="http://schemas.openxmlformats.org/drawingml/2006/main">
              <a:ext uri="{FF2B5EF4-FFF2-40B4-BE49-F238E27FC236}">
                <a16:creationId xmlns:a16="http://schemas.microsoft.com/office/drawing/2014/main" id="{17341B62-64D2-449A-9633-F322C0DC9F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53425" y="4086225"/>
            <a:ext cx="32575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1">
                <a:solidFill>
                  <a:srgbClr val="34483F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025" b="1">
                <a:solidFill>
                  <a:srgbClr val="34483F"/>
                </a:solidFill>
                <a:latin typeface="Microsoft JhengHei"/>
                <a:ea typeface="Microsoft JhengHei"/>
                <a:cs typeface="Microsoft JhengHei"/>
              </a:rPr>
              <a:t>面積權重 × 日期權重</a:t>
            </a:r>
          </a:p>
        </p:txBody>
      </p:sp>
      <p:sp>
        <p:nvSpPr>
          <p:cNvPr id="9" name="text">
            <a:extLst xmlns:a="http://schemas.openxmlformats.org/drawingml/2006/main">
              <a:ext uri="{FF2B5EF4-FFF2-40B4-BE49-F238E27FC236}">
                <a16:creationId xmlns:a16="http://schemas.microsoft.com/office/drawing/2014/main" id="{93B35509-184E-42DB-8A9F-F01BE09AB2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53425" y="4695825"/>
            <a:ext cx="3286125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950" b="0">
                <a:solidFill>
                  <a:srgbClr val="34483F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950" b="0">
                <a:solidFill>
                  <a:srgbClr val="34483F"/>
                </a:solidFill>
                <a:latin typeface="Microsoft JhengHei"/>
                <a:ea typeface="Microsoft JhengHei"/>
                <a:cs typeface="Microsoft JhengHei"/>
              </a:rPr>
              <a:t>面積對齊總價誤差</a:t>
            </a:r>
          </a:p>
          <a:p xmlns:a="http://schemas.openxmlformats.org/drawingml/2006/main">
            <a:pPr algn="l">
              <a:defRPr sz="1950" b="0">
                <a:solidFill>
                  <a:srgbClr val="34483F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950" b="0">
                <a:solidFill>
                  <a:srgbClr val="34483F"/>
                </a:solidFill>
                <a:latin typeface="Microsoft JhengHei"/>
                <a:ea typeface="Microsoft JhengHei"/>
                <a:cs typeface="Microsoft JhengHei"/>
              </a:rPr>
              <a:t>日期提高近期影響</a:t>
            </a:r>
          </a:p>
        </p:txBody>
      </p:sp>
      <p:sp>
        <p:nvSpPr>
          <p:cNvPr id="10" name="text">
            <a:extLst xmlns:a="http://schemas.openxmlformats.org/drawingml/2006/main">
              <a:ext uri="{FF2B5EF4-FFF2-40B4-BE49-F238E27FC236}">
                <a16:creationId xmlns:a16="http://schemas.microsoft.com/office/drawing/2014/main" id="{C0BD378B-74F8-4EB5-8D16-E9B0D9A357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810250"/>
            <a:ext cx="10820400" cy="371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69776D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800" b="0">
                <a:solidFill>
                  <a:srgbClr val="69776D"/>
                </a:solidFill>
                <a:latin typeface="Microsoft JhengHei"/>
                <a:ea typeface="Microsoft JhengHei"/>
                <a:cs typeface="Microsoft JhengHei"/>
              </a:rPr>
              <a:t>實際日期權重會正規化，缺失或異常日期採中性權重 1</a:t>
            </a:r>
          </a:p>
        </p:txBody>
      </p:sp>
    </p:spTree>
    <p:extLst>
      <p:ext uri="{BB962C8B-B14F-4D97-AF65-F5344CB8AC3E}">
        <p14:creationId xmlns:p14="http://schemas.microsoft.com/office/powerpoint/2010/main" val="809074958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5F3E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slide-title">
            <a:extLst xmlns:a="http://schemas.openxmlformats.org/drawingml/2006/main">
              <a:ext uri="{FF2B5EF4-FFF2-40B4-BE49-F238E27FC236}">
                <a16:creationId xmlns:a16="http://schemas.microsoft.com/office/drawing/2014/main" id="{092AF0FB-04A3-498F-B576-C5488D9AAF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57200"/>
            <a:ext cx="108204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203D35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3300" b="1">
                <a:solidFill>
                  <a:srgbClr val="203D35"/>
                </a:solidFill>
                <a:latin typeface="Microsoft JhengHei"/>
                <a:ea typeface="Microsoft JhengHei"/>
                <a:cs typeface="Microsoft JhengHei"/>
              </a:rPr>
              <a:t>三條總價預測逐筆取中位數</a:t>
            </a:r>
          </a:p>
        </p:txBody>
      </p:sp>
      <p:sp>
        <p:nvSpPr>
          <p:cNvPr id="2" name="text">
            <a:extLst xmlns:a="http://schemas.openxmlformats.org/drawingml/2006/main">
              <a:ext uri="{FF2B5EF4-FFF2-40B4-BE49-F238E27FC236}">
                <a16:creationId xmlns:a16="http://schemas.microsoft.com/office/drawing/2014/main" id="{2B0FBC39-1DEE-4BA3-9E45-D10721E375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38900"/>
            <a:ext cx="6191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69776D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275" b="0">
                <a:solidFill>
                  <a:srgbClr val="69776D"/>
                </a:solidFill>
                <a:latin typeface="Microsoft JhengHei"/>
                <a:ea typeface="Microsoft JhengHei"/>
                <a:cs typeface="Microsoft JhengHei"/>
              </a:rPr>
              <a:t>臺灣房屋總價預測</a:t>
            </a:r>
          </a:p>
        </p:txBody>
      </p:sp>
      <p:sp>
        <p:nvSpPr>
          <p:cNvPr id="3" name="text">
            <a:extLst xmlns:a="http://schemas.openxmlformats.org/drawingml/2006/main">
              <a:ext uri="{FF2B5EF4-FFF2-40B4-BE49-F238E27FC236}">
                <a16:creationId xmlns:a16="http://schemas.microsoft.com/office/drawing/2014/main" id="{4913349A-9619-457F-BD21-7B5DE00E0C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6410325"/>
            <a:ext cx="5524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425" b="0">
                <a:solidFill>
                  <a:srgbClr val="69776D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425" b="0">
                <a:solidFill>
                  <a:srgbClr val="69776D"/>
                </a:solidFill>
                <a:latin typeface="Microsoft JhengHei"/>
                <a:ea typeface="Microsoft JhengHei"/>
                <a:cs typeface="Microsoft JhengHei"/>
              </a:rPr>
              <a:t>07</a:t>
            </a:r>
          </a:p>
        </p:txBody>
      </p:sp>
      <p:sp>
        <p:nvSpPr>
          <p:cNvPr id="4" name="text">
            <a:extLst xmlns:a="http://schemas.openxmlformats.org/drawingml/2006/main">
              <a:ext uri="{FF2B5EF4-FFF2-40B4-BE49-F238E27FC236}">
                <a16:creationId xmlns:a16="http://schemas.microsoft.com/office/drawing/2014/main" id="{D78EFB19-4B7F-4A5D-B497-9564034D1E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409700"/>
            <a:ext cx="108204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875" b="0">
                <a:solidFill>
                  <a:srgbClr val="69776D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875" b="0">
                <a:solidFill>
                  <a:srgbClr val="69776D"/>
                </a:solidFill>
                <a:latin typeface="Microsoft JhengHei"/>
                <a:ea typeface="Microsoft JhengHei"/>
                <a:cs typeface="Microsoft JhengHei"/>
              </a:rPr>
              <a:t>假設例子：各分支修正後的總價，單位為萬元</a:t>
            </a:r>
          </a:p>
        </p:txBody>
      </p:sp>
      <p:graphicFrame>
        <p:nvGraphicFramePr>
          <p:cNvPr id="14" name="Chart"/>
          <p:cNvGraphicFramePr/>
          <p:nvPr/>
        </p:nvGraphicFramePr>
        <p:xfrm>
          <a:off xmlns:a="http://schemas.openxmlformats.org/drawingml/2006/main" x="685800" y="2114550"/>
          <a:ext xmlns:a="http://schemas.openxmlformats.org/drawingml/2006/main" cx="7219950" cy="3228975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0cdda02f3d594abb"/>
          </a:graphicData>
        </a:graphic>
      </p:graphicFrame>
      <p:sp>
        <p:nvSpPr>
          <p:cNvPr id="6" name="text">
            <a:extLst xmlns:a="http://schemas.openxmlformats.org/drawingml/2006/main">
              <a:ext uri="{FF2B5EF4-FFF2-40B4-BE49-F238E27FC236}">
                <a16:creationId xmlns:a16="http://schemas.microsoft.com/office/drawing/2014/main" id="{BC28D941-6A04-46BD-B3A0-7A5F1C933A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43925" y="2457450"/>
            <a:ext cx="3009900" cy="971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4425" b="1">
                <a:solidFill>
                  <a:srgbClr val="31644F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4425" b="1">
                <a:solidFill>
                  <a:srgbClr val="31644F"/>
                </a:solidFill>
                <a:latin typeface="Microsoft JhengHei"/>
                <a:ea typeface="Microsoft JhengHei"/>
                <a:cs typeface="Microsoft JhengHei"/>
              </a:rPr>
              <a:t>1,320 萬</a:t>
            </a:r>
          </a:p>
        </p:txBody>
      </p:sp>
      <p:sp>
        <p:nvSpPr>
          <p:cNvPr id="7" name="text">
            <a:extLst xmlns:a="http://schemas.openxmlformats.org/drawingml/2006/main">
              <a:ext uri="{FF2B5EF4-FFF2-40B4-BE49-F238E27FC236}">
                <a16:creationId xmlns:a16="http://schemas.microsoft.com/office/drawing/2014/main" id="{3C565D3B-4F0A-479C-91CF-6BE104630F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86775" y="3724275"/>
            <a:ext cx="30670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34483F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100" b="0">
                <a:solidFill>
                  <a:srgbClr val="34483F"/>
                </a:solidFill>
                <a:latin typeface="Microsoft JhengHei"/>
                <a:ea typeface="Microsoft JhengHei"/>
                <a:cs typeface="Microsoft JhengHei"/>
              </a:rPr>
              <a:t>這筆的最終預測</a:t>
            </a:r>
          </a:p>
        </p:txBody>
      </p:sp>
      <p:sp>
        <p:nvSpPr>
          <p:cNvPr id="8" name="text">
            <a:extLst xmlns:a="http://schemas.openxmlformats.org/drawingml/2006/main">
              <a:ext uri="{FF2B5EF4-FFF2-40B4-BE49-F238E27FC236}">
                <a16:creationId xmlns:a16="http://schemas.microsoft.com/office/drawing/2014/main" id="{29EBC93B-F428-4959-B831-7982C01F05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86775" y="4495800"/>
            <a:ext cx="306705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34483F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025" b="0">
                <a:solidFill>
                  <a:srgbClr val="34483F"/>
                </a:solidFill>
                <a:latin typeface="Microsoft JhengHei"/>
                <a:ea typeface="Microsoft JhengHei"/>
                <a:cs typeface="Microsoft JhengHei"/>
              </a:rPr>
              <a:t>取三個數字</a:t>
            </a:r>
          </a:p>
          <a:p xmlns:a="http://schemas.openxmlformats.org/drawingml/2006/main">
            <a:pPr algn="l">
              <a:defRPr sz="2025" b="0">
                <a:solidFill>
                  <a:srgbClr val="34483F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025" b="0">
                <a:solidFill>
                  <a:srgbClr val="34483F"/>
                </a:solidFill>
                <a:latin typeface="Microsoft JhengHei"/>
                <a:ea typeface="Microsoft JhengHei"/>
                <a:cs typeface="Microsoft JhengHei"/>
              </a:rPr>
              <a:t>排序後的中間值</a:t>
            </a:r>
          </a:p>
        </p:txBody>
      </p:sp>
      <p:sp>
        <p:nvSpPr>
          <p:cNvPr id="9" name="text">
            <a:extLst xmlns:a="http://schemas.openxmlformats.org/drawingml/2006/main">
              <a:ext uri="{FF2B5EF4-FFF2-40B4-BE49-F238E27FC236}">
                <a16:creationId xmlns:a16="http://schemas.microsoft.com/office/drawing/2014/main" id="{F2BED0BC-EC93-497D-8E3D-AC961EFFE0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857875"/>
            <a:ext cx="10820400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875" b="0">
                <a:solidFill>
                  <a:srgbClr val="69776D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875" b="0">
                <a:solidFill>
                  <a:srgbClr val="69776D"/>
                </a:solidFill>
                <a:latin typeface="Microsoft JhengHei"/>
                <a:ea typeface="Microsoft JhengHei"/>
                <a:cs typeface="Microsoft JhengHei"/>
              </a:rPr>
              <a:t>中位數可降低單一分支極端輸出的影響，三條共同偏誤仍可能保留</a:t>
            </a:r>
          </a:p>
        </p:txBody>
      </p:sp>
    </p:spTree>
    <p:extLst>
      <p:ext uri="{BB962C8B-B14F-4D97-AF65-F5344CB8AC3E}">
        <p14:creationId xmlns:p14="http://schemas.microsoft.com/office/powerpoint/2010/main" val="674373125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5F3E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slide-title">
            <a:extLst xmlns:a="http://schemas.openxmlformats.org/drawingml/2006/main">
              <a:ext uri="{FF2B5EF4-FFF2-40B4-BE49-F238E27FC236}">
                <a16:creationId xmlns:a16="http://schemas.microsoft.com/office/drawing/2014/main" id="{652696CD-8921-48EC-959F-FA82E278DA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57200"/>
            <a:ext cx="108204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203D35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3300" b="1">
                <a:solidFill>
                  <a:srgbClr val="203D35"/>
                </a:solidFill>
                <a:latin typeface="Microsoft JhengHei"/>
                <a:ea typeface="Microsoft JhengHei"/>
                <a:cs typeface="Microsoft JhengHei"/>
              </a:rPr>
              <a:t>每一期用過去資料預測下一年</a:t>
            </a:r>
          </a:p>
        </p:txBody>
      </p:sp>
      <p:sp>
        <p:nvSpPr>
          <p:cNvPr id="2" name="text">
            <a:extLst xmlns:a="http://schemas.openxmlformats.org/drawingml/2006/main">
              <a:ext uri="{FF2B5EF4-FFF2-40B4-BE49-F238E27FC236}">
                <a16:creationId xmlns:a16="http://schemas.microsoft.com/office/drawing/2014/main" id="{A71AD753-830D-403D-9974-D69C612821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38900"/>
            <a:ext cx="6191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69776D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275" b="0">
                <a:solidFill>
                  <a:srgbClr val="69776D"/>
                </a:solidFill>
                <a:latin typeface="Microsoft JhengHei"/>
                <a:ea typeface="Microsoft JhengHei"/>
                <a:cs typeface="Microsoft JhengHei"/>
              </a:rPr>
              <a:t>臺灣房屋總價預測</a:t>
            </a:r>
          </a:p>
        </p:txBody>
      </p:sp>
      <p:sp>
        <p:nvSpPr>
          <p:cNvPr id="3" name="text">
            <a:extLst xmlns:a="http://schemas.openxmlformats.org/drawingml/2006/main">
              <a:ext uri="{FF2B5EF4-FFF2-40B4-BE49-F238E27FC236}">
                <a16:creationId xmlns:a16="http://schemas.microsoft.com/office/drawing/2014/main" id="{87EF9991-5C5F-400B-91CD-9956BFAE8B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6410325"/>
            <a:ext cx="5524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425" b="0">
                <a:solidFill>
                  <a:srgbClr val="69776D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425" b="0">
                <a:solidFill>
                  <a:srgbClr val="69776D"/>
                </a:solidFill>
                <a:latin typeface="Microsoft JhengHei"/>
                <a:ea typeface="Microsoft JhengHei"/>
                <a:cs typeface="Microsoft JhengHei"/>
              </a:rPr>
              <a:t>08</a:t>
            </a:r>
          </a:p>
        </p:txBody>
      </p:sp>
      <p:graphicFrame>
        <p:nvGraphicFramePr>
          <p:cNvPr id="10" name=""/>
          <p:cNvGraphicFramePr/>
          <p:nvPr/>
        </p:nvGraphicFramePr>
        <p:xfrm>
          <a:off xmlns:a="http://schemas.openxmlformats.org/drawingml/2006/main" x="685800" y="1657350"/>
          <a:ext xmlns:a="http://schemas.openxmlformats.org/drawingml/2006/main" cx="10820400" cy="3381375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2381250"/>
                <a:gridCol w="3962400"/>
                <a:gridCol w="2238375"/>
                <a:gridCol w="2238375"/>
              </a:tblGrid>
              <a:tr h="845344">
                <a:tc>
                  <a:txBody>
                    <a:bodyPr lIns="152400" tIns="76200" rIns="114300" bIns="76200">
                      <a:noAutofit/>
                    </a:bodyPr>
                    <a:lstStyle/>
                    <a:p>
                      <a:r>
                        <a:rPr sz="2025" b="1">
                          <a:solidFill>
                            <a:srgbClr val="FFFFFF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fit 截止日</a:t>
                      </a:r>
                    </a:p>
                  </a:txBody>
                  <a:tcPr marL="91440" marR="91440" marT="45720" marB="45720" anchor="ctr">
                    <a:solidFill>
                      <a:srgbClr val="203D35"/>
                    </a:solidFill>
                  </a:tcPr>
                </a:tc>
                <a:tc>
                  <a:txBody>
                    <a:bodyPr lIns="152400" tIns="76200" rIns="114300" bIns="76200">
                      <a:noAutofit/>
                    </a:bodyPr>
                    <a:lstStyle/>
                    <a:p>
                      <a:r>
                        <a:rPr sz="2025" b="1">
                          <a:solidFill>
                            <a:srgbClr val="FFFFFF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評分日期</a:t>
                      </a:r>
                    </a:p>
                  </a:txBody>
                  <a:tcPr marL="91440" marR="91440" marT="45720" marB="45720" anchor="ctr">
                    <a:solidFill>
                      <a:srgbClr val="203D35"/>
                    </a:solidFill>
                  </a:tcPr>
                </a:tc>
                <a:tc>
                  <a:txBody>
                    <a:bodyPr lIns="152400" tIns="76200" rIns="114300" bIns="76200">
                      <a:noAutofit/>
                    </a:bodyPr>
                    <a:lstStyle/>
                    <a:p>
                      <a:r>
                        <a:rPr sz="2025" b="1">
                          <a:solidFill>
                            <a:srgbClr val="FFFFFF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fit 筆數</a:t>
                      </a:r>
                    </a:p>
                  </a:txBody>
                  <a:tcPr marL="91440" marR="91440" marT="45720" marB="45720" anchor="ctr">
                    <a:solidFill>
                      <a:srgbClr val="203D35"/>
                    </a:solidFill>
                  </a:tcPr>
                </a:tc>
                <a:tc>
                  <a:txBody>
                    <a:bodyPr lIns="152400" tIns="76200" rIns="114300" bIns="76200">
                      <a:noAutofit/>
                    </a:bodyPr>
                    <a:lstStyle/>
                    <a:p>
                      <a:r>
                        <a:rPr sz="2025" b="1">
                          <a:solidFill>
                            <a:srgbClr val="FFFFFF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評分筆數</a:t>
                      </a:r>
                    </a:p>
                  </a:txBody>
                  <a:tcPr marL="91440" marR="91440" marT="45720" marB="45720" anchor="ctr">
                    <a:solidFill>
                      <a:srgbClr val="203D35"/>
                    </a:solidFill>
                  </a:tcPr>
                </a:tc>
              </a:tr>
              <a:tr h="845344">
                <a:tc>
                  <a:txBody>
                    <a:bodyPr lIns="152400" tIns="76200" rIns="114300" bIns="76200">
                      <a:noAutofit/>
                    </a:bodyPr>
                    <a:lstStyle/>
                    <a:p>
                      <a:r>
                        <a:rPr sz="2025" b="0">
                          <a:solidFill>
                            <a:srgbClr val="34483F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2021/08/10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lIns="152400" tIns="76200" rIns="114300" bIns="76200">
                      <a:noAutofit/>
                    </a:bodyPr>
                    <a:lstStyle/>
                    <a:p>
                      <a:r>
                        <a:rPr sz="2025" b="0">
                          <a:solidFill>
                            <a:srgbClr val="34483F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2021/08/11</a:t>
                      </a:r>
                    </a:p>
                    <a:p>
                      <a:r>
                        <a:rPr sz="2025" b="0">
                          <a:solidFill>
                            <a:srgbClr val="34483F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至 2022/08/10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lIns="152400" tIns="76200" rIns="114300" bIns="76200">
                      <a:noAutofit/>
                    </a:bodyPr>
                    <a:lstStyle/>
                    <a:p>
                      <a:r>
                        <a:rPr sz="2025" b="0">
                          <a:solidFill>
                            <a:srgbClr val="34483F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134,805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lIns="152400" tIns="76200" rIns="114300" bIns="76200">
                      <a:noAutofit/>
                    </a:bodyPr>
                    <a:lstStyle/>
                    <a:p>
                      <a:r>
                        <a:rPr sz="2025" b="0">
                          <a:solidFill>
                            <a:srgbClr val="34483F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105,511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</a:tr>
              <a:tr h="845344">
                <a:tc>
                  <a:txBody>
                    <a:bodyPr lIns="152400" tIns="76200" rIns="114300" bIns="76200">
                      <a:noAutofit/>
                    </a:bodyPr>
                    <a:lstStyle/>
                    <a:p>
                      <a:r>
                        <a:rPr sz="2025" b="0">
                          <a:solidFill>
                            <a:srgbClr val="34483F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2022/08/10</a:t>
                      </a:r>
                    </a:p>
                  </a:txBody>
                  <a:tcPr marL="91440" marR="91440" marT="45720" marB="45720" anchor="ctr">
                    <a:solidFill>
                      <a:srgbClr val="EDEFE6"/>
                    </a:solidFill>
                  </a:tcPr>
                </a:tc>
                <a:tc>
                  <a:txBody>
                    <a:bodyPr lIns="152400" tIns="76200" rIns="114300" bIns="76200">
                      <a:noAutofit/>
                    </a:bodyPr>
                    <a:lstStyle/>
                    <a:p>
                      <a:r>
                        <a:rPr sz="2025" b="0">
                          <a:solidFill>
                            <a:srgbClr val="34483F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2022/08/11</a:t>
                      </a:r>
                    </a:p>
                    <a:p>
                      <a:r>
                        <a:rPr sz="2025" b="0">
                          <a:solidFill>
                            <a:srgbClr val="34483F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至 2023/08/10</a:t>
                      </a:r>
                    </a:p>
                  </a:txBody>
                  <a:tcPr marL="91440" marR="91440" marT="45720" marB="45720" anchor="ctr">
                    <a:solidFill>
                      <a:srgbClr val="EDEFE6"/>
                    </a:solidFill>
                  </a:tcPr>
                </a:tc>
                <a:tc>
                  <a:txBody>
                    <a:bodyPr lIns="152400" tIns="76200" rIns="114300" bIns="76200">
                      <a:noAutofit/>
                    </a:bodyPr>
                    <a:lstStyle/>
                    <a:p>
                      <a:r>
                        <a:rPr sz="2025" b="0">
                          <a:solidFill>
                            <a:srgbClr val="34483F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240,316</a:t>
                      </a:r>
                    </a:p>
                  </a:txBody>
                  <a:tcPr marL="91440" marR="91440" marT="45720" marB="45720" anchor="ctr">
                    <a:solidFill>
                      <a:srgbClr val="EDEFE6"/>
                    </a:solidFill>
                  </a:tcPr>
                </a:tc>
                <a:tc>
                  <a:txBody>
                    <a:bodyPr lIns="152400" tIns="76200" rIns="114300" bIns="76200">
                      <a:noAutofit/>
                    </a:bodyPr>
                    <a:lstStyle/>
                    <a:p>
                      <a:r>
                        <a:rPr sz="2025" b="0">
                          <a:solidFill>
                            <a:srgbClr val="34483F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81,234</a:t>
                      </a:r>
                    </a:p>
                  </a:txBody>
                  <a:tcPr marL="91440" marR="91440" marT="45720" marB="45720" anchor="ctr">
                    <a:solidFill>
                      <a:srgbClr val="EDEFE6"/>
                    </a:solidFill>
                  </a:tcPr>
                </a:tc>
              </a:tr>
              <a:tr h="845344">
                <a:tc>
                  <a:txBody>
                    <a:bodyPr lIns="152400" tIns="76200" rIns="114300" bIns="76200">
                      <a:noAutofit/>
                    </a:bodyPr>
                    <a:lstStyle/>
                    <a:p>
                      <a:r>
                        <a:rPr sz="2025" b="0">
                          <a:solidFill>
                            <a:srgbClr val="34483F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2023/08/10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lIns="152400" tIns="76200" rIns="114300" bIns="76200">
                      <a:noAutofit/>
                    </a:bodyPr>
                    <a:lstStyle/>
                    <a:p>
                      <a:r>
                        <a:rPr sz="2025" b="0">
                          <a:solidFill>
                            <a:srgbClr val="34483F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2023/08/11</a:t>
                      </a:r>
                    </a:p>
                    <a:p>
                      <a:r>
                        <a:rPr sz="2025" b="0">
                          <a:solidFill>
                            <a:srgbClr val="34483F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至 2024/08/10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lIns="152400" tIns="76200" rIns="114300" bIns="76200">
                      <a:noAutofit/>
                    </a:bodyPr>
                    <a:lstStyle/>
                    <a:p>
                      <a:r>
                        <a:rPr sz="2025" b="0">
                          <a:solidFill>
                            <a:srgbClr val="34483F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321,550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lIns="152400" tIns="76200" rIns="114300" bIns="76200">
                      <a:noAutofit/>
                    </a:bodyPr>
                    <a:lstStyle/>
                    <a:p>
                      <a:r>
                        <a:rPr sz="2025" b="0">
                          <a:solidFill>
                            <a:srgbClr val="34483F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133,697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">
            <a:extLst xmlns:a="http://schemas.openxmlformats.org/drawingml/2006/main">
              <a:ext uri="{FF2B5EF4-FFF2-40B4-BE49-F238E27FC236}">
                <a16:creationId xmlns:a16="http://schemas.microsoft.com/office/drawing/2014/main" id="{74F290D8-4A47-4798-BF4D-A2B2A3F8FD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343525"/>
            <a:ext cx="108204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31644F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100" b="1">
                <a:solidFill>
                  <a:srgbClr val="31644F"/>
                </a:solidFill>
                <a:latin typeface="Microsoft JhengHei"/>
                <a:ea typeface="Microsoft JhengHei"/>
                <a:cs typeface="Microsoft JhengHei"/>
              </a:rPr>
              <a:t>模型、編碼與價格參考只使用該期 fit 資料</a:t>
            </a:r>
          </a:p>
        </p:txBody>
      </p:sp>
      <p:sp>
        <p:nvSpPr>
          <p:cNvPr id="6" name="text">
            <a:extLst xmlns:a="http://schemas.openxmlformats.org/drawingml/2006/main">
              <a:ext uri="{FF2B5EF4-FFF2-40B4-BE49-F238E27FC236}">
                <a16:creationId xmlns:a16="http://schemas.microsoft.com/office/drawing/2014/main" id="{0F050587-F3AD-45D7-875D-369A00786F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886450"/>
            <a:ext cx="108204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69776D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800" b="0">
                <a:solidFill>
                  <a:srgbClr val="69776D"/>
                </a:solidFill>
                <a:latin typeface="Microsoft JhengHei"/>
                <a:ea typeface="Microsoft JhengHei"/>
                <a:cs typeface="Microsoft JhengHei"/>
              </a:rPr>
              <a:t>歷史時間窗已多次用於研究，不能視為全新盲測</a:t>
            </a:r>
          </a:p>
        </p:txBody>
      </p:sp>
    </p:spTree>
    <p:extLst>
      <p:ext uri="{BB962C8B-B14F-4D97-AF65-F5344CB8AC3E}">
        <p14:creationId xmlns:p14="http://schemas.microsoft.com/office/powerpoint/2010/main" val="1362947729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5F3E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slide-title">
            <a:extLst xmlns:a="http://schemas.openxmlformats.org/drawingml/2006/main">
              <a:ext uri="{FF2B5EF4-FFF2-40B4-BE49-F238E27FC236}">
                <a16:creationId xmlns:a16="http://schemas.microsoft.com/office/drawing/2014/main" id="{EA073C93-DFFD-43F8-BC72-5D52DDB3A3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57200"/>
            <a:ext cx="108204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203D35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3300" b="1">
                <a:solidFill>
                  <a:srgbClr val="203D35"/>
                </a:solidFill>
                <a:latin typeface="Microsoft JhengHei"/>
                <a:ea typeface="Microsoft JhengHei"/>
                <a:cs typeface="Microsoft JhengHei"/>
              </a:rPr>
              <a:t>三個年度的歷史回測結果</a:t>
            </a:r>
          </a:p>
        </p:txBody>
      </p:sp>
      <p:sp>
        <p:nvSpPr>
          <p:cNvPr id="2" name="text">
            <a:extLst xmlns:a="http://schemas.openxmlformats.org/drawingml/2006/main">
              <a:ext uri="{FF2B5EF4-FFF2-40B4-BE49-F238E27FC236}">
                <a16:creationId xmlns:a16="http://schemas.microsoft.com/office/drawing/2014/main" id="{85746261-C5C0-4EE9-916D-C40CD1CC0B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38900"/>
            <a:ext cx="6191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69776D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275" b="0">
                <a:solidFill>
                  <a:srgbClr val="69776D"/>
                </a:solidFill>
                <a:latin typeface="Microsoft JhengHei"/>
                <a:ea typeface="Microsoft JhengHei"/>
                <a:cs typeface="Microsoft JhengHei"/>
              </a:rPr>
              <a:t>臺灣房屋總價預測</a:t>
            </a:r>
          </a:p>
        </p:txBody>
      </p:sp>
      <p:sp>
        <p:nvSpPr>
          <p:cNvPr id="3" name="text">
            <a:extLst xmlns:a="http://schemas.openxmlformats.org/drawingml/2006/main">
              <a:ext uri="{FF2B5EF4-FFF2-40B4-BE49-F238E27FC236}">
                <a16:creationId xmlns:a16="http://schemas.microsoft.com/office/drawing/2014/main" id="{69306CFB-55B1-44B0-8CD6-C1BE885B63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6410325"/>
            <a:ext cx="5524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425" b="0">
                <a:solidFill>
                  <a:srgbClr val="69776D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425" b="0">
                <a:solidFill>
                  <a:srgbClr val="69776D"/>
                </a:solidFill>
                <a:latin typeface="Microsoft JhengHei"/>
                <a:ea typeface="Microsoft JhengHei"/>
                <a:cs typeface="Microsoft JhengHei"/>
              </a:rPr>
              <a:t>09</a:t>
            </a:r>
          </a:p>
        </p:txBody>
      </p:sp>
      <p:sp>
        <p:nvSpPr>
          <p:cNvPr id="4" name="text">
            <a:extLst xmlns:a="http://schemas.openxmlformats.org/drawingml/2006/main">
              <a:ext uri="{FF2B5EF4-FFF2-40B4-BE49-F238E27FC236}">
                <a16:creationId xmlns:a16="http://schemas.microsoft.com/office/drawing/2014/main" id="{BAA4CED9-0F99-4AC6-9D01-8A32E365BB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390650"/>
            <a:ext cx="10820400" cy="352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875" b="0">
                <a:solidFill>
                  <a:srgbClr val="69776D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875" b="0">
                <a:solidFill>
                  <a:srgbClr val="69776D"/>
                </a:solidFill>
                <a:latin typeface="Microsoft JhengHei"/>
                <a:ea typeface="Microsoft JhengHei"/>
                <a:cs typeface="Microsoft JhengHei"/>
              </a:rPr>
              <a:t>總價 MAE（萬元，越低越好）</a:t>
            </a:r>
          </a:p>
        </p:txBody>
      </p:sp>
      <p:graphicFrame>
        <p:nvGraphicFramePr>
          <p:cNvPr id="11" name="Chart"/>
          <p:cNvGraphicFramePr/>
          <p:nvPr/>
        </p:nvGraphicFramePr>
        <p:xfrm>
          <a:off xmlns:a="http://schemas.openxmlformats.org/drawingml/2006/main" x="685800" y="2076450"/>
          <a:ext xmlns:a="http://schemas.openxmlformats.org/drawingml/2006/main" cx="10820400" cy="3552825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56a4e8e5e495416e"/>
          </a:graphicData>
        </a:graphic>
      </p:graphicFrame>
      <p:sp>
        <p:nvSpPr>
          <p:cNvPr id="6" name="text">
            <a:extLst xmlns:a="http://schemas.openxmlformats.org/drawingml/2006/main">
              <a:ext uri="{FF2B5EF4-FFF2-40B4-BE49-F238E27FC236}">
                <a16:creationId xmlns:a16="http://schemas.microsoft.com/office/drawing/2014/main" id="{3AB62693-ABD0-4392-BD99-B29541B806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905500"/>
            <a:ext cx="108204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875" b="0">
                <a:solidFill>
                  <a:srgbClr val="69776D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875" b="0">
                <a:solidFill>
                  <a:srgbClr val="69776D"/>
                </a:solidFill>
                <a:latin typeface="Microsoft JhengHei"/>
                <a:ea typeface="Microsoft JhengHei"/>
                <a:cs typeface="Microsoft JhengHei"/>
              </a:rPr>
              <a:t>每根柱代表不同年度的交易，年度差值不能解讀為改版進步</a:t>
            </a:r>
          </a:p>
        </p:txBody>
      </p:sp>
    </p:spTree>
    <p:extLst>
      <p:ext uri="{BB962C8B-B14F-4D97-AF65-F5344CB8AC3E}">
        <p14:creationId xmlns:p14="http://schemas.microsoft.com/office/powerpoint/2010/main" val="2007050780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5F3E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slide-title">
            <a:extLst xmlns:a="http://schemas.openxmlformats.org/drawingml/2006/main">
              <a:ext uri="{FF2B5EF4-FFF2-40B4-BE49-F238E27FC236}">
                <a16:creationId xmlns:a16="http://schemas.microsoft.com/office/drawing/2014/main" id="{0DC1883C-E994-41BE-B39B-00397179CE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57200"/>
            <a:ext cx="108204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203D35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3300" b="1">
                <a:solidFill>
                  <a:srgbClr val="203D35"/>
                </a:solidFill>
                <a:latin typeface="Microsoft JhengHei"/>
                <a:ea typeface="Microsoft JhengHei"/>
                <a:cs typeface="Microsoft JhengHei"/>
              </a:rPr>
              <a:t>Kaggle Public 的平均誤差約 199.86 萬元</a:t>
            </a:r>
          </a:p>
        </p:txBody>
      </p:sp>
      <p:sp>
        <p:nvSpPr>
          <p:cNvPr id="2" name="text">
            <a:extLst xmlns:a="http://schemas.openxmlformats.org/drawingml/2006/main">
              <a:ext uri="{FF2B5EF4-FFF2-40B4-BE49-F238E27FC236}">
                <a16:creationId xmlns:a16="http://schemas.microsoft.com/office/drawing/2014/main" id="{74E9EFD9-DD56-4B19-90DA-01940EA7BA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38900"/>
            <a:ext cx="6191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69776D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275" b="0">
                <a:solidFill>
                  <a:srgbClr val="69776D"/>
                </a:solidFill>
                <a:latin typeface="Microsoft JhengHei"/>
                <a:ea typeface="Microsoft JhengHei"/>
                <a:cs typeface="Microsoft JhengHei"/>
              </a:rPr>
              <a:t>臺灣房屋總價預測</a:t>
            </a:r>
          </a:p>
        </p:txBody>
      </p:sp>
      <p:sp>
        <p:nvSpPr>
          <p:cNvPr id="3" name="text">
            <a:extLst xmlns:a="http://schemas.openxmlformats.org/drawingml/2006/main">
              <a:ext uri="{FF2B5EF4-FFF2-40B4-BE49-F238E27FC236}">
                <a16:creationId xmlns:a16="http://schemas.microsoft.com/office/drawing/2014/main" id="{6DFFBA8B-B11C-4535-8000-4EB969C334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6410325"/>
            <a:ext cx="5524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425" b="0">
                <a:solidFill>
                  <a:srgbClr val="69776D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425" b="0">
                <a:solidFill>
                  <a:srgbClr val="69776D"/>
                </a:solidFill>
                <a:latin typeface="Microsoft JhengHei"/>
                <a:ea typeface="Microsoft JhengHei"/>
                <a:cs typeface="Microsoft JhengHei"/>
              </a:rPr>
              <a:t>10</a:t>
            </a:r>
          </a:p>
        </p:txBody>
      </p:sp>
      <p:sp>
        <p:nvSpPr>
          <p:cNvPr id="4" name="text">
            <a:extLst xmlns:a="http://schemas.openxmlformats.org/drawingml/2006/main">
              <a:ext uri="{FF2B5EF4-FFF2-40B4-BE49-F238E27FC236}">
                <a16:creationId xmlns:a16="http://schemas.microsoft.com/office/drawing/2014/main" id="{C2A10D84-5DEC-4025-842D-C69F98D53A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847850"/>
            <a:ext cx="10668000" cy="12668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6225" b="1">
                <a:solidFill>
                  <a:srgbClr val="31644F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6225" b="1">
                <a:solidFill>
                  <a:srgbClr val="31644F"/>
                </a:solidFill>
                <a:latin typeface="Microsoft JhengHei"/>
                <a:ea typeface="Microsoft JhengHei"/>
                <a:cs typeface="Microsoft JhengHei"/>
              </a:rPr>
              <a:t>199.86 萬元</a:t>
            </a:r>
          </a:p>
        </p:txBody>
      </p:sp>
      <p:sp>
        <p:nvSpPr>
          <p:cNvPr id="5" name="text">
            <a:extLst xmlns:a="http://schemas.openxmlformats.org/drawingml/2006/main">
              <a:ext uri="{FF2B5EF4-FFF2-40B4-BE49-F238E27FC236}">
                <a16:creationId xmlns:a16="http://schemas.microsoft.com/office/drawing/2014/main" id="{D53C2C7E-D4ED-4002-BA7D-992784E6B8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429000"/>
            <a:ext cx="1057275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0">
                <a:solidFill>
                  <a:srgbClr val="34483F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400" b="0">
                <a:solidFill>
                  <a:srgbClr val="34483F"/>
                </a:solidFill>
                <a:latin typeface="Microsoft JhengHei"/>
                <a:ea typeface="Microsoft JhengHei"/>
                <a:cs typeface="Microsoft JhengHei"/>
              </a:rPr>
              <a:t>Public MAE = 1,998,568.5706 元</a:t>
            </a:r>
          </a:p>
        </p:txBody>
      </p:sp>
      <p:sp>
        <p:nvSpPr>
          <p:cNvPr id="6" name="text">
            <a:extLst xmlns:a="http://schemas.openxmlformats.org/drawingml/2006/main">
              <a:ext uri="{FF2B5EF4-FFF2-40B4-BE49-F238E27FC236}">
                <a16:creationId xmlns:a16="http://schemas.microsoft.com/office/drawing/2014/main" id="{62E7ADE8-5119-4B1A-9C54-0D990EE61B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05300"/>
            <a:ext cx="10572750" cy="5048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325" b="0">
                <a:solidFill>
                  <a:srgbClr val="34483F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325" b="0">
                <a:solidFill>
                  <a:srgbClr val="34483F"/>
                </a:solidFill>
                <a:latin typeface="Microsoft JhengHei"/>
                <a:ea typeface="Microsoft JhengHei"/>
                <a:cs typeface="Microsoft JhengHei"/>
              </a:rPr>
              <a:t>約 30% test 交易的平均絕對總價誤差</a:t>
            </a:r>
          </a:p>
        </p:txBody>
      </p:sp>
      <p:sp>
        <p:nvSpPr>
          <p:cNvPr id="7" name="text">
            <a:extLst xmlns:a="http://schemas.openxmlformats.org/drawingml/2006/main">
              <a:ext uri="{FF2B5EF4-FFF2-40B4-BE49-F238E27FC236}">
                <a16:creationId xmlns:a16="http://schemas.microsoft.com/office/drawing/2014/main" id="{AD50D446-87A1-48BC-BAB4-6C9932CDEF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276850"/>
            <a:ext cx="10820400" cy="542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34483F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400" b="1">
                <a:solidFill>
                  <a:srgbClr val="34483F"/>
                </a:solidFill>
                <a:latin typeface="Microsoft JhengHei"/>
                <a:ea typeface="Microsoft JhengHei"/>
                <a:cs typeface="Microsoft JhengHei"/>
              </a:rPr>
              <a:t>Private 約占其餘 70%，目前成績未知</a:t>
            </a:r>
          </a:p>
        </p:txBody>
      </p:sp>
      <p:sp>
        <p:nvSpPr>
          <p:cNvPr id="8" name="text">
            <a:extLst xmlns:a="http://schemas.openxmlformats.org/drawingml/2006/main">
              <a:ext uri="{FF2B5EF4-FFF2-40B4-BE49-F238E27FC236}">
                <a16:creationId xmlns:a16="http://schemas.microsoft.com/office/drawing/2014/main" id="{457AE78C-C52D-4944-830B-5DF45462D1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019800"/>
            <a:ext cx="10820400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69776D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725" b="0">
                <a:solidFill>
                  <a:srgbClr val="69776D"/>
                </a:solidFill>
                <a:latin typeface="Microsoft JhengHei"/>
                <a:ea typeface="Microsoft JhengHei"/>
                <a:cs typeface="Microsoft JhengHei"/>
              </a:rPr>
              <a:t>來源為 Kaggle 提交成績截圖，不與不同評分集的歷史 MAE 混算</a:t>
            </a:r>
          </a:p>
        </p:txBody>
      </p:sp>
    </p:spTree>
    <p:extLst>
      <p:ext uri="{BB962C8B-B14F-4D97-AF65-F5344CB8AC3E}">
        <p14:creationId xmlns:p14="http://schemas.microsoft.com/office/powerpoint/2010/main" val="680599067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5F3E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slide-title">
            <a:extLst xmlns:a="http://schemas.openxmlformats.org/drawingml/2006/main">
              <a:ext uri="{FF2B5EF4-FFF2-40B4-BE49-F238E27FC236}">
                <a16:creationId xmlns:a16="http://schemas.microsoft.com/office/drawing/2014/main" id="{C7F67899-5FC3-475C-819A-80A77094E8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57200"/>
            <a:ext cx="108204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203D35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3300" b="1">
                <a:solidFill>
                  <a:srgbClr val="203D35"/>
                </a:solidFill>
                <a:latin typeface="Microsoft JhengHei"/>
                <a:ea typeface="Microsoft JhengHei"/>
                <a:cs typeface="Microsoft JhengHei"/>
              </a:rPr>
              <a:t>高價尾部與驗證資料重用仍是限制</a:t>
            </a:r>
          </a:p>
        </p:txBody>
      </p:sp>
      <p:sp>
        <p:nvSpPr>
          <p:cNvPr id="2" name="text">
            <a:extLst xmlns:a="http://schemas.openxmlformats.org/drawingml/2006/main">
              <a:ext uri="{FF2B5EF4-FFF2-40B4-BE49-F238E27FC236}">
                <a16:creationId xmlns:a16="http://schemas.microsoft.com/office/drawing/2014/main" id="{D8A9C3E6-0338-43E8-88AC-1CA21B35E8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38900"/>
            <a:ext cx="6191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69776D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275" b="0">
                <a:solidFill>
                  <a:srgbClr val="69776D"/>
                </a:solidFill>
                <a:latin typeface="Microsoft JhengHei"/>
                <a:ea typeface="Microsoft JhengHei"/>
                <a:cs typeface="Microsoft JhengHei"/>
              </a:rPr>
              <a:t>臺灣房屋總價預測</a:t>
            </a:r>
          </a:p>
        </p:txBody>
      </p:sp>
      <p:sp>
        <p:nvSpPr>
          <p:cNvPr id="3" name="text">
            <a:extLst xmlns:a="http://schemas.openxmlformats.org/drawingml/2006/main">
              <a:ext uri="{FF2B5EF4-FFF2-40B4-BE49-F238E27FC236}">
                <a16:creationId xmlns:a16="http://schemas.microsoft.com/office/drawing/2014/main" id="{5179724F-D76E-4FFF-A3D3-C7202570CA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6410325"/>
            <a:ext cx="5524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425" b="0">
                <a:solidFill>
                  <a:srgbClr val="69776D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425" b="0">
                <a:solidFill>
                  <a:srgbClr val="69776D"/>
                </a:solidFill>
                <a:latin typeface="Microsoft JhengHei"/>
                <a:ea typeface="Microsoft JhengHei"/>
                <a:cs typeface="Microsoft JhengHei"/>
              </a:rPr>
              <a:t>11</a:t>
            </a:r>
          </a:p>
        </p:txBody>
      </p:sp>
      <p:sp>
        <p:nvSpPr>
          <p:cNvPr id="4" name="text">
            <a:extLst xmlns:a="http://schemas.openxmlformats.org/drawingml/2006/main">
              <a:ext uri="{FF2B5EF4-FFF2-40B4-BE49-F238E27FC236}">
                <a16:creationId xmlns:a16="http://schemas.microsoft.com/office/drawing/2014/main" id="{F4BDB59A-0492-432F-AB24-9F79833342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704975"/>
            <a:ext cx="108204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AF553C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325" b="1">
                <a:solidFill>
                  <a:srgbClr val="AF553C"/>
                </a:solidFill>
                <a:latin typeface="Microsoft JhengHei"/>
                <a:ea typeface="Microsoft JhengHei"/>
                <a:cs typeface="Microsoft JhengHei"/>
              </a:rPr>
              <a:t>高價與大面積交易</a:t>
            </a:r>
          </a:p>
        </p:txBody>
      </p:sp>
      <p:sp>
        <p:nvSpPr>
          <p:cNvPr id="5" name="text">
            <a:extLst xmlns:a="http://schemas.openxmlformats.org/drawingml/2006/main">
              <a:ext uri="{FF2B5EF4-FFF2-40B4-BE49-F238E27FC236}">
                <a16:creationId xmlns:a16="http://schemas.microsoft.com/office/drawing/2014/main" id="{EFDE5CD8-5734-4BB2-AA2E-2C0399AEE6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305050"/>
            <a:ext cx="108204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34483F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100" b="0">
                <a:solidFill>
                  <a:srgbClr val="34483F"/>
                </a:solidFill>
                <a:latin typeface="Microsoft JhengHei"/>
                <a:ea typeface="Microsoft JhengHei"/>
                <a:cs typeface="Microsoft JhengHei"/>
              </a:rPr>
              <a:t>少量大額誤差可能拉高總價 MAE，平均值會掩蓋群組差異</a:t>
            </a:r>
          </a:p>
        </p:txBody>
      </p:sp>
      <p:sp>
        <p:nvSpPr>
          <p:cNvPr id="6" name="text">
            <a:extLst xmlns:a="http://schemas.openxmlformats.org/drawingml/2006/main">
              <a:ext uri="{FF2B5EF4-FFF2-40B4-BE49-F238E27FC236}">
                <a16:creationId xmlns:a16="http://schemas.microsoft.com/office/drawing/2014/main" id="{13B89EF9-82D4-43D8-A09D-8A855FF3F5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438525"/>
            <a:ext cx="108204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31644F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325" b="1">
                <a:solidFill>
                  <a:srgbClr val="31644F"/>
                </a:solidFill>
                <a:latin typeface="Microsoft JhengHei"/>
                <a:ea typeface="Microsoft JhengHei"/>
                <a:cs typeface="Microsoft JhengHei"/>
              </a:rPr>
              <a:t>時間窗曾多次參與模型選擇</a:t>
            </a:r>
          </a:p>
        </p:txBody>
      </p:sp>
      <p:sp>
        <p:nvSpPr>
          <p:cNvPr id="7" name="text">
            <a:extLst xmlns:a="http://schemas.openxmlformats.org/drawingml/2006/main">
              <a:ext uri="{FF2B5EF4-FFF2-40B4-BE49-F238E27FC236}">
                <a16:creationId xmlns:a16="http://schemas.microsoft.com/office/drawing/2014/main" id="{07031431-EC98-434C-8637-A7CDB1664E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38600"/>
            <a:ext cx="108204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34483F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100" b="0">
                <a:solidFill>
                  <a:srgbClr val="34483F"/>
                </a:solidFill>
                <a:latin typeface="Microsoft JhengHei"/>
                <a:ea typeface="Microsoft JhengHei"/>
                <a:cs typeface="Microsoft JhengHei"/>
              </a:rPr>
              <a:t>歷史回測可能樂觀，重抽樣區間也不能保證 Private 表現</a:t>
            </a:r>
          </a:p>
        </p:txBody>
      </p:sp>
      <p:sp>
        <p:nvSpPr>
          <p:cNvPr id="8" name="text">
            <a:extLst xmlns:a="http://schemas.openxmlformats.org/drawingml/2006/main">
              <a:ext uri="{FF2B5EF4-FFF2-40B4-BE49-F238E27FC236}">
                <a16:creationId xmlns:a16="http://schemas.microsoft.com/office/drawing/2014/main" id="{4FAD89F9-AC99-4E73-9C52-D6D1E072E3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153025"/>
            <a:ext cx="108204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31644F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325" b="1">
                <a:solidFill>
                  <a:srgbClr val="31644F"/>
                </a:solidFill>
                <a:latin typeface="Microsoft JhengHei"/>
                <a:ea typeface="Microsoft JhengHei"/>
                <a:cs typeface="Microsoft JhengHei"/>
              </a:rPr>
              <a:t>成交參考與地理資訊仍有適用範圍</a:t>
            </a:r>
          </a:p>
        </p:txBody>
      </p:sp>
      <p:sp>
        <p:nvSpPr>
          <p:cNvPr id="9" name="text">
            <a:extLst xmlns:a="http://schemas.openxmlformats.org/drawingml/2006/main">
              <a:ext uri="{FF2B5EF4-FFF2-40B4-BE49-F238E27FC236}">
                <a16:creationId xmlns:a16="http://schemas.microsoft.com/office/drawing/2014/main" id="{6DA53BAB-FB53-4FA6-82F9-4977707CC6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753100"/>
            <a:ext cx="10820400" cy="561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34483F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025" b="0">
                <a:solidFill>
                  <a:srgbClr val="34483F"/>
                </a:solidFill>
                <a:latin typeface="Microsoft JhengHei"/>
                <a:ea typeface="Microsoft JhengHei"/>
                <a:cs typeface="Microsoft JhengHei"/>
              </a:rPr>
              <a:t>新建案、缺失地址與粗略道路位置，可能降低可比交易的支持</a:t>
            </a:r>
          </a:p>
        </p:txBody>
      </p:sp>
    </p:spTree>
    <p:extLst>
      <p:ext uri="{BB962C8B-B14F-4D97-AF65-F5344CB8AC3E}">
        <p14:creationId xmlns:p14="http://schemas.microsoft.com/office/powerpoint/2010/main" val="1985114961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5F3E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slide-title">
            <a:extLst xmlns:a="http://schemas.openxmlformats.org/drawingml/2006/main">
              <a:ext uri="{FF2B5EF4-FFF2-40B4-BE49-F238E27FC236}">
                <a16:creationId xmlns:a16="http://schemas.microsoft.com/office/drawing/2014/main" id="{46202634-58FD-42AA-AB36-EB6F05A91F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57200"/>
            <a:ext cx="108204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203D35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3300" b="1">
                <a:solidFill>
                  <a:srgbClr val="203D35"/>
                </a:solidFill>
                <a:latin typeface="Microsoft JhengHei"/>
                <a:ea typeface="Microsoft JhengHei"/>
                <a:cs typeface="Microsoft JhengHei"/>
              </a:rPr>
              <a:t>原始 test 重新推論可重現提交檔</a:t>
            </a:r>
          </a:p>
        </p:txBody>
      </p:sp>
      <p:sp>
        <p:nvSpPr>
          <p:cNvPr id="2" name="text">
            <a:extLst xmlns:a="http://schemas.openxmlformats.org/drawingml/2006/main">
              <a:ext uri="{FF2B5EF4-FFF2-40B4-BE49-F238E27FC236}">
                <a16:creationId xmlns:a16="http://schemas.microsoft.com/office/drawing/2014/main" id="{25FBB42C-AEFB-4F96-9513-F103FF3A2F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38900"/>
            <a:ext cx="6191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69776D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275" b="0">
                <a:solidFill>
                  <a:srgbClr val="69776D"/>
                </a:solidFill>
                <a:latin typeface="Microsoft JhengHei"/>
                <a:ea typeface="Microsoft JhengHei"/>
                <a:cs typeface="Microsoft JhengHei"/>
              </a:rPr>
              <a:t>臺灣房屋總價預測</a:t>
            </a:r>
          </a:p>
        </p:txBody>
      </p:sp>
      <p:sp>
        <p:nvSpPr>
          <p:cNvPr id="3" name="text">
            <a:extLst xmlns:a="http://schemas.openxmlformats.org/drawingml/2006/main">
              <a:ext uri="{FF2B5EF4-FFF2-40B4-BE49-F238E27FC236}">
                <a16:creationId xmlns:a16="http://schemas.microsoft.com/office/drawing/2014/main" id="{CB640FC0-B0AC-43B1-A5F1-864CDF70C7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6410325"/>
            <a:ext cx="5524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425" b="0">
                <a:solidFill>
                  <a:srgbClr val="69776D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425" b="0">
                <a:solidFill>
                  <a:srgbClr val="69776D"/>
                </a:solidFill>
                <a:latin typeface="Microsoft JhengHei"/>
                <a:ea typeface="Microsoft JhengHei"/>
                <a:cs typeface="Microsoft JhengHei"/>
              </a:rPr>
              <a:t>12</a:t>
            </a:r>
          </a:p>
        </p:txBody>
      </p:sp>
      <p:sp>
        <p:nvSpPr>
          <p:cNvPr id="4" name="text">
            <a:extLst xmlns:a="http://schemas.openxmlformats.org/drawingml/2006/main">
              <a:ext uri="{FF2B5EF4-FFF2-40B4-BE49-F238E27FC236}">
                <a16:creationId xmlns:a16="http://schemas.microsoft.com/office/drawing/2014/main" id="{B0E9B4C6-41DF-4D9C-814C-CFF14537BB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685925"/>
            <a:ext cx="6667500" cy="971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5025" b="1">
                <a:solidFill>
                  <a:srgbClr val="31644F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5025" b="1">
                <a:solidFill>
                  <a:srgbClr val="31644F"/>
                </a:solidFill>
                <a:latin typeface="Microsoft JhengHei"/>
                <a:ea typeface="Microsoft JhengHei"/>
                <a:cs typeface="Microsoft JhengHei"/>
              </a:rPr>
              <a:t>47,073 筆</a:t>
            </a:r>
          </a:p>
        </p:txBody>
      </p:sp>
      <p:sp>
        <p:nvSpPr>
          <p:cNvPr id="5" name="text">
            <a:extLst xmlns:a="http://schemas.openxmlformats.org/drawingml/2006/main">
              <a:ext uri="{FF2B5EF4-FFF2-40B4-BE49-F238E27FC236}">
                <a16:creationId xmlns:a16="http://schemas.microsoft.com/office/drawing/2014/main" id="{2DC5995D-C2EE-4DA5-9FCF-FC0E17DF1C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2800350"/>
            <a:ext cx="105727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34483F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250" b="1">
                <a:solidFill>
                  <a:srgbClr val="34483F"/>
                </a:solidFill>
                <a:latin typeface="Microsoft JhengHei"/>
                <a:ea typeface="Microsoft JhengHei"/>
                <a:cs typeface="Microsoft JhengHei"/>
              </a:rPr>
              <a:t>六模型重新預測，與保存結果完全一致</a:t>
            </a:r>
          </a:p>
        </p:txBody>
      </p:sp>
      <p:sp>
        <p:nvSpPr>
          <p:cNvPr id="6" name="text">
            <a:extLst xmlns:a="http://schemas.openxmlformats.org/drawingml/2006/main">
              <a:ext uri="{FF2B5EF4-FFF2-40B4-BE49-F238E27FC236}">
                <a16:creationId xmlns:a16="http://schemas.microsoft.com/office/drawing/2014/main" id="{181F2E39-75AC-4A37-8C44-A2E450FE20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724275"/>
            <a:ext cx="108204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>
                <a:solidFill>
                  <a:srgbClr val="34483F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175" b="0">
                <a:solidFill>
                  <a:srgbClr val="34483F"/>
                </a:solidFill>
                <a:latin typeface="Microsoft JhengHei"/>
                <a:ea typeface="Microsoft JhengHei"/>
                <a:cs typeface="Microsoft JhengHei"/>
              </a:rPr>
              <a:t>原 test Excel ＋ 保存地理、模型與 fit 狀態</a:t>
            </a:r>
          </a:p>
        </p:txBody>
      </p:sp>
      <p:sp>
        <p:nvSpPr>
          <p:cNvPr id="7" name="text">
            <a:extLst xmlns:a="http://schemas.openxmlformats.org/drawingml/2006/main">
              <a:ext uri="{FF2B5EF4-FFF2-40B4-BE49-F238E27FC236}">
                <a16:creationId xmlns:a16="http://schemas.microsoft.com/office/drawing/2014/main" id="{F62F22A7-0B6A-487A-B37E-33D83948F0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24350"/>
            <a:ext cx="108204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>
                <a:solidFill>
                  <a:srgbClr val="34483F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175" b="0">
                <a:solidFill>
                  <a:srgbClr val="34483F"/>
                </a:solidFill>
                <a:latin typeface="Microsoft JhengHei"/>
                <a:ea typeface="Microsoft JhengHei"/>
                <a:cs typeface="Microsoft JhengHei"/>
              </a:rPr>
              <a:t>未取整預測最大差 0 元，CSV 的 SHA256 相同</a:t>
            </a:r>
          </a:p>
        </p:txBody>
      </p:sp>
      <p:sp>
        <p:nvSpPr>
          <p:cNvPr id="8" name="text">
            <a:extLst xmlns:a="http://schemas.openxmlformats.org/drawingml/2006/main">
              <a:ext uri="{FF2B5EF4-FFF2-40B4-BE49-F238E27FC236}">
                <a16:creationId xmlns:a16="http://schemas.microsoft.com/office/drawing/2014/main" id="{53FE5651-0683-452D-9044-3C555EFF81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019675"/>
            <a:ext cx="6905625" cy="5048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75" b="1">
                <a:solidFill>
                  <a:srgbClr val="31644F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475" b="1">
                <a:solidFill>
                  <a:srgbClr val="31644F"/>
                </a:solidFill>
                <a:latin typeface="Microsoft JhengHei"/>
                <a:ea typeface="Microsoft JhengHei"/>
                <a:cs typeface="Microsoft JhengHei"/>
              </a:rPr>
              <a:t>單一入口 84.74 秒</a:t>
            </a:r>
          </a:p>
        </p:txBody>
      </p:sp>
      <p:sp>
        <p:nvSpPr>
          <p:cNvPr id="9" name="text">
            <a:extLst xmlns:a="http://schemas.openxmlformats.org/drawingml/2006/main">
              <a:ext uri="{FF2B5EF4-FFF2-40B4-BE49-F238E27FC236}">
                <a16:creationId xmlns:a16="http://schemas.microsoft.com/office/drawing/2014/main" id="{F51FF0C3-AC97-4A81-807B-1D42D5A990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67575" y="5114925"/>
            <a:ext cx="43053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69776D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800" b="0">
                <a:solidFill>
                  <a:srgbClr val="69776D"/>
                </a:solidFill>
                <a:latin typeface="Microsoft JhengHei"/>
                <a:ea typeface="Microsoft JhengHei"/>
                <a:cs typeface="Microsoft JhengHei"/>
              </a:rPr>
              <a:t>同機既有環境／RTX 4060 Ti</a:t>
            </a:r>
          </a:p>
        </p:txBody>
      </p:sp>
      <p:sp>
        <p:nvSpPr>
          <p:cNvPr id="10" name="text">
            <a:extLst xmlns:a="http://schemas.openxmlformats.org/drawingml/2006/main">
              <a:ext uri="{FF2B5EF4-FFF2-40B4-BE49-F238E27FC236}">
                <a16:creationId xmlns:a16="http://schemas.microsoft.com/office/drawing/2014/main" id="{31678AC3-53AE-416A-8C0C-FD71E91349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848350"/>
            <a:ext cx="108204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950" b="0">
                <a:solidFill>
                  <a:srgbClr val="AF553C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950" b="0">
                <a:solidFill>
                  <a:srgbClr val="AF553C"/>
                </a:solidFill>
                <a:latin typeface="Microsoft JhengHei"/>
                <a:ea typeface="Microsoft JhengHei"/>
                <a:cs typeface="Microsoft JhengHei"/>
              </a:rPr>
              <a:t>全新安裝、從零重訓與地理重建尚未驗證</a:t>
            </a:r>
          </a:p>
        </p:txBody>
      </p:sp>
    </p:spTree>
    <p:extLst>
      <p:ext uri="{BB962C8B-B14F-4D97-AF65-F5344CB8AC3E}">
        <p14:creationId xmlns:p14="http://schemas.microsoft.com/office/powerpoint/2010/main" val="792953314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203D3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slide-title">
            <a:extLst xmlns:a="http://schemas.openxmlformats.org/drawingml/2006/main">
              <a:ext uri="{FF2B5EF4-FFF2-40B4-BE49-F238E27FC236}">
                <a16:creationId xmlns:a16="http://schemas.microsoft.com/office/drawing/2014/main" id="{E2EDFB4C-D8D0-4E21-9D54-AE464E7490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57200"/>
            <a:ext cx="108204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330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研究結論與程式交付</a:t>
            </a:r>
          </a:p>
        </p:txBody>
      </p:sp>
      <p:sp>
        <p:nvSpPr>
          <p:cNvPr id="2" name="text">
            <a:extLst xmlns:a="http://schemas.openxmlformats.org/drawingml/2006/main">
              <a:ext uri="{FF2B5EF4-FFF2-40B4-BE49-F238E27FC236}">
                <a16:creationId xmlns:a16="http://schemas.microsoft.com/office/drawing/2014/main" id="{8BE3DE0A-47DE-460F-A3DF-CA75893537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38900"/>
            <a:ext cx="6191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DEE8D5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275" b="0">
                <a:solidFill>
                  <a:srgbClr val="DEE8D5"/>
                </a:solidFill>
                <a:latin typeface="Microsoft JhengHei"/>
                <a:ea typeface="Microsoft JhengHei"/>
                <a:cs typeface="Microsoft JhengHei"/>
              </a:rPr>
              <a:t>臺灣房屋總價預測</a:t>
            </a:r>
          </a:p>
        </p:txBody>
      </p:sp>
      <p:sp>
        <p:nvSpPr>
          <p:cNvPr id="3" name="text">
            <a:extLst xmlns:a="http://schemas.openxmlformats.org/drawingml/2006/main">
              <a:ext uri="{FF2B5EF4-FFF2-40B4-BE49-F238E27FC236}">
                <a16:creationId xmlns:a16="http://schemas.microsoft.com/office/drawing/2014/main" id="{450A0C1E-F87C-4F34-AD9E-9819BAEBD2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6410325"/>
            <a:ext cx="5524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425" b="0">
                <a:solidFill>
                  <a:srgbClr val="DEE8D5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425" b="0">
                <a:solidFill>
                  <a:srgbClr val="DEE8D5"/>
                </a:solidFill>
                <a:latin typeface="Microsoft JhengHei"/>
                <a:ea typeface="Microsoft JhengHei"/>
                <a:cs typeface="Microsoft JhengHei"/>
              </a:rPr>
              <a:t>13</a:t>
            </a:r>
          </a:p>
        </p:txBody>
      </p:sp>
      <p:sp>
        <p:nvSpPr>
          <p:cNvPr id="4" name="text">
            <a:extLst xmlns:a="http://schemas.openxmlformats.org/drawingml/2006/main">
              <a:ext uri="{FF2B5EF4-FFF2-40B4-BE49-F238E27FC236}">
                <a16:creationId xmlns:a16="http://schemas.microsoft.com/office/drawing/2014/main" id="{3165F1F4-6A38-49AD-8CB1-2DB88B43B3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724025"/>
            <a:ext cx="105727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C8DC9E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850" b="1">
                <a:solidFill>
                  <a:srgbClr val="C8DC9E"/>
                </a:solidFill>
                <a:latin typeface="Microsoft JhengHei"/>
                <a:ea typeface="Microsoft JhengHei"/>
                <a:cs typeface="Microsoft JhengHei"/>
              </a:rPr>
              <a:t>以房屋屬性與歷史成交預測總價</a:t>
            </a:r>
          </a:p>
        </p:txBody>
      </p:sp>
      <p:sp>
        <p:nvSpPr>
          <p:cNvPr id="5" name="text">
            <a:extLst xmlns:a="http://schemas.openxmlformats.org/drawingml/2006/main">
              <a:ext uri="{FF2B5EF4-FFF2-40B4-BE49-F238E27FC236}">
                <a16:creationId xmlns:a16="http://schemas.microsoft.com/office/drawing/2014/main" id="{A79C3775-BB72-49BD-8205-77A6ADBC67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600325"/>
            <a:ext cx="10820400" cy="600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325" b="0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325" b="0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近期加權的單價學習，搭配三分支中位數組合</a:t>
            </a:r>
          </a:p>
        </p:txBody>
      </p:sp>
      <p:sp>
        <p:nvSpPr>
          <p:cNvPr id="6" name="text">
            <a:extLst xmlns:a="http://schemas.openxmlformats.org/drawingml/2006/main">
              <a:ext uri="{FF2B5EF4-FFF2-40B4-BE49-F238E27FC236}">
                <a16:creationId xmlns:a16="http://schemas.microsoft.com/office/drawing/2014/main" id="{B662B8CC-75C2-4BCE-BA8D-E3CB119D90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533775"/>
            <a:ext cx="108204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325" b="0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325" b="0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Public MAE 約 199.86 萬元，Private 尚未知</a:t>
            </a:r>
          </a:p>
        </p:txBody>
      </p:sp>
      <p:sp>
        <p:nvSpPr>
          <p:cNvPr id="7" name="text">
            <a:extLst xmlns:a="http://schemas.openxmlformats.org/drawingml/2006/main">
              <a:ext uri="{FF2B5EF4-FFF2-40B4-BE49-F238E27FC236}">
                <a16:creationId xmlns:a16="http://schemas.microsoft.com/office/drawing/2014/main" id="{37CD3876-EC1D-4E0F-A502-DA7962CBAA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505325"/>
            <a:ext cx="108204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250" b="0">
                <a:solidFill>
                  <a:srgbClr val="DEE8D5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250" b="0">
                <a:solidFill>
                  <a:srgbClr val="DEE8D5"/>
                </a:solidFill>
                <a:latin typeface="Microsoft JhengHei"/>
                <a:ea typeface="Microsoft JhengHei"/>
                <a:cs typeface="Microsoft JhengHei"/>
              </a:rPr>
              <a:t>程式入口  src/predict_v22.py</a:t>
            </a:r>
          </a:p>
        </p:txBody>
      </p:sp>
      <p:sp>
        <p:nvSpPr>
          <p:cNvPr id="8" name="text">
            <a:extLst xmlns:a="http://schemas.openxmlformats.org/drawingml/2006/main">
              <a:ext uri="{FF2B5EF4-FFF2-40B4-BE49-F238E27FC236}">
                <a16:creationId xmlns:a16="http://schemas.microsoft.com/office/drawing/2014/main" id="{82B2E445-B327-435F-95BB-6E97A7D059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124450"/>
            <a:ext cx="10820400" cy="371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DEE8D5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800" b="0">
                <a:solidFill>
                  <a:srgbClr val="DEE8D5"/>
                </a:solidFill>
                <a:latin typeface="Microsoft JhengHei"/>
                <a:ea typeface="Microsoft JhengHei"/>
                <a:cs typeface="Microsoft JhengHei"/>
              </a:rPr>
              <a:t>github.com/ziyi930108/nycu-house-price-regression</a:t>
            </a:r>
          </a:p>
        </p:txBody>
      </p:sp>
      <p:sp>
        <p:nvSpPr>
          <p:cNvPr id="9" name="text">
            <a:extLst xmlns:a="http://schemas.openxmlformats.org/drawingml/2006/main">
              <a:ext uri="{FF2B5EF4-FFF2-40B4-BE49-F238E27FC236}">
                <a16:creationId xmlns:a16="http://schemas.microsoft.com/office/drawing/2014/main" id="{05BF948D-DFB1-4CB4-9944-533A8139C1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829300"/>
            <a:ext cx="10572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1">
                <a:solidFill>
                  <a:srgbClr val="C8DC9E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175" b="1">
                <a:solidFill>
                  <a:srgbClr val="C8DC9E"/>
                </a:solidFill>
                <a:latin typeface="Microsoft JhengHei"/>
                <a:ea typeface="Microsoft JhengHei"/>
                <a:cs typeface="Microsoft JhengHei"/>
              </a:rPr>
              <a:t>程式、正式報告與逐頁講稿均已保存</a:t>
            </a:r>
          </a:p>
        </p:txBody>
      </p:sp>
    </p:spTree>
    <p:extLst>
      <p:ext uri="{BB962C8B-B14F-4D97-AF65-F5344CB8AC3E}">
        <p14:creationId xmlns:p14="http://schemas.microsoft.com/office/powerpoint/2010/main" val="153635232"/>
      </p:ext>
    </p:extLst>
  </p:cSld>
</p:sld>
</file>

<file path=ppt/slides/slide14.xml><?xml version="1.0" encoding="utf-8"?>
<p:sld xmlns:p="http://schemas.openxmlformats.org/presentationml/2006/main">
  <p:cSld>
    <p:bg>
      <p:bgPr>
        <a:solidFill xmlns:a="http://schemas.openxmlformats.org/drawingml/2006/main">
          <a:srgbClr val="F5F3E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slide-title">
            <a:extLst xmlns:a="http://schemas.openxmlformats.org/drawingml/2006/main">
              <a:ext uri="{FF2B5EF4-FFF2-40B4-BE49-F238E27FC236}">
                <a16:creationId xmlns:a16="http://schemas.microsoft.com/office/drawing/2014/main" id="{4717D9D5-7F78-49EE-BC3B-E67AF1E25A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57200"/>
            <a:ext cx="108204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203D35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3300" b="1">
                <a:solidFill>
                  <a:srgbClr val="203D35"/>
                </a:solidFill>
                <a:latin typeface="Microsoft JhengHei"/>
                <a:ea typeface="Microsoft JhengHei"/>
                <a:cs typeface="Microsoft JhengHei"/>
              </a:rPr>
              <a:t>附錄 A　完整組合公式</a:t>
            </a:r>
          </a:p>
        </p:txBody>
      </p:sp>
      <p:sp>
        <p:nvSpPr>
          <p:cNvPr id="2" name="text">
            <a:extLst xmlns:a="http://schemas.openxmlformats.org/drawingml/2006/main">
              <a:ext uri="{FF2B5EF4-FFF2-40B4-BE49-F238E27FC236}">
                <a16:creationId xmlns:a16="http://schemas.microsoft.com/office/drawing/2014/main" id="{A446E4CE-605E-42AD-9487-814D99F292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38900"/>
            <a:ext cx="6191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69776D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275" b="0">
                <a:solidFill>
                  <a:srgbClr val="69776D"/>
                </a:solidFill>
                <a:latin typeface="Microsoft JhengHei"/>
                <a:ea typeface="Microsoft JhengHei"/>
                <a:cs typeface="Microsoft JhengHei"/>
              </a:rPr>
              <a:t>技術附錄</a:t>
            </a:r>
          </a:p>
        </p:txBody>
      </p:sp>
      <p:sp>
        <p:nvSpPr>
          <p:cNvPr id="3" name="text">
            <a:extLst xmlns:a="http://schemas.openxmlformats.org/drawingml/2006/main">
              <a:ext uri="{FF2B5EF4-FFF2-40B4-BE49-F238E27FC236}">
                <a16:creationId xmlns:a16="http://schemas.microsoft.com/office/drawing/2014/main" id="{4E96BDA5-C2F4-45BB-A01D-A4585051E1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6410325"/>
            <a:ext cx="5524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425" b="0">
                <a:solidFill>
                  <a:srgbClr val="69776D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425" b="0">
                <a:solidFill>
                  <a:srgbClr val="69776D"/>
                </a:solidFill>
                <a:latin typeface="Microsoft JhengHei"/>
                <a:ea typeface="Microsoft JhengHei"/>
                <a:cs typeface="Microsoft JhengHei"/>
              </a:rPr>
              <a:t>14</a:t>
            </a:r>
          </a:p>
        </p:txBody>
      </p:sp>
      <p:sp>
        <p:nvSpPr>
          <p:cNvPr id="4" name="text">
            <a:extLst xmlns:a="http://schemas.openxmlformats.org/drawingml/2006/main">
              <a:ext uri="{FF2B5EF4-FFF2-40B4-BE49-F238E27FC236}">
                <a16:creationId xmlns:a16="http://schemas.microsoft.com/office/drawing/2014/main" id="{411FAE2F-6785-46DE-A281-25D38EA7D5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381125"/>
            <a:ext cx="1057275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31644F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100" b="1">
                <a:solidFill>
                  <a:srgbClr val="31644F"/>
                </a:solidFill>
                <a:latin typeface="Microsoft JhengHei"/>
                <a:ea typeface="Microsoft JhengHei"/>
                <a:cs typeface="Microsoft JhengHei"/>
              </a:rPr>
              <a:t>所有模型輸出先還原成總價「元」</a:t>
            </a:r>
          </a:p>
        </p:txBody>
      </p:sp>
      <p:sp>
        <p:nvSpPr>
          <p:cNvPr id="5" name="text">
            <a:extLst xmlns:a="http://schemas.openxmlformats.org/drawingml/2006/main">
              <a:ext uri="{FF2B5EF4-FFF2-40B4-BE49-F238E27FC236}">
                <a16:creationId xmlns:a16="http://schemas.microsoft.com/office/drawing/2014/main" id="{47DB5CF1-F3A3-42C6-A96A-A380E4B164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114550"/>
            <a:ext cx="10782300" cy="2990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203D35"/>
                </a:solidFill>
                <a:latin typeface="Consolas"/>
                <a:ea typeface="Consolas"/>
                <a:cs typeface="Consolas"/>
              </a:defRPr>
            </a:pPr>
            <a:r>
              <a:rPr sz="2025" b="0">
                <a:solidFill>
                  <a:srgbClr val="203D35"/>
                </a:solidFill>
                <a:latin typeface="Consolas"/>
                <a:ea typeface="Consolas"/>
                <a:cs typeface="Consolas"/>
              </a:rPr>
              <a:t>B_unit = .75 * C_unit + .25 * L_unit</a:t>
            </a:r>
          </a:p>
          <a:p xmlns:a="http://schemas.openxmlformats.org/drawingml/2006/main">
            <a:pPr algn="l">
              <a:defRPr sz="2025" b="0">
                <a:solidFill>
                  <a:srgbClr val="203D35"/>
                </a:solidFill>
                <a:latin typeface="Consolas"/>
                <a:ea typeface="Consolas"/>
                <a:cs typeface="Consolas"/>
              </a:defRPr>
            </a:pPr>
            <a:r>
              <a:rPr sz="2025" b="0">
                <a:solidFill>
                  <a:srgbClr val="203D35"/>
                </a:solidFill>
                <a:latin typeface="Consolas"/>
                <a:ea typeface="Consolas"/>
                <a:cs typeface="Consolas"/>
              </a:rPr>
              <a:t>B_nn   = .75 * (.5 * N_area + .5 * N_prior) + .25 * L_unit</a:t>
            </a:r>
          </a:p>
          <a:p xmlns:a="http://schemas.openxmlformats.org/drawingml/2006/main">
            <a:pPr algn="l">
              <a:defRPr sz="2025" b="0">
                <a:solidFill>
                  <a:srgbClr val="203D35"/>
                </a:solidFill>
                <a:latin typeface="Consolas"/>
                <a:ea typeface="Consolas"/>
                <a:cs typeface="Consolas"/>
              </a:defRPr>
            </a:pPr>
            <a:r>
              <a:rPr sz="2025" b="0">
                <a:solidFill>
                  <a:srgbClr val="203D35"/>
                </a:solidFill>
                <a:latin typeface="Consolas"/>
                <a:ea typeface="Consolas"/>
                <a:cs typeface="Consolas"/>
              </a:rPr>
              <a:t>B_log  = .75 * (.5 * C_raw  + .5 * C_log)   + .25 * L_unit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2025" b="0">
                <a:solidFill>
                  <a:srgbClr val="203D35"/>
                </a:solidFill>
                <a:latin typeface="Consolas"/>
                <a:ea typeface="Consolas"/>
                <a:cs typeface="Consolas"/>
              </a:defRPr>
            </a:pPr>
            <a:r>
              <a:rPr sz="2025" b="0">
                <a:solidFill>
                  <a:srgbClr val="203D35"/>
                </a:solidFill>
                <a:latin typeface="Consolas"/>
                <a:ea typeface="Consolas"/>
                <a:cs typeface="Consolas"/>
              </a:rPr>
              <a:t>U = S(B_unit, R(B_unit))</a:t>
            </a:r>
          </a:p>
          <a:p xmlns:a="http://schemas.openxmlformats.org/drawingml/2006/main">
            <a:pPr algn="l">
              <a:defRPr sz="2025" b="0">
                <a:solidFill>
                  <a:srgbClr val="203D35"/>
                </a:solidFill>
                <a:latin typeface="Consolas"/>
                <a:ea typeface="Consolas"/>
                <a:cs typeface="Consolas"/>
              </a:defRPr>
            </a:pPr>
            <a:r>
              <a:rPr sz="2025" b="0">
                <a:solidFill>
                  <a:srgbClr val="203D35"/>
                </a:solidFill>
                <a:latin typeface="Consolas"/>
                <a:ea typeface="Consolas"/>
                <a:cs typeface="Consolas"/>
              </a:rPr>
              <a:t>N = S(B_nn,   R(B_nn))</a:t>
            </a:r>
          </a:p>
          <a:p xmlns:a="http://schemas.openxmlformats.org/drawingml/2006/main">
            <a:pPr algn="l">
              <a:defRPr sz="2025" b="0">
                <a:solidFill>
                  <a:srgbClr val="203D35"/>
                </a:solidFill>
                <a:latin typeface="Consolas"/>
                <a:ea typeface="Consolas"/>
                <a:cs typeface="Consolas"/>
              </a:defRPr>
            </a:pPr>
            <a:r>
              <a:rPr sz="2025" b="0">
                <a:solidFill>
                  <a:srgbClr val="203D35"/>
                </a:solidFill>
                <a:latin typeface="Consolas"/>
                <a:ea typeface="Consolas"/>
                <a:cs typeface="Consolas"/>
              </a:rPr>
              <a:t>H = S(B_log,  R(B_log))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2025" b="0">
                <a:solidFill>
                  <a:srgbClr val="203D35"/>
                </a:solidFill>
                <a:latin typeface="Consolas"/>
                <a:ea typeface="Consolas"/>
                <a:cs typeface="Consolas"/>
              </a:defRPr>
            </a:pPr>
            <a:r>
              <a:rPr sz="2025" b="0">
                <a:solidFill>
                  <a:srgbClr val="203D35"/>
                </a:solidFill>
                <a:latin typeface="Consolas"/>
                <a:ea typeface="Consolas"/>
                <a:cs typeface="Consolas"/>
              </a:rPr>
              <a:t>prediction = median(N, H, U)</a:t>
            </a:r>
          </a:p>
        </p:txBody>
      </p:sp>
      <p:sp>
        <p:nvSpPr>
          <p:cNvPr id="6" name="text">
            <a:extLst xmlns:a="http://schemas.openxmlformats.org/drawingml/2006/main">
              <a:ext uri="{FF2B5EF4-FFF2-40B4-BE49-F238E27FC236}">
                <a16:creationId xmlns:a16="http://schemas.microsoft.com/office/drawing/2014/main" id="{8B529D9D-8680-49FC-B231-36AA4D42BE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429250"/>
            <a:ext cx="108204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34483F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025" b="0">
                <a:solidFill>
                  <a:srgbClr val="34483F"/>
                </a:solidFill>
                <a:latin typeface="Microsoft JhengHei"/>
                <a:ea typeface="Microsoft JhengHei"/>
                <a:cs typeface="Microsoft JhengHei"/>
              </a:rPr>
              <a:t>R：成交參考與時間趨勢　　S：固定空間修正</a:t>
            </a:r>
          </a:p>
        </p:txBody>
      </p:sp>
      <p:sp>
        <p:nvSpPr>
          <p:cNvPr id="7" name="text">
            <a:extLst xmlns:a="http://schemas.openxmlformats.org/drawingml/2006/main">
              <a:ext uri="{FF2B5EF4-FFF2-40B4-BE49-F238E27FC236}">
                <a16:creationId xmlns:a16="http://schemas.microsoft.com/office/drawing/2014/main" id="{0103B853-3E41-49B8-A170-D4DD420283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924550"/>
            <a:ext cx="108204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69776D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725" b="0">
                <a:solidFill>
                  <a:srgbClr val="69776D"/>
                </a:solidFill>
                <a:latin typeface="Microsoft JhengHei"/>
                <a:ea typeface="Microsoft JhengHei"/>
                <a:cs typeface="Microsoft JhengHei"/>
              </a:rPr>
              <a:t>省略共同特徵與保存狀態引數，修正發生在每條分支內</a:t>
            </a:r>
          </a:p>
        </p:txBody>
      </p:sp>
    </p:spTree>
    <p:extLst>
      <p:ext uri="{BB962C8B-B14F-4D97-AF65-F5344CB8AC3E}">
        <p14:creationId xmlns:p14="http://schemas.microsoft.com/office/powerpoint/2010/main" val="1024858934"/>
      </p:ext>
    </p:extLst>
  </p:cSld>
</p:sld>
</file>

<file path=ppt/slides/slide15.xml><?xml version="1.0" encoding="utf-8"?>
<p:sld xmlns:p="http://schemas.openxmlformats.org/presentationml/2006/main">
  <p:cSld>
    <p:bg>
      <p:bgPr>
        <a:solidFill xmlns:a="http://schemas.openxmlformats.org/drawingml/2006/main">
          <a:srgbClr val="F5F3E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slide-title">
            <a:extLst xmlns:a="http://schemas.openxmlformats.org/drawingml/2006/main">
              <a:ext uri="{FF2B5EF4-FFF2-40B4-BE49-F238E27FC236}">
                <a16:creationId xmlns:a16="http://schemas.microsoft.com/office/drawing/2014/main" id="{FF6805F0-D27D-42BB-B611-D0CD4907A6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57200"/>
            <a:ext cx="108204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203D35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3300" b="1">
                <a:solidFill>
                  <a:srgbClr val="203D35"/>
                </a:solidFill>
                <a:latin typeface="Microsoft JhengHei"/>
                <a:ea typeface="Microsoft JhengHei"/>
                <a:cs typeface="Microsoft JhengHei"/>
              </a:rPr>
              <a:t>附錄 B　單價模型核心程式與設定</a:t>
            </a:r>
          </a:p>
        </p:txBody>
      </p:sp>
      <p:sp>
        <p:nvSpPr>
          <p:cNvPr id="2" name="text">
            <a:extLst xmlns:a="http://schemas.openxmlformats.org/drawingml/2006/main">
              <a:ext uri="{FF2B5EF4-FFF2-40B4-BE49-F238E27FC236}">
                <a16:creationId xmlns:a16="http://schemas.microsoft.com/office/drawing/2014/main" id="{6E2B00C2-FFAC-430E-86AE-F57D2CB76E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38900"/>
            <a:ext cx="6191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69776D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275" b="0">
                <a:solidFill>
                  <a:srgbClr val="69776D"/>
                </a:solidFill>
                <a:latin typeface="Microsoft JhengHei"/>
                <a:ea typeface="Microsoft JhengHei"/>
                <a:cs typeface="Microsoft JhengHei"/>
              </a:rPr>
              <a:t>技術附錄</a:t>
            </a:r>
          </a:p>
        </p:txBody>
      </p:sp>
      <p:sp>
        <p:nvSpPr>
          <p:cNvPr id="3" name="text">
            <a:extLst xmlns:a="http://schemas.openxmlformats.org/drawingml/2006/main">
              <a:ext uri="{FF2B5EF4-FFF2-40B4-BE49-F238E27FC236}">
                <a16:creationId xmlns:a16="http://schemas.microsoft.com/office/drawing/2014/main" id="{38DBD06E-F396-46F2-AE4D-7B65A0AD33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6410325"/>
            <a:ext cx="5524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425" b="0">
                <a:solidFill>
                  <a:srgbClr val="69776D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425" b="0">
                <a:solidFill>
                  <a:srgbClr val="69776D"/>
                </a:solidFill>
                <a:latin typeface="Microsoft JhengHei"/>
                <a:ea typeface="Microsoft JhengHei"/>
                <a:cs typeface="Microsoft JhengHei"/>
              </a:rPr>
              <a:t>15</a:t>
            </a:r>
          </a:p>
        </p:txBody>
      </p:sp>
      <p:sp>
        <p:nvSpPr>
          <p:cNvPr id="4" name="text">
            <a:extLst xmlns:a="http://schemas.openxmlformats.org/drawingml/2006/main">
              <a:ext uri="{FF2B5EF4-FFF2-40B4-BE49-F238E27FC236}">
                <a16:creationId xmlns:a16="http://schemas.microsoft.com/office/drawing/2014/main" id="{E4458F4B-0B28-4CCD-857A-D55237DBB2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447800"/>
            <a:ext cx="64770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1">
                <a:solidFill>
                  <a:srgbClr val="31644F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025" b="1">
                <a:solidFill>
                  <a:srgbClr val="31644F"/>
                </a:solidFill>
                <a:latin typeface="Microsoft JhengHei"/>
                <a:ea typeface="Microsoft JhengHei"/>
                <a:cs typeface="Microsoft JhengHei"/>
              </a:rPr>
              <a:t>訓練核心（省略來源與保存檢查）</a:t>
            </a:r>
          </a:p>
        </p:txBody>
      </p:sp>
      <p:sp>
        <p:nvSpPr>
          <p:cNvPr id="5" name="text">
            <a:extLst xmlns:a="http://schemas.openxmlformats.org/drawingml/2006/main">
              <a:ext uri="{FF2B5EF4-FFF2-40B4-BE49-F238E27FC236}">
                <a16:creationId xmlns:a16="http://schemas.microsoft.com/office/drawing/2014/main" id="{AE520D1E-A664-4A62-9790-9F874DD198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124075"/>
            <a:ext cx="6000750" cy="3048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203D35"/>
                </a:solidFill>
                <a:latin typeface="Consolas"/>
                <a:ea typeface="Consolas"/>
                <a:cs typeface="Consolas"/>
              </a:defRPr>
            </a:pPr>
            <a:r>
              <a:rPr sz="2100" b="0">
                <a:solidFill>
                  <a:srgbClr val="203D35"/>
                </a:solidFill>
                <a:latin typeface="Consolas"/>
                <a:ea typeface="Consolas"/>
                <a:cs typeface="Consolas"/>
              </a:rPr>
              <a:t>A = effective_area(X)</a:t>
            </a:r>
          </a:p>
          <a:p xmlns:a="http://schemas.openxmlformats.org/drawingml/2006/main">
            <a:pPr algn="l">
              <a:defRPr sz="2100" b="0">
                <a:solidFill>
                  <a:srgbClr val="203D35"/>
                </a:solidFill>
                <a:latin typeface="Consolas"/>
                <a:ea typeface="Consolas"/>
                <a:cs typeface="Consolas"/>
              </a:defRPr>
            </a:pPr>
            <a:r>
              <a:rPr sz="2100" b="0">
                <a:solidFill>
                  <a:srgbClr val="203D35"/>
                </a:solidFill>
                <a:latin typeface="Consolas"/>
                <a:ea typeface="Consolas"/>
                <a:cs typeface="Consolas"/>
              </a:rPr>
              <a:t>target = y / (A * 1e4)</a:t>
            </a:r>
          </a:p>
          <a:p xmlns:a="http://schemas.openxmlformats.org/drawingml/2006/main">
            <a:pPr algn="l">
              <a:defRPr sz="2100" b="0">
                <a:solidFill>
                  <a:srgbClr val="203D35"/>
                </a:solidFill>
                <a:latin typeface="Consolas"/>
                <a:ea typeface="Consolas"/>
                <a:cs typeface="Consolas"/>
              </a:defRPr>
            </a:pPr>
            <a:r>
              <a:rPr sz="2100" b="0">
                <a:solidFill>
                  <a:srgbClr val="203D35"/>
                </a:solidFill>
                <a:latin typeface="Consolas"/>
                <a:ea typeface="Consolas"/>
                <a:cs typeface="Consolas"/>
              </a:rPr>
              <a:t>weight = A / 100 * date_w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2100" b="0">
                <a:solidFill>
                  <a:srgbClr val="203D35"/>
                </a:solidFill>
                <a:latin typeface="Consolas"/>
                <a:ea typeface="Consolas"/>
                <a:cs typeface="Consolas"/>
              </a:defRPr>
            </a:pPr>
            <a:r>
              <a:rPr sz="2100" b="0">
                <a:solidFill>
                  <a:srgbClr val="203D35"/>
                </a:solidFill>
                <a:latin typeface="Consolas"/>
                <a:ea typeface="Consolas"/>
                <a:cs typeface="Consolas"/>
              </a:rPr>
              <a:t>model.fit(Pool(</a:t>
            </a:r>
          </a:p>
          <a:p xmlns:a="http://schemas.openxmlformats.org/drawingml/2006/main">
            <a:pPr algn="l">
              <a:defRPr sz="2100" b="0">
                <a:solidFill>
                  <a:srgbClr val="203D35"/>
                </a:solidFill>
                <a:latin typeface="Consolas"/>
                <a:ea typeface="Consolas"/>
                <a:cs typeface="Consolas"/>
              </a:defRPr>
            </a:pPr>
            <a:r>
              <a:rPr sz="2100" b="0">
                <a:solidFill>
                  <a:srgbClr val="203D35"/>
                </a:solidFill>
                <a:latin typeface="Consolas"/>
                <a:ea typeface="Consolas"/>
                <a:cs typeface="Consolas"/>
              </a:rPr>
              <a:t>    X_geo, target,</a:t>
            </a:r>
          </a:p>
          <a:p xmlns:a="http://schemas.openxmlformats.org/drawingml/2006/main">
            <a:pPr algn="l">
              <a:defRPr sz="2100" b="0">
                <a:solidFill>
                  <a:srgbClr val="203D35"/>
                </a:solidFill>
                <a:latin typeface="Consolas"/>
                <a:ea typeface="Consolas"/>
                <a:cs typeface="Consolas"/>
              </a:defRPr>
            </a:pPr>
            <a:r>
              <a:rPr sz="2100" b="0">
                <a:solidFill>
                  <a:srgbClr val="203D35"/>
                </a:solidFill>
                <a:latin typeface="Consolas"/>
                <a:ea typeface="Consolas"/>
                <a:cs typeface="Consolas"/>
              </a:rPr>
              <a:t>    weight=weight,</a:t>
            </a:r>
          </a:p>
          <a:p xmlns:a="http://schemas.openxmlformats.org/drawingml/2006/main">
            <a:pPr algn="l">
              <a:defRPr sz="2100" b="0">
                <a:solidFill>
                  <a:srgbClr val="203D35"/>
                </a:solidFill>
                <a:latin typeface="Consolas"/>
                <a:ea typeface="Consolas"/>
                <a:cs typeface="Consolas"/>
              </a:defRPr>
            </a:pPr>
            <a:r>
              <a:rPr sz="2100" b="0">
                <a:solidFill>
                  <a:srgbClr val="203D35"/>
                </a:solidFill>
                <a:latin typeface="Consolas"/>
                <a:ea typeface="Consolas"/>
                <a:cs typeface="Consolas"/>
              </a:rPr>
              <a:t>    cat_features=cat_cols</a:t>
            </a:r>
          </a:p>
          <a:p xmlns:a="http://schemas.openxmlformats.org/drawingml/2006/main">
            <a:pPr algn="l">
              <a:defRPr sz="2100" b="0">
                <a:solidFill>
                  <a:srgbClr val="203D35"/>
                </a:solidFill>
                <a:latin typeface="Consolas"/>
                <a:ea typeface="Consolas"/>
                <a:cs typeface="Consolas"/>
              </a:defRPr>
            </a:pPr>
            <a:r>
              <a:rPr sz="2100" b="0">
                <a:solidFill>
                  <a:srgbClr val="203D35"/>
                </a:solidFill>
                <a:latin typeface="Consolas"/>
                <a:ea typeface="Consolas"/>
                <a:cs typeface="Consolas"/>
              </a:rPr>
              <a:t>))</a:t>
            </a:r>
          </a:p>
        </p:txBody>
      </p:sp>
      <p:graphicFrame>
        <p:nvGraphicFramePr>
          <p:cNvPr id="14" name=""/>
          <p:cNvGraphicFramePr/>
          <p:nvPr/>
        </p:nvGraphicFramePr>
        <p:xfrm>
          <a:off xmlns:a="http://schemas.openxmlformats.org/drawingml/2006/main" x="7105650" y="1714500"/>
          <a:ext xmlns:a="http://schemas.openxmlformats.org/drawingml/2006/main" cx="4400550" cy="337185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2686050"/>
                <a:gridCol w="1714500"/>
              </a:tblGrid>
              <a:tr h="561975">
                <a:tc>
                  <a:txBody>
                    <a:bodyPr lIns="152400" tIns="76200" rIns="114300" bIns="76200">
                      <a:noAutofit/>
                    </a:bodyPr>
                    <a:lstStyle/>
                    <a:p>
                      <a:r>
                        <a:rPr sz="1875" b="1">
                          <a:solidFill>
                            <a:srgbClr val="FFFFFF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設定</a:t>
                      </a:r>
                    </a:p>
                  </a:txBody>
                  <a:tcPr marL="91440" marR="91440" marT="45720" marB="45720" anchor="ctr">
                    <a:solidFill>
                      <a:srgbClr val="203D35"/>
                    </a:solidFill>
                  </a:tcPr>
                </a:tc>
                <a:tc>
                  <a:txBody>
                    <a:bodyPr lIns="152400" tIns="76200" rIns="114300" bIns="76200">
                      <a:noAutofit/>
                    </a:bodyPr>
                    <a:lstStyle/>
                    <a:p>
                      <a:r>
                        <a:rPr sz="1875" b="1">
                          <a:solidFill>
                            <a:srgbClr val="FFFFFF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值</a:t>
                      </a:r>
                    </a:p>
                  </a:txBody>
                  <a:tcPr marL="91440" marR="91440" marT="45720" marB="45720" anchor="ctr">
                    <a:solidFill>
                      <a:srgbClr val="203D35"/>
                    </a:solidFill>
                  </a:tcPr>
                </a:tc>
              </a:tr>
              <a:tr h="561975">
                <a:tc>
                  <a:txBody>
                    <a:bodyPr lIns="152400" tIns="76200" rIns="114300" bIns="76200">
                      <a:noAutofit/>
                    </a:bodyPr>
                    <a:lstStyle/>
                    <a:p>
                      <a:r>
                        <a:rPr sz="1875" b="0">
                          <a:solidFill>
                            <a:srgbClr val="34483F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iterations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lIns="152400" tIns="76200" rIns="114300" bIns="76200">
                      <a:noAutofit/>
                    </a:bodyPr>
                    <a:lstStyle/>
                    <a:p>
                      <a:r>
                        <a:rPr sz="1875" b="0">
                          <a:solidFill>
                            <a:srgbClr val="34483F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2,999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</a:tr>
              <a:tr h="561975">
                <a:tc>
                  <a:txBody>
                    <a:bodyPr lIns="152400" tIns="76200" rIns="114300" bIns="76200">
                      <a:noAutofit/>
                    </a:bodyPr>
                    <a:lstStyle/>
                    <a:p>
                      <a:r>
                        <a:rPr sz="1875" b="0">
                          <a:solidFill>
                            <a:srgbClr val="34483F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depth</a:t>
                      </a:r>
                    </a:p>
                  </a:txBody>
                  <a:tcPr marL="91440" marR="91440" marT="45720" marB="45720" anchor="ctr">
                    <a:solidFill>
                      <a:srgbClr val="EDEFE6"/>
                    </a:solidFill>
                  </a:tcPr>
                </a:tc>
                <a:tc>
                  <a:txBody>
                    <a:bodyPr lIns="152400" tIns="76200" rIns="114300" bIns="76200">
                      <a:noAutofit/>
                    </a:bodyPr>
                    <a:lstStyle/>
                    <a:p>
                      <a:r>
                        <a:rPr sz="1875" b="0">
                          <a:solidFill>
                            <a:srgbClr val="34483F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8</a:t>
                      </a:r>
                    </a:p>
                  </a:txBody>
                  <a:tcPr marL="91440" marR="91440" marT="45720" marB="45720" anchor="ctr">
                    <a:solidFill>
                      <a:srgbClr val="EDEFE6"/>
                    </a:solidFill>
                  </a:tcPr>
                </a:tc>
              </a:tr>
              <a:tr h="561975">
                <a:tc>
                  <a:txBody>
                    <a:bodyPr lIns="152400" tIns="76200" rIns="114300" bIns="76200">
                      <a:noAutofit/>
                    </a:bodyPr>
                    <a:lstStyle/>
                    <a:p>
                      <a:r>
                        <a:rPr sz="1875" b="0">
                          <a:solidFill>
                            <a:srgbClr val="34483F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learning_rate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lIns="152400" tIns="76200" rIns="114300" bIns="76200">
                      <a:noAutofit/>
                    </a:bodyPr>
                    <a:lstStyle/>
                    <a:p>
                      <a:r>
                        <a:rPr sz="1875" b="0">
                          <a:solidFill>
                            <a:srgbClr val="34483F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0.065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</a:tr>
              <a:tr h="561975">
                <a:tc>
                  <a:txBody>
                    <a:bodyPr lIns="152400" tIns="76200" rIns="114300" bIns="76200">
                      <a:noAutofit/>
                    </a:bodyPr>
                    <a:lstStyle/>
                    <a:p>
                      <a:r>
                        <a:rPr sz="1875" b="0">
                          <a:solidFill>
                            <a:srgbClr val="34483F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loss_function</a:t>
                      </a:r>
                    </a:p>
                  </a:txBody>
                  <a:tcPr marL="91440" marR="91440" marT="45720" marB="45720" anchor="ctr">
                    <a:solidFill>
                      <a:srgbClr val="EDEFE6"/>
                    </a:solidFill>
                  </a:tcPr>
                </a:tc>
                <a:tc>
                  <a:txBody>
                    <a:bodyPr lIns="152400" tIns="76200" rIns="114300" bIns="76200">
                      <a:noAutofit/>
                    </a:bodyPr>
                    <a:lstStyle/>
                    <a:p>
                      <a:r>
                        <a:rPr sz="1875" b="0">
                          <a:solidFill>
                            <a:srgbClr val="34483F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MAE</a:t>
                      </a:r>
                    </a:p>
                  </a:txBody>
                  <a:tcPr marL="91440" marR="91440" marT="45720" marB="45720" anchor="ctr">
                    <a:solidFill>
                      <a:srgbClr val="EDEFE6"/>
                    </a:solidFill>
                  </a:tcPr>
                </a:tc>
              </a:tr>
              <a:tr h="561975">
                <a:tc>
                  <a:txBody>
                    <a:bodyPr lIns="152400" tIns="76200" rIns="114300" bIns="76200">
                      <a:noAutofit/>
                    </a:bodyPr>
                    <a:lstStyle/>
                    <a:p>
                      <a:r>
                        <a:rPr sz="1875" b="0">
                          <a:solidFill>
                            <a:srgbClr val="34483F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random_seed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lIns="152400" tIns="76200" rIns="114300" bIns="76200">
                      <a:noAutofit/>
                    </a:bodyPr>
                    <a:lstStyle/>
                    <a:p>
                      <a:r>
                        <a:rPr sz="1875" b="0">
                          <a:solidFill>
                            <a:srgbClr val="34483F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42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">
            <a:extLst xmlns:a="http://schemas.openxmlformats.org/drawingml/2006/main">
              <a:ext uri="{FF2B5EF4-FFF2-40B4-BE49-F238E27FC236}">
                <a16:creationId xmlns:a16="http://schemas.microsoft.com/office/drawing/2014/main" id="{A835E862-F280-46F6-BE3C-40C5F3F62A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562600"/>
            <a:ext cx="108204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950" b="0">
                <a:solidFill>
                  <a:srgbClr val="31644F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950" b="0">
                <a:solidFill>
                  <a:srgbClr val="31644F"/>
                </a:solidFill>
                <a:latin typeface="Microsoft JhengHei"/>
                <a:ea typeface="Microsoft JhengHei"/>
                <a:cs typeface="Microsoft JhengHei"/>
              </a:rPr>
              <a:t>A：建物面積優先，其次車位面積，皆無效時取 1</a:t>
            </a:r>
          </a:p>
        </p:txBody>
      </p:sp>
      <p:sp>
        <p:nvSpPr>
          <p:cNvPr id="8" name="text">
            <a:extLst xmlns:a="http://schemas.openxmlformats.org/drawingml/2006/main">
              <a:ext uri="{FF2B5EF4-FFF2-40B4-BE49-F238E27FC236}">
                <a16:creationId xmlns:a16="http://schemas.microsoft.com/office/drawing/2014/main" id="{6AEF4A68-FBD0-4E7C-9F88-7A374C4EF9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019800"/>
            <a:ext cx="10820400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69776D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725" b="0">
                <a:solidFill>
                  <a:srgbClr val="69776D"/>
                </a:solidFill>
                <a:latin typeface="Microsoft JhengHei"/>
                <a:ea typeface="Microsoft JhengHei"/>
                <a:cs typeface="Microsoft JhengHei"/>
              </a:rPr>
              <a:t>推論入口：src/predict_v22.py，從零重訓尚未驗證</a:t>
            </a:r>
          </a:p>
        </p:txBody>
      </p:sp>
    </p:spTree>
    <p:extLst>
      <p:ext uri="{BB962C8B-B14F-4D97-AF65-F5344CB8AC3E}">
        <p14:creationId xmlns:p14="http://schemas.microsoft.com/office/powerpoint/2010/main" val="1901829513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2026-09-27T17:33:14.5680000Z</dcterms:created>
  <dcterms:modified xsi:type="dcterms:W3CDTF">2026-09-27T17:33:14.5680000Z</dcterms:modified>
</coreProperties>
</file>