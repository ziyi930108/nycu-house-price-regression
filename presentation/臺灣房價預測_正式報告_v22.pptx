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3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4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4282cc000747b1" /><Relationship Type="http://schemas.openxmlformats.org/officeDocument/2006/relationships/extended-properties" Target="/docProps/app.xml" Id="R0f13b69aac63454d" /><Relationship Type="http://schemas.openxmlformats.org/officeDocument/2006/relationships/officeDocument" Target="/ppt/presentation.xml" Id="R00df0da1874341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26f49b0ee3c4abd"/>
  </p:sldMasterIdLst>
  <p:notesMasterIdLst>
    <p:notesMasterId xmlns:r="http://schemas.openxmlformats.org/officeDocument/2006/relationships" r:id="Rb394de16b8a34942"/>
  </p:notesMasterIdLst>
  <p:sldIdLst>
    <p:sldId xmlns:r="http://schemas.openxmlformats.org/officeDocument/2006/relationships" id="256" r:id="R82c4d76477924296"/>
    <p:sldId xmlns:r="http://schemas.openxmlformats.org/officeDocument/2006/relationships" id="257" r:id="R1f4372deeaeb4b98"/>
    <p:sldId xmlns:r="http://schemas.openxmlformats.org/officeDocument/2006/relationships" id="258" r:id="R50651c72468247cc"/>
    <p:sldId xmlns:r="http://schemas.openxmlformats.org/officeDocument/2006/relationships" id="259" r:id="R6deff2edcee9475f"/>
    <p:sldId xmlns:r="http://schemas.openxmlformats.org/officeDocument/2006/relationships" id="260" r:id="R43556e7616f74de9"/>
    <p:sldId xmlns:r="http://schemas.openxmlformats.org/officeDocument/2006/relationships" id="261" r:id="R75105681e2624fd9"/>
    <p:sldId xmlns:r="http://schemas.openxmlformats.org/officeDocument/2006/relationships" id="262" r:id="R7dbdcc7cb923488b"/>
    <p:sldId xmlns:r="http://schemas.openxmlformats.org/officeDocument/2006/relationships" id="263" r:id="R79f39c662e7645bf"/>
    <p:sldId xmlns:r="http://schemas.openxmlformats.org/officeDocument/2006/relationships" id="264" r:id="R05aba4cf5b6e4b12"/>
    <p:sldId xmlns:r="http://schemas.openxmlformats.org/officeDocument/2006/relationships" id="265" r:id="Ra6b5ef3825b8463d"/>
    <p:sldId xmlns:r="http://schemas.openxmlformats.org/officeDocument/2006/relationships" id="266" r:id="Ra9cc7703870a405c"/>
    <p:sldId xmlns:r="http://schemas.openxmlformats.org/officeDocument/2006/relationships" id="267" r:id="R5a0febbfe27042ce"/>
    <p:sldId xmlns:r="http://schemas.openxmlformats.org/officeDocument/2006/relationships" id="268" r:id="R63274fc8a75044c7"/>
    <p:sldId xmlns:r="http://schemas.openxmlformats.org/officeDocument/2006/relationships" id="269" r:id="Re773d78bb9ff4505"/>
    <p:sldId xmlns:r="http://schemas.openxmlformats.org/officeDocument/2006/relationships" id="270" r:id="R1d80d89a577a4886"/>
    <p:sldId xmlns:r="http://schemas.openxmlformats.org/officeDocument/2006/relationships" id="271" r:id="Rc0ff9830a58b453f"/>
    <p:sldId xmlns:r="http://schemas.openxmlformats.org/officeDocument/2006/relationships" id="272" r:id="Rac336cdc15c74e14"/>
    <p:sldId xmlns:r="http://schemas.openxmlformats.org/officeDocument/2006/relationships" id="273" r:id="R62e2bdd3b6414afc"/>
    <p:sldId xmlns:r="http://schemas.openxmlformats.org/officeDocument/2006/relationships" id="274" r:id="R3704a98fbfc24c27"/>
    <p:sldId xmlns:r="http://schemas.openxmlformats.org/officeDocument/2006/relationships" id="275" r:id="Re79cc4e5ab1b4479"/>
    <p:sldId xmlns:r="http://schemas.openxmlformats.org/officeDocument/2006/relationships" id="276" r:id="R9a7a73dbc77548dc"/>
    <p:sldId xmlns:r="http://schemas.openxmlformats.org/officeDocument/2006/relationships" id="277" r:id="R13a86f39e9b149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4caceef84884bfb" /><Relationship Type="http://schemas.openxmlformats.org/officeDocument/2006/relationships/slideMaster" Target="/ppt/slideMasters/slideMaster1.xml" Id="R026f49b0ee3c4abd" /><Relationship Type="http://schemas.openxmlformats.org/officeDocument/2006/relationships/notesMaster" Target="/ppt/notesMasters/notesMaster1.xml" Id="Rb394de16b8a34942" /><Relationship Type="http://schemas.openxmlformats.org/officeDocument/2006/relationships/presProps" Target="/ppt/presProps.xml" Id="R421057fa60ba4812" /><Relationship Type="http://schemas.openxmlformats.org/officeDocument/2006/relationships/tableStyles" Target="/ppt/tableStyles.xml" Id="R756f8f38e38843c9" /><Relationship Type="http://schemas.openxmlformats.org/officeDocument/2006/relationships/slide" Target="/ppt/slides/slide1.xml" Id="R82c4d76477924296" /><Relationship Type="http://schemas.openxmlformats.org/officeDocument/2006/relationships/slide" Target="/ppt/slides/slide2.xml" Id="R1f4372deeaeb4b98" /><Relationship Type="http://schemas.openxmlformats.org/officeDocument/2006/relationships/slide" Target="/ppt/slides/slide3.xml" Id="R50651c72468247cc" /><Relationship Type="http://schemas.openxmlformats.org/officeDocument/2006/relationships/slide" Target="/ppt/slides/slide4.xml" Id="R6deff2edcee9475f" /><Relationship Type="http://schemas.openxmlformats.org/officeDocument/2006/relationships/slide" Target="/ppt/slides/slide5.xml" Id="R43556e7616f74de9" /><Relationship Type="http://schemas.openxmlformats.org/officeDocument/2006/relationships/slide" Target="/ppt/slides/slide6.xml" Id="R75105681e2624fd9" /><Relationship Type="http://schemas.openxmlformats.org/officeDocument/2006/relationships/slide" Target="/ppt/slides/slide7.xml" Id="R7dbdcc7cb923488b" /><Relationship Type="http://schemas.openxmlformats.org/officeDocument/2006/relationships/slide" Target="/ppt/slides/slide8.xml" Id="R79f39c662e7645bf" /><Relationship Type="http://schemas.openxmlformats.org/officeDocument/2006/relationships/slide" Target="/ppt/slides/slide9.xml" Id="R05aba4cf5b6e4b12" /><Relationship Type="http://schemas.openxmlformats.org/officeDocument/2006/relationships/slide" Target="/ppt/slides/slide10.xml" Id="Ra6b5ef3825b8463d" /><Relationship Type="http://schemas.openxmlformats.org/officeDocument/2006/relationships/slide" Target="/ppt/slides/slide11.xml" Id="Ra9cc7703870a405c" /><Relationship Type="http://schemas.openxmlformats.org/officeDocument/2006/relationships/slide" Target="/ppt/slides/slide12.xml" Id="R5a0febbfe27042ce" /><Relationship Type="http://schemas.openxmlformats.org/officeDocument/2006/relationships/slide" Target="/ppt/slides/slide13.xml" Id="R63274fc8a75044c7" /><Relationship Type="http://schemas.openxmlformats.org/officeDocument/2006/relationships/slide" Target="/ppt/slides/slide14.xml" Id="Re773d78bb9ff4505" /><Relationship Type="http://schemas.openxmlformats.org/officeDocument/2006/relationships/slide" Target="/ppt/slides/slide15.xml" Id="R1d80d89a577a4886" /><Relationship Type="http://schemas.openxmlformats.org/officeDocument/2006/relationships/slide" Target="/ppt/slides/slide16.xml" Id="Rc0ff9830a58b453f" /><Relationship Type="http://schemas.openxmlformats.org/officeDocument/2006/relationships/slide" Target="/ppt/slides/slide17.xml" Id="Rac336cdc15c74e14" /><Relationship Type="http://schemas.openxmlformats.org/officeDocument/2006/relationships/slide" Target="/ppt/slides/slide18.xml" Id="R62e2bdd3b6414afc" /><Relationship Type="http://schemas.openxmlformats.org/officeDocument/2006/relationships/slide" Target="/ppt/slides/slide19.xml" Id="R3704a98fbfc24c27" /><Relationship Type="http://schemas.openxmlformats.org/officeDocument/2006/relationships/slide" Target="/ppt/slides/slide20.xml" Id="Re79cc4e5ab1b4479" /><Relationship Type="http://schemas.openxmlformats.org/officeDocument/2006/relationships/slide" Target="/ppt/slides/slide21.xml" Id="R9a7a73dbc77548dc" /><Relationship Type="http://schemas.openxmlformats.org/officeDocument/2006/relationships/slide" Target="/ppt/slides/slide22.xml" Id="R13a86f39e9b149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3a2af464f24d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33b1bf3c5f4f9a" /><Relationship Type="http://schemas.openxmlformats.org/officeDocument/2006/relationships/notesMaster" Target="/ppt/notesMasters/notesMaster1.xml" Id="R2dc793d9825944a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6e7d53f3424db4" /><Relationship Type="http://schemas.openxmlformats.org/officeDocument/2006/relationships/notesMaster" Target="/ppt/notesMasters/notesMaster1.xml" Id="Rbf630069a6124a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591beb0bbe40c4" /><Relationship Type="http://schemas.openxmlformats.org/officeDocument/2006/relationships/notesMaster" Target="/ppt/notesMasters/notesMaster1.xml" Id="Ra7c801a9cc3f48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9cab65b8bbe48ac" /><Relationship Type="http://schemas.openxmlformats.org/officeDocument/2006/relationships/notesMaster" Target="/ppt/notesMasters/notesMaster1.xml" Id="R022bb87e0ad846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0b27ecc8ed94634" /><Relationship Type="http://schemas.openxmlformats.org/officeDocument/2006/relationships/notesMaster" Target="/ppt/notesMasters/notesMaster1.xml" Id="R8914b39bfb844b9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d918157892b4f60" /><Relationship Type="http://schemas.openxmlformats.org/officeDocument/2006/relationships/notesMaster" Target="/ppt/notesMasters/notesMaster1.xml" Id="Rb17f3e268447419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2400dc50c84478e" /><Relationship Type="http://schemas.openxmlformats.org/officeDocument/2006/relationships/notesMaster" Target="/ppt/notesMasters/notesMaster1.xml" Id="R723b952db1a9474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3cb7b0ebd5341c3" /><Relationship Type="http://schemas.openxmlformats.org/officeDocument/2006/relationships/notesMaster" Target="/ppt/notesMasters/notesMaster1.xml" Id="R1a636f665283440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60b6c26645045dc" /><Relationship Type="http://schemas.openxmlformats.org/officeDocument/2006/relationships/notesMaster" Target="/ppt/notesMasters/notesMaster1.xml" Id="R5645e85adca8493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0c3df264020410c" /><Relationship Type="http://schemas.openxmlformats.org/officeDocument/2006/relationships/notesMaster" Target="/ppt/notesMasters/notesMaster1.xml" Id="R952e138130724b6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08336ab39424bad" /><Relationship Type="http://schemas.openxmlformats.org/officeDocument/2006/relationships/notesMaster" Target="/ppt/notesMasters/notesMaster1.xml" Id="R1d0bd658d40f4a8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f8c8cae46cd4ccd" /><Relationship Type="http://schemas.openxmlformats.org/officeDocument/2006/relationships/notesMaster" Target="/ppt/notesMasters/notesMaster1.xml" Id="Ra6073c81b82d48e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512e69c94b34d7a" /><Relationship Type="http://schemas.openxmlformats.org/officeDocument/2006/relationships/notesMaster" Target="/ppt/notesMasters/notesMaster1.xml" Id="Race7a88a78954af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b7d5cdbbf684be5" /><Relationship Type="http://schemas.openxmlformats.org/officeDocument/2006/relationships/notesMaster" Target="/ppt/notesMasters/notesMaster1.xml" Id="Rafe9094178174f2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d185eb0833e42c9" /><Relationship Type="http://schemas.openxmlformats.org/officeDocument/2006/relationships/notesMaster" Target="/ppt/notesMasters/notesMaster1.xml" Id="Rbc90c35e69384bf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50778fc4a104098" /><Relationship Type="http://schemas.openxmlformats.org/officeDocument/2006/relationships/notesMaster" Target="/ppt/notesMasters/notesMaster1.xml" Id="R2988451e2e1843e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2563b9833ed46c8" /><Relationship Type="http://schemas.openxmlformats.org/officeDocument/2006/relationships/notesMaster" Target="/ppt/notesMasters/notesMaster1.xml" Id="R9508701012634c7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3769add52274f8c" /><Relationship Type="http://schemas.openxmlformats.org/officeDocument/2006/relationships/notesMaster" Target="/ppt/notesMasters/notesMaster1.xml" Id="R942d532d4fa84c8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01e32973bcf4553" /><Relationship Type="http://schemas.openxmlformats.org/officeDocument/2006/relationships/notesMaster" Target="/ppt/notesMasters/notesMaster1.xml" Id="R909b3f958e9346f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96db7ce1dfa4dfa" /><Relationship Type="http://schemas.openxmlformats.org/officeDocument/2006/relationships/notesMaster" Target="/ppt/notesMasters/notesMaster1.xml" Id="R64ccc3b6d9be4f9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4a2862e470245e1" /><Relationship Type="http://schemas.openxmlformats.org/officeDocument/2006/relationships/notesMaster" Target="/ppt/notesMasters/notesMaster1.xml" Id="Rd677c0380de64c3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298d83f9e7a4c9f" /><Relationship Type="http://schemas.openxmlformats.org/officeDocument/2006/relationships/notesMaster" Target="/ppt/notesMasters/notesMaster1.xml" Id="Rb06e84f163e94d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建議配速：30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大家好，今天我們要報告臺灣房屋總價預測。我們希望利用房屋本身的條件、所在位置和過去成交資料，估計每筆交易的總價。這次報告的是已經選定提交的模型。我會按照真正的工作流程，從資料怎麼讀進來、為什麼要清理，接著說明模型如何學習價格，最後介紹驗證與程式重現。重點不只是報一個分數，而是把每一步做了什麼、理由是什麼，以及證據能支持到哪裡講清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</a:t>
            </a:r>
          </a:p>
          <a:p xmlns:a="http://schemas.openxmlformats.org/drawingml/2006/main">
            <a:r>
              <a:t>Cover photograph: Markus Winkler, Taipei, Taiwan. https://unsplash.com/photos/gray-concrete-building-vztbnMlTDNs</a:t>
            </a:r>
          </a:p>
          <a:p xmlns:a="http://schemas.openxmlformats.org/drawingml/2006/main">
            <a:r>
              <a:t>Photo used under the Unsplash License as contextual imagery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建議配速：35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我們預測的是連續金額，所以這是一個監督式回歸問題。輸入是交易屬性，訓練時已知的總價就是標籤。比賽用平均絕對誤差，也就是 MAE 評分。舉例來說，一筆真價一千萬元，預測一千一百萬元，絕對誤差是一百萬元；另一筆差五十萬元，這兩筆的平均絕對誤差就是七十五萬元。高估和低估先取絕對值，不會互相抵銷。因此分數的單位仍然是新臺幣元，不能解讀成準確率，也不能只看預測整體平均是否接近真實平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建議配速：50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整流程可以分成四個階段。首先確認每份檔案的用途、欄位和列數，避免把沒有標籤的資料誤拿來評分。接著清理重複列和格式問題，將日期、樓層與地址轉成模型可以使用的特徵。第三階段用過去資料訓練、後續一年評分，檢查方法跨時間的表現。確定提交方法後，才使用最終可用的有標籤資料建立保存模型，再對測試資料預測並產出提交檔。例如特徵列序如果錯了，即使程式能執行，模型也可能把一筆交易的屬性配到另一筆價格。因此每階段都保留可核對的資料身分。這些階段需要分開，因為資料格式正確、模型分數好，以及提交檔可以重現，分別回答不同的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</a:t>
            </a:r>
          </a:p>
          <a:p xmlns:a="http://schemas.openxmlformats.org/drawingml/2006/main">
            <a:r>
              <a:t>src/predict_v22.py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建議配速：35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始資料有四份。訓練檔大約四十五萬五千筆，另外的驗證檔有一萬一千九百九十四筆，這兩份都有價格。測試檔有四萬七千零七十三筆，沒有可供我們評分的總價。最後一份範例提交檔，作用是指定欄名和編號順序，其中的範例價格不能當答案。我們做年度回測時只從訓練檔切出當期以前的資料，不把另附的驗證檔混進去；最終全量訓練時才把它加入。這樣可以分清方法評估使用的資料，以及最後用來學習的資料範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</a:t>
            </a:r>
          </a:p>
          <a:p xmlns:a="http://schemas.openxmlformats.org/drawingml/2006/main">
            <a:r>
              <a:t>research/src/prepare_data.py</a:t>
            </a:r>
          </a:p>
          <a:p xmlns:a="http://schemas.openxmlformats.org/drawingml/2006/main">
            <a:r>
              <a:t>research/src/model_common.py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建議配速：50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清理的第一步是移除混在資料區的三列英文表頭，它們是格式內容，並不是真實交易。接著找完全重複的交易，避免同一份資訊因重複出現而得到額外影響力。判定時排除編號，但包含價格和其他欄位，所以不是相同編號就刪除。訓練資料因此移除五百二十九列，加入驗證檔後，再移除二十八列跨集完全重複，最終留下四十六萬七千二百二十一筆。不預期的價格標籤問題會讓程式停止檢查，並不是把所有異常或高價交易默默刪掉。測試資料則不做這種刪列，因為每個提交編號都必須有預測。我們也保留來源列序，確保特徵、標籤和後續地理資料不會錯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</a:t>
            </a:r>
          </a:p>
          <a:p xmlns:a="http://schemas.openxmlformats.org/drawingml/2006/main">
            <a:r>
              <a:t>research/src/model_common.py</a:t>
            </a:r>
          </a:p>
          <a:p xmlns:a="http://schemas.openxmlformats.org/drawingml/2006/main">
            <a:r>
              <a:t>research/src/prepare_data.py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建議配速：40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型不能直接把所有文字都當成同一種資訊。例如交易日期可能用民國年表示，我們先解析成日期，再產生年、月、季和連續的時間索引。樓層則把中文數字轉成數值，同時保留地下室、整棟或屋頂的旗標，避免只留一個數字而失去交易型態。地址會統一文字形式，再拆出縣市、行政區、道路和路段。面積與格局除了原值，也建立車位占比、相對樓層等比例。無法解析的值保留缺失與旗標，不把它硬改成合理數字。這些固定規則套用到訓練與測試，並且不讀取總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src/house_features.py</a:t>
            </a:r>
          </a:p>
          <a:p xmlns:a="http://schemas.openxmlformats.org/drawingml/2006/main">
            <a:r>
              <a:t>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建議配速：40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特徵並不是越多越好，還要確認推論時能不能使用。編號只負責對齊，總價只當標籤。完整備註可能含價格，解約情形可能屬於交易後資訊，所以不直接輸入；備註只保留有限的非價格旗標。建築完成年月在提供資料中不可用，管理組織又是常數，因此也排除。另一方面，我們加入八個道路地理特徵，使單價 CatBoost 使用九十五欄，其中二十三欄是類別。地理來源是既有道路快照，提供粗略位置而不是精確門牌。價格和成交參考仍來自課程資料，沒有到內政部查測試答案。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src/house_features.py</a:t>
            </a:r>
          </a:p>
          <a:p xmlns:a="http://schemas.openxmlformats.org/drawingml/2006/main">
            <a:r>
              <a:t>REPORT.md</a:t>
            </a:r>
          </a:p>
          <a:p xmlns:a="http://schemas.openxmlformats.org/drawingml/2006/main">
            <a:r>
              <a:t>evidence/data_external/geography/ATTRIBUTION.md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建議配速：45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接下來是驗證設計。我們使用三個年度窗口，每次只用評分起點以前的訓練資料，預測接下來一年。原因是房價會隨市場和時間改變，用過去預測未來比較符合我們要檢查的情境。需要隔開的不只有價格標籤，模型、類別編碼、價格先驗和成交參考，也都必須由當期訓練資料建立。若拿最終模型回頭評分，它可能早已看過那段價格。因此不能只更換評分日期，卻沿用較晚期的模型或價格統計，否則時間隔離只有表面成立。這裡也有界線：相同年度已多次用於研究，較晚的訓練期間包含較早的評分資料，所以不能把三期稱為全新而獨立的盲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</a:t>
            </a:r>
          </a:p>
          <a:p xmlns:a="http://schemas.openxmlformats.org/drawingml/2006/main">
            <a:r>
              <a:t>evidence/outputs/round79/results.json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建議配速：45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我們沒有把所有模型直接混成一串，而是組成三條有明確價格表示的分支。第一條是單價 CatBoost 和 LightGBM，先學習單位面積價格。第二條包含直接總價和對數總價的 CatBoost；對數轉換壓縮價格尺度，但它在對數空間學習的誤差，不等於最後用元評分的誤差。第三條使用兩個表格神經網路，分別連結面積與價格先驗。LightGBM 也會加入後兩條分支，因此一共有六個不同模型。各分支的組合係數固定，所有輸出必須先換回元，才有相同的比較基準。樹模型的分割規則和神經網路的連續表示提供不同設計角度，但我們沒有單獨證明某個模型家族一定比較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</a:t>
            </a:r>
          </a:p>
          <a:p xmlns:a="http://schemas.openxmlformats.org/drawingml/2006/main">
            <a:r>
              <a:t>src/predict_v22.py</a:t>
            </a:r>
          </a:p>
          <a:p xmlns:a="http://schemas.openxmlformats.org/drawingml/2006/main">
            <a:r>
              <a:t>research/src/round12_log_geo.py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建議配速：50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先看單價 CatBoost。房屋大小差很多，總價同時受到面積和單位價格影響，所以我們把總價除以有效面積，再用一萬元作尺度轉換。模型輸出後乘回相同因子，才得到總價元。但如果只平均單價誤差，就未必符合比賽目標。例如同樣每平方公尺差一萬元，一百平方公尺和兩百平方公尺的總價誤差就不同。因此這支模型的訓練再乘面積權重，讓單價誤差對應到總價誤差。在非負裁切之前，這個面積加權的單價絕對誤差，與總價絕對誤差只差固定尺度，所以能從公式看出對齊的原因。有效面積優先取正且有限的建物面積，其次是車位面積，仍不可用就取一；這是數值回退規則，不是在估計真正室內面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</a:t>
            </a:r>
          </a:p>
          <a:p xmlns:a="http://schemas.openxmlformats.org/drawingml/2006/main">
            <a:r>
              <a:t>research/src/round19_unit_geo.py</a:t>
            </a:r>
          </a:p>
          <a:p xmlns:a="http://schemas.openxmlformats.org/drawingml/2006/main">
            <a:r>
              <a:t>research/src/round79_recency_unit.py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建議配速：50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接著加入日期權重。設計動機是市場會變動，近期成交可能更接近目前要預測的價格水準。我們使用三百六十五天半衰期，合法日期相隔一年，較早成交的相對日期權重就是較新的一半，再早一年是四分之一。實際上會用當期訓練資料的最大合法日期作基準，再正規化；無效日期維持中性權重一。它仍然保留舊資料，只是降低影響。最後單價 CatBoost 使用面積乘日期的權重。日期權重的計算只看當期訓練日期，沒有讀取待評分交易的價格，也沒有根據測試答案調整半衰期。這是明確的訓練假設，不代表近期資料在每個地區都更可靠，也沒有把其他模型全部改成相同的權重設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</a:t>
            </a:r>
          </a:p>
          <a:p xmlns:a="http://schemas.openxmlformats.org/drawingml/2006/main">
            <a:r>
              <a:t>research/src/round60_recency_price_prior.py</a:t>
            </a:r>
          </a:p>
          <a:p xmlns:a="http://schemas.openxmlformats.org/drawingml/2006/main">
            <a:r>
              <a:t>research/src/round79_recency_unit.py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建議配速：55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神經網路會把類別編碼成可學習的向量，再和數值特徵一起輸入多層網路。網路本身有三層隱藏層，類別向量和數值表示可以一起學習交互關係；這仍是模型設計，不等於已證明每個部分都有獨立貢獻。其中一支學習和面積連結的價格，另一支先取得區域單價先驗，再學習調整倍率。先驗可以想成參考價格起點，但如果直接把某筆成交放進自己的價格先驗，就可能偷看到答案。所以訓練先驗採五折建案分組：同一建案放同一折，該折的先驗只用其他折建立。真正推論時，再用全部當期訓練資料的保存先驗。這能避開本建案標籤直接進入自己的先驗，但它不是時間分折，不能宣稱每筆先驗都只來自其成交日以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</a:t>
            </a:r>
          </a:p>
          <a:p xmlns:a="http://schemas.openxmlformats.org/drawingml/2006/main">
            <a:r>
              <a:t>research/src/round47_nn_train.py</a:t>
            </a:r>
          </a:p>
          <a:p xmlns:a="http://schemas.openxmlformats.org/drawingml/2006/main">
            <a:r>
              <a:t>research/src/round60_recency_price_prior.py</a:t>
            </a:r>
          </a:p>
          <a:p xmlns:a="http://schemas.openxmlformats.org/drawingml/2006/main">
            <a:r>
              <a:t>src/nn_prepare.py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建議配速：50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得到模型價格後，我們還會利用訓練資料內的可比成交做修正。想法是整體模型學一般規律，而相同建案、地址或道路可能提供更局部的價格資訊。參考流程會結合支持程度和時間趨勢，不是找到一筆成交就直接複製價格。若原本參考來源比較弱，才考慮固定的空間補充，並且檢查城市、建物型態、用途和附近建案的支持。地理位置是粗略道路代表點，不能當精確住宅座標；支持不足就回退。空間補充會同時讀取原基準預測、成交參考結果與支持診斷，並不是在結果上任意再加一個固定價格。這些價格全部來自當期 fit，預測資料的真價沒有進入修正。每條分支都先完成這一步，才進到最後組合。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research/src/round2_neighborhood.py</a:t>
            </a:r>
          </a:p>
          <a:p xmlns:a="http://schemas.openxmlformats.org/drawingml/2006/main">
            <a:r>
              <a:t>research/src/round8_spatial_reference.py</a:t>
            </a:r>
          </a:p>
          <a:p xmlns:a="http://schemas.openxmlformats.org/drawingml/2006/main">
            <a:r>
              <a:t>src/tree_runtime.py</a:t>
            </a:r>
          </a:p>
          <a:p xmlns:a="http://schemas.openxmlformats.org/drawingml/2006/main">
            <a:r>
              <a:t>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建議配速：45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後不是平均所有模型，而是對每筆交易，取三條完整分支的中位數。用一個純示意例子：三條分支分別預測一千萬、一千一百萬和三千萬元，中位數就是一千一百萬，第三條的極端值不會把結果一路拉高。這說明我們希望降低單一分支極端輸出的影響，但例子本身不是實驗成效。如果三條都高估，或其中兩條有共同偏差，中位數仍會錯。這裡選的是三個預測中的中間值，並沒有直接看見未知真價或直接最小化測試誤差。順序也很重要：先把每條分支換回元並完成參考修正，最後才取中位數，不能在結果上再乘面積或重複修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src/predict_v22.py</a:t>
            </a:r>
          </a:p>
          <a:p xmlns:a="http://schemas.openxmlformats.org/drawingml/2006/main">
            <a:r>
              <a:t>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建議配速：40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接著看選定模型的結果。三個年度窗口的總價 MAE，依時間順序大約是二百三十點九四萬、一百四十點七四萬，以及一百三十八點三二萬元。這些都是完整組合的總價誤差，不是某一支模型的訓練損失。我們保留多個年度，是希望觀察方法在不同時段的表現，而不是只找一個分數好看的切分。不過各年度交易不同，所以這張圖往下，不能直接解讀成模型每年變強，也不能推算測試資料一定落在同樣範圍。後面還要看公開評分和分群限制，才知道這些數字的適用界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</a:t>
            </a:r>
          </a:p>
          <a:p xmlns:a="http://schemas.openxmlformats.org/drawingml/2006/main">
            <a:r>
              <a:t>evidence/outputs/round79/results.json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建議配速：35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正式提交的公開分數約為一百九十九點八六萬元，也就是公開評分那批交易的平均絕對金額誤差。它不表示每筆都差兩百萬，更不能把它換算成某個準確率。Kaggle 的公開榜約使用測試資料三成，最後評分看另外七成的 Private；這個分割與課程另外給的驗證檔不同。目前我們不知道 Private 真價和成績，因此這裡只報告已回傳的 Public 數字。這個模型已經選定提交，但選定是專題的決定，並不等於我們證明它在未知資料上一定最好。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</a:t>
            </a:r>
          </a:p>
          <a:p xmlns:a="http://schemas.openxmlformats.org/drawingml/2006/main">
            <a:r>
              <a:t>evidence/outputs/kaggle_feedback/public_submissions_v19_v24_20260927.json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建議配速：40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們也保留方法的限制。第一，相同的年度窗口已經多次參與研究，設計可能逐漸適應這些資料，多期評估仍不能完全消除選型偏差。第二，整體平均可能變好，部分價格群卻退步，所以我們另外檢查高價群，沒有只保留有利數字。研究中也曾有其他配方在歷史整體誤差更低，完整紀錄放在技術報告附錄。第三，總價包含面積放大效果，大面積或高價交易可能造成很大的外推。中位數無法保證排除這種共同偏差。因為測試真價未知，我們沒有依編號逐筆改價，也不把抽樣區間說成 Private 勝率。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</a:t>
            </a:r>
          </a:p>
          <a:p xmlns:a="http://schemas.openxmlformats.org/drawingml/2006/main">
            <a:r>
              <a:t>evidence/reports/round79_report.md</a:t>
            </a:r>
          </a:p>
          <a:p xmlns:a="http://schemas.openxmlformats.org/drawingml/2006/main">
            <a:r>
              <a:t>evidence/reports/round83_delivery.md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建議配速：45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方法確定後，最終訓練才把清理過的訓練檔和驗證檔合併，得到四十六萬七千二百二十一筆，用來建立保存模型和參考狀態。這是已完成的歷史訓練，與前面的年度回測分開。推論時，測試檔的每個編號都必須有一個總價。輸出只有編號和總價元兩欄，順序完全依照範例檔，價格在最後只取整一次並保留正整數。我們不會先把各模型價格取整再混合，以免在中途引入不必要的捨入差異。程式還會重新讀回檔案，核對列數、編號順序、欄名和數值。我們保存完整檔案雜湊，因為即使預測數值相同，換行或編碼不同也可能讓檔案身分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</a:t>
            </a:r>
          </a:p>
          <a:p xmlns:a="http://schemas.openxmlformats.org/drawingml/2006/main">
            <a:r>
              <a:t>research/src/model_common.py</a:t>
            </a:r>
          </a:p>
          <a:p xmlns:a="http://schemas.openxmlformats.org/drawingml/2006/main">
            <a:r>
              <a:t>src/submission_io.py</a:t>
            </a:r>
          </a:p>
          <a:p xmlns:a="http://schemas.openxmlformats.org/drawingml/2006/main">
            <a:r>
              <a:t>src/predict_v22.py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建議配速：50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為了讓結果能交接，我們整理了單一推論入口。它先核對原始測試檔及十七項保存產物的雜湊，再重新產生特徵與神經網路輸入，真正載入四個樹模型和兩個神經網路，重新計算參考修正與中位數。這次四萬七千零七十三筆的未取整預測與原結果完全一致，最大差是零，整份提交檔的雜湊也相同。早先核對時就曾發現換行格式不同，雖然價格相同，整檔雜湊仍不同。修正後完整重跑才通過，失敗紀錄也保留。單一入口大約八十五秒，這是既有環境的推論時間，並不是重訓時間。程式已上傳私人儲存庫，但原交易資料和模型仍留在本機；全新環境安裝、從零重訓及地理重建尚未完成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src/predict_v22.py</a:t>
            </a:r>
          </a:p>
          <a:p xmlns:a="http://schemas.openxmlformats.org/drawingml/2006/main">
            <a:r>
              <a:t>evidence/reproduction/integration_verified.json</a:t>
            </a:r>
          </a:p>
          <a:p xmlns:a="http://schemas.openxmlformats.org/drawingml/2006/main">
            <a:r>
              <a:t>docs/REPRODUCIBILITY.md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建議配速：40 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個專題的核心，是把資料角色、學習目標和交付結果連起來。我們先處理格式與重複交易，再建立不讀取待預測交易答案的基礎特徵。模型以單價、對數與神經網路表示學習價格，並利用當期訓練成交作局部參考，最後統一成總價預測。選定模型的 Public MAE 約一百九十九點八六萬元，保存模型的全量推論也已重現。我們同時保留驗證窗口重用、高價群和未知 Private 的限制，讓這份成果除了可以提交，也能由程式、資料處理規則與證據說明清楚。以上是我們的報告，謝謝。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</a:t>
            </a:r>
          </a:p>
          <a:p xmlns:a="http://schemas.openxmlformats.org/drawingml/2006/main">
            <a:r>
              <a:t>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建議配速：問答時使用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這頁是完整配方。三條基準分支分別混合單價模型、兩個神經網路，以及直接總價與對數模型。每條都保留共同的 LightGBM 項，再各自做成交參考與空間修正。最外層的中位數只執行一次。符號都代表已還原為元的預測，詳細共同狀態引數請對照程式。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src/predict_v22.py</a:t>
            </a:r>
          </a:p>
          <a:p xmlns:a="http://schemas.openxmlformats.org/drawingml/2006/main">
            <a:r>
              <a:t>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建議配速：問答時使用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單價 CatBoost 使用 MAE 損失、兩千九百九十九次迭代、深度八、學習率零點零六五與固定種子。兩個神經網路的隱藏層是五百一十二、二百五十六與一百二十八，訓練三十個週期。推論重現是在保存的既有環境進行，其他硬體可能有浮點數差異，所以我們提供受測設定與核對收據，不承諾所有電腦逐位元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資料來源（不必口述）</a:t>
            </a:r>
          </a:p>
          <a:p xmlns:a="http://schemas.openxmlformats.org/drawingml/2006/main">
            <a:r>
              <a:t>REPORT.md</a:t>
            </a:r>
          </a:p>
          <a:p xmlns:a="http://schemas.openxmlformats.org/drawingml/2006/main">
            <a:r>
              <a:t>docs/REPRODUCIBILITY.md</a:t>
            </a:r>
          </a:p>
          <a:p xmlns:a="http://schemas.openxmlformats.org/drawingml/2006/main">
            <a:r>
              <a:t>evidence/reproduction/integration_verified.json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862e4f33c94f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232f8bb7f4641be" /><Relationship Type="http://schemas.openxmlformats.org/officeDocument/2006/relationships/slideLayout" Target="/ppt/slideLayouts/slideLayout1.xml" Id="R39dc088a149c4a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dc088a149c4a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2297d1679b40da" /><Relationship Type="http://schemas.openxmlformats.org/officeDocument/2006/relationships/image" Target="/ppt/media/image.jpeg" Id="Rcf59316dd6ce498a" /><Relationship Type="http://schemas.openxmlformats.org/officeDocument/2006/relationships/notesSlide" Target="/ppt/notesSlides/notesSlide1.xml" Id="R503e425af0724c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36a2ae8e034d6b" /><Relationship Type="http://schemas.openxmlformats.org/officeDocument/2006/relationships/notesSlide" Target="/ppt/notesSlides/notesSlide2.xml" Id="R52b20ca29dca46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720618aa984e5d" /><Relationship Type="http://schemas.openxmlformats.org/officeDocument/2006/relationships/notesSlide" Target="/ppt/notesSlides/notesSlide3.xml" Id="R6d7498ccc404400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e1012ad52e4133" /><Relationship Type="http://schemas.openxmlformats.org/officeDocument/2006/relationships/notesSlide" Target="/ppt/notesSlides/notesSlide4.xml" Id="R797bcbd756fe4e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c27b8aa3574000" /><Relationship Type="http://schemas.openxmlformats.org/officeDocument/2006/relationships/notesSlide" Target="/ppt/notesSlides/notesSlide5.xml" Id="Rf7d4f4ef057044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1d06553a134b07" /><Relationship Type="http://schemas.openxmlformats.org/officeDocument/2006/relationships/notesSlide" Target="/ppt/notesSlides/notesSlide6.xml" Id="R7e021f222d9340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ae2785e6a546b7" /><Relationship Type="http://schemas.openxmlformats.org/officeDocument/2006/relationships/notesSlide" Target="/ppt/notesSlides/notesSlide7.xml" Id="R0bc6da61cb924a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2858b6e2744ae4" /><Relationship Type="http://schemas.openxmlformats.org/officeDocument/2006/relationships/notesSlide" Target="/ppt/notesSlides/notesSlide8.xml" Id="Rbc8200d0565c4a9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10a4dfbea94f12" /><Relationship Type="http://schemas.openxmlformats.org/officeDocument/2006/relationships/notesSlide" Target="/ppt/notesSlides/notesSlide9.xml" Id="Rb14d242e58d2458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e392f5c9ac4d48" /><Relationship Type="http://schemas.openxmlformats.org/officeDocument/2006/relationships/notesSlide" Target="/ppt/notesSlides/notesSlide10.xml" Id="R06407db4ea0e426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1094a375b2488e" /><Relationship Type="http://schemas.openxmlformats.org/officeDocument/2006/relationships/chart" Target="/ppt/slides/charts/chart1.xml" Id="Rdacc7657306b4865" /><Relationship Type="http://schemas.openxmlformats.org/officeDocument/2006/relationships/notesSlide" Target="/ppt/notesSlides/notesSlide11.xml" Id="R6518e7a1e7f4492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cfee27d074a59" /><Relationship Type="http://schemas.openxmlformats.org/officeDocument/2006/relationships/notesSlide" Target="/ppt/notesSlides/notesSlide12.xml" Id="Rebd65c3473474c2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6a0311b61f4282" /><Relationship Type="http://schemas.openxmlformats.org/officeDocument/2006/relationships/notesSlide" Target="/ppt/notesSlides/notesSlide13.xml" Id="R1ab97c3ab4c24a8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a346e66e9c45f0" /><Relationship Type="http://schemas.openxmlformats.org/officeDocument/2006/relationships/chart" Target="/ppt/slides/charts/chart2.xml" Id="R329c553c88ec434a" /><Relationship Type="http://schemas.openxmlformats.org/officeDocument/2006/relationships/notesSlide" Target="/ppt/notesSlides/notesSlide14.xml" Id="R90679754b26f4a3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a79419c6e64d44" /><Relationship Type="http://schemas.openxmlformats.org/officeDocument/2006/relationships/chart" Target="/ppt/slides/charts/chart3.xml" Id="Rbc90335ef5ed4863" /><Relationship Type="http://schemas.openxmlformats.org/officeDocument/2006/relationships/notesSlide" Target="/ppt/notesSlides/notesSlide15.xml" Id="R2f72b876a27e438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c606d4b4cb4699" /><Relationship Type="http://schemas.openxmlformats.org/officeDocument/2006/relationships/chart" Target="/ppt/slides/charts/chart4.xml" Id="R244e4acbf23c444b" /><Relationship Type="http://schemas.openxmlformats.org/officeDocument/2006/relationships/notesSlide" Target="/ppt/notesSlides/notesSlide16.xml" Id="Rb056efc96806449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04408e54ed496f" /><Relationship Type="http://schemas.openxmlformats.org/officeDocument/2006/relationships/notesSlide" Target="/ppt/notesSlides/notesSlide17.xml" Id="R7b707ec156094c8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56321062b04f07" /><Relationship Type="http://schemas.openxmlformats.org/officeDocument/2006/relationships/notesSlide" Target="/ppt/notesSlides/notesSlide18.xml" Id="Rdec7bbf939cb433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9a7bd39e5e41b7" /><Relationship Type="http://schemas.openxmlformats.org/officeDocument/2006/relationships/notesSlide" Target="/ppt/notesSlides/notesSlide19.xml" Id="R4fd6f5fda69a493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f1d69784d34a0d" /><Relationship Type="http://schemas.openxmlformats.org/officeDocument/2006/relationships/notesSlide" Target="/ppt/notesSlides/notesSlide20.xml" Id="R390c7ae2c1264df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73fd1d7a7943da" /><Relationship Type="http://schemas.openxmlformats.org/officeDocument/2006/relationships/notesSlide" Target="/ppt/notesSlides/notesSlide21.xml" Id="R502535904296437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97839e0db9435f" /><Relationship Type="http://schemas.openxmlformats.org/officeDocument/2006/relationships/notesSlide" Target="/ppt/notesSlides/notesSlide22.xml" Id="R49d6c0a8fc18425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ser>
          <c:idx val="0"/>
          <c:order val="0"/>
          <c:tx>
            <c:v>相對權重</c:v>
          </c:tx>
          <c:spPr>
            <a:ln xmlns:a="http://schemas.openxmlformats.org/drawingml/2006/main" w="38100">
              <a:solidFill>
                <a:srgbClr val="31644F"/>
              </a:solidFill>
            </a:ln>
          </c:spPr>
          <c:marker>
            <c:symbol val="circle"/>
            <c:size val="9"/>
            <c:spPr>
              <a:solidFill xmlns:a="http://schemas.openxmlformats.org/drawingml/2006/main">
                <a:srgbClr val="31644F"/>
              </a:solidFill>
            </c:spPr>
          </c:marker>
          <c:cat>
            <c:strRef>
              <c:f>'Chart Data'!$A$2:$A$5</c:f>
              <c:strCache>
                <c:ptCount val="4"/>
                <c:pt idx="0">
                  <c:v>近期</c:v>
                </c:pt>
                <c:pt idx="1">
                  <c:v>早 1 年</c:v>
                </c:pt>
                <c:pt idx="2">
                  <c:v>早 2 年</c:v>
                </c:pt>
                <c:pt idx="3">
                  <c:v>早 3 年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</c:v>
                </c:pt>
                <c:pt idx="1">
                  <c:v>0.5</c:v>
                </c:pt>
                <c:pt idx="2">
                  <c:v>0.25</c:v>
                </c:pt>
                <c:pt idx="3">
                  <c:v>0.125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31644F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BB7A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ED2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BB7A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0.25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假設預測</c:v>
          </c:tx>
          <c:spPr>
            <a:solidFill xmlns:a="http://schemas.openxmlformats.org/drawingml/2006/main">
              <a:srgbClr val="ABB7AC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ABB7AC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164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ABB7AC"/>
              </a:solidFill>
            </c:spPr>
          </c:dPt>
          <c:cat>
            <c:strRef>
              <c:f>'Chart Data'!$A$2:$A$4</c:f>
              <c:strCache>
                <c:ptCount val="3"/>
                <c:pt idx="0">
                  <c:v>單價分支</c:v>
                </c:pt>
                <c:pt idx="1">
                  <c:v>對數分支</c:v>
                </c:pt>
                <c:pt idx="2">
                  <c:v>神經網路分支</c:v>
                </c:pt>
              </c:strCache>
            </c:strRef>
          </c:cat>
          <c:val>
            <c:numRef>
              <c:f>'Chart Data'!$B$2:$B$4</c:f>
              <c:numCache>
                <c:formatCode>#,##0</c:formatCode>
                <c:ptCount val="3"/>
                <c:pt idx="0">
                  <c:v>1000</c:v>
                </c:pt>
                <c:pt idx="1">
                  <c:v>1100</c:v>
                </c:pt>
                <c:pt idx="2">
                  <c:v>3000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 b="1">
                  <a:solidFill>
                    <a:srgbClr val="34483F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BB7A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3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ED2"/>
              </a:solidFill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ABB7A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1000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提交方法的時間回測</c:v>
          </c:tx>
          <c:spPr>
            <a:solidFill xmlns:a="http://schemas.openxmlformats.org/drawingml/2006/main">
              <a:srgbClr val="31644F"/>
            </a:solidFill>
          </c:spPr>
          <c:cat>
            <c:strRef>
              <c:f>'Chart Data'!$A$2:$A$4</c:f>
              <c:strCache>
                <c:ptCount val="3"/>
                <c:pt idx="0">
                  <c:v>2021–2022</c:v>
                </c:pt>
                <c:pt idx="1">
                  <c:v>2022–2023</c:v>
                </c:pt>
                <c:pt idx="2">
                  <c:v>2023–2024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230.94</c:v>
                </c:pt>
                <c:pt idx="1">
                  <c:v>140.74</c:v>
                </c:pt>
                <c:pt idx="2">
                  <c:v>138.32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 b="1">
                  <a:solidFill>
                    <a:srgbClr val="34483F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BB7A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26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ED2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ABB7A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doughnutChart>
        <c:ser>
          <c:idx val="0"/>
          <c:order val="0"/>
          <c:tx>
            <c:v>test 評分分割</c:v>
          </c:tx>
          <c:dPt>
            <c:idx val="0"/>
            <c:spPr>
              <a:solidFill xmlns:a="http://schemas.openxmlformats.org/drawingml/2006/main">
                <a:srgbClr val="C8DC9E"/>
              </a:solidFill>
            </c:spPr>
          </c:dPt>
          <c:dPt>
            <c:idx val="1"/>
            <c:spPr>
              <a:solidFill xmlns:a="http://schemas.openxmlformats.org/drawingml/2006/main">
                <a:srgbClr val="86B09A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Public 約 30%</c:v>
                </c:pt>
                <c:pt idx="1">
                  <c:v>Private 約 70%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30</c:v>
                </c:pt>
                <c:pt idx="1">
                  <c:v>70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950" b="1">
                  <a:solidFill>
                    <a:srgbClr val="203D3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0"/>
        </c:dLbls>
        <c:holeSize val="64"/>
      </c:doughnutChart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34483F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59316dd6ce498a"/>
          <a:srcRect xmlns:a="http://schemas.openxmlformats.org/drawingml/2006/main" l="25667" t="0" r="2566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77100" y="533400"/>
            <a:ext cx="4229100" cy="5791200"/>
          </a:xfrm>
          <a:prstGeom xmlns:a="http://schemas.openxmlformats.org/drawingml/2006/main" prst="rect">
            <a:avLst/>
          </a:prstGeom>
        </p:spPr>
      </p:pic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B8B8CDD-14EF-4327-8391-5EE51C40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619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55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55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臺灣房屋</a:t>
            </a:r>
          </a:p>
          <a:p xmlns:a="http://schemas.openxmlformats.org/drawingml/2006/main">
            <a:pPr algn="l">
              <a:defRPr sz="555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550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D24E1B4-EAF6-42E8-94C4-1E9532DF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57600"/>
            <a:ext cx="619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資料處理、模型設計與驗證流程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EBB3E8D-FE57-46B1-B874-79C44A780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本次選定提交模型 v22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7FBF726-4DD2-4CD4-AD34-F12B4236B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81600"/>
            <a:ext cx="590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機器學習專題報告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D0AD778-CDEE-4456-A2C3-817528A4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388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2026.09.28</a:t>
            </a:r>
          </a:p>
        </p:txBody>
      </p:sp>
    </p:spTree>
    <p:extLst>
      <p:ext uri="{BB962C8B-B14F-4D97-AF65-F5344CB8AC3E}">
        <p14:creationId xmlns:p14="http://schemas.microsoft.com/office/powerpoint/2010/main" val="14721541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B8B1F48-AB0F-42DA-993D-CC267844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任務與評估指標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D81C8E7-06A2-4292-BDB2-AD89F812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400B404-6C37-48C7-AA19-9F4F3F87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0722B97-6343-4614-8D37-BE7EF86A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輸入房屋與交易屬性，輸出連續的總價數字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11B38E5-E3CA-4DA7-930C-1AE7DF8F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05075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MAE = 平均 | 預測總價 − 真實總價 |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85800" y="3524250"/>
          <a:ext xmlns:a="http://schemas.openxmlformats.org/drawingml/2006/main" cx="10820400" cy="1924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2876550"/>
                <a:gridCol w="2876550"/>
                <a:gridCol w="2876550"/>
              </a:tblGrid>
              <a:tr h="64135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假設交易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真價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絕對誤差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</a:tr>
              <a:tr h="64135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 萬元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1,100 萬元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 萬元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4135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 萬元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950 萬元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 萬元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</a:tbl>
          </a:graphicData>
        </a:graphic>
      </p:graphicFrame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997D0EB-D039-438D-BD33-30E490970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平均絕對誤差 = 75 萬元，越低越好</a:t>
            </a:r>
          </a:p>
        </p:txBody>
      </p:sp>
    </p:spTree>
    <p:extLst>
      <p:ext uri="{BB962C8B-B14F-4D97-AF65-F5344CB8AC3E}">
        <p14:creationId xmlns:p14="http://schemas.microsoft.com/office/powerpoint/2010/main" val="9221246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4EBEA79-8767-4C2F-AF64-A693268A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從原始資料到提交檔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BEDF8DA-70E8-4BE7-B0DB-A62BD3C7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438C100-D50E-480D-9513-6126AFBA0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85800" y="1619250"/>
          <a:ext xmlns:a="http://schemas.openxmlformats.org/drawingml/2006/main" cx="108204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90775"/>
                <a:gridCol w="3924300"/>
                <a:gridCol w="4505325"/>
              </a:tblGrid>
              <a:tr h="75247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步驟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做什麼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為什麼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</a:tr>
              <a:tr h="75247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檔案與資料角色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確認欄位、列數與標籤用途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避免把格式範例當答案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5247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清理與特徵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處理重複，解析日期、樓層與地址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保留欄位意義，防止資料錯位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  <a:tr h="75247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時間回測與學習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依當期 fit 建模型與價格狀態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檢查以過去預測未來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5247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最終模型與提交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最終 fit、test 推論及核驗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保存可追溯的模型與提交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</a:tbl>
          </a:graphicData>
        </a:graphic>
      </p:graphicFrame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FAC56CB-C065-4F2D-9D37-D2F8DDC5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回測的 query 價格不參與同一期模型與價格參考</a:t>
            </a:r>
          </a:p>
        </p:txBody>
      </p:sp>
    </p:spTree>
    <p:extLst>
      <p:ext uri="{BB962C8B-B14F-4D97-AF65-F5344CB8AC3E}">
        <p14:creationId xmlns:p14="http://schemas.microsoft.com/office/powerpoint/2010/main" val="4106252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0C3B209-C42B-4A29-ABA2-8AFA8DAE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四份檔案的角色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571229A-5D3D-4AB0-8276-F45D0360D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D01D7E1-D837-48B2-A798-2906F293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85800" y="1647825"/>
          <a:ext xmlns:a="http://schemas.openxmlformats.org/drawingml/2006/main" cx="108204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76450"/>
                <a:gridCol w="1733550"/>
                <a:gridCol w="2333625"/>
                <a:gridCol w="4676775"/>
              </a:tblGrid>
              <a:tr h="73152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原始列數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是否有總價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使用角色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</a:tr>
              <a:tr h="73152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train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455,787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歷史回測與模型學習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valid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11,994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最終全量 fit 併入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  <a:tr h="73152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47,073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全部保留，等待模型預測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sample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47,073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範例價格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提供欄名與編號順序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</a:tbl>
          </a:graphicData>
        </a:graphic>
      </p:graphicFrame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0E4FE27-F0EF-40A7-BADA-15862E94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108204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Public 約 30% 與 Private 約 70% 都來自 test</a:t>
            </a:r>
          </a:p>
        </p:txBody>
      </p:sp>
    </p:spTree>
    <p:extLst>
      <p:ext uri="{BB962C8B-B14F-4D97-AF65-F5344CB8AC3E}">
        <p14:creationId xmlns:p14="http://schemas.microsoft.com/office/powerpoint/2010/main" val="14405383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A762EA5-2ACA-4C4F-B62B-A62672929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清理重複與格式問題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E01B7CD-0AC8-4BFF-A05E-B8B15FC9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69F3CD7-09F6-4981-BEB8-26CC3A9FF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1647825"/>
          <a:ext xmlns:a="http://schemas.openxmlformats.org/drawingml/2006/main" cx="64770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95800"/>
                <a:gridCol w="1981200"/>
              </a:tblGrid>
              <a:tr h="61912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處理步驟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保留筆數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</a:tr>
              <a:tr h="61912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 train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455,787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移除 3 列英文表頭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455,784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  <a:tr h="61912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移除 529 列完全重複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455,255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加入 11,994 筆 valid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467,249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  <a:tr h="61912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移除 28 列跨集重複</a:t>
                      </a:r>
                    </a:p>
                  </a:txBody>
                  <a:tcPr marL="91440" marR="91440" marT="45720" marB="45720" anchor="ctr">
                    <a:solidFill>
                      <a:srgbClr val="DEE8D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467,221</a:t>
                      </a:r>
                    </a:p>
                  </a:txBody>
                  <a:tcPr marL="91440" marR="91440" marT="45720" marB="45720" anchor="ctr">
                    <a:solidFill>
                      <a:srgbClr val="DEE8D5"/>
                    </a:solidFill>
                  </a:tcPr>
                </a:tc>
              </a:tr>
            </a:tbl>
          </a:graphicData>
        </a:graphic>
      </p:graphicFrame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44E7C9B-6FC6-44F6-9EA0-8BBE4200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819275"/>
            <a:ext cx="361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467,221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99C48E4-EC60-4061-A208-DA16BFDE2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847975"/>
            <a:ext cx="3619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最終 fit 的交易筆數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9C08DF4-1CB2-464D-BA54-976A6A15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86225"/>
            <a:ext cx="3600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去重包含價格</a:t>
            </a:r>
          </a:p>
          <a:p xmlns:a="http://schemas.openxmlformats.org/drawingml/2006/main">
            <a:pPr algn="l">
              <a:defRPr sz="2100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但排除編號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D387E95-83EB-433C-9FBB-351ED4154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移除格式錯列與重複交易，test 不刪列、不去重</a:t>
            </a:r>
          </a:p>
        </p:txBody>
      </p:sp>
    </p:spTree>
    <p:extLst>
      <p:ext uri="{BB962C8B-B14F-4D97-AF65-F5344CB8AC3E}">
        <p14:creationId xmlns:p14="http://schemas.microsoft.com/office/powerpoint/2010/main" val="1192766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F9D7FA-76AD-41EC-A73C-E2A938A6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把文字欄位轉成特徵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FAD448A-6397-4EFC-A699-683A7E222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45D67A0-0575-4CEC-819A-05D64223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85800" y="1724025"/>
          <a:ext xmlns:a="http://schemas.openxmlformats.org/drawingml/2006/main" cx="10820400" cy="3448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86075"/>
                <a:gridCol w="3476625"/>
                <a:gridCol w="4457700"/>
              </a:tblGrid>
              <a:tr h="68961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原始欄位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解析後資訊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設計目的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</a:tr>
              <a:tr h="68961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民國交易日期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年、月、季及時間索引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讓模型辨識交易時點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961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中文樓層與總樓層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數值樓層與相關旗標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保留樓層位置及不規則情況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  <a:tr h="68961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土地、建物與車位面積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有效數值與面積比例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描述交易規模與組成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961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地址、道路與建案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類別及粗略地理資訊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連結區位與可比成交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</a:tbl>
          </a:graphicData>
        </a:graphic>
      </p:graphicFrame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7C79DEB-3BE3-432D-9D34-74D31166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共同基礎 87 欄，單價 CatBoost 加地理後 95 欄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21E8C40-A7FD-4F49-B120-4EB55BBA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該模型含 23 個類別欄，NN 另使用自己的編碼維度</a:t>
            </a:r>
          </a:p>
        </p:txBody>
      </p:sp>
    </p:spTree>
    <p:extLst>
      <p:ext uri="{BB962C8B-B14F-4D97-AF65-F5344CB8AC3E}">
        <p14:creationId xmlns:p14="http://schemas.microsoft.com/office/powerpoint/2010/main" val="20333545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AC9AA6-2E59-4E40-B1F5-FC1CCF2EF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欄位取捨與地理資訊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1CCCC69-F99D-48FE-A9C5-BA8F8B24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D527B28-D7D0-469D-8F01-2B1BAFE1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AC1926B-A7B7-43B4-AC9E-1BC839E5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編號與總價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500796B-6E77-4DF4-8E02-7D734C823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676400"/>
            <a:ext cx="6724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編號只用來對齊輸出</a:t>
            </a:r>
          </a:p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總價只作學習標籤，不作輸入特徵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E6D99A1-4D3B-4842-8D0B-ABE9D1AF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完整備註與解約情形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7432DA1-C917-4AE9-A513-8972484A1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43250"/>
            <a:ext cx="6724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避免文字價格或交易後資訊進入模型</a:t>
            </a:r>
          </a:p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僅保留有限的非價格備註旗標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195E154-5B9D-4C2B-9FD5-9C9348993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不可用或不變的欄位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B75D2201-1BCD-43FC-9B2A-EC7EE27C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657725"/>
            <a:ext cx="6724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建築完成年月不可用，管理組織是常數</a:t>
            </a:r>
          </a:p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不將缺乏有效訊息的欄位當作主要依據</a:t>
            </a:r>
          </a:p>
        </p:txBody>
      </p:sp>
    </p:spTree>
    <p:extLst>
      <p:ext uri="{BB962C8B-B14F-4D97-AF65-F5344CB8AC3E}">
        <p14:creationId xmlns:p14="http://schemas.microsoft.com/office/powerpoint/2010/main" val="5358844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E8208B-4925-4913-BA34-AFF425980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用過去資料預測下一年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C014ED0-D845-48F2-BBC9-3ACB2441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35438B2C-851D-4D49-8A76-1D84F3A4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85800" y="1657350"/>
          <a:ext xmlns:a="http://schemas.openxmlformats.org/drawingml/2006/main" cx="108204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3962400"/>
                <a:gridCol w="2238375"/>
                <a:gridCol w="2238375"/>
              </a:tblGrid>
              <a:tr h="845344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fit 截止日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評分期間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fit 筆數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評分筆數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</a:tr>
              <a:tr h="845344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2021/08/10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2021/08/11</a:t>
                      </a:r>
                    </a:p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至 2022/08/10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134,805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105,511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45344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2022/08/10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2022/08/11</a:t>
                      </a:r>
                    </a:p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至 2023/08/10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240,316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81,234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  <a:tr h="845344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2023/08/10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2023/08/11</a:t>
                      </a:r>
                    </a:p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至 2024/08/10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321,550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133,697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CFCFE0FC-366E-4691-BA3F-D6ACA6E9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435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每一期的模型、編碼、先驗與參考只用該期 fit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E95D4DF-88C5-46CE-8A66-0C8B6881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0820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模擬以過去預測未來，這些時間窗仍曾多次參與研究</a:t>
            </a:r>
          </a:p>
        </p:txBody>
      </p:sp>
    </p:spTree>
    <p:extLst>
      <p:ext uri="{BB962C8B-B14F-4D97-AF65-F5344CB8AC3E}">
        <p14:creationId xmlns:p14="http://schemas.microsoft.com/office/powerpoint/2010/main" val="13007417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8BEE8BD-25FC-4F4F-A746-28CB31B41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六個模型與三條價格分支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A9A5916-C54F-444D-877A-24EDF857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CA159A1-9376-4761-ADFE-D4CC9463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EECF6ED-B467-4454-A342-72469C3E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單價 × 面積 = 總價，另以不同尺度補充預測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2028825"/>
          <a:ext xmlns:a="http://schemas.openxmlformats.org/drawingml/2006/main" cx="10820400" cy="2867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28825"/>
                <a:gridCol w="5191125"/>
                <a:gridCol w="3600450"/>
              </a:tblGrid>
              <a:tr h="716756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價格分支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主要模型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學習的價格表示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</a:tr>
              <a:tr h="716756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單價分支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CatBoost + LightGBM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單價乘回面積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16756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對數分支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總價及 log CatBoost + LightGBM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直接總價與對數總價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  <a:tr h="716756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神經網路分支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兩個表格 NN + LightGBM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面積連結與先驗倍率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EAB16F1-2FA1-4E48-8019-21DADBCB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3 個 CatBoost ＋ 1 個 LightGBM ＋ 2 個 NN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9BCD585-0A8A-4FD3-8BB0-3E013399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769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LightGBM 在三分支共用，互補性是設計動機，不等同消融證明</a:t>
            </a:r>
          </a:p>
        </p:txBody>
      </p:sp>
    </p:spTree>
    <p:extLst>
      <p:ext uri="{BB962C8B-B14F-4D97-AF65-F5344CB8AC3E}">
        <p14:creationId xmlns:p14="http://schemas.microsoft.com/office/powerpoint/2010/main" val="5846109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5E82AB-770C-4E1E-B238-5EA540C0E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單價表示與面積權重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54891F0-5203-4A02-A424-C3709958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21C5C09-E4EC-4540-8EFA-A2011B6E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82A1B80-8326-47EB-A993-D8978067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總價 = 單價 × 面積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1DFEEBE-213B-4DD6-8B94-A0F41A57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假設例子：單價 CatBoost 出現相同的單價誤差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85800" y="2924175"/>
          <a:ext xmlns:a="http://schemas.openxmlformats.org/drawingml/2006/main" cx="1082040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19450"/>
                <a:gridCol w="3914775"/>
                <a:gridCol w="3686175"/>
              </a:tblGrid>
              <a:tr h="69850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單價誤差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對應的總價誤差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</a:tr>
              <a:tr h="69850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 平方公尺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 萬元／平方公尺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 萬元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850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200 平方公尺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 萬元／平方公尺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200 萬元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</a:tbl>
          </a:graphicData>
        </a:graphic>
      </p:graphicFrame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BE97CE1-5C0D-4F6B-A86D-7F69031C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面積權重讓單價損失對齊總價誤差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1B30465-4153-4185-93A8-96A15E6D4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29325"/>
            <a:ext cx="10820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target = y / (A × 10,000)，weight 含 A / 100</a:t>
            </a:r>
          </a:p>
        </p:txBody>
      </p:sp>
    </p:spTree>
    <p:extLst>
      <p:ext uri="{BB962C8B-B14F-4D97-AF65-F5344CB8AC3E}">
        <p14:creationId xmlns:p14="http://schemas.microsoft.com/office/powerpoint/2010/main" val="15527462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1C4941A-2338-4864-9D76-D2E4CA33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單價 CatBoost 的近期成交權重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C1518D6-710E-4EF5-A058-07ECE7E9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868F52B-97D3-43C2-9081-8B080F4F4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D84A318-CF02-4CF2-AE42-BED6747E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相對日期權重（正規化前）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85800" y="2047875"/>
          <a:ext xmlns:a="http://schemas.openxmlformats.org/drawingml/2006/main" cx="7162800" cy="34004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acc7657306b4865"/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8580494-221D-468A-BDDF-25160519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095500"/>
            <a:ext cx="28765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5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365 天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93307FB-04C6-41E7-8EC8-F70AF2B6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337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日期權重半衰期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714CE22-82EB-4703-9A01-27712940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4086225"/>
            <a:ext cx="3257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面積權重 × 日期權重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1C83688-4181-4ECF-A365-DF4D739E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4695825"/>
            <a:ext cx="32861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提高近期成交影響</a:t>
            </a:r>
          </a:p>
          <a:p xmlns:a="http://schemas.openxmlformats.org/drawingml/2006/main">
            <a:pPr algn="l">
              <a:defRPr sz="19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仍保留可用舊資料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EEB831E5-65CA-4C1C-A6C7-8917D627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權重正規化後使用，無效日期採 1；365 天是設計選擇，不是最優保證</a:t>
            </a:r>
          </a:p>
        </p:txBody>
      </p:sp>
    </p:spTree>
    <p:extLst>
      <p:ext uri="{BB962C8B-B14F-4D97-AF65-F5344CB8AC3E}">
        <p14:creationId xmlns:p14="http://schemas.microsoft.com/office/powerpoint/2010/main" val="17690302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C9BC5A-46CF-4E5F-AEDC-9E6B1322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神經網路與分組價格先驗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3FE5F56-85B1-4547-8FB7-1D597C65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E02455A-528C-4601-B00A-AD638FDC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3C88D4B-CF94-4245-8BB7-168932D51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表格神經網路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8D983D2-2D9F-445E-B884-72E799FC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628775"/>
            <a:ext cx="6724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面積 NN 學單價再換回總價</a:t>
            </a:r>
          </a:p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先驗倍率 NN 以區域參考單價為起點調整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8C6B05F-291F-4FB2-9397-6B79AE72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五折建案分組 OOF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964CBE5-8CAC-4C95-B3FC-4945A5AC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6724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同一建案放在同一折</a:t>
            </a:r>
          </a:p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每折的訓練先驗由其他折的 fit 標籤建立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E6D3F0F-157E-4889-B7FB-4597046F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9625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避免直接使用自己的價格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3C600EFC-0C6C-4433-A809-72B73BDE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629150"/>
            <a:ext cx="6724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減少自身或同建案標籤直接流入訓練先驗</a:t>
            </a:r>
          </a:p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query 的先驗只由 fit 狀態計算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ED5E4F4F-4429-4D10-A239-33965E3C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027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F553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AF553C"/>
                </a:solidFill>
                <a:latin typeface="Microsoft JhengHei"/>
                <a:ea typeface="Microsoft JhengHei"/>
                <a:cs typeface="Microsoft JhengHei"/>
              </a:rPr>
              <a:t>這是建案分組 OOF，不是逐筆時間 OOF</a:t>
            </a:r>
          </a:p>
        </p:txBody>
      </p:sp>
    </p:spTree>
    <p:extLst>
      <p:ext uri="{BB962C8B-B14F-4D97-AF65-F5344CB8AC3E}">
        <p14:creationId xmlns:p14="http://schemas.microsoft.com/office/powerpoint/2010/main" val="58256798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0AB8C5-EBD6-4481-B707-098BA416C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成交參考與空間修正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43C2C5C-7D49-49AF-8816-C57B3721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8E6864D1-0F6F-4F35-A7D0-40B21B7A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702128B-2AAB-4DA3-A515-7267CF3A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可比成交與時間趨勢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77497F9E-3713-498D-8241-599F10922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609725"/>
            <a:ext cx="6724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利用 fit 中建案、地址、道路等成交支持</a:t>
            </a:r>
          </a:p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把基準預測與可比價格資訊結合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69E09AA-7EDE-47C3-8938-F10B7B09D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14675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固定空間修正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5C637EE-A101-49A8-BA6B-506C3438C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24200"/>
            <a:ext cx="6724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當參考支持較弱時，補充附近空間資訊</a:t>
            </a:r>
          </a:p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支持不足則回退，並非強制逐筆修正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8A76C8A-9E5A-473E-A579-0DB8D42C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9625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地圖與價格分開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69C3BE2-7D16-4B14-8F38-0C9D63EE3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629150"/>
            <a:ext cx="6724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OSM 道路提供粗略地理資訊</a:t>
            </a:r>
          </a:p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價格標籤與成交參考來自課程 fit 資料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A7AA963-8DE3-45CE-89B4-583432B3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逐分支修正後才取中位數，不查詢外部 test 真價</a:t>
            </a:r>
          </a:p>
        </p:txBody>
      </p:sp>
    </p:spTree>
    <p:extLst>
      <p:ext uri="{BB962C8B-B14F-4D97-AF65-F5344CB8AC3E}">
        <p14:creationId xmlns:p14="http://schemas.microsoft.com/office/powerpoint/2010/main" val="99791561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B7CBB53-67E3-4A16-B3F8-4A4F5C061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逐筆取三分支中位數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28FDBB9-4C0D-4789-BA7A-D52601EA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A308E58-E9E6-4E37-AC84-0FE0F1EF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4F55BED-59E1-42BB-95F5-703C8F98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假設例子：各分支修正後的總價，單位為萬元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85800" y="2114550"/>
          <a:ext xmlns:a="http://schemas.openxmlformats.org/drawingml/2006/main" cx="7219950" cy="32289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9c553c88ec434a"/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93FD226-2966-41EC-B8DF-053D237D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457450"/>
            <a:ext cx="30099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4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4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1,100 萬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417F55B-FD3A-423A-98C6-F15A8DB2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3724275"/>
            <a:ext cx="306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這筆的最終預測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807F017-EEE0-452D-94A9-54C7DBB7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4495800"/>
            <a:ext cx="3067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取三個數字</a:t>
            </a:r>
          </a:p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排序後的中間值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E7D8779-E153-49DE-A942-FA3C25B3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57875"/>
            <a:ext cx="10820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降低單一分支極端輸出的影響，三條共同偏誤仍可能保留</a:t>
            </a:r>
          </a:p>
        </p:txBody>
      </p:sp>
    </p:spTree>
    <p:extLst>
      <p:ext uri="{BB962C8B-B14F-4D97-AF65-F5344CB8AC3E}">
        <p14:creationId xmlns:p14="http://schemas.microsoft.com/office/powerpoint/2010/main" val="128914525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4B617FE-B806-4CA3-808C-B803D511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三期年度回測結果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A9251E9-1CB4-42E1-A608-050E592B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0DB444B-7F9C-4A73-AE71-306689FC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D84B768-14EA-49FF-81D6-D4109D5AA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總價 MAE（萬元，越低越好）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5528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90335ef5ed4863"/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0294BA8-5988-497C-A21E-82DD36ED3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評分交易與市場時期不同，年度差值不能解讀為模型逐年變好</a:t>
            </a:r>
          </a:p>
        </p:txBody>
      </p:sp>
    </p:spTree>
    <p:extLst>
      <p:ext uri="{BB962C8B-B14F-4D97-AF65-F5344CB8AC3E}">
        <p14:creationId xmlns:p14="http://schemas.microsoft.com/office/powerpoint/2010/main" val="66472796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96792BD-7060-4775-A6A4-C6CFF3DA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Kaggle Public 與 Private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A265B14-818A-441B-9BAD-5DED976E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7DADC78-5B6F-4519-866A-E429A976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C483D35-71DE-4E45-BCA4-CA25E6F0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69151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7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7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199.86 萬元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72442DB-BAB5-4FD1-92A7-CCEE2AFB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33750"/>
            <a:ext cx="7096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Public MAE = 1,998,568.5706 元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070E434-2EEF-4D67-B996-06B2A782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52925"/>
            <a:ext cx="70485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在公開評分交易上</a:t>
            </a:r>
          </a:p>
          <a:p xmlns:a="http://schemas.openxmlformats.org/drawingml/2006/main">
            <a:pPr algn="l">
              <a:defRPr sz="22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平均絕對總價誤差約為此金額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067675" y="1609725"/>
          <a:ext xmlns:a="http://schemas.openxmlformats.org/drawingml/2006/main" cx="3305175" cy="34575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44e4acbf23c444b"/>
          </a:graphicData>
        </a:graphic>
      </p:graphicFrame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159AC75-D58B-4C06-A556-53E53369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381625"/>
            <a:ext cx="3533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Private 成績未知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CFECE34-DDC8-4934-9DC3-56576233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29325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Public 與 Private 都切自 test，與前頁歷史回測不是同一批交易</a:t>
            </a:r>
          </a:p>
        </p:txBody>
      </p:sp>
    </p:spTree>
    <p:extLst>
      <p:ext uri="{BB962C8B-B14F-4D97-AF65-F5344CB8AC3E}">
        <p14:creationId xmlns:p14="http://schemas.microsoft.com/office/powerpoint/2010/main" val="89086290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A74039C-0D88-4203-ABA4-83EAE4A3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泛化與高價尾部的限制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BF376E5-B754-42EB-BEF7-F1BFB25B8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5625921-E2D2-4197-B021-082E779F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D6DFBD2-A1BD-4C67-92E6-CF6FD266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85925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F553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AF553C"/>
                </a:solidFill>
                <a:latin typeface="Microsoft JhengHei"/>
                <a:ea typeface="Microsoft JhengHei"/>
                <a:cs typeface="Microsoft JhengHei"/>
              </a:rPr>
              <a:t>高價與大面積交易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50971E5E-04DF-41E1-9B83-BD8CC0042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695450"/>
            <a:ext cx="6724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少量大額誤差會拉高總價 MAE</a:t>
            </a:r>
          </a:p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整體平均可能掩蓋特定族群的退步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09E46F6-6953-4B54-A0B5-AECF46B4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驗證時間窗重複使用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0DB159D-DCD9-4509-A5D7-B131B7FB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71825"/>
            <a:ext cx="6724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多輪選型可能逐漸適應這些時間窗</a:t>
            </a:r>
          </a:p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重抽樣區間不能消除此偏差或保證 Private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A7332D8-5D74-473D-9F4A-8825A608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可比資料有限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5A42128-918A-4C2C-B4A8-BD90AD93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657725"/>
            <a:ext cx="6724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新建案、缺失地址與市場改變</a:t>
            </a:r>
          </a:p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可能讓訓練中的價格參考不再適用</a:t>
            </a:r>
          </a:p>
        </p:txBody>
      </p:sp>
    </p:spTree>
    <p:extLst>
      <p:ext uri="{BB962C8B-B14F-4D97-AF65-F5344CB8AC3E}">
        <p14:creationId xmlns:p14="http://schemas.microsoft.com/office/powerpoint/2010/main" val="184432451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DD3799-E6C7-4CAF-929C-8626BE27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最終訓練與提交檔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88E2A4F-48F4-4B44-B011-D9318F6B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AAF0E88D-A44D-4887-8064-988284EC4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85800" y="1647825"/>
          <a:ext xmlns:a="http://schemas.openxmlformats.org/drawingml/2006/main" cx="108204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71675"/>
                <a:gridCol w="4981575"/>
                <a:gridCol w="3867150"/>
              </a:tblGrid>
              <a:tr h="73152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階段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實際處理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要避免的問題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</a:tr>
              <a:tr h="73152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最終 fit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合併清理後 train 與 valid</a:t>
                      </a:r>
                    </a:p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以 467,221 筆建立最終狀態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把歷史回測模型誤當最終模型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推論所有 test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保留全部 47,073 筆</a:t>
                      </a:r>
                    </a:p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按 sample 列序對齊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漏列、重複編號或排序不一致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  <a:tr h="73152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CSV 輸出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兩欄：編號、總價元</a:t>
                      </a:r>
                    </a:p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最後只取整一次，價格至少 1 元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重複縮放、重複取整或欄名錯誤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檔案核對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列數、編號、正整數</a:t>
                      </a:r>
                    </a:p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UTF-8 BOM、CSV SHA256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價格相同但提交格式或位元不同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</a:tbl>
          </a:graphicData>
        </a:graphic>
      </p:graphicFrame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1140CA1-B6CF-49AF-8774-DF27A228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評分模型與提交檔要一起保存，格式檢查不等於泛化保證</a:t>
            </a:r>
          </a:p>
        </p:txBody>
      </p:sp>
    </p:spTree>
    <p:extLst>
      <p:ext uri="{BB962C8B-B14F-4D97-AF65-F5344CB8AC3E}">
        <p14:creationId xmlns:p14="http://schemas.microsoft.com/office/powerpoint/2010/main" val="86508949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3ACB52A-2F56-4899-ADB6-24704A1F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保存模型的推論重現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E9C1DA8-3C22-4E45-82C0-A168C73A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51579E6-14B5-41D3-BC71-ACB2CA62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A59F510-46B4-4206-9712-37C633C1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8204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47,073 筆完全一致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2CDF9E2-3305-45B3-AD2D-D56F069CA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原 test Excel ＋ 17 項保存模型、地理與 fit 狀態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633CD66-78BA-40CA-92E7-1206B260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528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真正載入六模型，重算三分支及最終中位數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32F1C63-E80B-4D4E-A091-8AE6639BF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1644F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31644F"/>
                </a:solidFill>
                <a:latin typeface="Consolas"/>
                <a:ea typeface="Consolas"/>
                <a:cs typeface="Consolas"/>
              </a:rPr>
              <a:t>src/predict_v22.py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BF76D96-4089-4E08-96CD-2C40C5AF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149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同機既有環境 84.74 秒，未取整最大差 0 元，CSV SHA 相同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8E592B9-FDA2-49FD-B581-93050B03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150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AF553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AF553C"/>
                </a:solidFill>
                <a:latin typeface="Microsoft JhengHei"/>
                <a:ea typeface="Microsoft JhengHei"/>
                <a:cs typeface="Microsoft JhengHei"/>
              </a:rPr>
              <a:t>全新安裝、從零重訓與地理重建尚未驗證</a:t>
            </a:r>
          </a:p>
        </p:txBody>
      </p:sp>
    </p:spTree>
    <p:extLst>
      <p:ext uri="{BB962C8B-B14F-4D97-AF65-F5344CB8AC3E}">
        <p14:creationId xmlns:p14="http://schemas.microsoft.com/office/powerpoint/2010/main" val="135801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203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B01EDA1-06A9-4E0A-A1A1-5A339DC3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結論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FD32659-E9C7-4D0E-802F-CCA7564C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EE8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DEE8D5"/>
                </a:solidFill>
                <a:latin typeface="Microsoft JhengHei"/>
                <a:ea typeface="Microsoft JhengHei"/>
                <a:cs typeface="Microsoft JhengHei"/>
              </a:rPr>
              <a:t>臺灣房屋總價預測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FD7B702-871D-43E8-B521-39F7A6BE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DEE8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DEE8D5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B6AD1BCC-6701-41A5-BB8D-1E5B9EEE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04975"/>
            <a:ext cx="105727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8DC9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C8DC9E"/>
                </a:solidFill>
                <a:latin typeface="Microsoft JhengHei"/>
                <a:ea typeface="Microsoft JhengHei"/>
                <a:cs typeface="Microsoft JhengHei"/>
              </a:rPr>
              <a:t>用過去的房屋與交易資料估計總價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434B30C-A8FF-4ECB-A0DE-D3C5CB57F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資料解析、近期加權與三分支組合都有明確設計動機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216EECC-04B6-4BD5-B67C-FFFC5F7F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Public MAE 約 199.86 萬元，Private 仍未知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5E25D15-0358-463A-B7E4-6FB9AB2F6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DEE8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DEE8D5"/>
                </a:solidFill>
                <a:latin typeface="Microsoft JhengHei"/>
                <a:ea typeface="Microsoft JhengHei"/>
                <a:cs typeface="Microsoft JhengHei"/>
              </a:rPr>
              <a:t>程式、正式報告、模型身分與提交檔均可追溯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0473E18-D105-4A8F-BAA7-96676A64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673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EE8D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DEE8D5"/>
                </a:solidFill>
                <a:latin typeface="Microsoft JhengHei"/>
                <a:ea typeface="Microsoft JhengHei"/>
                <a:cs typeface="Microsoft JhengHei"/>
              </a:rPr>
              <a:t>github.com/ziyi930108/nycu-house-price-regression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F203F29-AEB5-448E-B269-BEDDC196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45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C8DC9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C8DC9E"/>
                </a:solidFill>
                <a:latin typeface="Microsoft JhengHei"/>
                <a:ea typeface="Microsoft JhengHei"/>
                <a:cs typeface="Microsoft JhengHei"/>
              </a:rPr>
              <a:t>本次選定提交模型 v22</a:t>
            </a:r>
          </a:p>
        </p:txBody>
      </p:sp>
    </p:spTree>
    <p:extLst>
      <p:ext uri="{BB962C8B-B14F-4D97-AF65-F5344CB8AC3E}">
        <p14:creationId xmlns:p14="http://schemas.microsoft.com/office/powerpoint/2010/main" val="17815486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6C91916-FEC0-4611-8BD5-55A07C89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附錄 A 完整模型公式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DA28775-4816-42B9-8D08-594BCAC4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技術附錄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C69490E-A590-4408-A0FF-5BA12B44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324415D-0251-49A6-ADAD-7CBD4CE6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31644F"/>
                </a:solidFill>
                <a:latin typeface="Microsoft JhengHei"/>
                <a:ea typeface="Microsoft JhengHei"/>
                <a:cs typeface="Microsoft JhengHei"/>
              </a:rPr>
              <a:t>所有模型輸出先還原成總價「元」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C65701B-15F6-4562-B6A7-B9F82CF8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10782300" cy="2990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B_unit = .75 * C_unit + .25 * L_unit</a:t>
            </a:r>
          </a:p>
          <a:p xmlns:a="http://schemas.openxmlformats.org/drawingml/2006/main">
            <a:pPr algn="l">
              <a:defRPr sz="2025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B_nn   = .75 * (.5 * N_area + .5 * N_prior) + .25 * L_unit</a:t>
            </a:r>
          </a:p>
          <a:p xmlns:a="http://schemas.openxmlformats.org/drawingml/2006/main">
            <a:pPr algn="l">
              <a:defRPr sz="2025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B_log  = .75 * (.5 * C_raw  + .5 * C_log)   + .25 * L_unit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U = S(B_unit, R(B_unit))</a:t>
            </a:r>
          </a:p>
          <a:p xmlns:a="http://schemas.openxmlformats.org/drawingml/2006/main">
            <a:pPr algn="l">
              <a:defRPr sz="2025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N = S(B_nn,   R(B_nn))</a:t>
            </a:r>
          </a:p>
          <a:p xmlns:a="http://schemas.openxmlformats.org/drawingml/2006/main">
            <a:pPr algn="l">
              <a:defRPr sz="2025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H = S(B_log,  R(B_log))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203D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203D35"/>
                </a:solidFill>
                <a:latin typeface="Consolas"/>
                <a:ea typeface="Consolas"/>
                <a:cs typeface="Consolas"/>
              </a:rPr>
              <a:t>prediction = median(N, H, U)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6F4F3A6-F7C6-4193-A7FE-C4882E90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4483F"/>
                </a:solidFill>
                <a:latin typeface="Microsoft JhengHei"/>
                <a:ea typeface="Microsoft JhengHei"/>
                <a:cs typeface="Microsoft JhengHei"/>
              </a:rPr>
              <a:t>R：成交參考與時間趨勢　　S：固定空間修正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E832DB5-81B0-4005-9ACD-8DEB0BBF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455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省略共同特徵與保存狀態引數，修正發生在每條分支內</a:t>
            </a:r>
          </a:p>
        </p:txBody>
      </p:sp>
    </p:spTree>
    <p:extLst>
      <p:ext uri="{BB962C8B-B14F-4D97-AF65-F5344CB8AC3E}">
        <p14:creationId xmlns:p14="http://schemas.microsoft.com/office/powerpoint/2010/main" val="79959968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FF66988-172C-46E2-B2EE-552BA067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03D35"/>
                </a:solidFill>
                <a:latin typeface="Microsoft JhengHei"/>
                <a:ea typeface="Microsoft JhengHei"/>
                <a:cs typeface="Microsoft JhengHei"/>
              </a:rPr>
              <a:t>附錄 B 參數與重現條件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2883344-ABB7-4843-87E6-44EBD2CE0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技術附錄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D2F7EE8-5936-4D56-ACBB-26127B7F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03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85800" y="1657350"/>
          <a:ext xmlns:a="http://schemas.openxmlformats.org/drawingml/2006/main" cx="10820400" cy="3800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33725"/>
                <a:gridCol w="7686675"/>
              </a:tblGrid>
              <a:tr h="76009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模型設定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內容</a:t>
                      </a:r>
                    </a:p>
                  </a:txBody>
                  <a:tcPr marL="91440" marR="91440" marT="45720" marB="45720" anchor="ctr">
                    <a:solidFill>
                      <a:srgbClr val="203D35"/>
                    </a:solidFill>
                  </a:tcPr>
                </a:tc>
              </a:tr>
              <a:tr h="76009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CatBoost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MAE，2,999 iterations，depth 8</a:t>
                      </a:r>
                    </a:p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learning rate 0.065，seed 42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6009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單價目標與權重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target = y / (A × 10,000)</a:t>
                      </a:r>
                    </a:p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weight = A / 100 × date_weight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  <a:tr h="76009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日期權重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365 日半衰期，合法日期正規化</a:t>
                      </a:r>
                    </a:p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無效日期採中性權重 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60095"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表格 NN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  <a:tc>
                  <a:txBody>
                    <a:bodyPr lIns="152400" tIns="76200" rIns="114300" bIns="76200"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embedding MLP，512／256／128</a:t>
                      </a:r>
                    </a:p>
                    <a:p>
                      <a:r>
                        <a:rPr sz="1950" b="0">
                          <a:solidFill>
                            <a:srgbClr val="34483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 epochs，batch 2048，seed 42</a:t>
                      </a:r>
                    </a:p>
                  </a:txBody>
                  <a:tcPr marL="91440" marR="91440" marT="45720" marB="45720" anchor="ctr">
                    <a:solidFill>
                      <a:srgbClr val="EDEFE6"/>
                    </a:solidFill>
                  </a:tcPr>
                </a:tc>
              </a:tr>
            </a:tbl>
          </a:graphicData>
        </a:graphic>
      </p:graphicFrame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AD7B710-24E6-46FB-8F10-72C40F7A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820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9776D"/>
                </a:solidFill>
                <a:latin typeface="Microsoft JhengHei"/>
                <a:ea typeface="Microsoft JhengHei"/>
                <a:cs typeface="Microsoft JhengHei"/>
              </a:rPr>
              <a:t>受測推論硬體：RTX 4060 Ti、CUDA 12.6；完整環境見重現文件</a:t>
            </a:r>
          </a:p>
        </p:txBody>
      </p:sp>
    </p:spTree>
    <p:extLst>
      <p:ext uri="{BB962C8B-B14F-4D97-AF65-F5344CB8AC3E}">
        <p14:creationId xmlns:p14="http://schemas.microsoft.com/office/powerpoint/2010/main" val="5905047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2026-09-27T18:24:39.0180000Z</dcterms:created>
  <dcterms:modified xsi:type="dcterms:W3CDTF">2026-09-27T18:24:39.0180000Z</dcterms:modified>
</coreProperties>
</file>