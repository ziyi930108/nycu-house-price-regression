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8570af56b4054" /><Relationship Type="http://schemas.openxmlformats.org/officeDocument/2006/relationships/extended-properties" Target="/docProps/app.xml" Id="Rb47de25c9cf242d2" /><Relationship Type="http://schemas.openxmlformats.org/officeDocument/2006/relationships/officeDocument" Target="/ppt/presentation.xml" Id="R16c08613eeee40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7be600b184d8f"/>
  </p:sldMasterIdLst>
  <p:notesMasterIdLst>
    <p:notesMasterId xmlns:r="http://schemas.openxmlformats.org/officeDocument/2006/relationships" r:id="R32b73e40cbdc4740"/>
  </p:notesMasterIdLst>
  <p:sldIdLst>
    <p:sldId xmlns:r="http://schemas.openxmlformats.org/officeDocument/2006/relationships" id="256" r:id="Re9ef365a215a42a3"/>
    <p:sldId xmlns:r="http://schemas.openxmlformats.org/officeDocument/2006/relationships" id="257" r:id="R58fd509bb73549f9"/>
    <p:sldId xmlns:r="http://schemas.openxmlformats.org/officeDocument/2006/relationships" id="258" r:id="R10e85783fe0b4e86"/>
    <p:sldId xmlns:r="http://schemas.openxmlformats.org/officeDocument/2006/relationships" id="259" r:id="Rc4c17a1888154080"/>
    <p:sldId xmlns:r="http://schemas.openxmlformats.org/officeDocument/2006/relationships" id="260" r:id="R132c3be685cc4079"/>
    <p:sldId xmlns:r="http://schemas.openxmlformats.org/officeDocument/2006/relationships" id="261" r:id="R2d0b8b20bfe84da8"/>
    <p:sldId xmlns:r="http://schemas.openxmlformats.org/officeDocument/2006/relationships" id="262" r:id="R4d2f171c044043f0"/>
    <p:sldId xmlns:r="http://schemas.openxmlformats.org/officeDocument/2006/relationships" id="263" r:id="Rfeac76dd26424f96"/>
    <p:sldId xmlns:r="http://schemas.openxmlformats.org/officeDocument/2006/relationships" id="264" r:id="R743a079406564b53"/>
    <p:sldId xmlns:r="http://schemas.openxmlformats.org/officeDocument/2006/relationships" id="265" r:id="R32a7745176934913"/>
    <p:sldId xmlns:r="http://schemas.openxmlformats.org/officeDocument/2006/relationships" id="266" r:id="R0357d46af35a4589"/>
    <p:sldId xmlns:r="http://schemas.openxmlformats.org/officeDocument/2006/relationships" id="267" r:id="R716fbf91735a4cd6"/>
    <p:sldId xmlns:r="http://schemas.openxmlformats.org/officeDocument/2006/relationships" id="268" r:id="R93ad007babdc46fc"/>
    <p:sldId xmlns:r="http://schemas.openxmlformats.org/officeDocument/2006/relationships" id="269" r:id="R30d1a3a8db3a4246"/>
    <p:sldId xmlns:r="http://schemas.openxmlformats.org/officeDocument/2006/relationships" id="270" r:id="R4df441c5ff564ac8"/>
    <p:sldId xmlns:r="http://schemas.openxmlformats.org/officeDocument/2006/relationships" id="271" r:id="Rc16af13d10b8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a953584c9418a" /><Relationship Type="http://schemas.openxmlformats.org/officeDocument/2006/relationships/slideMaster" Target="/ppt/slideMasters/slideMaster1.xml" Id="Rc6d7be600b184d8f" /><Relationship Type="http://schemas.openxmlformats.org/officeDocument/2006/relationships/notesMaster" Target="/ppt/notesMasters/notesMaster1.xml" Id="R32b73e40cbdc4740" /><Relationship Type="http://schemas.openxmlformats.org/officeDocument/2006/relationships/presProps" Target="/ppt/presProps.xml" Id="Rfd53bd202b2c4f57" /><Relationship Type="http://schemas.openxmlformats.org/officeDocument/2006/relationships/tableStyles" Target="/ppt/tableStyles.xml" Id="R66988b5c2ea04265" /><Relationship Type="http://schemas.openxmlformats.org/officeDocument/2006/relationships/slide" Target="/ppt/slides/slide1.xml" Id="Re9ef365a215a42a3" /><Relationship Type="http://schemas.openxmlformats.org/officeDocument/2006/relationships/slide" Target="/ppt/slides/slide2.xml" Id="R58fd509bb73549f9" /><Relationship Type="http://schemas.openxmlformats.org/officeDocument/2006/relationships/slide" Target="/ppt/slides/slide3.xml" Id="R10e85783fe0b4e86" /><Relationship Type="http://schemas.openxmlformats.org/officeDocument/2006/relationships/slide" Target="/ppt/slides/slide4.xml" Id="Rc4c17a1888154080" /><Relationship Type="http://schemas.openxmlformats.org/officeDocument/2006/relationships/slide" Target="/ppt/slides/slide5.xml" Id="R132c3be685cc4079" /><Relationship Type="http://schemas.openxmlformats.org/officeDocument/2006/relationships/slide" Target="/ppt/slides/slide6.xml" Id="R2d0b8b20bfe84da8" /><Relationship Type="http://schemas.openxmlformats.org/officeDocument/2006/relationships/slide" Target="/ppt/slides/slide7.xml" Id="R4d2f171c044043f0" /><Relationship Type="http://schemas.openxmlformats.org/officeDocument/2006/relationships/slide" Target="/ppt/slides/slide8.xml" Id="Rfeac76dd26424f96" /><Relationship Type="http://schemas.openxmlformats.org/officeDocument/2006/relationships/slide" Target="/ppt/slides/slide9.xml" Id="R743a079406564b53" /><Relationship Type="http://schemas.openxmlformats.org/officeDocument/2006/relationships/slide" Target="/ppt/slides/slide10.xml" Id="R32a7745176934913" /><Relationship Type="http://schemas.openxmlformats.org/officeDocument/2006/relationships/slide" Target="/ppt/slides/slide11.xml" Id="R0357d46af35a4589" /><Relationship Type="http://schemas.openxmlformats.org/officeDocument/2006/relationships/slide" Target="/ppt/slides/slide12.xml" Id="R716fbf91735a4cd6" /><Relationship Type="http://schemas.openxmlformats.org/officeDocument/2006/relationships/slide" Target="/ppt/slides/slide13.xml" Id="R93ad007babdc46fc" /><Relationship Type="http://schemas.openxmlformats.org/officeDocument/2006/relationships/slide" Target="/ppt/slides/slide14.xml" Id="R30d1a3a8db3a4246" /><Relationship Type="http://schemas.openxmlformats.org/officeDocument/2006/relationships/slide" Target="/ppt/slides/slide15.xml" Id="R4df441c5ff564ac8" /><Relationship Type="http://schemas.openxmlformats.org/officeDocument/2006/relationships/slide" Target="/ppt/slides/slide16.xml" Id="Rc16af13d10b8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8f3ed304a4f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b79d7954aa4a13" /><Relationship Type="http://schemas.openxmlformats.org/officeDocument/2006/relationships/notesMaster" Target="/ppt/notesMasters/notesMaster1.xml" Id="R987d8c80fc4941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a0c13bda4e42d0" /><Relationship Type="http://schemas.openxmlformats.org/officeDocument/2006/relationships/notesMaster" Target="/ppt/notesMasters/notesMaster1.xml" Id="R4f512014749f49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e7a7264a54e51" /><Relationship Type="http://schemas.openxmlformats.org/officeDocument/2006/relationships/notesMaster" Target="/ppt/notesMasters/notesMaster1.xml" Id="Rf12e4454037d41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aaaa2426304df9" /><Relationship Type="http://schemas.openxmlformats.org/officeDocument/2006/relationships/notesMaster" Target="/ppt/notesMasters/notesMaster1.xml" Id="Rc11c403ca57444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26c3852f5a4b56" /><Relationship Type="http://schemas.openxmlformats.org/officeDocument/2006/relationships/notesMaster" Target="/ppt/notesMasters/notesMaster1.xml" Id="Rbedf2b6bae9647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d4d51b74324998" /><Relationship Type="http://schemas.openxmlformats.org/officeDocument/2006/relationships/notesMaster" Target="/ppt/notesMasters/notesMaster1.xml" Id="Ra726120d1fc24a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a5210839384fa1" /><Relationship Type="http://schemas.openxmlformats.org/officeDocument/2006/relationships/notesMaster" Target="/ppt/notesMasters/notesMaster1.xml" Id="R5a3e6b3c48d147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14013ef9c84fff" /><Relationship Type="http://schemas.openxmlformats.org/officeDocument/2006/relationships/notesMaster" Target="/ppt/notesMasters/notesMaster1.xml" Id="Rbfa4d7d6be424b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366acb36014f18" /><Relationship Type="http://schemas.openxmlformats.org/officeDocument/2006/relationships/notesMaster" Target="/ppt/notesMasters/notesMaster1.xml" Id="R8af91ecab26944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3ef82e4ff242e7" /><Relationship Type="http://schemas.openxmlformats.org/officeDocument/2006/relationships/notesMaster" Target="/ppt/notesMasters/notesMaster1.xml" Id="Ra9d48ef9e97046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87be1b4cf1431e" /><Relationship Type="http://schemas.openxmlformats.org/officeDocument/2006/relationships/notesMaster" Target="/ppt/notesMasters/notesMaster1.xml" Id="R9ad47bf5076745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54933b8d654873" /><Relationship Type="http://schemas.openxmlformats.org/officeDocument/2006/relationships/notesMaster" Target="/ppt/notesMasters/notesMaster1.xml" Id="R6ee0283e0df148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91ac62e17b4331" /><Relationship Type="http://schemas.openxmlformats.org/officeDocument/2006/relationships/notesMaster" Target="/ppt/notesMasters/notesMaster1.xml" Id="Rcfc9cf58d8f84f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c9d31b518b437d" /><Relationship Type="http://schemas.openxmlformats.org/officeDocument/2006/relationships/notesMaster" Target="/ppt/notesMasters/notesMaster1.xml" Id="R1ee5afb51dcf4b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b46135f39e4cff" /><Relationship Type="http://schemas.openxmlformats.org/officeDocument/2006/relationships/notesMaster" Target="/ppt/notesMasters/notesMaster1.xml" Id="R227259bdc55241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385c560a6d46cb" /><Relationship Type="http://schemas.openxmlformats.org/officeDocument/2006/relationships/notesMaster" Target="/ppt/notesMasters/notesMaster1.xml" Id="R1047ceff7424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今天分享臺灣房屋總價預測。這是一個監督式回歸問題，輸入房屋與交易屬性，輸出連續的總價數值。我會說明 v22 的資料處理、模型方法、實驗結果與推論重現。Private 成績仍未知。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至 4 節</a:t>
            </a:r>
          </a:p>
          <a:p xmlns:a="http://schemas.openxmlformats.org/drawingml/2006/main">
            <a:r>
              <a:t>Cover photograph: Markus Winkler, Taipei, Taiwan. https://unsplash.com/photos/gray-concrete-building-vztbnMlTDNs</a:t>
            </a:r>
          </a:p>
          <a:p xmlns:a="http://schemas.openxmlformats.org/drawingml/2006/main">
            <a:r>
              <a:t>Photo used under the Unsplash License as contextual imagery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先說明分數的意義。例如真價一千萬元，預測一千一百萬元，絕對誤差就是一百萬元。把所有評分交易的誤差平均，就是 MAE。公開分數約使用 test 的三成，最終看的 Private 則是另外七成。這與課程另外提供的 valid 不同。分數是總價誤差，不是準確率，也不表示每筆都錯同樣的金額。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至 4 節</a:t>
            </a:r>
          </a:p>
          <a:p xmlns:a="http://schemas.openxmlformats.org/drawingml/2006/main">
            <a:r>
              <a:t>evidence/outputs/kaggle_feedback/public_submissions_v19_v24_20260927.json</a:t>
            </a:r>
          </a:p>
          <a:p xmlns:a="http://schemas.openxmlformats.org/drawingml/2006/main">
            <a:r>
              <a:t>User-provided competition evaluation and leaderboard screenshots in this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 train 有四十五萬五千七百八十七列，先去掉混入的三列英文表頭，再去掉五百二十九列完全重複交易。最終加入 valid，移除二十八筆跨集重複，得到四十六萬七千二百二十一筆。重複判定包含價格但排除編號，不是按 ID 刪除。這張表是最終 fit 的資料，年度回測另按時間切分且不混入 valid。test 四萬七千零七十三筆全數保留，依 sample 順序輸出。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節</a:t>
            </a:r>
          </a:p>
          <a:p xmlns:a="http://schemas.openxmlformats.org/drawingml/2006/main">
            <a:r>
              <a:t>research/src/model_common.py:25</a:t>
            </a:r>
          </a:p>
          <a:p xmlns:a="http://schemas.openxmlformats.org/drawingml/2006/main">
            <a:r>
              <a:t>research/src/round79_final.py:83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共同基礎有八十七個特徵，包括民國日期、中文樓層、地址與面積比例等轉換。單價 CatBoost 再加八個道路地理欄位，共九十五個，其中二十三個類別欄。這個維度只適用這支樹模型，神經網路另有自己的編碼。編號、目標價格、完整備註與解約情形不作輸入。道路位置也不等同精確門牌。外部地圖沒有成交價格，我們沒有去內政部查 test 的答案。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至 4 節</a:t>
            </a:r>
          </a:p>
          <a:p xmlns:a="http://schemas.openxmlformats.org/drawingml/2006/main">
            <a:r>
              <a:t>research/src/house_features.py:99</a:t>
            </a:r>
          </a:p>
          <a:p xmlns:a="http://schemas.openxmlformats.org/drawingml/2006/main">
            <a:r>
              <a:t>research/src/round6_geo.py:9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v22 有三條價格分支，分支內還包含多個模型。單價分支學每單位面積價格，再乘回面積。對數分支用另一種尺度表示總價，神經網路提供不同的非線性預測。每條分支先還原成元，再以訓練資料中的同建案、地址、道路等可比成交與時間趨勢修正，必要時補上空間修正。最後逐筆取三個價格的中位數。這可以降低某一條分支極端輸出的影響，但三條一起錯時仍會錯。完整係數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至 4 節</a:t>
            </a:r>
          </a:p>
          <a:p xmlns:a="http://schemas.openxmlformats.org/drawingml/2006/main">
            <a:r>
              <a:t>research/src/round79_final.py:153</a:t>
            </a:r>
          </a:p>
          <a:p xmlns:a="http://schemas.openxmlformats.org/drawingml/2006/main">
            <a:r>
              <a:t>research/src/round71_final.py:115</a:t>
            </a:r>
          </a:p>
          <a:p xmlns:a="http://schemas.openxmlformats.org/drawingml/2006/main">
            <a:r>
              <a:t>research/src/round46_trial_release.py:243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v22 相對 v20 的主要改動，是在單價 CatBoost 原有面積權重上，乘上日期權重。日期採三百六十五天半衰期，所以相差一年的有效成交，較早一筆的日期權重約是一半。圖中的一、零點五、零點二五是正規化前的相對值，實際資料還會正規化再乘面積權重。這不是只留下最近一年，而是仍保留可用舊資料。面積權重讓單價損失對齊總價 MAE，日期權重則讓近期成交更有影響力。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至 4 節</a:t>
            </a:r>
          </a:p>
          <a:p xmlns:a="http://schemas.openxmlformats.org/drawingml/2006/main">
            <a:r>
              <a:t>research/src/round79_recency_unit.py:78</a:t>
            </a:r>
          </a:p>
          <a:p xmlns:a="http://schemas.openxmlformats.org/drawingml/2006/main">
            <a:r>
              <a:t>research/src/round60_recency_price_prior.py:49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我們用三個完整年度做時間回測，每次只用評分起點以前的 train，預測接下來一年。模型、編碼與價格參考都必須依該期 fit 建立，不能把看過評分價格的全量模型拿回來測。這比把年份隨機混在一起，更接近用過去推估未來。不過這些年度已反覆用於研究，晚期訓練也包含較早的評分年度，因此不是三個獨立試驗，也不是新盲測。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5、7 節</a:t>
            </a:r>
          </a:p>
          <a:p xmlns:a="http://schemas.openxmlformats.org/drawingml/2006/main">
            <a:r>
              <a:t>evidence/outputs/round79/plan.json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這張圖按時間順序比較 v20 與 v22，單位是萬元。v22 三期的整體 MAE 都較低，改善幅度依序約二點六五、零點六二、一點九四百分比。最小的改善出現在中間年度，配對抽樣區間也跨過零，所以不能說三期都證明有穩定優勢。這些結果提供跨時間的比較依據，但窗口重用造成的選型偏差仍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evidence/reports/round79_report.md</a:t>
            </a:r>
          </a:p>
          <a:p xmlns:a="http://schemas.openxmlformats.org/drawingml/2006/main">
            <a:r>
              <a:t>evidence/outputs/round79/results.json</a:t>
            </a:r>
          </a:p>
          <a:p xmlns:a="http://schemas.openxmlformats.org/drawingml/2006/main">
            <a:r>
              <a:t>evidence/outputs/round79/paired_vs_v20/results.json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這是使用者實際提交後提供的六個 Public 分數，圖上以萬元顯示。v22 的完整 MAE 是一百九十九萬八千五百六十八點五七零六元，在這六版中最低。相對 v20，平均每筆誤差少約七萬一千兩百六十九元，降低三點四四百分比。這是 MAE 降低，不是準確率增加。較新的 v23 和 v24 在這次 Public 沒有超過 v22，但最終七成 test 的 Private 仍未知，不能把公開結果當成 Private 保證。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evidence/outputs/kaggle_feedback/public_submissions_v19_v24_20260927.json</a:t>
            </a:r>
          </a:p>
          <a:p xmlns:a="http://schemas.openxmlformats.org/drawingml/2006/main">
            <a:r>
              <a:t>evidence/outputs/kaggle_feedback/public_submissions_v19_v24_20260927.png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不能只挑支持 v22 的結果。v24 在三個年度的整體 MAE 都比 v22 更低，但 Public 排序相反。v24 單價分支採兩個 CatBoost seed 各半，已移除這條分支原有的 LightGBM 比例，其他兩條分支保持。它在最新年度真價至少一億的三百一十九筆資料中，群內 MAE 又比 v22 增加約九十點九七萬元。這是局部群組的差值，不是全體變差。我們因此保留 v24 作互補候選，不能宣稱 v22 每個評估都最好。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evidence/reports/round83_delivery.md</a:t>
            </a:r>
          </a:p>
          <a:p xmlns:a="http://schemas.openxmlformats.org/drawingml/2006/main">
            <a:r>
              <a:t>REPORT.md，第 5、6 節</a:t>
            </a:r>
          </a:p>
          <a:p xmlns:a="http://schemas.openxmlformats.org/drawingml/2006/main">
            <a:r>
              <a:t>research/src/round83_final.py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平均分數會掩蓋不同族群的差異。例如最新回測年度，真價五千萬到一億這一群有一千七百二十五筆，v22 的群內平均誤差仍比 v20 多約二十點四七萬元。這不是全體 MAE 增加二十萬，也不能在預測時按未知真價決定用哪個模型。另一個風險是反覆看同一批驗證資料，方法會逐漸適應這些窗口。因此我們保留不利結果，不把 bootstrap 解讀成 Private 勝率。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evidence/reports/round79_report.md</a:t>
            </a:r>
          </a:p>
          <a:p xmlns:a="http://schemas.openxmlformats.org/drawingml/2006/main">
            <a:r>
              <a:t>REPORT.md，第 5、7 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這次新增的是可執行的推論入口。我們從原 test Excel 重新產生特徵，搭配保存的地理資料、編碼與價格先驗，真正載入四個樹模型和兩個神經網路，再重算參考與空間修正。四萬七千零七十三筆的未取整結果完全一致，最大差為零，最終 CSV 的完整 SHA256 也相同。單一入口耗時八十四點七四秒，這是同一台電腦既有環境的實測，不是重訓時間。全新安裝、從零重訓與地理資料重建還沒有驗證。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evidence/reproduction/integration_verified.json</a:t>
            </a:r>
          </a:p>
          <a:p xmlns:a="http://schemas.openxmlformats.org/drawingml/2006/main">
            <a:r>
              <a:t>docs/REPRODUCIBILITY.md</a:t>
            </a:r>
          </a:p>
          <a:p xmlns:a="http://schemas.openxmlformats.org/drawingml/2006/main">
            <a:r>
              <a:t>src/predict_v22.py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v22 把近期成交權重加入單價學習，再與對數與神經網路分支組合，Public MAE 約一百九十九點八六萬元。程式與正式報告已整理成獨立交付目錄，推論入口已完成全量核對。但 v24 的本機優勢與高價群的退步提醒我們，較低的 Public 不能保證 Private 較好。後續研究方向是固定候選配方做時間切分穩定性檢查。畫面是私人 GitHub 儲存庫，閱覽需要授權。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https://github.com/ziyi930108/nycu-house-price-regression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建議時間：問答時使用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這頁供模型細節問答。C_unit 是 R79 單價 CatBoost，L_unit 是既有單價 LightGBM，C_raw 是直接總價 CatBoost，C_log 是近期加權對數 CatBoost。N_area 是面積連結 NN，N_prior 是近期加權先驗倍率 NN。所有變數先還原成元。R 為 reference trend，S 同時接收原基準與 reference 結果。最外層取逐筆中位數，沒有在 median 後再乘面積或再次做趨勢。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至 4 節</a:t>
            </a:r>
          </a:p>
          <a:p xmlns:a="http://schemas.openxmlformats.org/drawingml/2006/main">
            <a:r>
              <a:t>research/src/round79_final.py:153</a:t>
            </a:r>
          </a:p>
          <a:p xmlns:a="http://schemas.openxmlformats.org/drawingml/2006/main">
            <a:r>
              <a:t>research/src/round71_final.py:115</a:t>
            </a:r>
          </a:p>
          <a:p xmlns:a="http://schemas.openxmlformats.org/drawingml/2006/main">
            <a:r>
              <a:t>research/src/round46_trial_release.py:243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建議時間：問答時使用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R79 是實驗編號，v22 是提交檔版本名。這段只保留核心概念，完整來源還有日期權重來源、列序、特徵、保存與重載檢查。主要 CatBoost 使用 GPU、兩千九百九十九棵樹、深度八、學習率零點零六五與 seed 四十二，沒有 query eval_set 或 early stopping。資料特徵在 house_features.py，全量 fit 在 round79_final_unit.py，組合在 round79_final.py，CSV 檢查在 round79_release.py。交付已新增 src/predict_v22.py，使用原 test 加十七項保存 artifact 真正重跑六模型。這是保存模型推論，不是從零重訓。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至 4 節</a:t>
            </a:r>
          </a:p>
          <a:p xmlns:a="http://schemas.openxmlformats.org/drawingml/2006/main">
            <a:r>
              <a:t>research/src/round79_recency_unit.py:78</a:t>
            </a:r>
          </a:p>
          <a:p xmlns:a="http://schemas.openxmlformats.org/drawingml/2006/main">
            <a:r>
              <a:t>evidence/outputs/round79/final_model/model/metadata.json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建議時間：問答時使用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若被問到外部資料：價格標籤只來自課程 train 與 valid，外部 OSM 道路資訊只提供地理特徵，沒有查成交答案。若問 OOF：價格先驗採五折建案分組，避免本建案標籤直接進入其先驗，這不是時間 OOF，不能聲稱每筆先驗都只用當日以前的交易。若問 median：它降低單支極端輸出的影響，但不能保證沒有偏誤。若問正式交付：原 test 加保存狀態的推論已核對全部四萬七千零七十三筆，程式與報告已整理。模型與課程交易資料留在本機，GitHub 不包含它們。新環境安裝、其他硬體與從零重訓仍未測。CPU 神經網路可能因數值運算產生不同結果，不能保證位元相同。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資料來源（不必口述）</a:t>
            </a:r>
          </a:p>
          <a:p xmlns:a="http://schemas.openxmlformats.org/drawingml/2006/main">
            <a:r>
              <a:t>REPORT.md，第 2 至 4 節</a:t>
            </a:r>
          </a:p>
          <a:p xmlns:a="http://schemas.openxmlformats.org/drawingml/2006/main">
            <a:r>
              <a:t>REPORT.md，第 5、7 節</a:t>
            </a:r>
          </a:p>
          <a:p xmlns:a="http://schemas.openxmlformats.org/drawingml/2006/main">
            <a:r>
              <a:t>docs/REPRODUCIBILITY.md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本簡報整理 v22 已完成的方法與結果。Private 成績未知，最終候選尚未定案。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a0d30c18249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cd59c5ac842bb" /><Relationship Type="http://schemas.openxmlformats.org/officeDocument/2006/relationships/slideLayout" Target="/ppt/slideLayouts/slideLayout1.xml" Id="R06a72e2fce8a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72e2fce8a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9ef9e10854ae6" /><Relationship Type="http://schemas.openxmlformats.org/officeDocument/2006/relationships/image" Target="/ppt/media/image.jpeg" Id="Rad811960d82e4f6e" /><Relationship Type="http://schemas.openxmlformats.org/officeDocument/2006/relationships/notesSlide" Target="/ppt/notesSlides/notesSlide1.xml" Id="Rd85de5f2827446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ac354e1c44c4d" /><Relationship Type="http://schemas.openxmlformats.org/officeDocument/2006/relationships/chart" Target="/ppt/slides/charts/chart1.xml" Id="R7a4f936df8f549b7" /><Relationship Type="http://schemas.openxmlformats.org/officeDocument/2006/relationships/notesSlide" Target="/ppt/notesSlides/notesSlide2.xml" Id="R349de47a33b540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7d4d4af8a4df2" /><Relationship Type="http://schemas.openxmlformats.org/officeDocument/2006/relationships/notesSlide" Target="/ppt/notesSlides/notesSlide3.xml" Id="R3e0a7bf8f7d142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60444c3684c3e" /><Relationship Type="http://schemas.openxmlformats.org/officeDocument/2006/relationships/notesSlide" Target="/ppt/notesSlides/notesSlide4.xml" Id="Rd7abccf49ef248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b323933bb44be" /><Relationship Type="http://schemas.openxmlformats.org/officeDocument/2006/relationships/notesSlide" Target="/ppt/notesSlides/notesSlide5.xml" Id="R5d57f6af7f934b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1eebfb66a4e7b" /><Relationship Type="http://schemas.openxmlformats.org/officeDocument/2006/relationships/chart" Target="/ppt/slides/charts/chart2.xml" Id="Rc98fa3156d1e4d88" /><Relationship Type="http://schemas.openxmlformats.org/officeDocument/2006/relationships/notesSlide" Target="/ppt/notesSlides/notesSlide6.xml" Id="R8721a1c48b7f41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05bdae9604320" /><Relationship Type="http://schemas.openxmlformats.org/officeDocument/2006/relationships/notesSlide" Target="/ppt/notesSlides/notesSlide7.xml" Id="R275a7efcc2bc45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aaf5e195b44ce" /><Relationship Type="http://schemas.openxmlformats.org/officeDocument/2006/relationships/chart" Target="/ppt/slides/charts/chart3.xml" Id="R8e403c640b7841c8" /><Relationship Type="http://schemas.openxmlformats.org/officeDocument/2006/relationships/notesSlide" Target="/ppt/notesSlides/notesSlide8.xml" Id="Rff5ddebf52a849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24c1e527c4674" /><Relationship Type="http://schemas.openxmlformats.org/officeDocument/2006/relationships/chart" Target="/ppt/slides/charts/chart4.xml" Id="R53d6ed2fce9e4e2d" /><Relationship Type="http://schemas.openxmlformats.org/officeDocument/2006/relationships/notesSlide" Target="/ppt/notesSlides/notesSlide9.xml" Id="R226dbdc6f0b64a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2b719b0d94a0d" /><Relationship Type="http://schemas.openxmlformats.org/officeDocument/2006/relationships/notesSlide" Target="/ppt/notesSlides/notesSlide10.xml" Id="Raa839674147346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ab71c223e4f1c" /><Relationship Type="http://schemas.openxmlformats.org/officeDocument/2006/relationships/notesSlide" Target="/ppt/notesSlides/notesSlide11.xml" Id="Rc5a069d38b194a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40213dc3c42f0" /><Relationship Type="http://schemas.openxmlformats.org/officeDocument/2006/relationships/notesSlide" Target="/ppt/notesSlides/notesSlide12.xml" Id="R88c09aca66434c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59b9d7e0f4d29" /><Relationship Type="http://schemas.openxmlformats.org/officeDocument/2006/relationships/notesSlide" Target="/ppt/notesSlides/notesSlide13.xml" Id="R77f85b8bb73c43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e8d8e3d5b4d2a" /><Relationship Type="http://schemas.openxmlformats.org/officeDocument/2006/relationships/notesSlide" Target="/ppt/notesSlides/notesSlide14.xml" Id="R08725392d2b84f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c35c3ba3f4d06" /><Relationship Type="http://schemas.openxmlformats.org/officeDocument/2006/relationships/notesSlide" Target="/ppt/notesSlides/notesSlide15.xml" Id="R3697ae4bd2a44b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256e5dfd64436" /><Relationship Type="http://schemas.openxmlformats.org/officeDocument/2006/relationships/notesSlide" Target="/ppt/notesSlides/notesSlide16.xml" Id="R289f3a8c157f4d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測試資料占比</c:v>
          </c:tx>
          <c:dPt>
            <c:idx val="0"/>
            <c:spPr>
              <a:solidFill xmlns:a="http://schemas.openxmlformats.org/drawingml/2006/main">
                <a:srgbClr val="C8DC9E"/>
              </a:solidFill>
            </c:spPr>
          </c:dPt>
          <c:dPt>
            <c:idx val="1"/>
            <c:spPr>
              <a:solidFill xmlns:a="http://schemas.openxmlformats.org/drawingml/2006/main">
                <a:srgbClr val="86B09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Public 約 30%</c:v>
                </c:pt>
                <c:pt idx="1">
                  <c:v>Private 約 70%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03D35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4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34483F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相對權重</c:v>
          </c:tx>
          <c:spPr>
            <a:ln xmlns:a="http://schemas.openxmlformats.org/drawingml/2006/main" w="38100">
              <a:solidFill>
                <a:srgbClr val="31644F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31644F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近期</c:v>
                </c:pt>
                <c:pt idx="1">
                  <c:v>早 1 年</c:v>
                </c:pt>
                <c:pt idx="2">
                  <c:v>早 2 年</c:v>
                </c:pt>
                <c:pt idx="3">
                  <c:v>早 3 年</c:v>
                </c:pt>
              </c:strCache>
            </c:strRef>
          </c:cat>
          <c:val>
            <c:numRef>
              <c:f>'Chart Data'!$B$2:$B$5</c:f>
              <c:numCache>
                <c:formatCode>0.###</c:formatCode>
                <c:ptCount val="4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  <c:pt idx="3">
                  <c:v>0.125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31644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7A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D2"/>
              </a:solidFill>
            </a:ln>
          </c:spPr>
        </c:majorGridlines>
        <c:numFmt formatCode="0.##"/>
        <c:majorTickMark val="none"/>
        <c:minorTickMark val="none"/>
        <c:spPr>
          <a:ln xmlns:a="http://schemas.openxmlformats.org/drawingml/2006/main" w="9525">
            <a:solidFill>
              <a:srgbClr val="ABB7A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v20</c:v>
          </c:tx>
          <c:spPr>
            <a:solidFill xmlns:a="http://schemas.openxmlformats.org/drawingml/2006/main">
              <a:srgbClr val="ABB7AC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237.22</c:v>
                </c:pt>
                <c:pt idx="1">
                  <c:v>141.61</c:v>
                </c:pt>
                <c:pt idx="2">
                  <c:v>141.07</c:v>
                </c:pt>
              </c:numCache>
            </c:numRef>
          </c:val>
        </c:ser>
        <c:ser>
          <c:idx val="1"/>
          <c:order val="1"/>
          <c:tx>
            <c:v>v22</c:v>
          </c:tx>
          <c:spPr>
            <a:solidFill xmlns:a="http://schemas.openxmlformats.org/drawingml/2006/main">
              <a:srgbClr val="31644F"/>
            </a:solidFill>
          </c:spPr>
          <c:cat>
            <c:strRef>
              <c:f>'Chart Data'!$C$2:$C$4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4483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7A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D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BB7A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34483F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Public MAE</c:v>
          </c:tx>
          <c:spPr>
            <a:solidFill xmlns:a="http://schemas.openxmlformats.org/drawingml/2006/main">
              <a:srgbClr val="ABB7A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BB7A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BB7A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BB7AC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1644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BB7AC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ABB7AC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v19</c:v>
                </c:pt>
                <c:pt idx="1">
                  <c:v>v20</c:v>
                </c:pt>
                <c:pt idx="2">
                  <c:v>v21</c:v>
                </c:pt>
                <c:pt idx="3">
                  <c:v>v22</c:v>
                </c:pt>
                <c:pt idx="4">
                  <c:v>v23</c:v>
                </c:pt>
                <c:pt idx="5">
                  <c:v>v24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238.73</c:v>
                </c:pt>
                <c:pt idx="1">
                  <c:v>206.98</c:v>
                </c:pt>
                <c:pt idx="2">
                  <c:v>207.1</c:v>
                </c:pt>
                <c:pt idx="3">
                  <c:v>199.86</c:v>
                </c:pt>
                <c:pt idx="4">
                  <c:v>202.7</c:v>
                </c:pt>
                <c:pt idx="5">
                  <c:v>208.3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4483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7A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D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BB7A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11960d82e4f6e"/>
          <a:srcRect xmlns:a="http://schemas.openxmlformats.org/drawingml/2006/main" l="25667" t="0" r="25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533400"/>
            <a:ext cx="4229100" cy="57912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A6297E-C458-4C95-983A-654A04A4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臺灣房屋</a:t>
            </a:r>
          </a:p>
          <a:p xmlns:a="http://schemas.openxmlformats.org/drawingml/2006/main">
            <a:pPr algn="l">
              <a:defRPr sz="555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總價預測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7E3EE57-BFE9-4E1E-8660-23D66F3A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近期成交加權與多模型組合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91F539-D61F-48FE-A044-D2D92E02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v22 研究成果報告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53E386-02ED-451B-869C-8D8DAF9C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監督式回歸專題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5AE81B-90A8-4C2A-B960-06B99796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2026.09.28</a:t>
            </a:r>
          </a:p>
        </p:txBody>
      </p:sp>
    </p:spTree>
    <p:extLst>
      <p:ext uri="{BB962C8B-B14F-4D97-AF65-F5344CB8AC3E}">
        <p14:creationId xmlns:p14="http://schemas.microsoft.com/office/powerpoint/2010/main" val="1065756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ED0976-BC11-4D5C-B8AE-D5B9BF43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評分看每筆總價的平均絕對誤差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2887D7F-19DE-49A1-881F-B596EBB6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427FE79-0835-4E35-8A0A-CC9A9D5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C72970-CA45-41FF-A550-3202C20F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MAE = 平均 | 預測總價 − 真實總價 |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9EC698-C67F-42B2-8946-C5D8D6DC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671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誤差越低，預測越接近真價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19397AD-545D-4C87-804A-DD053E12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示意交易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BF71FF-22E9-4925-845C-1C16D27F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真價 1,000 萬　預測 1,100 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955A32-8569-489A-8E03-3518C30F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42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這筆絕對誤差為 100 萬元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905750" y="1466850"/>
          <a:ext xmlns:a="http://schemas.openxmlformats.org/drawingml/2006/main" cx="350520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4f936df8f549b7"/>
          </a:graphicData>
        </a:graphic>
      </p:graphicFrame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165BD2-E85B-49F0-AD94-AC81443E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34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最終成績以 Private 為準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1A78F2-CCFC-4136-8CB0-11BE907A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Public 與 Private 都切自 test</a:t>
            </a:r>
          </a:p>
        </p:txBody>
      </p:sp>
    </p:spTree>
    <p:extLst>
      <p:ext uri="{BB962C8B-B14F-4D97-AF65-F5344CB8AC3E}">
        <p14:creationId xmlns:p14="http://schemas.microsoft.com/office/powerpoint/2010/main" val="531708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6F8549-EF4F-4511-9909-DFB8F391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清理後使用 467,221 筆最終訓練資料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AF7807-8CA4-46E3-8A29-6410B8FC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0A4F4E-D26C-48F7-AE95-60FF656B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647825"/>
          <a:ext xmlns:a="http://schemas.openxmlformats.org/drawingml/2006/main" cx="6477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95800"/>
                <a:gridCol w="1981200"/>
              </a:tblGrid>
              <a:tr h="6191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處理步驟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保留筆數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</a:tr>
              <a:tr h="6191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</a:tr>
              <a:tr h="6191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467,249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</a:tr>
              <a:tr h="6191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28 列跨集重複</a:t>
                      </a:r>
                    </a:p>
                  </a:txBody>
                  <a:tcPr marL="91440" marR="91440" marT="45720" marB="45720" anchor="ctr">
                    <a:solidFill>
                      <a:srgbClr val="DEE8D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DEE8D5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FBC550-1C20-4F3E-9392-5712A020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19275"/>
            <a:ext cx="3619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467,221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878D19-7F31-4CB4-A4CB-C61528B4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479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最終訓練筆數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6E191A-95EC-4D8C-8109-C2EB56BB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430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47,073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FF0F53-B141-47A4-8034-F9EA2E4C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29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test 全數保留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014990-6BAF-405D-A99A-3AABD386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按 sample 的編號順序輸出，編號只用於對齊</a:t>
            </a:r>
          </a:p>
        </p:txBody>
      </p:sp>
    </p:spTree>
    <p:extLst>
      <p:ext uri="{BB962C8B-B14F-4D97-AF65-F5344CB8AC3E}">
        <p14:creationId xmlns:p14="http://schemas.microsoft.com/office/powerpoint/2010/main" val="1454545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30B6D4-1EE4-46D5-A537-5215C4B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房屋描述轉成可學習的特徵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DDAFB0F-2E89-4C9B-98F5-2DFC33B9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49FA81B-D7A2-4D68-810C-84D1E199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895475"/>
          <a:ext xmlns:a="http://schemas.openxmlformats.org/drawingml/2006/main" cx="77343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5781675"/>
              </a:tblGrid>
              <a:tr h="7381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特徵內容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代表欄位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</a:tr>
              <a:tr h="7381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房屋屬性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面積、樓層、格局、主要用途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交易資訊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交易日期、車位、交易筆棟數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</a:tr>
              <a:tr h="7381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地理資訊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地址、道路位置、空間網格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FD4114-56B1-470B-B248-09CCEEF5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09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95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83578C-EFBD-4B3F-8205-8F2E0814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單價 CatBoost</a:t>
            </a:r>
          </a:p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使用的特徵數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06F649-07B0-4CA5-B21A-CC021412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其中 23 欄類別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D8013D-1955-420C-B278-5876552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價格標籤與成交參考來自課程資料，外部地圖僅提供地理資訊</a:t>
            </a:r>
          </a:p>
        </p:txBody>
      </p:sp>
    </p:spTree>
    <p:extLst>
      <p:ext uri="{BB962C8B-B14F-4D97-AF65-F5344CB8AC3E}">
        <p14:creationId xmlns:p14="http://schemas.microsoft.com/office/powerpoint/2010/main" val="859836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EEAC40-5FCA-482A-88C5-4763728E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三條價格分支逐筆取中位數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40729A8-19E5-4002-B357-A3E857F7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C48C47F-DBE8-4A8E-9F1A-FDAB1750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28825"/>
                <a:gridCol w="5086350"/>
                <a:gridCol w="3705225"/>
              </a:tblGrid>
              <a:tr h="78105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價格分支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分支內的主要模型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預測方式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</a:tr>
              <a:tr h="78105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CatBoost +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單價乘回面積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總價與 log CatBoost + LightGBM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以不同價格尺度學習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</a:tr>
              <a:tr h="78105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兩個表格 NN +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面積連結與參考價倍率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516E31-ADD0-40D0-9127-A096C5F3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各分支先換回「元」，再做成交參考與空間修正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3C0FE0-0768-4CFD-A791-9E3B2954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最終總價 = median(NN 分支, log 分支, 單價分支)</a:t>
            </a:r>
          </a:p>
        </p:txBody>
      </p:sp>
    </p:spTree>
    <p:extLst>
      <p:ext uri="{BB962C8B-B14F-4D97-AF65-F5344CB8AC3E}">
        <p14:creationId xmlns:p14="http://schemas.microsoft.com/office/powerpoint/2010/main" val="1721229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AEF496-0AC1-4551-A994-398BE856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近期成交的訓練權重較高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D34BFC-9DFD-4E89-895A-66F43DF9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3E1F25E-E1D2-44C7-8CEA-5BFB4EA0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8F002A4-E605-40BB-BE6A-B6C6729E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相對日期權重（正規化前）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7162800" cy="3400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8fa3156d1e4d88"/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0A4191-83C0-4047-B333-BE7D6CF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365 天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F7AAEF-C99B-4C68-B60B-CAFBF747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337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日期權重半衰期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AAE8E1-47FA-42AC-B7B1-DB093980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08622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面積權重 × 日期權重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778F77-A69E-441D-8087-D3580972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695825"/>
            <a:ext cx="328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單價學習仍對齊</a:t>
            </a:r>
          </a:p>
          <a:p xmlns:a="http://schemas.openxmlformats.org/drawingml/2006/main">
            <a:pPr algn="l">
              <a:defRPr sz="195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近期成交的總價誤差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B99394-3271-454E-B2C6-727D81F2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實際日期權重會正規化，缺失或異常日期採中性權重 1</a:t>
            </a:r>
          </a:p>
        </p:txBody>
      </p:sp>
    </p:spTree>
    <p:extLst>
      <p:ext uri="{BB962C8B-B14F-4D97-AF65-F5344CB8AC3E}">
        <p14:creationId xmlns:p14="http://schemas.microsoft.com/office/powerpoint/2010/main" val="327308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36BFD6-8A46-46E1-8A3E-6A3EA129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每一期用過去資料預測下一年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BA0759D-EE2B-475F-8B59-32B1D2E5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02228BD-A471-4836-81D2-A323D8BE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962400"/>
                <a:gridCol w="2238375"/>
                <a:gridCol w="2238375"/>
              </a:tblGrid>
              <a:tr h="845344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fit 截止日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評分日期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fit 筆數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評分筆數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</a:tr>
              <a:tr h="845344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2021/08/10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2021/08/11</a:t>
                      </a:r>
                    </a:p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至 2022/08/10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134,805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105,511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2022/08/10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2022/08/11</a:t>
                      </a:r>
                    </a:p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至 2023/08/10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240,316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81,234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</a:tr>
              <a:tr h="845344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2023/08/10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2023/08/11</a:t>
                      </a:r>
                    </a:p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至 2024/08/10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321,550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133,697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642454-60AD-4B37-9C32-5AC1218C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模型、編碼與價格參考只使用該期 fit 資料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DC2466-3762-47D7-A142-2323F1A8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這些歷史窗口已反覆使用，不能視為全新盲測</a:t>
            </a:r>
          </a:p>
        </p:txBody>
      </p:sp>
    </p:spTree>
    <p:extLst>
      <p:ext uri="{BB962C8B-B14F-4D97-AF65-F5344CB8AC3E}">
        <p14:creationId xmlns:p14="http://schemas.microsoft.com/office/powerpoint/2010/main" val="339284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56D55F-E4B5-4ADB-8BAA-CCF699B4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相對 v20，v22 三期整體 MAE 都較低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9823757-10F4-4BC8-A42C-53D7C00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B30280E-9447-4BBB-91B1-E30FB12E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C077278-15A0-4A07-8B81-13F3A747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總價 MAE（萬元，越低越好）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552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403c640b7841c8"/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883FF8-BD96-469D-976C-31A76FF2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91175"/>
            <a:ext cx="2095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改善 2.65%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1A4989-2501-448E-9E02-47A9519B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91175"/>
            <a:ext cx="2095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改善 0.62%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F36639-6BF2-4A66-9598-AF6986E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91175"/>
            <a:ext cx="2095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改善 1.94%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2BE6FE-28A1-4D13-8CD4-3EADF9B5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中間年度的配對區間跨 0，不能稱為三期皆有顯著改善</a:t>
            </a:r>
          </a:p>
        </p:txBody>
      </p:sp>
    </p:spTree>
    <p:extLst>
      <p:ext uri="{BB962C8B-B14F-4D97-AF65-F5344CB8AC3E}">
        <p14:creationId xmlns:p14="http://schemas.microsoft.com/office/powerpoint/2010/main" val="7725584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6D2BD7-5D49-441F-AAD4-A564FAC5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v22 的 Public MAE 為 199.86 萬元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9270564-A4FE-41D8-84FF-9DA061E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A9522DD-CDA8-4014-9469-E10C1CB7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E878A36-B002-49B5-8E71-37C0D613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943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Public MAE（萬元，越低越好）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0550" y="2066925"/>
          <a:ext xmlns:a="http://schemas.openxmlformats.org/drawingml/2006/main" cx="7867650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d6ed2fce9e4e2d"/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B54844-F5EC-4F20-AEBE-825F15C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3.44%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F3551C-0044-46CD-8A1B-0C4D22BB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52800"/>
            <a:ext cx="25431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相對 v20</a:t>
            </a:r>
          </a:p>
          <a:p xmlns:a="http://schemas.openxmlformats.org/drawingml/2006/main">
            <a:pPr algn="l">
              <a:defRPr sz="217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平均誤差降低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E05C67-68F4-4341-AB17-E78623ED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771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平均誤差少</a:t>
            </a:r>
          </a:p>
          <a:p xmlns:a="http://schemas.openxmlformats.org/drawingml/2006/main">
            <a:pPr algn="l">
              <a:defRPr sz="20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約 7.13 萬元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7B0196-7115-4766-B540-92022779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來源：使用者提供的 Kaggle 提交截圖，Private 尚未公布</a:t>
            </a:r>
          </a:p>
        </p:txBody>
      </p:sp>
    </p:spTree>
    <p:extLst>
      <p:ext uri="{BB962C8B-B14F-4D97-AF65-F5344CB8AC3E}">
        <p14:creationId xmlns:p14="http://schemas.microsoft.com/office/powerpoint/2010/main" val="471973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0DD904-4FC3-411E-83DE-83147539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v24 的三期本機整體 MAE 更低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C342BB2-77B2-432F-AB33-CB0483B8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B3EE54E-3F99-419A-A8BB-724DE9E9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F81FCA-B05C-461B-A440-415EA9D8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總價 MAE（萬元，越低越好）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838450"/>
                <a:gridCol w="2838450"/>
              </a:tblGrid>
              <a:tr h="66675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評分年度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v24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</a:tr>
              <a:tr h="66675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2021–2022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230.94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227.54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2022–2023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140.74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140.73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</a:tr>
              <a:tr h="66675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2023–2024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138.32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137.32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1CB8A5B-3E38-4E5D-805D-02DE2A2A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F5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F553C"/>
                </a:solidFill>
                <a:latin typeface="Microsoft JhengHei"/>
                <a:ea typeface="Microsoft JhengHei"/>
                <a:cs typeface="Microsoft JhengHei"/>
              </a:rPr>
              <a:t>v24 仍有代價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D207703-3C29-428C-9A3B-542262D0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最新年度的億元以上群共 319 筆</a:t>
            </a:r>
          </a:p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群內 MAE 相對 v22 增加約 90.97 萬元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F53C5A-60E2-4400-B01B-C0D1AE9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本機優勢與 Public 排序不同，Private 仍需保留不確定性</a:t>
            </a:r>
          </a:p>
        </p:txBody>
      </p:sp>
    </p:spTree>
    <p:extLst>
      <p:ext uri="{BB962C8B-B14F-4D97-AF65-F5344CB8AC3E}">
        <p14:creationId xmlns:p14="http://schemas.microsoft.com/office/powerpoint/2010/main" val="306456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88ADD-08C7-4014-85A4-9E511ACF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平均改善仍伴隨高價物件風險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624E387-742E-48E2-BC7B-AACB6145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984BD9C-7518-48E1-B656-80F2387C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278698B-6B78-43AC-A22C-F71E2D84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F5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F553C"/>
                </a:solidFill>
                <a:latin typeface="Microsoft JhengHei"/>
                <a:ea typeface="Microsoft JhengHei"/>
                <a:cs typeface="Microsoft JhengHei"/>
              </a:rPr>
              <a:t>實際退步的群組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03412C-8962-401B-A1BF-4C913D50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6667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最新回測年度</a:t>
            </a:r>
          </a:p>
          <a:p xmlns:a="http://schemas.openxmlformats.org/drawingml/2006/main">
            <a:pPr algn="l">
              <a:defRPr sz="26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總價 5,000 萬至 1 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F5EB00-CEA5-4FAC-B4F4-D2CF6514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此價格群共 1,725 筆交易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3AC603-61F4-4565-A639-F8569584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6334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價格群用於事後分析，推論時不能按真價分流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89A8D9-F488-4944-88DD-484EC22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76475"/>
            <a:ext cx="38862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AF5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AF553C"/>
                </a:solidFill>
                <a:latin typeface="Microsoft JhengHei"/>
                <a:ea typeface="Microsoft JhengHei"/>
                <a:cs typeface="Microsoft JhengHei"/>
              </a:rPr>
              <a:t>+20.47 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BE0DFC-DFFE-4090-A1F4-3D3C993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62350"/>
            <a:ext cx="376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此群 MAE 相對 v20 增加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7F8441-8265-49D7-8180-2CF6608B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反覆使用驗證資料會累積選型偏差，分群與多期檢查仍不能保證 Private 表現</a:t>
            </a:r>
          </a:p>
        </p:txBody>
      </p:sp>
    </p:spTree>
    <p:extLst>
      <p:ext uri="{BB962C8B-B14F-4D97-AF65-F5344CB8AC3E}">
        <p14:creationId xmlns:p14="http://schemas.microsoft.com/office/powerpoint/2010/main" val="418629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DEAE59-043F-49CE-BD82-0620D3C9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原始 test 重新推論可重現 v22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7277973-E56D-4B28-89A0-1418FAFC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C0D01CB-D32E-4A93-9F40-D0C46F0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6B93D7-4615-43AE-A127-B990C77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666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47,073 筆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DD6697-C0F9-402E-A6EC-C34C917C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六模型重新預測，與保存結果完全一致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566582-B8A3-40E8-90E6-0E928F0B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原 test Excel ＋ 保存地理、模型與 fit 狀態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08CC28-0319-4A98-9DF0-B2433CC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未取整預測最大差 0 元，CSV 的 SHA256 相同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40EA3F-FEF1-4C67-BA73-5B046C00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6905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單一入口 84.74 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F19FDB-52BF-4498-92A5-33DC5D91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114925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同機既有環境／RTX 4060 Ti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D38C02-990E-4B50-BCF7-614EBA0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F5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F553C"/>
                </a:solidFill>
                <a:latin typeface="Microsoft JhengHei"/>
                <a:ea typeface="Microsoft JhengHei"/>
                <a:cs typeface="Microsoft JhengHei"/>
              </a:rPr>
              <a:t>全新安裝、從零重訓與地理重建尚未驗證</a:t>
            </a:r>
          </a:p>
        </p:txBody>
      </p:sp>
    </p:spTree>
    <p:extLst>
      <p:ext uri="{BB962C8B-B14F-4D97-AF65-F5344CB8AC3E}">
        <p14:creationId xmlns:p14="http://schemas.microsoft.com/office/powerpoint/2010/main" val="14158626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FD2FBD-E043-4AC0-910B-64C6040F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研究結論與程式交付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0087825-D02D-47AC-88E4-380B40B5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EE8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DEE8D5"/>
                </a:solidFill>
                <a:latin typeface="Microsoft JhengHei"/>
                <a:ea typeface="Microsoft JhengHei"/>
                <a:cs typeface="Microsoft JhengHei"/>
              </a:rPr>
              <a:t>臺灣房屋總價預測／v22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CCE8DE5-9282-41DF-B540-E0A44430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EE8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DEE8D5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E352E58-CC18-4E46-A475-06FD2C71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8DC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C8DC9E"/>
                </a:solidFill>
                <a:latin typeface="Microsoft JhengHei"/>
                <a:ea typeface="Microsoft JhengHei"/>
                <a:cs typeface="Microsoft JhengHei"/>
              </a:rPr>
              <a:t>v22 Public MAE 約 199.86 萬元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922121-A8AB-4D95-AFDE-EB6A38C3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相對 v20 降低 3.44%，三期回測也有整體改善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33729F-15C5-40B9-818C-E394F76B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v24 本機優勢與高價群退步，是保留候選的理由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17CC615-D3D0-4F64-BB18-140609F8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EE8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EE8D5"/>
                </a:solidFill>
                <a:latin typeface="Microsoft JhengHei"/>
                <a:ea typeface="Microsoft JhengHei"/>
                <a:cs typeface="Microsoft JhengHei"/>
              </a:rPr>
              <a:t>程式入口  src/predict_v22.py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E24466-4F89-4408-B696-9E479954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EE8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DEE8D5"/>
                </a:solidFill>
                <a:latin typeface="Microsoft JhengHei"/>
                <a:ea typeface="Microsoft JhengHei"/>
                <a:cs typeface="Microsoft JhengHei"/>
              </a:rPr>
              <a:t>github.com/ziyi930108/nycu-house-price-regression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60FE06-C380-42DA-ADC3-0F81624F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DC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C8DC9E"/>
                </a:solidFill>
                <a:latin typeface="Microsoft JhengHei"/>
                <a:ea typeface="Microsoft JhengHei"/>
                <a:cs typeface="Microsoft JhengHei"/>
              </a:rPr>
              <a:t>Private 未知，最終提交版本仍未定</a:t>
            </a:r>
          </a:p>
        </p:txBody>
      </p:sp>
    </p:spTree>
    <p:extLst>
      <p:ext uri="{BB962C8B-B14F-4D97-AF65-F5344CB8AC3E}">
        <p14:creationId xmlns:p14="http://schemas.microsoft.com/office/powerpoint/2010/main" val="16843789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20E07B-3A55-4009-B3CE-192D9548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附錄 A　完整組合公式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2B60247-B72E-4CE6-B212-01AE9226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附錄／v22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895A837-4A45-4537-A369-7A689D4F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DE58A1-D461-4315-80BE-DDA6A3BD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所有模型輸出先還原成總價「元」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F0DB62-6621-4007-8805-9E5F5B36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823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B_unit = .75 * C_unit + .25 * L_unit</a:t>
            </a:r>
          </a:p>
          <a:p xmlns:a="http://schemas.openxmlformats.org/drawingml/2006/main">
            <a:pPr algn="l">
              <a:defRPr sz="2025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B_nn   = .75 * (.5 * N_area + .5 * N_prior) + .25 * L_unit</a:t>
            </a:r>
          </a:p>
          <a:p xmlns:a="http://schemas.openxmlformats.org/drawingml/2006/main">
            <a:pPr algn="l">
              <a:defRPr sz="2025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B_log  = .75 * (.5 * C_raw  + .5 * C_log)   + .25 * 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BBEED3-95CB-4E61-A78B-27F2FE65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R：成交參考與時間趨勢　　S：固定空間修正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5982AF8-6C25-4FA8-84C0-7D180F23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省略共同特徵與保存狀態引數，修正發生在每條分支內</a:t>
            </a:r>
          </a:p>
        </p:txBody>
      </p:sp>
    </p:spTree>
    <p:extLst>
      <p:ext uri="{BB962C8B-B14F-4D97-AF65-F5344CB8AC3E}">
        <p14:creationId xmlns:p14="http://schemas.microsoft.com/office/powerpoint/2010/main" val="9785357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50576A-B020-480D-A472-AAAA1551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附錄 B　核心程式與單價模型設定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6763DE5-8391-4C36-B7C5-74F4E1EE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附錄／v22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D5201F3-7C5D-4FBA-95B4-30C0CB8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2728A9-05DB-4888-B5AA-F853C9F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訓練核心（省略來源與保存檢查）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557974-FDFC-468E-AF16-B8B3CD3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6000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A = effective_area(X)</a:t>
            </a:r>
          </a:p>
          <a:p xmlns:a="http://schemas.openxmlformats.org/drawingml/2006/main">
            <a:pPr algn="l">
              <a:defRPr sz="2100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target = y / (A * 1e4)</a:t>
            </a:r>
          </a:p>
          <a:p xmlns:a="http://schemas.openxmlformats.org/drawingml/2006/main">
            <a:pPr algn="l">
              <a:defRPr sz="2100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weight = A / 100 * date_w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model.fit(Pool(</a:t>
            </a:r>
          </a:p>
          <a:p xmlns:a="http://schemas.openxmlformats.org/drawingml/2006/main">
            <a:pPr algn="l">
              <a:defRPr sz="2100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    X_geo, target,</a:t>
            </a:r>
          </a:p>
          <a:p xmlns:a="http://schemas.openxmlformats.org/drawingml/2006/main">
            <a:pPr algn="l">
              <a:defRPr sz="2100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    weight=weight,</a:t>
            </a:r>
          </a:p>
          <a:p xmlns:a="http://schemas.openxmlformats.org/drawingml/2006/main">
            <a:pPr algn="l">
              <a:defRPr sz="2100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    cat_features=cat_cols</a:t>
            </a:r>
          </a:p>
          <a:p xmlns:a="http://schemas.openxmlformats.org/drawingml/2006/main">
            <a:pPr algn="l">
              <a:defRPr sz="2100" b="0">
                <a:solidFill>
                  <a:srgbClr val="203D3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03D35"/>
                </a:solidFill>
                <a:latin typeface="Consolas"/>
                <a:ea typeface="Consolas"/>
                <a:cs typeface="Consolas"/>
              </a:rPr>
              <a:t>))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05650" y="1714500"/>
          <a:ext xmlns:a="http://schemas.openxmlformats.org/drawingml/2006/main" cx="440055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1714500"/>
              </a:tblGrid>
              <a:tr h="56197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值</a:t>
                      </a:r>
                    </a:p>
                  </a:txBody>
                  <a:tcPr marL="91440" marR="91440" marT="45720" marB="45720" anchor="ctr">
                    <a:solidFill>
                      <a:srgbClr val="203D35"/>
                    </a:solidFill>
                  </a:tcPr>
                </a:tc>
              </a:tr>
              <a:tr h="56197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iterations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2,999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depth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</a:tr>
              <a:tr h="56197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learning_rate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loss_function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</a:t>
                      </a:r>
                    </a:p>
                  </a:txBody>
                  <a:tcPr marL="91440" marR="91440" marT="45720" marB="45720" anchor="ctr">
                    <a:solidFill>
                      <a:srgbClr val="EDEFE6"/>
                    </a:solidFill>
                  </a:tcPr>
                </a:tc>
              </a:tr>
              <a:tr h="56197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random_seed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448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9082A92-37A2-4C6A-9341-46065149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1644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1644F"/>
                </a:solidFill>
                <a:latin typeface="Consolas"/>
                <a:ea typeface="Consolas"/>
                <a:cs typeface="Consolas"/>
              </a:rPr>
              <a:t>round79_recency_unit.py   /   round79_final.py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E189756-AD17-4762-B189-6B9DC461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推論入口：src/predict_v22.py，完整從零重訓尚未驗證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2215935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34C29D-AC1A-4082-ABBB-1206EC73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D35"/>
                </a:solidFill>
                <a:latin typeface="Microsoft JhengHei"/>
                <a:ea typeface="Microsoft JhengHei"/>
                <a:cs typeface="Microsoft JhengHei"/>
              </a:rPr>
              <a:t>附錄 C　問答準備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FEDD7A-AEC9-4241-92C9-06AB9B99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附錄／v22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A8455D1-B8D0-4CEB-946A-64FB6BD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977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A14070A-7977-46BA-A75C-5124B7B9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為什麼不只用 Public 最低分決定？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BA3178-0BE3-461F-A572-C3F1F644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Public 約占 test 三成，其餘七成與未來市場差異仍未知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1810FC-65FB-4B5E-9DC2-13FC2ED6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如何降低過擬合與資料洩漏風險？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6B147DD-8FA6-4242-A3FF-6D21B081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使用時間回測與 fit-only 狀態，保留分群退步與窗口重用限制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6EF04B-5344-4EB4-BE2E-64BCF96F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644F"/>
                </a:solidFill>
                <a:latin typeface="Microsoft JhengHei"/>
                <a:ea typeface="Microsoft JhengHei"/>
                <a:cs typeface="Microsoft JhengHei"/>
              </a:rPr>
              <a:t>程式可以完整重現嗎？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B88C07-08D6-40F6-A0E8-642AABF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4483F"/>
                </a:solidFill>
                <a:latin typeface="Microsoft JhengHei"/>
                <a:ea typeface="Microsoft JhengHei"/>
                <a:cs typeface="Microsoft JhengHei"/>
              </a:rPr>
              <a:t>原 test 加保存狀態的推論已重現，從零重訓尚未驗證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89547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2026-09-27T16:59:50.2610000Z</dcterms:created>
  <dcterms:modified xsi:type="dcterms:W3CDTF">2026-09-27T16:59:50.2610000Z</dcterms:modified>
</coreProperties>
</file>