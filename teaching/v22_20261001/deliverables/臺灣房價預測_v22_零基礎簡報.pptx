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b5e46bb7d194637" /><Relationship Type="http://schemas.openxmlformats.org/officeDocument/2006/relationships/extended-properties" Target="/docProps/app.xml" Id="Ree790257d8c64ba9" /><Relationship Type="http://schemas.openxmlformats.org/officeDocument/2006/relationships/officeDocument" Target="/ppt/presentation.xml" Id="R5303c8823a05427a" /></Relationships>
</file>

<file path=ppt/presentation.xml><?xml version="1.0" encoding="utf-8"?>
<p:presentation xmlns:p="http://schemas.openxmlformats.org/presentationml/2006/main">
  <p:sldMasterIdLst>
    <p:sldMasterId xmlns:r="http://schemas.openxmlformats.org/officeDocument/2006/relationships" id="2147483648" r:id="R716e3564fecc44bf"/>
  </p:sldMasterIdLst>
  <p:notesMasterIdLst>
    <p:notesMasterId xmlns:r="http://schemas.openxmlformats.org/officeDocument/2006/relationships" r:id="R84dbe65578ce4ace"/>
  </p:notesMasterIdLst>
  <p:sldIdLst>
    <p:sldId xmlns:r="http://schemas.openxmlformats.org/officeDocument/2006/relationships" id="256" r:id="R57f3475048074d0e"/>
    <p:sldId xmlns:r="http://schemas.openxmlformats.org/officeDocument/2006/relationships" id="257" r:id="Rbb536bc888614310"/>
    <p:sldId xmlns:r="http://schemas.openxmlformats.org/officeDocument/2006/relationships" id="258" r:id="R84838538ce524b8b"/>
    <p:sldId xmlns:r="http://schemas.openxmlformats.org/officeDocument/2006/relationships" id="259" r:id="Rfa5e1907f44349da"/>
    <p:sldId xmlns:r="http://schemas.openxmlformats.org/officeDocument/2006/relationships" id="260" r:id="Rddc7a58bdca0448e"/>
    <p:sldId xmlns:r="http://schemas.openxmlformats.org/officeDocument/2006/relationships" id="261" r:id="Rb9d1a795024e407f"/>
    <p:sldId xmlns:r="http://schemas.openxmlformats.org/officeDocument/2006/relationships" id="262" r:id="R46f1a6f2176f42dd"/>
    <p:sldId xmlns:r="http://schemas.openxmlformats.org/officeDocument/2006/relationships" id="263" r:id="Rd77dd80a7f9f4108"/>
    <p:sldId xmlns:r="http://schemas.openxmlformats.org/officeDocument/2006/relationships" id="264" r:id="Rb83ef9109b644763"/>
    <p:sldId xmlns:r="http://schemas.openxmlformats.org/officeDocument/2006/relationships" id="265" r:id="R7f08f7bfc1fe4489"/>
    <p:sldId xmlns:r="http://schemas.openxmlformats.org/officeDocument/2006/relationships" id="266" r:id="R8981ac221a7b46ea"/>
    <p:sldId xmlns:r="http://schemas.openxmlformats.org/officeDocument/2006/relationships" id="267" r:id="Rfceef7ce93854c24"/>
    <p:sldId xmlns:r="http://schemas.openxmlformats.org/officeDocument/2006/relationships" id="268" r:id="Re1876985ad70415a"/>
    <p:sldId xmlns:r="http://schemas.openxmlformats.org/officeDocument/2006/relationships" id="269" r:id="Ra1f669737fe64f04"/>
    <p:sldId xmlns:r="http://schemas.openxmlformats.org/officeDocument/2006/relationships" id="270" r:id="Rc619d024828f4a23"/>
    <p:sldId xmlns:r="http://schemas.openxmlformats.org/officeDocument/2006/relationships" id="271" r:id="R78b822ae89e54dbd"/>
    <p:sldId xmlns:r="http://schemas.openxmlformats.org/officeDocument/2006/relationships" id="272" r:id="R3ea85d7d19504a4f"/>
    <p:sldId xmlns:r="http://schemas.openxmlformats.org/officeDocument/2006/relationships" id="273" r:id="Rda285465c35b47e1"/>
    <p:sldId xmlns:r="http://schemas.openxmlformats.org/officeDocument/2006/relationships" id="274" r:id="Rbe4b44adf2ee45b0"/>
    <p:sldId xmlns:r="http://schemas.openxmlformats.org/officeDocument/2006/relationships" id="275" r:id="Ra026041eb8284cb3"/>
    <p:sldId xmlns:r="http://schemas.openxmlformats.org/officeDocument/2006/relationships" id="276" r:id="R1ecce83059f84d55"/>
    <p:sldId xmlns:r="http://schemas.openxmlformats.org/officeDocument/2006/relationships" id="277" r:id="Ra4550b4fbbce4999"/>
    <p:sldId xmlns:r="http://schemas.openxmlformats.org/officeDocument/2006/relationships" id="278" r:id="Ra9fe6cee080949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2e150c985648a6" /><Relationship Type="http://schemas.openxmlformats.org/officeDocument/2006/relationships/slideMaster" Target="/ppt/slideMasters/slideMaster1.xml" Id="R716e3564fecc44bf" /><Relationship Type="http://schemas.openxmlformats.org/officeDocument/2006/relationships/notesMaster" Target="/ppt/notesMasters/notesMaster1.xml" Id="R84dbe65578ce4ace" /><Relationship Type="http://schemas.openxmlformats.org/officeDocument/2006/relationships/presProps" Target="/ppt/presProps.xml" Id="Re65f66e7fad64195" /><Relationship Type="http://schemas.openxmlformats.org/officeDocument/2006/relationships/tableStyles" Target="/ppt/tableStyles.xml" Id="Rca79d41d27214e88" /><Relationship Type="http://schemas.openxmlformats.org/officeDocument/2006/relationships/slide" Target="/ppt/slides/slide1.xml" Id="R57f3475048074d0e" /><Relationship Type="http://schemas.openxmlformats.org/officeDocument/2006/relationships/slide" Target="/ppt/slides/slide2.xml" Id="Rbb536bc888614310" /><Relationship Type="http://schemas.openxmlformats.org/officeDocument/2006/relationships/slide" Target="/ppt/slides/slide3.xml" Id="R84838538ce524b8b" /><Relationship Type="http://schemas.openxmlformats.org/officeDocument/2006/relationships/slide" Target="/ppt/slides/slide4.xml" Id="Rfa5e1907f44349da" /><Relationship Type="http://schemas.openxmlformats.org/officeDocument/2006/relationships/slide" Target="/ppt/slides/slide5.xml" Id="Rddc7a58bdca0448e" /><Relationship Type="http://schemas.openxmlformats.org/officeDocument/2006/relationships/slide" Target="/ppt/slides/slide6.xml" Id="Rb9d1a795024e407f" /><Relationship Type="http://schemas.openxmlformats.org/officeDocument/2006/relationships/slide" Target="/ppt/slides/slide7.xml" Id="R46f1a6f2176f42dd" /><Relationship Type="http://schemas.openxmlformats.org/officeDocument/2006/relationships/slide" Target="/ppt/slides/slide8.xml" Id="Rd77dd80a7f9f4108" /><Relationship Type="http://schemas.openxmlformats.org/officeDocument/2006/relationships/slide" Target="/ppt/slides/slide9.xml" Id="Rb83ef9109b644763" /><Relationship Type="http://schemas.openxmlformats.org/officeDocument/2006/relationships/slide" Target="/ppt/slides/slide10.xml" Id="R7f08f7bfc1fe4489" /><Relationship Type="http://schemas.openxmlformats.org/officeDocument/2006/relationships/slide" Target="/ppt/slides/slide11.xml" Id="R8981ac221a7b46ea" /><Relationship Type="http://schemas.openxmlformats.org/officeDocument/2006/relationships/slide" Target="/ppt/slides/slide12.xml" Id="Rfceef7ce93854c24" /><Relationship Type="http://schemas.openxmlformats.org/officeDocument/2006/relationships/slide" Target="/ppt/slides/slide13.xml" Id="Re1876985ad70415a" /><Relationship Type="http://schemas.openxmlformats.org/officeDocument/2006/relationships/slide" Target="/ppt/slides/slide14.xml" Id="Ra1f669737fe64f04" /><Relationship Type="http://schemas.openxmlformats.org/officeDocument/2006/relationships/slide" Target="/ppt/slides/slide15.xml" Id="Rc619d024828f4a23" /><Relationship Type="http://schemas.openxmlformats.org/officeDocument/2006/relationships/slide" Target="/ppt/slides/slide16.xml" Id="R78b822ae89e54dbd" /><Relationship Type="http://schemas.openxmlformats.org/officeDocument/2006/relationships/slide" Target="/ppt/slides/slide17.xml" Id="R3ea85d7d19504a4f" /><Relationship Type="http://schemas.openxmlformats.org/officeDocument/2006/relationships/slide" Target="/ppt/slides/slide18.xml" Id="Rda285465c35b47e1" /><Relationship Type="http://schemas.openxmlformats.org/officeDocument/2006/relationships/slide" Target="/ppt/slides/slide19.xml" Id="Rbe4b44adf2ee45b0" /><Relationship Type="http://schemas.openxmlformats.org/officeDocument/2006/relationships/slide" Target="/ppt/slides/slide20.xml" Id="Ra026041eb8284cb3" /><Relationship Type="http://schemas.openxmlformats.org/officeDocument/2006/relationships/slide" Target="/ppt/slides/slide21.xml" Id="R1ecce83059f84d55" /><Relationship Type="http://schemas.openxmlformats.org/officeDocument/2006/relationships/slide" Target="/ppt/slides/slide22.xml" Id="Ra4550b4fbbce4999" /><Relationship Type="http://schemas.openxmlformats.org/officeDocument/2006/relationships/slide" Target="/ppt/slides/slide23.xml" Id="Ra9fe6cee080949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ee091a55ae4a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bf45d9e4fc4a28" /><Relationship Type="http://schemas.openxmlformats.org/officeDocument/2006/relationships/notesMaster" Target="/ppt/notesMasters/notesMaster1.xml" Id="R2e083f7dfb1841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5ad3646cca4cb9" /><Relationship Type="http://schemas.openxmlformats.org/officeDocument/2006/relationships/notesMaster" Target="/ppt/notesMasters/notesMaster1.xml" Id="Re5ad468aff2f44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fa06a6ae4c4fc6" /><Relationship Type="http://schemas.openxmlformats.org/officeDocument/2006/relationships/notesMaster" Target="/ppt/notesMasters/notesMaster1.xml" Id="R7d1a332e2c714d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d4074cee47464e" /><Relationship Type="http://schemas.openxmlformats.org/officeDocument/2006/relationships/notesMaster" Target="/ppt/notesMasters/notesMaster1.xml" Id="R769fca3af4de4f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7b35ba332f477c" /><Relationship Type="http://schemas.openxmlformats.org/officeDocument/2006/relationships/notesMaster" Target="/ppt/notesMasters/notesMaster1.xml" Id="R7e8129588fab4d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7cc0d97644403e" /><Relationship Type="http://schemas.openxmlformats.org/officeDocument/2006/relationships/notesMaster" Target="/ppt/notesMasters/notesMaster1.xml" Id="R55848ff558af49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216d99964f45d4" /><Relationship Type="http://schemas.openxmlformats.org/officeDocument/2006/relationships/notesMaster" Target="/ppt/notesMasters/notesMaster1.xml" Id="R750e577835d742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2f2a0ccb2c48cf" /><Relationship Type="http://schemas.openxmlformats.org/officeDocument/2006/relationships/notesMaster" Target="/ppt/notesMasters/notesMaster1.xml" Id="Rd1f89a6344a34a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3f6afbcfe543a2" /><Relationship Type="http://schemas.openxmlformats.org/officeDocument/2006/relationships/notesMaster" Target="/ppt/notesMasters/notesMaster1.xml" Id="R4bbf84d13aac4f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6dafc80aeb4962" /><Relationship Type="http://schemas.openxmlformats.org/officeDocument/2006/relationships/notesMaster" Target="/ppt/notesMasters/notesMaster1.xml" Id="R42b915b70c6749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ffb708f8d44272" /><Relationship Type="http://schemas.openxmlformats.org/officeDocument/2006/relationships/notesMaster" Target="/ppt/notesMasters/notesMaster1.xml" Id="R66323c51319244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6af28a901f4446f" /><Relationship Type="http://schemas.openxmlformats.org/officeDocument/2006/relationships/notesMaster" Target="/ppt/notesMasters/notesMaster1.xml" Id="R164f8d31a0c147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d82e6ae5b049f8" /><Relationship Type="http://schemas.openxmlformats.org/officeDocument/2006/relationships/notesMaster" Target="/ppt/notesMasters/notesMaster1.xml" Id="R21c730cd5d02476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b7ebeef1cee4520" /><Relationship Type="http://schemas.openxmlformats.org/officeDocument/2006/relationships/notesMaster" Target="/ppt/notesMasters/notesMaster1.xml" Id="R901b36a106b0482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e302c93dd94567" /><Relationship Type="http://schemas.openxmlformats.org/officeDocument/2006/relationships/notesMaster" Target="/ppt/notesMasters/notesMaster1.xml" Id="R266676c608054f8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2cae11b0e6460b" /><Relationship Type="http://schemas.openxmlformats.org/officeDocument/2006/relationships/notesMaster" Target="/ppt/notesMasters/notesMaster1.xml" Id="Rc737f9a4438744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b3c03f7a3b648ac" /><Relationship Type="http://schemas.openxmlformats.org/officeDocument/2006/relationships/notesMaster" Target="/ppt/notesMasters/notesMaster1.xml" Id="Re98fdc7170fd42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2073eda200c4aa6" /><Relationship Type="http://schemas.openxmlformats.org/officeDocument/2006/relationships/notesMaster" Target="/ppt/notesMasters/notesMaster1.xml" Id="R77b8db32d1a3440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cb2df875faf4a98" /><Relationship Type="http://schemas.openxmlformats.org/officeDocument/2006/relationships/notesMaster" Target="/ppt/notesMasters/notesMaster1.xml" Id="R6d71f06dd4534a9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9f78d2ada754a31" /><Relationship Type="http://schemas.openxmlformats.org/officeDocument/2006/relationships/notesMaster" Target="/ppt/notesMasters/notesMaster1.xml" Id="R0114c88ea25a468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425472f573041aa" /><Relationship Type="http://schemas.openxmlformats.org/officeDocument/2006/relationships/notesMaster" Target="/ppt/notesMasters/notesMaster1.xml" Id="Rbd09d79e7a4c421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5eef9d528994370" /><Relationship Type="http://schemas.openxmlformats.org/officeDocument/2006/relationships/notesMaster" Target="/ppt/notesMasters/notesMaster1.xml" Id="R25340e07851c490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7e4224007034f46" /><Relationship Type="http://schemas.openxmlformats.org/officeDocument/2006/relationships/notesMaster" Target="/ppt/notesMasters/notesMaster1.xml" Id="R9d159385a23945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大家好，今天要介紹的是臺灣房屋總價預測。假設眼前有一筆交易，我們知道房屋面積、所在位置和成交日期，卻還不知道總價，就希望透過過去資料估計它的價格。這次介紹的是已選定提交的模型，檔案名稱叫做版本二十二。大家不需要先學過機器學習，我會先解釋電腦怎麼從例子學習，再帶大家走過整理資料、建立模型和檢查成果的流程。每個步驟都會說明選擇它的原因，最後也會交代這份結果還有哪些限制。</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Cover photo: Markus Winkler. https://unsplash.com/photos/gray-concrete-building-vztbnMlTDNs</a:t>
            </a:r>
          </a:p>
          <a:p xmlns:a="http://schemas.openxmlformats.org/drawingml/2006/main">
            <a:r>
              <a:t>Unsplash License. Taipei contextual photo, not a competition transaction.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們要預測的是一個金額，這類問題叫做回歸。機器學習可以想成從大量題目和答案整理規則。題目裡的面積、樓層與地點，稱為特徵。已知的成交總價，稱為標籤。訓練時，模型先看特徵提出估價，再和標籤比較，依誤差調整內部規則。重複這個過程，就能找到資料裡的價格關係。完成後把規則保存起來，遇到新交易時，只提供房屋條件，讓保存的模型算出價格，這一步稱為推論。這種做法適合這份資料，因為我們有許多已知成交例子，卻很難用一條人工公式，同時處理不同地區、面積與建物型態的組合。學到規則是否有用，還要靠未參與訓練的交易檢查。</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知道模型怎麼估價後，我們需要共同的評分方式。比賽採用平均絕對誤差，英文縮寫是ＭＡＥ。請看這個教學示意，第一筆真價一千萬元，模型預測一千一百萬元，相差一百萬元。第二筆真價也是一千萬元，預測九百五十萬元，相差五十萬元。把兩個差距相加，再除以兩筆，平均就是七十五萬元。絕對的意思是只看差了多少，所以高估的一百萬元和低估的五十萬元不會互相抵銷。分數越低，代表這批交易的平均金額誤差越小。它沒有告訴我們答對了百分之幾，也沒有表示每一筆都差七十五萬元。後面看到回測或平台分數時，都要先確認評分的是哪一批交易，再讀取這個平均差距。</a:t>
            </a:r>
          </a:p>
          <a:p xmlns:a="http://schemas.openxmlformats.org/drawingml/2006/main">
            <a:r>
              <a:t/>
            </a:r>
          </a:p>
          <a:p xmlns:a="http://schemas.openxmlformats.org/drawingml/2006/main">
            <a:r>
              <a:t>資料來源</a:t>
            </a:r>
          </a:p>
          <a:p xmlns:a="http://schemas.openxmlformats.org/drawingml/2006/main">
            <a:r>
              <a:t>deliverables/v22_github/REPORT.md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課程提供四份檔案。訓練檔大約有四十五萬六千列，提供房屋條件和已知總價。另外的驗證檔約一萬二千列，也有答案，在這個提交模型的最終訓練才併入。測試檔有四萬七千零七十三筆，我們必須預測全部交易。第四份範本告訴我們欄位名稱與編號順序，裡面的範例價格不能當答案。特別容易混淆的是，平台的公開與隱藏分數，來自同一份測試檔的不同部分。公開約占三成，隱藏約占七成，並不是將另外那份驗證檔切成三比七。先分清楚每份資料的角色，才能避免把範例價格拿來學習，或誤以為已經知道隱藏評分的答案。</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outputs/kaggle_feedback/public_submissions_v19_v24_20260927.json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先看完整流程，後面每頁都能放回這張地圖。起點是讀取原始檔，確認欄位和筆數，再清理格式問題與重複交易。接著把日期、樓層等文字整理成可比較的特徵。研究階段用過去資料訓練，再用後面一年的交易評分，檢查方法能不能處理之後的市場。確定方法後，才以最終可用的有答案資料建立模型，對測試檔逐筆推論，最後核對提交格式。這些步驟分開，是因為每一關都可能出錯。例如資料列序如果跑掉，房屋條件就可能配到別筆總價。模型即使順利執行，也可能學到錯誤關係。因此我們除了看分數，也保存資料順序、程式與模型，讓整條流程可以追查。</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清理可以理解成先確認題目本身沒有重複或格式錯誤。原始訓練檔有三列英文表頭混在交易資料中，先把它們移除。接著排除編號，比較其餘所有原始欄位，連成交總價也一起比對，去掉五百二十九列完全重複資料。這裡不能看到相同編號就刪除，因為編號的重複和交易內容完全重複，是兩個不同問題。最終併入有答案的驗證檔後，再去掉二十八列跨檔重複，留下四十六萬七千二百二十一筆。這樣做是為了避免同一筆內容重複影響學習。測試資料則全數保留，因為平台要求每個編號都有預測。其他缺失或異常也依固定規則處理，不能因為某筆價格難預測就任意刪掉。</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src/prepare_data.py</a:t>
            </a:r>
          </a:p>
          <a:p xmlns:a="http://schemas.openxmlformats.org/drawingml/2006/main">
            <a:r>
              <a:t>src/model_common.py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特徵工程，就是把原始內容整理成模型容易比較的線索。例如民國日期轉成時間數值，中文樓層辨認地下室和整棟情形，地址拆出行政區與道路，面積也能形成比例。這些轉換讓相似交易比較起來更有一致性。欄位也需要取捨。編號只用來對齊，總價留作答案。完整備註可能含價格，解約資訊可能出現在交易之後，所以不直接送進模型。不可用的建築完成年月，以及全都相同的管理組織欄位也排除。模型另外使用開放街圖的道路位置，補充非價格地理資訊。單價 CatBoost共有九十五欄，其中二十三欄是像地區名稱這類分類文字，其他模型的編碼維度不同。道路位置只代表粗略區域，不能把它當成精確門牌。</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src/house_features.py</a:t>
            </a:r>
          </a:p>
          <a:p xmlns:a="http://schemas.openxmlformats.org/drawingml/2006/main">
            <a:r>
              <a:t>src/round6_geo.py</a:t>
            </a:r>
          </a:p>
          <a:p xmlns:a="http://schemas.openxmlformats.org/drawingml/2006/main">
            <a:r>
              <a:t>data_external/geography/ATTRIBUTION.md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型在練習過的題目拿高分，還不能說明它會處理新題目。如果連偶然雜訊都記住，換一批交易就失準，這就是過擬合。房市會隨時間改變，因此我們以時間安排練習和考試。每次只用評分期間之前的資料學習，再預測後面一年，總共檢查三個年度。除了模型本身，把類別轉成數字的規則，以及各種價格參考也要用當期訓練資料建立，避免後面的答案透過別的步驟流回去。這種不當提前使用答案的情況叫做資料洩漏。三次回測能讓我們看到跨時期差異，但這些窗口已經在研究中反覆使用，仍可能挑到剛好適合它們的方法。所以回測是重要證據，不能直接當成從未看過的隱藏測試。</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src/round79_experiment.py</a:t>
            </a:r>
          </a:p>
          <a:p xmlns:a="http://schemas.openxmlformats.org/drawingml/2006/main">
            <a:r>
              <a:t>outputs/round79/results.json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份方法用了兩種模型家族。第一種是樹模型，可以想成逐步判斷房屋條件，例如面積在哪個範圍、位於哪個地區。實際條件和門檻由資料學習，再讓許多棵小樹接續修正估價誤差。這裡使用的工具叫做CatBoost和LightGBM。第二種是神經網路，它把面積等數值，以及建案等類別，轉成一組數字表示，再經過多層運算，學習條件之間的組合。類別的數字表示也隨訓練調整，並非人工把某個建案指定成比較高級。兩類模型看資料的方式不同，因此有機會互補。不過模型比較多不代表一定更準，我們仍然要看完整組合的回測。這裡說的是採用兩類方法的動機，不能當成每個元件都已獨立證明有效。</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src/round47_nn_train.py</a:t>
            </a:r>
          </a:p>
          <a:p xmlns:a="http://schemas.openxmlformats.org/drawingml/2006/main">
            <a:r>
              <a:t>src/round79_recency_unit.py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筆價格可以用不同方式表達。最直接的是預測總價，也可以先除以有效面積，學習每平方公尺單價，再乘回面積。為什麼單價模型要加面積權重？看這個教學假設，五十和一百平方公尺的房屋，單價都估錯一萬元，總價就分別錯五十和一百萬元。如果學習時把兩個單價誤差看得一樣重，就沒有對齊比賽關心的總價差距。因此我們按面積調整誤差在訓練中的分量。面積不可用時，依固定規則改用車位面積，最後才用一作數值縮放。另一種表示是對數，可以把很大的金額壓縮，提供不同的學習角度。它在訓練時衡量對數尺度誤差。所有輸出必須先換回元，才能一起組合和評分。</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src/round19_unit_geo.py</a:t>
            </a:r>
          </a:p>
          <a:p xmlns:a="http://schemas.openxmlformats.org/drawingml/2006/main">
            <a:r>
              <a:t>src/round12_log_geo.py</a:t>
            </a:r>
          </a:p>
          <a:p xmlns:a="http://schemas.openxmlformats.org/drawingml/2006/main">
            <a:r>
              <a:t>src/round79_recency_unit.py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除了房屋大小，交易發生的時間也可能影響價格。我們採用的假設是，近期成交對目前市場可能更有參考性，因此在單價 CatBoost中提高它們對學習的影響。權重就是一筆誤差在調整模型時有多重要。用正規化前的相對數值示意，最近的成交是一，一年前是零點五，兩年前是零點二五，這叫三百六十五天半衰期。真正程式會再把合法日期權重除以它們的平均，無效日期則採中性的值一，然後乘上剛才的面積權重。這不是直接把新房價格乘兩倍，也沒有改變平台評分公式。其他分支有自己的設定，不能說全部模型都在這一步新增相同權重。較新的資料也可能有雜訊，所以近期加權的效果仍須透過回測判斷。</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src/round60_recency_price_prior.py</a:t>
            </a:r>
          </a:p>
          <a:p xmlns:a="http://schemas.openxmlformats.org/drawingml/2006/main">
            <a:r>
              <a:t>src/round79_recency_unit.py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一個神經網路先取得區域參考單價，再學習房屋條件應該讓價格調整多少。這個基準稱為價格先驗，可以理解成估價之前的參考起點，來源仍是訓練資料的已知成交。不過如果用某筆的答案算出基準，再拿這個基準訓練同一筆，模型就可能偷偷看見答案。因此我們按建案分成五組，輪流用其餘四組計算這一組的訓練先驗。同一建案留在同一組，避免它自己的標籤直接混進來。這種做法叫做折外，英文縮寫是ＯＯＦ。真正預測新交易時，則使用該次全部訓練資料建立的保存先驗。請注意這裡按建案分組，沒有逐筆依日期排序，所以不能宣稱每筆訓練先驗都只來自更早的成交，也不能說它消除了所有過擬合。</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src/round60_recency_price_prior.py</a:t>
            </a:r>
          </a:p>
          <a:p xmlns:a="http://schemas.openxmlformats.org/drawingml/2006/main">
            <a:r>
              <a:t>src/round63_recency_weighted_prior_train.py</a:t>
            </a:r>
          </a:p>
          <a:p xmlns:a="http://schemas.openxmlformats.org/drawingml/2006/main">
            <a:r>
              <a:t>deliverables/v22_github/src/nn_prepare.py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面介紹的不同學習方式，最後形成六個模型。三個CatBoost分別學單價、總價和對數總價，另有一個LightGBM單價模型，以及兩個神經網路。一個神經網路用面積連結總價，另一個使用剛才的價格先驗。組合時先把所有預測換回元，才整理成三條分支。單價分支以單價 CatBoost 為主，神經網路分支先平均兩個網路，對數分支先平均直接總價和對數總價樹模型。三條分支各自再加入四分之一的LightGBM預測，主要部分占四分之三。因此六個模型沒有直接全部平均，而是先形成三種有固定配方的估價意見。這樣安排希望保留不同表示的差異，實際成績則評估整個組合，不能把各支改善幅度直接相加。</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條分支有了初估之後，還會查找訓練資料裡的可比成交。原因是一般模型學到整體規律，某個建案或街區可能仍有較細的價格差異。第一步先看同建案、地址或道路的成交支持，配合訓練資料估計的時間趨勢，調整原來的估價。第二步在參考來源較弱時，再利用粗略道路位置附近的歷史資訊補充，並考慮城市、建物型態與用途是否相容。找到附近交易不代表直接照抄一筆價格，程式會根據支持條件決定能用多少，資訊不足就回退。這些價格都來自當期訓練資料，沒有到外部實價登錄找測試答案。道路位置也不是精確門牌，所以空間修正提供的是受條件限制的補充，不能解讀為知道每一間房屋的真實市價。</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src/round2_neighborhood.py</a:t>
            </a:r>
          </a:p>
          <a:p xmlns:a="http://schemas.openxmlformats.org/drawingml/2006/main">
            <a:r>
              <a:t>src/round8_spatial_reference.py</a:t>
            </a:r>
          </a:p>
          <a:p xmlns:a="http://schemas.openxmlformats.org/drawingml/2006/main">
            <a:r>
              <a:t>deliverables/v22_github/src/tree_runtime.py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怎麼把三種意見變成一個價格？我們對每筆交易取中位數，也就是把三個數字由小到大排列，選中間那個。看這個教學假設，三條分支在修正後分別估九百八十、一千零二十和一千八百萬元，中位數就是一千零二十萬元。就算第三條分支出現很高的估價，也不會把結果直接拉到三個數字的平均。採用這種方式，是希望降低單一分支極端輸出的影響。不過中位數也有代價，如果極端的那支剛好才是正確答案，它的資訊可能無法留下來。如果三條分支一起低估，取中位數也不會自動修好。計算順序同樣重要，必須先把各支換回總價並完成修正，最後才取中位數，不能把已是總價的結果再乘一次面積。</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看實際結果。較早一期預測二〇二一年八月到二〇二二年八月，平均絕對誤差約兩百三十點九四萬元。中間一期約一百四十點七四萬元，最新一期約一百三十八點三二萬元。每個結果都來自當期以前資料建立的完整方法，評分時才拿出後面一年的總價答案。這張表最重要的讀法，是同一套方法在三批歷史交易上的表現。三個年度的房屋組成、交易量與市場狀況不同，所以數字下降不能直接說明模型逐年變準，也不能把其中最低的一個當作未來保證。除了整體平均，我們也檢查季度、建案及價格群，因為整體變好時，某些群體仍可能變差。這些檢查能提供反例，幫助我們了解方法的適用範圍。</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outputs/round79/results.json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實際提交後，平台截圖回報的公開分數是一百九十九萬八千五百六十八點五七〇六元，換成萬元約是一百九十九點八六。沿用前面的定義，它表示公開評分那批交易的預測總價，和真實總價之間的絕對差，平均大約兩百萬元。這個數字來自約三成測試資料，剩下約七成的隱藏分數目前還不知道。也不能拿它和剛才任一年度直接比較，就說提交後退步或進步，因為評分集合不同。這份公開結果是已觀察到的成果，支持我們說明目前提交的表現。真正最後名次依隱藏部分決定，所以選定這個提交模型，並不等於已經證明它在隱藏部分最好，更不能保證每一筆房價都落在兩百萬元的誤差以內。</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outputs/kaggle_feedback/public_submissions_v19_v24_20260927.json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前仍有幾項限制。首先，歷史窗口已反覆用來比較方法，可能逐漸選到很適合這幾份考卷的配方。其次，平均誤差會掩蓋高價群的退步，因此不能只挑好看的整體分數。地理資訊也有精度限制，道路代表點和真正門牌位置可能不同，地址匹配也不一定成功。雖然每個年度使用對應的非價格道路快照，仍不能把粗略位置當成完整生活機能或精準定位。降低過擬合風險的方法，是事前固定要驗證的假設與時間切分，讓需要學習的規則只看當期訓練資料，並保留分群結果和失敗方案。公開分數可以作為外部觀察，但不應不停依它微調配方。這些措施能減少風險，無法把未知市場的誤差完全消除，三條分支也仍可能一起估錯。</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outputs/round79/results.json</a:t>
            </a:r>
          </a:p>
          <a:p xmlns:a="http://schemas.openxmlformats.org/drawingml/2006/main">
            <a:r>
              <a:t>reports/round83_delivery.md</a:t>
            </a:r>
          </a:p>
          <a:p xmlns:a="http://schemas.openxmlformats.org/drawingml/2006/main">
            <a:r>
              <a:t>data_external/geography/ATTRIBUTION.md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成方法選擇後，最終使用四十六萬七千二百二十一筆有答案資料建立保存狀態，再對測試檔全部四萬七千零七十三筆估價。輸出只有編號和總價元兩欄，按範本排序，最後一次取整成正整數。程式也有保存，目前有一個單一推論入口，從原始測試表重新建立特徵，載入六個模型，以及當時保存的編碼、價格參考和地理狀態，再重算三條分支。實際重跑後，全部預測與原提交一致，完整提交檔也相同。這表示保存模型的推論可以重現。這次沒有從頭重新訓練全部模型，也尚未驗證全新電腦安裝。程式包另附必要檔案清單，模型和資料需要另外具備，不能以為只下載程式就已經包含所有訓練素材。</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a:p xmlns:a="http://schemas.openxmlformats.org/drawingml/2006/main">
            <a:r>
              <a:t>deliverables/v22_github/src/submission_io.py</a:t>
            </a:r>
          </a:p>
          <a:p xmlns:a="http://schemas.openxmlformats.org/drawingml/2006/main">
            <a:r>
              <a:t>deliverables/v22_github/evidence/reproduction/integration_verified.json</a:t>
            </a:r>
          </a:p>
          <a:p xmlns:a="http://schemas.openxmlformats.org/drawingml/2006/main">
            <a:r>
              <a:t>deliverables/v22_github/docs/REPRODUCIBILITY.md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天從一筆沒有答案的房屋交易出發，說明了如何把原始條件整理成特徵，再讓模型從已知成交學習。我們使用不同價格表示，讓單價學習透過面積權重對齊總價誤差，也讓近期成交在特定模型中占較高分量。六個模型形成三條分支，經成交與空間資訊修正，最後逐筆取中位數。結果以三期時間回測和公開成績說明，程式則完成保存模型的推論重現。這個專題的收穫，是知道每個步驟為什麼存在，也知道哪些結論還不能下。公開平均誤差約兩百萬元，隱藏部分的真實分數目前仍然未知。謝謝大家。</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頁供問答核對。每個模型符號都代表已經換回元的預測。神經網路分支先平均兩個網路，對數分支先平均直接總價與對數總價模型，再各占四分之三，加入四分之一的共同單價LightGBM。各條分支先經成交參考，再依原基準與參考結果做空間修正，最後逐筆取中位數。完整係數和面積、日期公式列在報告與程式中。</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單價 CatBoost的主要設定包括兩千九百九十九次迭代、深度八，以及學習率零點零六五。兩個神經網路使用相同的多層架構，但輸入編碼與學習目標不同。參數代表學習如何進行，不是準確率保證。若要實際重現，請依操作文件準備原始測試檔和保存狀態，並使用受測環境。單價訓練、先驗建立與最終推論各有對應程式，路徑可在報告查到。</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src/round79_recency_unit.py</a:t>
            </a:r>
          </a:p>
          <a:p xmlns:a="http://schemas.openxmlformats.org/drawingml/2006/main">
            <a:r>
              <a:t>src/round60_recency_price_prior.py</a:t>
            </a:r>
          </a:p>
          <a:p xmlns:a="http://schemas.openxmlformats.org/drawingml/2006/main">
            <a:r>
              <a:t>deliverables/v22_github/src/predict_v22.py</a:t>
            </a:r>
          </a:p>
          <a:p xmlns:a="http://schemas.openxmlformats.org/drawingml/2006/main">
            <a:r>
              <a:t>deliverables/v22_github/docs/REPRODUCIBILITY.md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如果遇到名詞，可以先問它在流程中做什麼。特徵是房屋條件，標籤是已知價格。訓練或擬合，是利用有答案的資料調整模型。推論是把保存規則套用到待預測資料。編碼把文字或數值整理成模型輸入，價格先驗提供參考基準。泛化表示模型能處理沒練習過的交易，過擬合則是太貼合練習資料的細節。折外處理用其他組建立參考，中位數則是把數字排序後取中間那個。</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4e8b7597814a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c2be6450bd4ac2" /><Relationship Type="http://schemas.openxmlformats.org/officeDocument/2006/relationships/slideLayout" Target="/ppt/slideLayouts/slideLayout1.xml" Id="R2e17ded96bd54c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17ded96bd54c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2ba93c5c8b4b3a" /><Relationship Type="http://schemas.openxmlformats.org/officeDocument/2006/relationships/image" Target="/ppt/media/image.jpeg" Id="Rc486a5ccd4264ffa" /><Relationship Type="http://schemas.openxmlformats.org/officeDocument/2006/relationships/notesSlide" Target="/ppt/notesSlides/notesSlide1.xml" Id="R1955ad5939ee4c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b9abe9b72944720" /><Relationship Type="http://schemas.openxmlformats.org/officeDocument/2006/relationships/notesSlide" Target="/ppt/notesSlides/notesSlide2.xml" Id="R90f71eb7265749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71c8f94d3264bbe" /><Relationship Type="http://schemas.openxmlformats.org/officeDocument/2006/relationships/notesSlide" Target="/ppt/notesSlides/notesSlide3.xml" Id="R8c268a67da3840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30bfaa51fd04193" /><Relationship Type="http://schemas.openxmlformats.org/officeDocument/2006/relationships/notesSlide" Target="/ppt/notesSlides/notesSlide4.xml" Id="R846378d908eb42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075a4fef8c4069" /><Relationship Type="http://schemas.openxmlformats.org/officeDocument/2006/relationships/notesSlide" Target="/ppt/notesSlides/notesSlide5.xml" Id="R908a00e6fb7a45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013536358043a2" /><Relationship Type="http://schemas.openxmlformats.org/officeDocument/2006/relationships/notesSlide" Target="/ppt/notesSlides/notesSlide6.xml" Id="Rf350192b44904d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542df843304d46" /><Relationship Type="http://schemas.openxmlformats.org/officeDocument/2006/relationships/notesSlide" Target="/ppt/notesSlides/notesSlide7.xml" Id="R860cf0677a844c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7fc32f02df74113" /><Relationship Type="http://schemas.openxmlformats.org/officeDocument/2006/relationships/notesSlide" Target="/ppt/notesSlides/notesSlide8.xml" Id="Rf4e31b3a40bc47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b762a9fa4764c65" /><Relationship Type="http://schemas.openxmlformats.org/officeDocument/2006/relationships/notesSlide" Target="/ppt/notesSlides/notesSlide9.xml" Id="R74e8c42fd41740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b42af744ba4a36" /><Relationship Type="http://schemas.openxmlformats.org/officeDocument/2006/relationships/notesSlide" Target="/ppt/notesSlides/notesSlide10.xml" Id="R407a0d9e6bf743e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05cdb592fe14fc7" /><Relationship Type="http://schemas.openxmlformats.org/officeDocument/2006/relationships/chart" Target="/ppt/slides/charts/chart1.xml" Id="R4d2d19083ce24d57" /><Relationship Type="http://schemas.openxmlformats.org/officeDocument/2006/relationships/notesSlide" Target="/ppt/notesSlides/notesSlide11.xml" Id="Rdfbe4f01868547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d82165ba52542f3" /><Relationship Type="http://schemas.openxmlformats.org/officeDocument/2006/relationships/notesSlide" Target="/ppt/notesSlides/notesSlide12.xml" Id="R9f9263e1ccd848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5a261f5716f41a4" /><Relationship Type="http://schemas.openxmlformats.org/officeDocument/2006/relationships/notesSlide" Target="/ppt/notesSlides/notesSlide13.xml" Id="R4a1354fca35e4de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553c7d64c284bd7" /><Relationship Type="http://schemas.openxmlformats.org/officeDocument/2006/relationships/notesSlide" Target="/ppt/notesSlides/notesSlide14.xml" Id="R1126718554b94cc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00937e5222b4487" /><Relationship Type="http://schemas.openxmlformats.org/officeDocument/2006/relationships/chart" Target="/ppt/slides/charts/chart2.xml" Id="R8ba73dea71a94f0c" /><Relationship Type="http://schemas.openxmlformats.org/officeDocument/2006/relationships/notesSlide" Target="/ppt/notesSlides/notesSlide15.xml" Id="Rb5201be24d48479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27d494ec75f48e3" /><Relationship Type="http://schemas.openxmlformats.org/officeDocument/2006/relationships/chart" Target="/ppt/slides/charts/chart3.xml" Id="Ra756f22c11974e6d" /><Relationship Type="http://schemas.openxmlformats.org/officeDocument/2006/relationships/notesSlide" Target="/ppt/notesSlides/notesSlide16.xml" Id="Rba119bf7ff91435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b092499e0874279" /><Relationship Type="http://schemas.openxmlformats.org/officeDocument/2006/relationships/notesSlide" Target="/ppt/notesSlides/notesSlide17.xml" Id="Ra55d7d80321e4fa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974b23819144d35" /><Relationship Type="http://schemas.openxmlformats.org/officeDocument/2006/relationships/notesSlide" Target="/ppt/notesSlides/notesSlide18.xml" Id="R93a5b8db361a47a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f4df90c696d4975" /><Relationship Type="http://schemas.openxmlformats.org/officeDocument/2006/relationships/notesSlide" Target="/ppt/notesSlides/notesSlide19.xml" Id="Rb27fe624c9d4431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a68f860bbe04fe0" /><Relationship Type="http://schemas.openxmlformats.org/officeDocument/2006/relationships/notesSlide" Target="/ppt/notesSlides/notesSlide20.xml" Id="R7d0cc2a64044483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d53ea4a55d244a6" /><Relationship Type="http://schemas.openxmlformats.org/officeDocument/2006/relationships/notesSlide" Target="/ppt/notesSlides/notesSlide21.xml" Id="R1722737d75ba441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5a3610eadd24ef8" /><Relationship Type="http://schemas.openxmlformats.org/officeDocument/2006/relationships/notesSlide" Target="/ppt/notesSlides/notesSlide22.xml" Id="R8554883b82f8461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a91fb8ad33445f8" /><Relationship Type="http://schemas.openxmlformats.org/officeDocument/2006/relationships/notesSlide" Target="/ppt/notesSlides/notesSlide23.xml" Id="Rb9c11e8d67974a6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數值</c:v>
          </c:tx>
          <c:spPr>
            <a:solidFill xmlns:a="http://schemas.openxmlformats.org/drawingml/2006/main">
              <a:srgbClr val="167364"/>
            </a:solidFill>
          </c:spPr>
          <c:cat>
            <c:strRef>
              <c:f>'Chart Data'!$A$2:$A$4</c:f>
              <c:strCache>
                <c:ptCount val="3"/>
                <c:pt idx="0">
                  <c:v>最新日期</c:v>
                </c:pt>
                <c:pt idx="1">
                  <c:v>早一年</c:v>
                </c:pt>
                <c:pt idx="2">
                  <c:v>早兩年</c:v>
                </c:pt>
              </c:strCache>
            </c:strRef>
          </c:cat>
          <c:val>
            <c:numRef>
              <c:f>'Chart Data'!$B$2:$B$4</c:f>
              <c:numCache>
                <c:formatCode>0.00</c:formatCode>
                <c:ptCount val="3"/>
                <c:pt idx="0">
                  <c:v>1</c:v>
                </c:pt>
                <c:pt idx="1">
                  <c:v>0.5</c:v>
                </c:pt>
                <c:pt idx="2">
                  <c:v>0.25</c:v>
                </c:pt>
              </c:numCache>
            </c:numRef>
          </c:val>
        </c:ser>
        <c:dLbls>
          <c:txPr>
            <a:bodyPr xmlns:a="http://schemas.openxmlformats.org/drawingml/2006/main" anchorCtr="1"/>
            <a:lstStyle xmlns:a="http://schemas.openxmlformats.org/drawingml/2006/main"/>
            <a:p xmlns:a="http://schemas.openxmlformats.org/drawingml/2006/main">
              <a:pPr>
                <a:defRPr sz="2175">
                  <a:solidFill>
                    <a:srgbClr val="173C38"/>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5C5BC"/>
            </a:solidFill>
          </a:ln>
        </c:spPr>
        <c:txPr>
          <a:bodyPr xmlns:a="http://schemas.openxmlformats.org/drawingml/2006/main" anchorCtr="1"/>
          <a:lstStyle xmlns:a="http://schemas.openxmlformats.org/drawingml/2006/main"/>
          <a:p xmlns:a="http://schemas.openxmlformats.org/drawingml/2006/main">
            <a:pPr>
              <a:defRPr sz="1875">
                <a:solidFill>
                  <a:srgbClr val="314B46"/>
                </a:solidFill>
                <a:latin typeface="Microsoft JhengHei"/>
                <a:ea typeface="Microsoft JhengHei"/>
                <a:cs typeface="Microsoft JhengHei"/>
              </a:defRPr>
            </a:pPr>
          </a:p>
        </c:txPr>
        <c:crossAx val="48672768"/>
      </c:catAx>
      <c:valAx>
        <c:axId val="48672768"/>
        <c:scaling>
          <c:orientation val="minMax"/>
        </c:scaling>
        <c:delete val="0"/>
        <c:axPos val="l"/>
        <c:majorGridlines>
          <c:spPr>
            <a:ln xmlns:a="http://schemas.openxmlformats.org/drawingml/2006/main" w="9525">
              <a:solidFill>
                <a:srgbClr val="D8E0D7"/>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627570"/>
                </a:solidFill>
                <a:latin typeface="Microsoft JhengHei"/>
                <a:ea typeface="Microsoft JhengHei"/>
                <a:cs typeface="Microsoft JhengHei"/>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數值</c:v>
          </c:tx>
          <c:spPr>
            <a:solidFill xmlns:a="http://schemas.openxmlformats.org/drawingml/2006/main">
              <a:srgbClr val="167364"/>
            </a:solidFill>
          </c:spPr>
          <c:dPt>
            <c:idx val="1"/>
            <c:invertIfNegative val="0"/>
            <c:spPr>
              <a:solidFill xmlns:a="http://schemas.openxmlformats.org/drawingml/2006/main">
                <a:srgbClr val="B04F35"/>
              </a:solidFill>
            </c:spPr>
          </c:dPt>
          <c:cat>
            <c:strRef>
              <c:f>'Chart Data'!$A$2:$A$4</c:f>
              <c:strCache>
                <c:ptCount val="3"/>
                <c:pt idx="0">
                  <c:v>分支 A</c:v>
                </c:pt>
                <c:pt idx="1">
                  <c:v>分支 B</c:v>
                </c:pt>
                <c:pt idx="2">
                  <c:v>分支 C</c:v>
                </c:pt>
              </c:strCache>
            </c:strRef>
          </c:cat>
          <c:val>
            <c:numRef>
              <c:f>'Chart Data'!$B$2:$B$4</c:f>
              <c:numCache>
                <c:formatCode>0</c:formatCode>
                <c:ptCount val="3"/>
                <c:pt idx="0">
                  <c:v>980</c:v>
                </c:pt>
                <c:pt idx="1">
                  <c:v>1020</c:v>
                </c:pt>
                <c:pt idx="2">
                  <c:v>1800</c:v>
                </c:pt>
              </c:numCache>
            </c:numRef>
          </c:val>
        </c:ser>
        <c:dLbls>
          <c:txPr>
            <a:bodyPr xmlns:a="http://schemas.openxmlformats.org/drawingml/2006/main" anchorCtr="1"/>
            <a:lstStyle xmlns:a="http://schemas.openxmlformats.org/drawingml/2006/main"/>
            <a:p xmlns:a="http://schemas.openxmlformats.org/drawingml/2006/main">
              <a:pPr>
                <a:defRPr sz="2175">
                  <a:solidFill>
                    <a:srgbClr val="173C38"/>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5C5BC"/>
            </a:solidFill>
          </a:ln>
        </c:spPr>
        <c:txPr>
          <a:bodyPr xmlns:a="http://schemas.openxmlformats.org/drawingml/2006/main" anchorCtr="1"/>
          <a:lstStyle xmlns:a="http://schemas.openxmlformats.org/drawingml/2006/main"/>
          <a:p xmlns:a="http://schemas.openxmlformats.org/drawingml/2006/main">
            <a:pPr>
              <a:defRPr sz="1875">
                <a:solidFill>
                  <a:srgbClr val="314B46"/>
                </a:solidFill>
                <a:latin typeface="Microsoft JhengHei"/>
                <a:ea typeface="Microsoft JhengHei"/>
                <a:cs typeface="Microsoft JhengHei"/>
              </a:defRPr>
            </a:pPr>
          </a:p>
        </c:txPr>
        <c:crossAx val="48672768"/>
      </c:catAx>
      <c:valAx>
        <c:axId val="48672768"/>
        <c:scaling>
          <c:orientation val="minMax"/>
        </c:scaling>
        <c:delete val="0"/>
        <c:axPos val="l"/>
        <c:majorGridlines>
          <c:spPr>
            <a:ln xmlns:a="http://schemas.openxmlformats.org/drawingml/2006/main" w="9525">
              <a:solidFill>
                <a:srgbClr val="D8E0D7"/>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627570"/>
                </a:solidFill>
                <a:latin typeface="Microsoft JhengHei"/>
                <a:ea typeface="Microsoft JhengHei"/>
                <a:cs typeface="Microsoft JhengHei"/>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數值</c:v>
          </c:tx>
          <c:spPr>
            <a:solidFill xmlns:a="http://schemas.openxmlformats.org/drawingml/2006/main">
              <a:srgbClr val="167364"/>
            </a:solidFill>
          </c:spPr>
          <c:cat>
            <c:strRef>
              <c:f>'Chart Data'!$A$2:$A$4</c:f>
              <c:strCache>
                <c:ptCount val="3"/>
                <c:pt idx="0">
                  <c:v>2021–2022</c:v>
                </c:pt>
                <c:pt idx="1">
                  <c:v>2022–2023</c:v>
                </c:pt>
                <c:pt idx="2">
                  <c:v>2023–2024</c:v>
                </c:pt>
              </c:strCache>
            </c:strRef>
          </c:cat>
          <c:val>
            <c:numRef>
              <c:f>'Chart Data'!$B$2:$B$4</c:f>
              <c:numCache>
                <c:formatCode>0.00</c:formatCode>
                <c:ptCount val="3"/>
                <c:pt idx="0">
                  <c:v>230.94</c:v>
                </c:pt>
                <c:pt idx="1">
                  <c:v>140.74</c:v>
                </c:pt>
                <c:pt idx="2">
                  <c:v>138.32</c:v>
                </c:pt>
              </c:numCache>
            </c:numRef>
          </c:val>
        </c:ser>
        <c:dLbls>
          <c:txPr>
            <a:bodyPr xmlns:a="http://schemas.openxmlformats.org/drawingml/2006/main" anchorCtr="1"/>
            <a:lstStyle xmlns:a="http://schemas.openxmlformats.org/drawingml/2006/main"/>
            <a:p xmlns:a="http://schemas.openxmlformats.org/drawingml/2006/main">
              <a:pPr>
                <a:defRPr sz="2175">
                  <a:solidFill>
                    <a:srgbClr val="173C38"/>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5C5BC"/>
            </a:solidFill>
          </a:ln>
        </c:spPr>
        <c:txPr>
          <a:bodyPr xmlns:a="http://schemas.openxmlformats.org/drawingml/2006/main" anchorCtr="1"/>
          <a:lstStyle xmlns:a="http://schemas.openxmlformats.org/drawingml/2006/main"/>
          <a:p xmlns:a="http://schemas.openxmlformats.org/drawingml/2006/main">
            <a:pPr>
              <a:defRPr sz="1875">
                <a:solidFill>
                  <a:srgbClr val="314B46"/>
                </a:solidFill>
                <a:latin typeface="Microsoft JhengHei"/>
                <a:ea typeface="Microsoft JhengHei"/>
                <a:cs typeface="Microsoft JhengHei"/>
              </a:defRPr>
            </a:pPr>
          </a:p>
        </c:txPr>
        <c:crossAx val="48672768"/>
      </c:catAx>
      <c:valAx>
        <c:axId val="48672768"/>
        <c:scaling>
          <c:orientation val="minMax"/>
        </c:scaling>
        <c:delete val="0"/>
        <c:axPos val="l"/>
        <c:majorGridlines>
          <c:spPr>
            <a:ln xmlns:a="http://schemas.openxmlformats.org/drawingml/2006/main" w="9525">
              <a:solidFill>
                <a:srgbClr val="D8E0D7"/>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627570"/>
                </a:solidFill>
                <a:latin typeface="Microsoft JhengHei"/>
                <a:ea typeface="Microsoft JhengHei"/>
                <a:cs typeface="Microsoft JhengHei"/>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486a5ccd4264ffa"/>
          <a:srcRect xmlns:a="http://schemas.openxmlformats.org/drawingml/2006/main" l="26771" t="0" r="26771" b="0"/>
          <a:stretch xmlns:a="http://schemas.openxmlformats.org/drawingml/2006/main">
            <a:fillRect l="0" t="0" r="0" b="0"/>
          </a:stretch>
        </p:blipFill>
        <p:spPr>
          <a:xfrm xmlns:a="http://schemas.openxmlformats.org/drawingml/2006/main">
            <a:off x="7381875" y="457200"/>
            <a:ext cx="4143375" cy="5943600"/>
          </a:xfrm>
          <a:prstGeom xmlns:a="http://schemas.openxmlformats.org/drawingml/2006/main" prst="rect">
            <a:avLst/>
          </a:prstGeom>
        </p:spPr>
      </p:pic>
      <p:sp>
        <p:nvSpPr>
          <p:cNvPr id="2" name="body">
            <a:extLst xmlns:a="http://schemas.openxmlformats.org/drawingml/2006/main">
              <a:ext uri="{FF2B5EF4-FFF2-40B4-BE49-F238E27FC236}">
                <a16:creationId xmlns:a16="http://schemas.microsoft.com/office/drawing/2014/main" id="{A4EA63CE-F822-433B-8460-C8B4084AEA1D}"/>
              </a:ext>
            </a:extLst>
          </p:cNvPr>
          <p:cNvSpPr>
            <a:spLocks xmlns:a="http://schemas.openxmlformats.org/drawingml/2006/main" noGrp="1"/>
          </p:cNvSpPr>
          <p:nvPr/>
        </p:nvSpPr>
        <p:spPr>
          <a:xfrm xmlns:a="http://schemas.openxmlformats.org/drawingml/2006/main">
            <a:off x="666750" y="1428750"/>
            <a:ext cx="6191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173C38"/>
                </a:solidFill>
                <a:latin typeface="Microsoft JhengHei"/>
                <a:ea typeface="Microsoft JhengHei"/>
                <a:cs typeface="Microsoft JhengHei"/>
              </a:defRPr>
            </a:pPr>
            <a:r>
              <a:rPr sz="5700" b="1">
                <a:solidFill>
                  <a:srgbClr val="173C38"/>
                </a:solidFill>
                <a:latin typeface="Microsoft JhengHei"/>
                <a:ea typeface="Microsoft JhengHei"/>
                <a:cs typeface="Microsoft JhengHei"/>
              </a:rPr>
              <a:t>臺灣房屋</a:t>
            </a:r>
          </a:p>
          <a:p xmlns:a="http://schemas.openxmlformats.org/drawingml/2006/main">
            <a:pPr algn="l">
              <a:defRPr sz="5700" b="1">
                <a:solidFill>
                  <a:srgbClr val="173C38"/>
                </a:solidFill>
                <a:latin typeface="Microsoft JhengHei"/>
                <a:ea typeface="Microsoft JhengHei"/>
                <a:cs typeface="Microsoft JhengHei"/>
              </a:defRPr>
            </a:pPr>
            <a:r>
              <a:rPr sz="5700" b="1">
                <a:solidFill>
                  <a:srgbClr val="173C38"/>
                </a:solidFill>
                <a:latin typeface="Microsoft JhengHei"/>
                <a:ea typeface="Microsoft JhengHei"/>
                <a:cs typeface="Microsoft JhengHei"/>
              </a:rPr>
              <a:t>總價預測</a:t>
            </a:r>
          </a:p>
        </p:txBody>
      </p:sp>
      <p:sp>
        <p:nvSpPr>
          <p:cNvPr id="3" name="body">
            <a:extLst xmlns:a="http://schemas.openxmlformats.org/drawingml/2006/main">
              <a:ext uri="{FF2B5EF4-FFF2-40B4-BE49-F238E27FC236}">
                <a16:creationId xmlns:a16="http://schemas.microsoft.com/office/drawing/2014/main" id="{AEB4ADEC-BD3B-45AE-81AD-26465246B9D6}"/>
              </a:ext>
            </a:extLst>
          </p:cNvPr>
          <p:cNvSpPr>
            <a:spLocks xmlns:a="http://schemas.openxmlformats.org/drawingml/2006/main" noGrp="1"/>
          </p:cNvSpPr>
          <p:nvPr/>
        </p:nvSpPr>
        <p:spPr>
          <a:xfrm xmlns:a="http://schemas.openxmlformats.org/drawingml/2006/main">
            <a:off x="695325" y="3819525"/>
            <a:ext cx="6324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67364"/>
                </a:solidFill>
                <a:latin typeface="Microsoft JhengHei"/>
                <a:ea typeface="Microsoft JhengHei"/>
                <a:cs typeface="Microsoft JhengHei"/>
              </a:defRPr>
            </a:pPr>
            <a:r>
              <a:rPr sz="2325" b="0">
                <a:solidFill>
                  <a:srgbClr val="167364"/>
                </a:solidFill>
                <a:latin typeface="Microsoft JhengHei"/>
                <a:ea typeface="Microsoft JhengHei"/>
                <a:cs typeface="Microsoft JhengHei"/>
              </a:rPr>
              <a:t>資料、模型與驗證的完整流程</a:t>
            </a:r>
          </a:p>
        </p:txBody>
      </p:sp>
      <p:sp>
        <p:nvSpPr>
          <p:cNvPr id="4" name="body">
            <a:extLst xmlns:a="http://schemas.openxmlformats.org/drawingml/2006/main">
              <a:ext uri="{FF2B5EF4-FFF2-40B4-BE49-F238E27FC236}">
                <a16:creationId xmlns:a16="http://schemas.microsoft.com/office/drawing/2014/main" id="{3A7343D9-81EB-45CD-B2E8-6D746DB3D44F}"/>
              </a:ext>
            </a:extLst>
          </p:cNvPr>
          <p:cNvSpPr>
            <a:spLocks xmlns:a="http://schemas.openxmlformats.org/drawingml/2006/main" noGrp="1"/>
          </p:cNvSpPr>
          <p:nvPr/>
        </p:nvSpPr>
        <p:spPr>
          <a:xfrm xmlns:a="http://schemas.openxmlformats.org/drawingml/2006/main">
            <a:off x="695325" y="4905375"/>
            <a:ext cx="600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14B46"/>
                </a:solidFill>
                <a:latin typeface="Microsoft JhengHei"/>
                <a:ea typeface="Microsoft JhengHei"/>
                <a:cs typeface="Microsoft JhengHei"/>
              </a:defRPr>
            </a:pPr>
            <a:r>
              <a:rPr sz="2100" b="0">
                <a:solidFill>
                  <a:srgbClr val="314B46"/>
                </a:solidFill>
                <a:latin typeface="Microsoft JhengHei"/>
                <a:ea typeface="Microsoft JhengHei"/>
                <a:cs typeface="Microsoft JhengHei"/>
              </a:rPr>
              <a:t>v22 專題報告</a:t>
            </a:r>
          </a:p>
        </p:txBody>
      </p:sp>
      <p:sp>
        <p:nvSpPr>
          <p:cNvPr id="5" name="body">
            <a:extLst xmlns:a="http://schemas.openxmlformats.org/drawingml/2006/main">
              <a:ext uri="{FF2B5EF4-FFF2-40B4-BE49-F238E27FC236}">
                <a16:creationId xmlns:a16="http://schemas.microsoft.com/office/drawing/2014/main" id="{685C94C8-7B92-4F30-8A8B-5CA03822FBE2}"/>
              </a:ext>
            </a:extLst>
          </p:cNvPr>
          <p:cNvSpPr>
            <a:spLocks xmlns:a="http://schemas.openxmlformats.org/drawingml/2006/main" noGrp="1"/>
          </p:cNvSpPr>
          <p:nvPr/>
        </p:nvSpPr>
        <p:spPr>
          <a:xfrm xmlns:a="http://schemas.openxmlformats.org/drawingml/2006/main">
            <a:off x="695325" y="59912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27570"/>
                </a:solidFill>
                <a:latin typeface="Microsoft JhengHei"/>
                <a:ea typeface="Microsoft JhengHei"/>
                <a:cs typeface="Microsoft JhengHei"/>
              </a:defRPr>
            </a:pPr>
            <a:r>
              <a:rPr sz="1650" b="0">
                <a:solidFill>
                  <a:srgbClr val="627570"/>
                </a:solidFill>
                <a:latin typeface="Microsoft JhengHei"/>
                <a:ea typeface="Microsoft JhengHei"/>
                <a:cs typeface="Microsoft JhengHei"/>
              </a:rPr>
              <a:t>2026.10</a:t>
            </a:r>
          </a:p>
        </p:txBody>
      </p:sp>
    </p:spTree>
    <p:extLst>
      <p:ext uri="{BB962C8B-B14F-4D97-AF65-F5344CB8AC3E}">
        <p14:creationId xmlns:p14="http://schemas.microsoft.com/office/powerpoint/2010/main" val="1874928249"/>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F92DE2BA-91DB-485C-A8EF-1041DC47C94D}"/>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回歸與模型學習</a:t>
            </a:r>
          </a:p>
        </p:txBody>
      </p:sp>
      <p:sp>
        <p:nvSpPr>
          <p:cNvPr id="2" name="body">
            <a:extLst xmlns:a="http://schemas.openxmlformats.org/drawingml/2006/main">
              <a:ext uri="{FF2B5EF4-FFF2-40B4-BE49-F238E27FC236}">
                <a16:creationId xmlns:a16="http://schemas.microsoft.com/office/drawing/2014/main" id="{7C0A5482-88F2-4604-997F-DE5C5E7E8D87}"/>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02</a:t>
            </a:r>
          </a:p>
        </p:txBody>
      </p:sp>
      <p:sp>
        <p:nvSpPr>
          <p:cNvPr id="3" name="body">
            <a:extLst xmlns:a="http://schemas.openxmlformats.org/drawingml/2006/main">
              <a:ext uri="{FF2B5EF4-FFF2-40B4-BE49-F238E27FC236}">
                <a16:creationId xmlns:a16="http://schemas.microsoft.com/office/drawing/2014/main" id="{BF16D0BF-A4E1-47F4-B31A-875DF33F081B}"/>
              </a:ext>
            </a:extLst>
          </p:cNvPr>
          <p:cNvSpPr>
            <a:spLocks xmlns:a="http://schemas.openxmlformats.org/drawingml/2006/main" noGrp="1"/>
          </p:cNvSpPr>
          <p:nvPr/>
        </p:nvSpPr>
        <p:spPr>
          <a:xfrm xmlns:a="http://schemas.openxmlformats.org/drawingml/2006/main">
            <a:off x="685800" y="1638300"/>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67364"/>
                </a:solidFill>
                <a:latin typeface="Microsoft JhengHei"/>
                <a:ea typeface="Microsoft JhengHei"/>
                <a:cs typeface="Microsoft JhengHei"/>
              </a:defRPr>
            </a:pPr>
            <a:r>
              <a:rPr sz="3375" b="1">
                <a:solidFill>
                  <a:srgbClr val="167364"/>
                </a:solidFill>
                <a:latin typeface="Microsoft JhengHei"/>
                <a:ea typeface="Microsoft JhengHei"/>
                <a:cs typeface="Microsoft JhengHei"/>
              </a:rPr>
              <a:t>房屋條件</a:t>
            </a:r>
          </a:p>
        </p:txBody>
      </p:sp>
      <p:sp>
        <p:nvSpPr>
          <p:cNvPr id="4" name="body">
            <a:extLst xmlns:a="http://schemas.openxmlformats.org/drawingml/2006/main">
              <a:ext uri="{FF2B5EF4-FFF2-40B4-BE49-F238E27FC236}">
                <a16:creationId xmlns:a16="http://schemas.microsoft.com/office/drawing/2014/main" id="{D2D3C73F-B55C-41C4-A88A-827DBAF8CB5D}"/>
              </a:ext>
            </a:extLst>
          </p:cNvPr>
          <p:cNvSpPr>
            <a:spLocks xmlns:a="http://schemas.openxmlformats.org/drawingml/2006/main" noGrp="1"/>
          </p:cNvSpPr>
          <p:nvPr/>
        </p:nvSpPr>
        <p:spPr>
          <a:xfrm xmlns:a="http://schemas.openxmlformats.org/drawingml/2006/main">
            <a:off x="6781800" y="163830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67364"/>
                </a:solidFill>
                <a:latin typeface="Microsoft JhengHei"/>
                <a:ea typeface="Microsoft JhengHei"/>
                <a:cs typeface="Microsoft JhengHei"/>
              </a:defRPr>
            </a:pPr>
            <a:r>
              <a:rPr sz="3375" b="1">
                <a:solidFill>
                  <a:srgbClr val="167364"/>
                </a:solidFill>
                <a:latin typeface="Microsoft JhengHei"/>
                <a:ea typeface="Microsoft JhengHei"/>
                <a:cs typeface="Microsoft JhengHei"/>
              </a:rPr>
              <a:t>估計總價</a:t>
            </a:r>
          </a:p>
        </p:txBody>
      </p:sp>
      <p:sp>
        <p:nvSpPr>
          <p:cNvPr id="5" name="body">
            <a:extLst xmlns:a="http://schemas.openxmlformats.org/drawingml/2006/main">
              <a:ext uri="{FF2B5EF4-FFF2-40B4-BE49-F238E27FC236}">
                <a16:creationId xmlns:a16="http://schemas.microsoft.com/office/drawing/2014/main" id="{C273B909-6B30-4031-B58A-DFE211BBD30E}"/>
              </a:ext>
            </a:extLst>
          </p:cNvPr>
          <p:cNvSpPr>
            <a:spLocks xmlns:a="http://schemas.openxmlformats.org/drawingml/2006/main" noGrp="1"/>
          </p:cNvSpPr>
          <p:nvPr/>
        </p:nvSpPr>
        <p:spPr>
          <a:xfrm xmlns:a="http://schemas.openxmlformats.org/drawingml/2006/main">
            <a:off x="685800" y="2552700"/>
            <a:ext cx="5048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314B46"/>
                </a:solidFill>
                <a:latin typeface="Microsoft JhengHei"/>
                <a:ea typeface="Microsoft JhengHei"/>
                <a:cs typeface="Microsoft JhengHei"/>
              </a:defRPr>
            </a:pPr>
            <a:r>
              <a:rPr sz="2400" b="0">
                <a:solidFill>
                  <a:srgbClr val="314B46"/>
                </a:solidFill>
                <a:latin typeface="Microsoft JhengHei"/>
                <a:ea typeface="Microsoft JhengHei"/>
                <a:cs typeface="Microsoft JhengHei"/>
              </a:rPr>
              <a:t>地點、面積、樓層、交易日期</a:t>
            </a:r>
          </a:p>
        </p:txBody>
      </p:sp>
      <p:sp>
        <p:nvSpPr>
          <p:cNvPr id="6" name="body">
            <a:extLst xmlns:a="http://schemas.openxmlformats.org/drawingml/2006/main">
              <a:ext uri="{FF2B5EF4-FFF2-40B4-BE49-F238E27FC236}">
                <a16:creationId xmlns:a16="http://schemas.microsoft.com/office/drawing/2014/main" id="{D076DD96-9227-4E6F-A8B3-9612CCC0909D}"/>
              </a:ext>
            </a:extLst>
          </p:cNvPr>
          <p:cNvSpPr>
            <a:spLocks xmlns:a="http://schemas.openxmlformats.org/drawingml/2006/main" noGrp="1"/>
          </p:cNvSpPr>
          <p:nvPr/>
        </p:nvSpPr>
        <p:spPr>
          <a:xfrm xmlns:a="http://schemas.openxmlformats.org/drawingml/2006/main">
            <a:off x="6781800" y="2552700"/>
            <a:ext cx="4572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314B46"/>
                </a:solidFill>
                <a:latin typeface="Microsoft JhengHei"/>
                <a:ea typeface="Microsoft JhengHei"/>
                <a:cs typeface="Microsoft JhengHei"/>
              </a:defRPr>
            </a:pPr>
            <a:r>
              <a:rPr sz="2400" b="0">
                <a:solidFill>
                  <a:srgbClr val="314B46"/>
                </a:solidFill>
                <a:latin typeface="Microsoft JhengHei"/>
                <a:ea typeface="Microsoft JhengHei"/>
                <a:cs typeface="Microsoft JhengHei"/>
              </a:rPr>
              <a:t>例如 1,020 萬元</a:t>
            </a:r>
          </a:p>
          <a:p xmlns:a="http://schemas.openxmlformats.org/drawingml/2006/main">
            <a:pPr algn="l">
              <a:defRPr sz="2400" b="0">
                <a:solidFill>
                  <a:srgbClr val="314B46"/>
                </a:solidFill>
                <a:latin typeface="Microsoft JhengHei"/>
                <a:ea typeface="Microsoft JhengHei"/>
                <a:cs typeface="Microsoft JhengHei"/>
              </a:defRPr>
            </a:pPr>
            <a:r>
              <a:rPr sz="2400" b="0">
                <a:solidFill>
                  <a:srgbClr val="314B46"/>
                </a:solidFill>
                <a:latin typeface="Microsoft JhengHei"/>
                <a:ea typeface="Microsoft JhengHei"/>
                <a:cs typeface="Microsoft JhengHei"/>
              </a:rPr>
              <a:t>教學假設</a:t>
            </a:r>
          </a:p>
        </p:txBody>
      </p:sp>
      <p:sp>
        <p:nvSpPr>
          <p:cNvPr id="7" name="body">
            <a:extLst xmlns:a="http://schemas.openxmlformats.org/drawingml/2006/main">
              <a:ext uri="{FF2B5EF4-FFF2-40B4-BE49-F238E27FC236}">
                <a16:creationId xmlns:a16="http://schemas.microsoft.com/office/drawing/2014/main" id="{F145AA52-3C4F-47E5-B8F9-285218D04129}"/>
              </a:ext>
            </a:extLst>
          </p:cNvPr>
          <p:cNvSpPr>
            <a:spLocks xmlns:a="http://schemas.openxmlformats.org/drawingml/2006/main" noGrp="1"/>
          </p:cNvSpPr>
          <p:nvPr/>
        </p:nvSpPr>
        <p:spPr>
          <a:xfrm xmlns:a="http://schemas.openxmlformats.org/drawingml/2006/main">
            <a:off x="666750" y="401955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67364"/>
                </a:solidFill>
                <a:latin typeface="Microsoft JhengHei"/>
                <a:ea typeface="Microsoft JhengHei"/>
                <a:cs typeface="Microsoft JhengHei"/>
              </a:defRPr>
            </a:pPr>
            <a:r>
              <a:rPr sz="2475" b="1">
                <a:solidFill>
                  <a:srgbClr val="167364"/>
                </a:solidFill>
                <a:latin typeface="Microsoft JhengHei"/>
                <a:ea typeface="Microsoft JhengHei"/>
                <a:cs typeface="Microsoft JhengHei"/>
              </a:rPr>
              <a:t>學習</a:t>
            </a:r>
          </a:p>
        </p:txBody>
      </p:sp>
      <p:sp>
        <p:nvSpPr>
          <p:cNvPr id="8" name="body">
            <a:extLst xmlns:a="http://schemas.openxmlformats.org/drawingml/2006/main">
              <a:ext uri="{FF2B5EF4-FFF2-40B4-BE49-F238E27FC236}">
                <a16:creationId xmlns:a16="http://schemas.microsoft.com/office/drawing/2014/main" id="{4AA8D21F-07C8-4875-82B0-1A921EAB6D1F}"/>
              </a:ext>
            </a:extLst>
          </p:cNvPr>
          <p:cNvSpPr>
            <a:spLocks xmlns:a="http://schemas.openxmlformats.org/drawingml/2006/main" noGrp="1"/>
          </p:cNvSpPr>
          <p:nvPr/>
        </p:nvSpPr>
        <p:spPr>
          <a:xfrm xmlns:a="http://schemas.openxmlformats.org/drawingml/2006/main">
            <a:off x="4410075" y="401955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用有成交價的歷史資料找規律</a:t>
            </a:r>
          </a:p>
        </p:txBody>
      </p:sp>
      <p:sp>
        <p:nvSpPr>
          <p:cNvPr id="9" name="body">
            <a:extLst xmlns:a="http://schemas.openxmlformats.org/drawingml/2006/main">
              <a:ext uri="{FF2B5EF4-FFF2-40B4-BE49-F238E27FC236}">
                <a16:creationId xmlns:a16="http://schemas.microsoft.com/office/drawing/2014/main" id="{D02C4C66-5C1A-49F4-8BF1-90DE5C32CE50}"/>
              </a:ext>
            </a:extLst>
          </p:cNvPr>
          <p:cNvSpPr>
            <a:spLocks xmlns:a="http://schemas.openxmlformats.org/drawingml/2006/main" noGrp="1"/>
          </p:cNvSpPr>
          <p:nvPr/>
        </p:nvSpPr>
        <p:spPr>
          <a:xfrm xmlns:a="http://schemas.openxmlformats.org/drawingml/2006/main">
            <a:off x="666750" y="499110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67364"/>
                </a:solidFill>
                <a:latin typeface="Microsoft JhengHei"/>
                <a:ea typeface="Microsoft JhengHei"/>
                <a:cs typeface="Microsoft JhengHei"/>
              </a:defRPr>
            </a:pPr>
            <a:r>
              <a:rPr sz="2475" b="1">
                <a:solidFill>
                  <a:srgbClr val="167364"/>
                </a:solidFill>
                <a:latin typeface="Microsoft JhengHei"/>
                <a:ea typeface="Microsoft JhengHei"/>
                <a:cs typeface="Microsoft JhengHei"/>
              </a:rPr>
              <a:t>推論</a:t>
            </a:r>
          </a:p>
        </p:txBody>
      </p:sp>
      <p:sp>
        <p:nvSpPr>
          <p:cNvPr id="10" name="body">
            <a:extLst xmlns:a="http://schemas.openxmlformats.org/drawingml/2006/main">
              <a:ext uri="{FF2B5EF4-FFF2-40B4-BE49-F238E27FC236}">
                <a16:creationId xmlns:a16="http://schemas.microsoft.com/office/drawing/2014/main" id="{F369F54C-011D-4965-8FB6-26AF2DE92507}"/>
              </a:ext>
            </a:extLst>
          </p:cNvPr>
          <p:cNvSpPr>
            <a:spLocks xmlns:a="http://schemas.openxmlformats.org/drawingml/2006/main" noGrp="1"/>
          </p:cNvSpPr>
          <p:nvPr/>
        </p:nvSpPr>
        <p:spPr>
          <a:xfrm xmlns:a="http://schemas.openxmlformats.org/drawingml/2006/main">
            <a:off x="4410075" y="499110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把已學規律用在尚未知道價格的交易</a:t>
            </a:r>
          </a:p>
        </p:txBody>
      </p:sp>
    </p:spTree>
    <p:extLst>
      <p:ext uri="{BB962C8B-B14F-4D97-AF65-F5344CB8AC3E}">
        <p14:creationId xmlns:p14="http://schemas.microsoft.com/office/powerpoint/2010/main" val="1539200580"/>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B60836B-39E2-4B90-A9E0-A2A066A48A60}"/>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平均絕對誤差</a:t>
            </a:r>
          </a:p>
        </p:txBody>
      </p:sp>
      <p:sp>
        <p:nvSpPr>
          <p:cNvPr id="2" name="body">
            <a:extLst xmlns:a="http://schemas.openxmlformats.org/drawingml/2006/main">
              <a:ext uri="{FF2B5EF4-FFF2-40B4-BE49-F238E27FC236}">
                <a16:creationId xmlns:a16="http://schemas.microsoft.com/office/drawing/2014/main" id="{4814F177-8AB3-4515-B50B-EAD5825F121E}"/>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03</a:t>
            </a:r>
          </a:p>
        </p:txBody>
      </p:sp>
      <p:sp>
        <p:nvSpPr>
          <p:cNvPr id="3" name="body">
            <a:extLst xmlns:a="http://schemas.openxmlformats.org/drawingml/2006/main">
              <a:ext uri="{FF2B5EF4-FFF2-40B4-BE49-F238E27FC236}">
                <a16:creationId xmlns:a16="http://schemas.microsoft.com/office/drawing/2014/main" id="{260C6903-D962-4250-ABD1-F14EC5A7B03E}"/>
              </a:ext>
            </a:extLst>
          </p:cNvPr>
          <p:cNvSpPr>
            <a:spLocks xmlns:a="http://schemas.openxmlformats.org/drawingml/2006/main" noGrp="1"/>
          </p:cNvSpPr>
          <p:nvPr/>
        </p:nvSpPr>
        <p:spPr>
          <a:xfrm xmlns:a="http://schemas.openxmlformats.org/drawingml/2006/main">
            <a:off x="666750" y="1428750"/>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67364"/>
                </a:solidFill>
                <a:latin typeface="Microsoft JhengHei"/>
                <a:ea typeface="Microsoft JhengHei"/>
                <a:cs typeface="Microsoft JhengHei"/>
              </a:defRPr>
            </a:pPr>
            <a:r>
              <a:rPr sz="2775" b="1">
                <a:solidFill>
                  <a:srgbClr val="167364"/>
                </a:solidFill>
                <a:latin typeface="Microsoft JhengHei"/>
                <a:ea typeface="Microsoft JhengHei"/>
                <a:cs typeface="Microsoft JhengHei"/>
              </a:rPr>
              <a:t>MAE = 每筆「差多少錢」的平均</a:t>
            </a:r>
          </a:p>
        </p:txBody>
      </p:sp>
      <p:graphicFrame>
        <p:nvGraphicFramePr>
          <p:cNvPr id="9" name=""/>
          <p:cNvGraphicFramePr/>
          <p:nvPr/>
        </p:nvGraphicFramePr>
        <p:xfrm>
          <a:off xmlns:a="http://schemas.openxmlformats.org/drawingml/2006/main" x="666750" y="2466975"/>
          <a:ext xmlns:a="http://schemas.openxmlformats.org/drawingml/2006/main" cx="10839450" cy="2457450"/>
        </p:xfrm>
        <a:graphic xmlns:a="http://schemas.openxmlformats.org/drawingml/2006/main">
          <a:graphicData uri="http://schemas.openxmlformats.org/drawingml/2006/table">
            <a:tbl>
              <a:tblPr/>
              <a:tblGrid>
                <a:gridCol w="2286000"/>
                <a:gridCol w="2847975"/>
                <a:gridCol w="2847975"/>
                <a:gridCol w="2857500"/>
              </a:tblGrid>
              <a:tr h="819150">
                <a:tc>
                  <a:txBody>
                    <a:bodyPr lIns="152400" tIns="85725" rIns="114300" bIns="85725">
                      <a:noAutofit/>
                    </a:bodyPr>
                    <a:lstStyle/>
                    <a:p>
                      <a:r>
                        <a:rPr sz="2175" b="1">
                          <a:solidFill>
                            <a:srgbClr val="FFFFFF"/>
                          </a:solidFill>
                          <a:latin typeface="Microsoft JhengHei"/>
                          <a:ea typeface="Microsoft JhengHei"/>
                          <a:cs typeface="Microsoft JhengHei"/>
                        </a:rPr>
                        <a:t>教學假設</a:t>
                      </a:r>
                    </a:p>
                  </a:txBody>
                  <a:tcPr marL="91440" marR="91440" marT="45720" marB="45720" anchor="ctr">
                    <a:solidFill>
                      <a:srgbClr val="173C38"/>
                    </a:solidFill>
                  </a:tcPr>
                </a:tc>
                <a:tc>
                  <a:txBody>
                    <a:bodyPr lIns="152400" tIns="85725" rIns="114300" bIns="85725">
                      <a:noAutofit/>
                    </a:bodyPr>
                    <a:lstStyle/>
                    <a:p>
                      <a:r>
                        <a:rPr sz="2175" b="1">
                          <a:solidFill>
                            <a:srgbClr val="FFFFFF"/>
                          </a:solidFill>
                          <a:latin typeface="Microsoft JhengHei"/>
                          <a:ea typeface="Microsoft JhengHei"/>
                          <a:cs typeface="Microsoft JhengHei"/>
                        </a:rPr>
                        <a:t>真實總價</a:t>
                      </a:r>
                    </a:p>
                  </a:txBody>
                  <a:tcPr marL="91440" marR="91440" marT="45720" marB="45720" anchor="ctr">
                    <a:solidFill>
                      <a:srgbClr val="173C38"/>
                    </a:solidFill>
                  </a:tcPr>
                </a:tc>
                <a:tc>
                  <a:txBody>
                    <a:bodyPr lIns="152400" tIns="85725" rIns="114300" bIns="85725">
                      <a:noAutofit/>
                    </a:bodyPr>
                    <a:lstStyle/>
                    <a:p>
                      <a:r>
                        <a:rPr sz="2175" b="1">
                          <a:solidFill>
                            <a:srgbClr val="FFFFFF"/>
                          </a:solidFill>
                          <a:latin typeface="Microsoft JhengHei"/>
                          <a:ea typeface="Microsoft JhengHei"/>
                          <a:cs typeface="Microsoft JhengHei"/>
                        </a:rPr>
                        <a:t>預測總價</a:t>
                      </a:r>
                    </a:p>
                  </a:txBody>
                  <a:tcPr marL="91440" marR="91440" marT="45720" marB="45720" anchor="ctr">
                    <a:solidFill>
                      <a:srgbClr val="173C38"/>
                    </a:solidFill>
                  </a:tcPr>
                </a:tc>
                <a:tc>
                  <a:txBody>
                    <a:bodyPr lIns="152400" tIns="85725" rIns="114300" bIns="85725">
                      <a:noAutofit/>
                    </a:bodyPr>
                    <a:lstStyle/>
                    <a:p>
                      <a:r>
                        <a:rPr sz="2175" b="1">
                          <a:solidFill>
                            <a:srgbClr val="FFFFFF"/>
                          </a:solidFill>
                          <a:latin typeface="Microsoft JhengHei"/>
                          <a:ea typeface="Microsoft JhengHei"/>
                          <a:cs typeface="Microsoft JhengHei"/>
                        </a:rPr>
                        <a:t>差額絕對值</a:t>
                      </a:r>
                    </a:p>
                  </a:txBody>
                  <a:tcPr marL="91440" marR="91440" marT="45720" marB="45720" anchor="ctr">
                    <a:solidFill>
                      <a:srgbClr val="173C38"/>
                    </a:solidFill>
                  </a:tcPr>
                </a:tc>
              </a:tr>
              <a:tr h="819150">
                <a:tc>
                  <a:txBody>
                    <a:bodyPr lIns="152400" tIns="85725" rIns="114300" bIns="85725">
                      <a:noAutofit/>
                    </a:bodyPr>
                    <a:lstStyle/>
                    <a:p>
                      <a:r>
                        <a:rPr sz="2175" b="0">
                          <a:solidFill>
                            <a:srgbClr val="314B46"/>
                          </a:solidFill>
                          <a:latin typeface="Microsoft JhengHei"/>
                          <a:ea typeface="Microsoft JhengHei"/>
                          <a:cs typeface="Microsoft JhengHei"/>
                        </a:rPr>
                        <a:t>交易 A</a:t>
                      </a:r>
                    </a:p>
                  </a:txBody>
                  <a:tcPr marL="91440" marR="91440" marT="45720" marB="45720" anchor="ctr">
                    <a:solidFill>
                      <a:srgbClr val="FFFFFF"/>
                    </a:solidFill>
                  </a:tcPr>
                </a:tc>
                <a:tc>
                  <a:txBody>
                    <a:bodyPr lIns="152400" tIns="85725" rIns="114300" bIns="85725">
                      <a:noAutofit/>
                    </a:bodyPr>
                    <a:lstStyle/>
                    <a:p>
                      <a:r>
                        <a:rPr sz="2175" b="0">
                          <a:solidFill>
                            <a:srgbClr val="314B46"/>
                          </a:solidFill>
                          <a:latin typeface="Microsoft JhengHei"/>
                          <a:ea typeface="Microsoft JhengHei"/>
                          <a:cs typeface="Microsoft JhengHei"/>
                        </a:rPr>
                        <a:t>1,000 萬</a:t>
                      </a:r>
                    </a:p>
                  </a:txBody>
                  <a:tcPr marL="91440" marR="91440" marT="45720" marB="45720" anchor="ctr">
                    <a:solidFill>
                      <a:srgbClr val="FFFFFF"/>
                    </a:solidFill>
                  </a:tcPr>
                </a:tc>
                <a:tc>
                  <a:txBody>
                    <a:bodyPr lIns="152400" tIns="85725" rIns="114300" bIns="85725">
                      <a:noAutofit/>
                    </a:bodyPr>
                    <a:lstStyle/>
                    <a:p>
                      <a:r>
                        <a:rPr sz="2175" b="0">
                          <a:solidFill>
                            <a:srgbClr val="314B46"/>
                          </a:solidFill>
                          <a:latin typeface="Microsoft JhengHei"/>
                          <a:ea typeface="Microsoft JhengHei"/>
                          <a:cs typeface="Microsoft JhengHei"/>
                        </a:rPr>
                        <a:t>1,100 萬</a:t>
                      </a:r>
                    </a:p>
                  </a:txBody>
                  <a:tcPr marL="91440" marR="91440" marT="45720" marB="45720" anchor="ctr">
                    <a:solidFill>
                      <a:srgbClr val="FFFFFF"/>
                    </a:solidFill>
                  </a:tcPr>
                </a:tc>
                <a:tc>
                  <a:txBody>
                    <a:bodyPr lIns="152400" tIns="85725" rIns="114300" bIns="85725">
                      <a:noAutofit/>
                    </a:bodyPr>
                    <a:lstStyle/>
                    <a:p>
                      <a:r>
                        <a:rPr sz="2175" b="0">
                          <a:solidFill>
                            <a:srgbClr val="314B46"/>
                          </a:solidFill>
                          <a:latin typeface="Microsoft JhengHei"/>
                          <a:ea typeface="Microsoft JhengHei"/>
                          <a:cs typeface="Microsoft JhengHei"/>
                        </a:rPr>
                        <a:t>100 萬</a:t>
                      </a:r>
                    </a:p>
                  </a:txBody>
                  <a:tcPr marL="91440" marR="91440" marT="45720" marB="45720" anchor="ctr">
                    <a:solidFill>
                      <a:srgbClr val="FFFFFF"/>
                    </a:solidFill>
                  </a:tcPr>
                </a:tc>
              </a:tr>
              <a:tr h="819150">
                <a:tc>
                  <a:txBody>
                    <a:bodyPr lIns="152400" tIns="85725" rIns="114300" bIns="85725">
                      <a:noAutofit/>
                    </a:bodyPr>
                    <a:lstStyle/>
                    <a:p>
                      <a:r>
                        <a:rPr sz="2175" b="0">
                          <a:solidFill>
                            <a:srgbClr val="314B46"/>
                          </a:solidFill>
                          <a:latin typeface="Microsoft JhengHei"/>
                          <a:ea typeface="Microsoft JhengHei"/>
                          <a:cs typeface="Microsoft JhengHei"/>
                        </a:rPr>
                        <a:t>交易 B</a:t>
                      </a:r>
                    </a:p>
                  </a:txBody>
                  <a:tcPr marL="91440" marR="91440" marT="45720" marB="45720" anchor="ctr">
                    <a:solidFill>
                      <a:srgbClr val="E4EDE6"/>
                    </a:solidFill>
                  </a:tcPr>
                </a:tc>
                <a:tc>
                  <a:txBody>
                    <a:bodyPr lIns="152400" tIns="85725" rIns="114300" bIns="85725">
                      <a:noAutofit/>
                    </a:bodyPr>
                    <a:lstStyle/>
                    <a:p>
                      <a:r>
                        <a:rPr sz="2175" b="0">
                          <a:solidFill>
                            <a:srgbClr val="314B46"/>
                          </a:solidFill>
                          <a:latin typeface="Microsoft JhengHei"/>
                          <a:ea typeface="Microsoft JhengHei"/>
                          <a:cs typeface="Microsoft JhengHei"/>
                        </a:rPr>
                        <a:t>1,000 萬</a:t>
                      </a:r>
                    </a:p>
                  </a:txBody>
                  <a:tcPr marL="91440" marR="91440" marT="45720" marB="45720" anchor="ctr">
                    <a:solidFill>
                      <a:srgbClr val="E4EDE6"/>
                    </a:solidFill>
                  </a:tcPr>
                </a:tc>
                <a:tc>
                  <a:txBody>
                    <a:bodyPr lIns="152400" tIns="85725" rIns="114300" bIns="85725">
                      <a:noAutofit/>
                    </a:bodyPr>
                    <a:lstStyle/>
                    <a:p>
                      <a:r>
                        <a:rPr sz="2175" b="0">
                          <a:solidFill>
                            <a:srgbClr val="314B46"/>
                          </a:solidFill>
                          <a:latin typeface="Microsoft JhengHei"/>
                          <a:ea typeface="Microsoft JhengHei"/>
                          <a:cs typeface="Microsoft JhengHei"/>
                        </a:rPr>
                        <a:t>950 萬</a:t>
                      </a:r>
                    </a:p>
                  </a:txBody>
                  <a:tcPr marL="91440" marR="91440" marT="45720" marB="45720" anchor="ctr">
                    <a:solidFill>
                      <a:srgbClr val="E4EDE6"/>
                    </a:solidFill>
                  </a:tcPr>
                </a:tc>
                <a:tc>
                  <a:txBody>
                    <a:bodyPr lIns="152400" tIns="85725" rIns="114300" bIns="85725">
                      <a:noAutofit/>
                    </a:bodyPr>
                    <a:lstStyle/>
                    <a:p>
                      <a:r>
                        <a:rPr sz="2175" b="0">
                          <a:solidFill>
                            <a:srgbClr val="314B46"/>
                          </a:solidFill>
                          <a:latin typeface="Microsoft JhengHei"/>
                          <a:ea typeface="Microsoft JhengHei"/>
                          <a:cs typeface="Microsoft JhengHei"/>
                        </a:rPr>
                        <a:t>50 萬</a:t>
                      </a:r>
                    </a:p>
                  </a:txBody>
                  <a:tcPr marL="91440" marR="91440" marT="45720" marB="45720" anchor="ctr">
                    <a:solidFill>
                      <a:srgbClr val="E4EDE6"/>
                    </a:solidFill>
                  </a:tcPr>
                </a:tc>
              </a:tr>
            </a:tbl>
          </a:graphicData>
        </a:graphic>
      </p:graphicFrame>
      <p:sp>
        <p:nvSpPr>
          <p:cNvPr id="5" name="body">
            <a:extLst xmlns:a="http://schemas.openxmlformats.org/drawingml/2006/main">
              <a:ext uri="{FF2B5EF4-FFF2-40B4-BE49-F238E27FC236}">
                <a16:creationId xmlns:a16="http://schemas.microsoft.com/office/drawing/2014/main" id="{47B70BF8-CD08-4A12-8386-784B3CA8EDCA}"/>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67364"/>
                </a:solidFill>
                <a:latin typeface="Microsoft JhengHei"/>
                <a:ea typeface="Microsoft JhengHei"/>
                <a:cs typeface="Microsoft JhengHei"/>
              </a:defRPr>
            </a:pPr>
            <a:r>
              <a:rPr sz="2325" b="1">
                <a:solidFill>
                  <a:srgbClr val="167364"/>
                </a:solidFill>
                <a:latin typeface="Microsoft JhengHei"/>
                <a:ea typeface="Microsoft JhengHei"/>
                <a:cs typeface="Microsoft JhengHei"/>
              </a:rPr>
              <a:t>（100 萬 + 50 萬）÷ 2 = 75 萬元，越低越好</a:t>
            </a:r>
          </a:p>
        </p:txBody>
      </p:sp>
    </p:spTree>
    <p:extLst>
      <p:ext uri="{BB962C8B-B14F-4D97-AF65-F5344CB8AC3E}">
        <p14:creationId xmlns:p14="http://schemas.microsoft.com/office/powerpoint/2010/main" val="1475598790"/>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86047CF-0500-4AAF-99FB-0234BFA4DFE7}"/>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四份資料的用途</a:t>
            </a:r>
          </a:p>
        </p:txBody>
      </p:sp>
      <p:sp>
        <p:nvSpPr>
          <p:cNvPr id="2" name="body">
            <a:extLst xmlns:a="http://schemas.openxmlformats.org/drawingml/2006/main">
              <a:ext uri="{FF2B5EF4-FFF2-40B4-BE49-F238E27FC236}">
                <a16:creationId xmlns:a16="http://schemas.microsoft.com/office/drawing/2014/main" id="{7321EC2A-46D8-4917-9C06-BCB77CD19D72}"/>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04</a:t>
            </a:r>
          </a:p>
        </p:txBody>
      </p:sp>
      <p:graphicFrame>
        <p:nvGraphicFramePr>
          <p:cNvPr id="7" name=""/>
          <p:cNvGraphicFramePr/>
          <p:nvPr/>
        </p:nvGraphicFramePr>
        <p:xfrm>
          <a:off xmlns:a="http://schemas.openxmlformats.org/drawingml/2006/main" x="666750" y="1657350"/>
          <a:ext xmlns:a="http://schemas.openxmlformats.org/drawingml/2006/main" cx="10839450" cy="3667125"/>
        </p:xfrm>
        <a:graphic xmlns:a="http://schemas.openxmlformats.org/drawingml/2006/main">
          <a:graphicData uri="http://schemas.openxmlformats.org/drawingml/2006/table">
            <a:tbl>
              <a:tblPr/>
              <a:tblGrid>
                <a:gridCol w="2047875"/>
                <a:gridCol w="1952625"/>
                <a:gridCol w="2076450"/>
                <a:gridCol w="4762500"/>
              </a:tblGrid>
              <a:tr h="733425">
                <a:tc>
                  <a:txBody>
                    <a:bodyPr lIns="152400" tIns="85725" rIns="114300" bIns="85725">
                      <a:noAutofit/>
                    </a:bodyPr>
                    <a:lstStyle/>
                    <a:p>
                      <a:r>
                        <a:rPr sz="2025" b="1">
                          <a:solidFill>
                            <a:srgbClr val="FFFFFF"/>
                          </a:solidFill>
                          <a:latin typeface="Microsoft JhengHei"/>
                          <a:ea typeface="Microsoft JhengHei"/>
                          <a:cs typeface="Microsoft JhengHei"/>
                        </a:rPr>
                        <a:t>檔案</a:t>
                      </a:r>
                    </a:p>
                  </a:txBody>
                  <a:tcPr marL="91440" marR="91440" marT="45720" marB="45720" anchor="ctr">
                    <a:solidFill>
                      <a:srgbClr val="173C38"/>
                    </a:solidFill>
                  </a:tcPr>
                </a:tc>
                <a:tc>
                  <a:txBody>
                    <a:bodyPr lIns="152400" tIns="85725" rIns="114300" bIns="85725">
                      <a:noAutofit/>
                    </a:bodyPr>
                    <a:lstStyle/>
                    <a:p>
                      <a:r>
                        <a:rPr sz="2025" b="1">
                          <a:solidFill>
                            <a:srgbClr val="FFFFFF"/>
                          </a:solidFill>
                          <a:latin typeface="Microsoft JhengHei"/>
                          <a:ea typeface="Microsoft JhengHei"/>
                          <a:cs typeface="Microsoft JhengHei"/>
                        </a:rPr>
                        <a:t>原始列數</a:t>
                      </a:r>
                    </a:p>
                  </a:txBody>
                  <a:tcPr marL="91440" marR="91440" marT="45720" marB="45720" anchor="ctr">
                    <a:solidFill>
                      <a:srgbClr val="173C38"/>
                    </a:solidFill>
                  </a:tcPr>
                </a:tc>
                <a:tc>
                  <a:txBody>
                    <a:bodyPr lIns="152400" tIns="85725" rIns="114300" bIns="85725">
                      <a:noAutofit/>
                    </a:bodyPr>
                    <a:lstStyle/>
                    <a:p>
                      <a:r>
                        <a:rPr sz="2025" b="1">
                          <a:solidFill>
                            <a:srgbClr val="FFFFFF"/>
                          </a:solidFill>
                          <a:latin typeface="Microsoft JhengHei"/>
                          <a:ea typeface="Microsoft JhengHei"/>
                          <a:cs typeface="Microsoft JhengHei"/>
                        </a:rPr>
                        <a:t>已知總價</a:t>
                      </a:r>
                    </a:p>
                  </a:txBody>
                  <a:tcPr marL="91440" marR="91440" marT="45720" marB="45720" anchor="ctr">
                    <a:solidFill>
                      <a:srgbClr val="173C38"/>
                    </a:solidFill>
                  </a:tcPr>
                </a:tc>
                <a:tc>
                  <a:txBody>
                    <a:bodyPr lIns="152400" tIns="85725" rIns="114300" bIns="85725">
                      <a:noAutofit/>
                    </a:bodyPr>
                    <a:lstStyle/>
                    <a:p>
                      <a:r>
                        <a:rPr sz="2025" b="1">
                          <a:solidFill>
                            <a:srgbClr val="FFFFFF"/>
                          </a:solidFill>
                          <a:latin typeface="Microsoft JhengHei"/>
                          <a:ea typeface="Microsoft JhengHei"/>
                          <a:cs typeface="Microsoft JhengHei"/>
                        </a:rPr>
                        <a:t>實際用途</a:t>
                      </a:r>
                    </a:p>
                  </a:txBody>
                  <a:tcPr marL="91440" marR="91440" marT="45720" marB="45720" anchor="ctr">
                    <a:solidFill>
                      <a:srgbClr val="173C38"/>
                    </a:solidFill>
                  </a:tcPr>
                </a:tc>
              </a:tr>
              <a:tr h="733425">
                <a:tc>
                  <a:txBody>
                    <a:bodyPr lIns="152400" tIns="85725" rIns="114300" bIns="85725">
                      <a:noAutofit/>
                    </a:bodyPr>
                    <a:lstStyle/>
                    <a:p>
                      <a:r>
                        <a:rPr sz="2025" b="0">
                          <a:solidFill>
                            <a:srgbClr val="314B46"/>
                          </a:solidFill>
                          <a:latin typeface="Microsoft JhengHei"/>
                          <a:ea typeface="Microsoft JhengHei"/>
                          <a:cs typeface="Microsoft JhengHei"/>
                        </a:rPr>
                        <a:t>train</a:t>
                      </a:r>
                    </a:p>
                  </a:txBody>
                  <a:tcPr marL="91440" marR="91440" marT="45720" marB="45720" anchor="ctr">
                    <a:solidFill>
                      <a:srgbClr val="FFFFFF"/>
                    </a:solidFill>
                  </a:tcPr>
                </a:tc>
                <a:tc>
                  <a:txBody>
                    <a:bodyPr lIns="152400" tIns="85725" rIns="114300" bIns="85725">
                      <a:noAutofit/>
                    </a:bodyPr>
                    <a:lstStyle/>
                    <a:p>
                      <a:r>
                        <a:rPr sz="2025" b="0">
                          <a:solidFill>
                            <a:srgbClr val="314B46"/>
                          </a:solidFill>
                          <a:latin typeface="Microsoft JhengHei"/>
                          <a:ea typeface="Microsoft JhengHei"/>
                          <a:cs typeface="Microsoft JhengHei"/>
                        </a:rPr>
                        <a:t>455,787</a:t>
                      </a:r>
                    </a:p>
                  </a:txBody>
                  <a:tcPr marL="91440" marR="91440" marT="45720" marB="45720" anchor="ctr">
                    <a:solidFill>
                      <a:srgbClr val="FFFFFF"/>
                    </a:solidFill>
                  </a:tcPr>
                </a:tc>
                <a:tc>
                  <a:txBody>
                    <a:bodyPr lIns="152400" tIns="85725" rIns="114300" bIns="85725">
                      <a:noAutofit/>
                    </a:bodyPr>
                    <a:lstStyle/>
                    <a:p>
                      <a:r>
                        <a:rPr sz="2025" b="0">
                          <a:solidFill>
                            <a:srgbClr val="314B46"/>
                          </a:solidFill>
                          <a:latin typeface="Microsoft JhengHei"/>
                          <a:ea typeface="Microsoft JhengHei"/>
                          <a:cs typeface="Microsoft JhengHei"/>
                        </a:rPr>
                        <a:t>有</a:t>
                      </a:r>
                    </a:p>
                  </a:txBody>
                  <a:tcPr marL="91440" marR="91440" marT="45720" marB="45720" anchor="ctr">
                    <a:solidFill>
                      <a:srgbClr val="FFFFFF"/>
                    </a:solidFill>
                  </a:tcPr>
                </a:tc>
                <a:tc>
                  <a:txBody>
                    <a:bodyPr lIns="152400" tIns="85725" rIns="114300" bIns="85725">
                      <a:noAutofit/>
                    </a:bodyPr>
                    <a:lstStyle/>
                    <a:p>
                      <a:r>
                        <a:rPr sz="2025" b="0">
                          <a:solidFill>
                            <a:srgbClr val="314B46"/>
                          </a:solidFill>
                          <a:latin typeface="Microsoft JhengHei"/>
                          <a:ea typeface="Microsoft JhengHei"/>
                          <a:cs typeface="Microsoft JhengHei"/>
                        </a:rPr>
                        <a:t>學習與歷史回測</a:t>
                      </a:r>
                    </a:p>
                  </a:txBody>
                  <a:tcPr marL="91440" marR="91440" marT="45720" marB="45720" anchor="ctr">
                    <a:solidFill>
                      <a:srgbClr val="FFFFFF"/>
                    </a:solidFill>
                  </a:tcPr>
                </a:tc>
              </a:tr>
              <a:tr h="733425">
                <a:tc>
                  <a:txBody>
                    <a:bodyPr lIns="152400" tIns="85725" rIns="114300" bIns="85725">
                      <a:noAutofit/>
                    </a:bodyPr>
                    <a:lstStyle/>
                    <a:p>
                      <a:r>
                        <a:rPr sz="2025" b="0">
                          <a:solidFill>
                            <a:srgbClr val="314B46"/>
                          </a:solidFill>
                          <a:latin typeface="Microsoft JhengHei"/>
                          <a:ea typeface="Microsoft JhengHei"/>
                          <a:cs typeface="Microsoft JhengHei"/>
                        </a:rPr>
                        <a:t>valid</a:t>
                      </a:r>
                    </a:p>
                  </a:txBody>
                  <a:tcPr marL="91440" marR="91440" marT="45720" marB="45720" anchor="ctr">
                    <a:solidFill>
                      <a:srgbClr val="E4EDE6"/>
                    </a:solidFill>
                  </a:tcPr>
                </a:tc>
                <a:tc>
                  <a:txBody>
                    <a:bodyPr lIns="152400" tIns="85725" rIns="114300" bIns="85725">
                      <a:noAutofit/>
                    </a:bodyPr>
                    <a:lstStyle/>
                    <a:p>
                      <a:r>
                        <a:rPr sz="2025" b="0">
                          <a:solidFill>
                            <a:srgbClr val="314B46"/>
                          </a:solidFill>
                          <a:latin typeface="Microsoft JhengHei"/>
                          <a:ea typeface="Microsoft JhengHei"/>
                          <a:cs typeface="Microsoft JhengHei"/>
                        </a:rPr>
                        <a:t>11,994</a:t>
                      </a:r>
                    </a:p>
                  </a:txBody>
                  <a:tcPr marL="91440" marR="91440" marT="45720" marB="45720" anchor="ctr">
                    <a:solidFill>
                      <a:srgbClr val="E4EDE6"/>
                    </a:solidFill>
                  </a:tcPr>
                </a:tc>
                <a:tc>
                  <a:txBody>
                    <a:bodyPr lIns="152400" tIns="85725" rIns="114300" bIns="85725">
                      <a:noAutofit/>
                    </a:bodyPr>
                    <a:lstStyle/>
                    <a:p>
                      <a:r>
                        <a:rPr sz="2025" b="0">
                          <a:solidFill>
                            <a:srgbClr val="314B46"/>
                          </a:solidFill>
                          <a:latin typeface="Microsoft JhengHei"/>
                          <a:ea typeface="Microsoft JhengHei"/>
                          <a:cs typeface="Microsoft JhengHei"/>
                        </a:rPr>
                        <a:t>有</a:t>
                      </a:r>
                    </a:p>
                  </a:txBody>
                  <a:tcPr marL="91440" marR="91440" marT="45720" marB="45720" anchor="ctr">
                    <a:solidFill>
                      <a:srgbClr val="E4EDE6"/>
                    </a:solidFill>
                  </a:tcPr>
                </a:tc>
                <a:tc>
                  <a:txBody>
                    <a:bodyPr lIns="152400" tIns="85725" rIns="114300" bIns="85725">
                      <a:noAutofit/>
                    </a:bodyPr>
                    <a:lstStyle/>
                    <a:p>
                      <a:r>
                        <a:rPr sz="2025" b="0">
                          <a:solidFill>
                            <a:srgbClr val="314B46"/>
                          </a:solidFill>
                          <a:latin typeface="Microsoft JhengHei"/>
                          <a:ea typeface="Microsoft JhengHei"/>
                          <a:cs typeface="Microsoft JhengHei"/>
                        </a:rPr>
                        <a:t>最終全量訓練時併入</a:t>
                      </a:r>
                    </a:p>
                  </a:txBody>
                  <a:tcPr marL="91440" marR="91440" marT="45720" marB="45720" anchor="ctr">
                    <a:solidFill>
                      <a:srgbClr val="E4EDE6"/>
                    </a:solidFill>
                  </a:tcPr>
                </a:tc>
              </a:tr>
              <a:tr h="733425">
                <a:tc>
                  <a:txBody>
                    <a:bodyPr lIns="152400" tIns="85725" rIns="114300" bIns="85725">
                      <a:noAutofit/>
                    </a:bodyPr>
                    <a:lstStyle/>
                    <a:p>
                      <a:r>
                        <a:rPr sz="2025" b="0">
                          <a:solidFill>
                            <a:srgbClr val="314B46"/>
                          </a:solidFill>
                          <a:latin typeface="Microsoft JhengHei"/>
                          <a:ea typeface="Microsoft JhengHei"/>
                          <a:cs typeface="Microsoft JhengHei"/>
                        </a:rPr>
                        <a:t>test</a:t>
                      </a:r>
                    </a:p>
                  </a:txBody>
                  <a:tcPr marL="91440" marR="91440" marT="45720" marB="45720" anchor="ctr">
                    <a:solidFill>
                      <a:srgbClr val="FFFFFF"/>
                    </a:solidFill>
                  </a:tcPr>
                </a:tc>
                <a:tc>
                  <a:txBody>
                    <a:bodyPr lIns="152400" tIns="85725" rIns="114300" bIns="85725">
                      <a:noAutofit/>
                    </a:bodyPr>
                    <a:lstStyle/>
                    <a:p>
                      <a:r>
                        <a:rPr sz="2025" b="0">
                          <a:solidFill>
                            <a:srgbClr val="314B46"/>
                          </a:solidFill>
                          <a:latin typeface="Microsoft JhengHei"/>
                          <a:ea typeface="Microsoft JhengHei"/>
                          <a:cs typeface="Microsoft JhengHei"/>
                        </a:rPr>
                        <a:t>47,073</a:t>
                      </a:r>
                    </a:p>
                  </a:txBody>
                  <a:tcPr marL="91440" marR="91440" marT="45720" marB="45720" anchor="ctr">
                    <a:solidFill>
                      <a:srgbClr val="FFFFFF"/>
                    </a:solidFill>
                  </a:tcPr>
                </a:tc>
                <a:tc>
                  <a:txBody>
                    <a:bodyPr lIns="152400" tIns="85725" rIns="114300" bIns="85725">
                      <a:noAutofit/>
                    </a:bodyPr>
                    <a:lstStyle/>
                    <a:p>
                      <a:r>
                        <a:rPr sz="2025" b="0">
                          <a:solidFill>
                            <a:srgbClr val="314B46"/>
                          </a:solidFill>
                          <a:latin typeface="Microsoft JhengHei"/>
                          <a:ea typeface="Microsoft JhengHei"/>
                          <a:cs typeface="Microsoft JhengHei"/>
                        </a:rPr>
                        <a:t>無</a:t>
                      </a:r>
                    </a:p>
                  </a:txBody>
                  <a:tcPr marL="91440" marR="91440" marT="45720" marB="45720" anchor="ctr">
                    <a:solidFill>
                      <a:srgbClr val="FFFFFF"/>
                    </a:solidFill>
                  </a:tcPr>
                </a:tc>
                <a:tc>
                  <a:txBody>
                    <a:bodyPr lIns="152400" tIns="85725" rIns="114300" bIns="85725">
                      <a:noAutofit/>
                    </a:bodyPr>
                    <a:lstStyle/>
                    <a:p>
                      <a:r>
                        <a:rPr sz="2025" b="0">
                          <a:solidFill>
                            <a:srgbClr val="314B46"/>
                          </a:solidFill>
                          <a:latin typeface="Microsoft JhengHei"/>
                          <a:ea typeface="Microsoft JhengHei"/>
                          <a:cs typeface="Microsoft JhengHei"/>
                        </a:rPr>
                        <a:t>全部產生價格預測</a:t>
                      </a:r>
                    </a:p>
                  </a:txBody>
                  <a:tcPr marL="91440" marR="91440" marT="45720" marB="45720" anchor="ctr">
                    <a:solidFill>
                      <a:srgbClr val="FFFFFF"/>
                    </a:solidFill>
                  </a:tcPr>
                </a:tc>
              </a:tr>
              <a:tr h="733425">
                <a:tc>
                  <a:txBody>
                    <a:bodyPr lIns="152400" tIns="85725" rIns="114300" bIns="85725">
                      <a:noAutofit/>
                    </a:bodyPr>
                    <a:lstStyle/>
                    <a:p>
                      <a:r>
                        <a:rPr sz="2025" b="0">
                          <a:solidFill>
                            <a:srgbClr val="314B46"/>
                          </a:solidFill>
                          <a:latin typeface="Microsoft JhengHei"/>
                          <a:ea typeface="Microsoft JhengHei"/>
                          <a:cs typeface="Microsoft JhengHei"/>
                        </a:rPr>
                        <a:t>sample</a:t>
                      </a:r>
                    </a:p>
                  </a:txBody>
                  <a:tcPr marL="91440" marR="91440" marT="45720" marB="45720" anchor="ctr">
                    <a:solidFill>
                      <a:srgbClr val="E4EDE6"/>
                    </a:solidFill>
                  </a:tcPr>
                </a:tc>
                <a:tc>
                  <a:txBody>
                    <a:bodyPr lIns="152400" tIns="85725" rIns="114300" bIns="85725">
                      <a:noAutofit/>
                    </a:bodyPr>
                    <a:lstStyle/>
                    <a:p>
                      <a:r>
                        <a:rPr sz="2025" b="0">
                          <a:solidFill>
                            <a:srgbClr val="314B46"/>
                          </a:solidFill>
                          <a:latin typeface="Microsoft JhengHei"/>
                          <a:ea typeface="Microsoft JhengHei"/>
                          <a:cs typeface="Microsoft JhengHei"/>
                        </a:rPr>
                        <a:t>47,073</a:t>
                      </a:r>
                    </a:p>
                  </a:txBody>
                  <a:tcPr marL="91440" marR="91440" marT="45720" marB="45720" anchor="ctr">
                    <a:solidFill>
                      <a:srgbClr val="E4EDE6"/>
                    </a:solidFill>
                  </a:tcPr>
                </a:tc>
                <a:tc>
                  <a:txBody>
                    <a:bodyPr lIns="152400" tIns="85725" rIns="114300" bIns="85725">
                      <a:noAutofit/>
                    </a:bodyPr>
                    <a:lstStyle/>
                    <a:p>
                      <a:r>
                        <a:rPr sz="2025" b="0">
                          <a:solidFill>
                            <a:srgbClr val="314B46"/>
                          </a:solidFill>
                          <a:latin typeface="Microsoft JhengHei"/>
                          <a:ea typeface="Microsoft JhengHei"/>
                          <a:cs typeface="Microsoft JhengHei"/>
                        </a:rPr>
                        <a:t>格式示例</a:t>
                      </a:r>
                    </a:p>
                  </a:txBody>
                  <a:tcPr marL="91440" marR="91440" marT="45720" marB="45720" anchor="ctr">
                    <a:solidFill>
                      <a:srgbClr val="E4EDE6"/>
                    </a:solidFill>
                  </a:tcPr>
                </a:tc>
                <a:tc>
                  <a:txBody>
                    <a:bodyPr lIns="152400" tIns="85725" rIns="114300" bIns="85725">
                      <a:noAutofit/>
                    </a:bodyPr>
                    <a:lstStyle/>
                    <a:p>
                      <a:r>
                        <a:rPr sz="2025" b="0">
                          <a:solidFill>
                            <a:srgbClr val="314B46"/>
                          </a:solidFill>
                          <a:latin typeface="Microsoft JhengHei"/>
                          <a:ea typeface="Microsoft JhengHei"/>
                          <a:cs typeface="Microsoft JhengHei"/>
                        </a:rPr>
                        <a:t>提供欄名和編號順序</a:t>
                      </a:r>
                    </a:p>
                  </a:txBody>
                  <a:tcPr marL="91440" marR="91440" marT="45720" marB="45720" anchor="ctr">
                    <a:solidFill>
                      <a:srgbClr val="E4EDE6"/>
                    </a:solidFill>
                  </a:tcPr>
                </a:tc>
              </a:tr>
            </a:tbl>
          </a:graphicData>
        </a:graphic>
      </p:graphicFrame>
      <p:sp>
        <p:nvSpPr>
          <p:cNvPr id="4" name="body">
            <a:extLst xmlns:a="http://schemas.openxmlformats.org/drawingml/2006/main">
              <a:ext uri="{FF2B5EF4-FFF2-40B4-BE49-F238E27FC236}">
                <a16:creationId xmlns:a16="http://schemas.microsoft.com/office/drawing/2014/main" id="{1EC4ED76-8298-4435-93AD-EC9925678479}"/>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67364"/>
                </a:solidFill>
                <a:latin typeface="Microsoft JhengHei"/>
                <a:ea typeface="Microsoft JhengHei"/>
                <a:cs typeface="Microsoft JhengHei"/>
              </a:defRPr>
            </a:pPr>
            <a:r>
              <a:rPr sz="2100" b="0">
                <a:solidFill>
                  <a:srgbClr val="167364"/>
                </a:solidFill>
                <a:latin typeface="Microsoft JhengHei"/>
                <a:ea typeface="Microsoft JhengHei"/>
                <a:cs typeface="Microsoft JhengHei"/>
              </a:rPr>
              <a:t>Kaggle 將 test 約分成 Public 30% 與 Private 70%</a:t>
            </a:r>
          </a:p>
        </p:txBody>
      </p:sp>
    </p:spTree>
    <p:extLst>
      <p:ext uri="{BB962C8B-B14F-4D97-AF65-F5344CB8AC3E}">
        <p14:creationId xmlns:p14="http://schemas.microsoft.com/office/powerpoint/2010/main" val="2146677734"/>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67EEE292-2DA2-469A-94AB-BF49DB1E5691}"/>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完整工作流程</a:t>
            </a:r>
          </a:p>
        </p:txBody>
      </p:sp>
      <p:sp>
        <p:nvSpPr>
          <p:cNvPr id="2" name="body">
            <a:extLst xmlns:a="http://schemas.openxmlformats.org/drawingml/2006/main">
              <a:ext uri="{FF2B5EF4-FFF2-40B4-BE49-F238E27FC236}">
                <a16:creationId xmlns:a16="http://schemas.microsoft.com/office/drawing/2014/main" id="{1495ACE4-5426-46E7-BD60-E416ACB28CE1}"/>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05</a:t>
            </a:r>
          </a:p>
        </p:txBody>
      </p:sp>
      <p:graphicFrame>
        <p:nvGraphicFramePr>
          <p:cNvPr id="7" name=""/>
          <p:cNvGraphicFramePr/>
          <p:nvPr/>
        </p:nvGraphicFramePr>
        <p:xfrm>
          <a:off xmlns:a="http://schemas.openxmlformats.org/drawingml/2006/main" x="666750" y="1685925"/>
          <a:ext xmlns:a="http://schemas.openxmlformats.org/drawingml/2006/main" cx="10839450" cy="3705225"/>
        </p:xfrm>
        <a:graphic xmlns:a="http://schemas.openxmlformats.org/drawingml/2006/main">
          <a:graphicData uri="http://schemas.openxmlformats.org/drawingml/2006/table">
            <a:tbl>
              <a:tblPr/>
              <a:tblGrid>
                <a:gridCol w="2286000"/>
                <a:gridCol w="4000500"/>
                <a:gridCol w="4552950"/>
              </a:tblGrid>
              <a:tr h="741045">
                <a:tc>
                  <a:txBody>
                    <a:bodyPr lIns="152400" tIns="85725" rIns="114300" bIns="85725">
                      <a:noAutofit/>
                    </a:bodyPr>
                    <a:lstStyle/>
                    <a:p>
                      <a:r>
                        <a:rPr sz="1875" b="1">
                          <a:solidFill>
                            <a:srgbClr val="FFFFFF"/>
                          </a:solidFill>
                          <a:latin typeface="Microsoft JhengHei"/>
                          <a:ea typeface="Microsoft JhengHei"/>
                          <a:cs typeface="Microsoft JhengHei"/>
                        </a:rPr>
                        <a:t>步驟</a:t>
                      </a:r>
                    </a:p>
                  </a:txBody>
                  <a:tcPr marL="91440" marR="91440" marT="45720" marB="45720" anchor="ctr">
                    <a:solidFill>
                      <a:srgbClr val="173C38"/>
                    </a:solidFill>
                  </a:tcPr>
                </a:tc>
                <a:tc>
                  <a:txBody>
                    <a:bodyPr lIns="152400" tIns="85725" rIns="114300" bIns="85725">
                      <a:noAutofit/>
                    </a:bodyPr>
                    <a:lstStyle/>
                    <a:p>
                      <a:r>
                        <a:rPr sz="1875" b="1">
                          <a:solidFill>
                            <a:srgbClr val="FFFFFF"/>
                          </a:solidFill>
                          <a:latin typeface="Microsoft JhengHei"/>
                          <a:ea typeface="Microsoft JhengHei"/>
                          <a:cs typeface="Microsoft JhengHei"/>
                        </a:rPr>
                        <a:t>做什麼</a:t>
                      </a:r>
                    </a:p>
                  </a:txBody>
                  <a:tcPr marL="91440" marR="91440" marT="45720" marB="45720" anchor="ctr">
                    <a:solidFill>
                      <a:srgbClr val="173C38"/>
                    </a:solidFill>
                  </a:tcPr>
                </a:tc>
                <a:tc>
                  <a:txBody>
                    <a:bodyPr lIns="152400" tIns="85725" rIns="114300" bIns="85725">
                      <a:noAutofit/>
                    </a:bodyPr>
                    <a:lstStyle/>
                    <a:p>
                      <a:r>
                        <a:rPr sz="1875" b="1">
                          <a:solidFill>
                            <a:srgbClr val="FFFFFF"/>
                          </a:solidFill>
                          <a:latin typeface="Microsoft JhengHei"/>
                          <a:ea typeface="Microsoft JhengHei"/>
                          <a:cs typeface="Microsoft JhengHei"/>
                        </a:rPr>
                        <a:t>為什麼</a:t>
                      </a:r>
                    </a:p>
                  </a:txBody>
                  <a:tcPr marL="91440" marR="91440" marT="45720" marB="45720" anchor="ctr">
                    <a:solidFill>
                      <a:srgbClr val="173C38"/>
                    </a:solidFill>
                  </a:tcPr>
                </a:tc>
              </a:tr>
              <a:tr h="741045">
                <a:tc>
                  <a:txBody>
                    <a:bodyPr lIns="152400" tIns="85725" rIns="114300" bIns="85725">
                      <a:noAutofit/>
                    </a:bodyPr>
                    <a:lstStyle/>
                    <a:p>
                      <a:r>
                        <a:rPr sz="1875" b="0">
                          <a:solidFill>
                            <a:srgbClr val="314B46"/>
                          </a:solidFill>
                          <a:latin typeface="Microsoft JhengHei"/>
                          <a:ea typeface="Microsoft JhengHei"/>
                          <a:cs typeface="Microsoft JhengHei"/>
                        </a:rPr>
                        <a:t>01 資料整理</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確認欄位、清理與轉換</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讓每一筆資料有一致的意義</a:t>
                      </a:r>
                    </a:p>
                  </a:txBody>
                  <a:tcPr marL="91440" marR="91440" marT="45720" marB="45720" anchor="ctr">
                    <a:solidFill>
                      <a:srgbClr val="FFFFFF"/>
                    </a:solidFill>
                  </a:tcPr>
                </a:tc>
              </a:tr>
              <a:tr h="741045">
                <a:tc>
                  <a:txBody>
                    <a:bodyPr lIns="152400" tIns="85725" rIns="114300" bIns="85725">
                      <a:noAutofit/>
                    </a:bodyPr>
                    <a:lstStyle/>
                    <a:p>
                      <a:r>
                        <a:rPr sz="1875" b="0">
                          <a:solidFill>
                            <a:srgbClr val="314B46"/>
                          </a:solidFill>
                          <a:latin typeface="Microsoft JhengHei"/>
                          <a:ea typeface="Microsoft JhengHei"/>
                          <a:cs typeface="Microsoft JhengHei"/>
                        </a:rPr>
                        <a:t>02 模型學習</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用較早交易學習不同價格表示</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找出房屋條件與價格的關係</a:t>
                      </a:r>
                    </a:p>
                  </a:txBody>
                  <a:tcPr marL="91440" marR="91440" marT="45720" marB="45720" anchor="ctr">
                    <a:solidFill>
                      <a:srgbClr val="E4EDE6"/>
                    </a:solidFill>
                  </a:tcPr>
                </a:tc>
              </a:tr>
              <a:tr h="741045">
                <a:tc>
                  <a:txBody>
                    <a:bodyPr lIns="152400" tIns="85725" rIns="114300" bIns="85725">
                      <a:noAutofit/>
                    </a:bodyPr>
                    <a:lstStyle/>
                    <a:p>
                      <a:r>
                        <a:rPr sz="1875" b="0">
                          <a:solidFill>
                            <a:srgbClr val="314B46"/>
                          </a:solidFill>
                          <a:latin typeface="Microsoft JhengHei"/>
                          <a:ea typeface="Microsoft JhengHei"/>
                          <a:cs typeface="Microsoft JhengHei"/>
                        </a:rPr>
                        <a:t>03 歷史回測</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預測較晚交易，再與答案比較</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檢查遇到未見資料時的誤差</a:t>
                      </a:r>
                    </a:p>
                  </a:txBody>
                  <a:tcPr marL="91440" marR="91440" marT="45720" marB="45720" anchor="ctr">
                    <a:solidFill>
                      <a:srgbClr val="FFFFFF"/>
                    </a:solidFill>
                  </a:tcPr>
                </a:tc>
              </a:tr>
              <a:tr h="741045">
                <a:tc>
                  <a:txBody>
                    <a:bodyPr lIns="152400" tIns="85725" rIns="114300" bIns="85725">
                      <a:noAutofit/>
                    </a:bodyPr>
                    <a:lstStyle/>
                    <a:p>
                      <a:r>
                        <a:rPr sz="1875" b="0">
                          <a:solidFill>
                            <a:srgbClr val="314B46"/>
                          </a:solidFill>
                          <a:latin typeface="Microsoft JhengHei"/>
                          <a:ea typeface="Microsoft JhengHei"/>
                          <a:cs typeface="Microsoft JhengHei"/>
                        </a:rPr>
                        <a:t>04 最終交付</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全量訓練、預測與核對CSV</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讓提交內容對應到保存模型</a:t>
                      </a:r>
                    </a:p>
                  </a:txBody>
                  <a:tcPr marL="91440" marR="91440" marT="45720" marB="45720" anchor="ctr">
                    <a:solidFill>
                      <a:srgbClr val="E4EDE6"/>
                    </a:solidFill>
                  </a:tcPr>
                </a:tc>
              </a:tr>
            </a:tbl>
          </a:graphicData>
        </a:graphic>
      </p:graphicFrame>
      <p:sp>
        <p:nvSpPr>
          <p:cNvPr id="4" name="body">
            <a:extLst xmlns:a="http://schemas.openxmlformats.org/drawingml/2006/main">
              <a:ext uri="{FF2B5EF4-FFF2-40B4-BE49-F238E27FC236}">
                <a16:creationId xmlns:a16="http://schemas.microsoft.com/office/drawing/2014/main" id="{8B5AE93B-EB34-44EF-BC95-95565C9AD487}"/>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67364"/>
                </a:solidFill>
                <a:latin typeface="Microsoft JhengHei"/>
                <a:ea typeface="Microsoft JhengHei"/>
                <a:cs typeface="Microsoft JhengHei"/>
              </a:defRPr>
            </a:pPr>
            <a:r>
              <a:rPr sz="2025" b="1">
                <a:solidFill>
                  <a:srgbClr val="167364"/>
                </a:solidFill>
                <a:latin typeface="Microsoft JhengHei"/>
                <a:ea typeface="Microsoft JhengHei"/>
                <a:cs typeface="Microsoft JhengHei"/>
              </a:rPr>
              <a:t>每一步都保留程式與結果，方便核對和重現</a:t>
            </a:r>
          </a:p>
        </p:txBody>
      </p:sp>
    </p:spTree>
    <p:extLst>
      <p:ext uri="{BB962C8B-B14F-4D97-AF65-F5344CB8AC3E}">
        <p14:creationId xmlns:p14="http://schemas.microsoft.com/office/powerpoint/2010/main" val="105758980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318DDAA-1CF9-4B9F-B27E-FB28C658AA31}"/>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資料清理</a:t>
            </a:r>
          </a:p>
        </p:txBody>
      </p:sp>
      <p:sp>
        <p:nvSpPr>
          <p:cNvPr id="2" name="body">
            <a:extLst xmlns:a="http://schemas.openxmlformats.org/drawingml/2006/main">
              <a:ext uri="{FF2B5EF4-FFF2-40B4-BE49-F238E27FC236}">
                <a16:creationId xmlns:a16="http://schemas.microsoft.com/office/drawing/2014/main" id="{C412B54B-1BAC-49A6-9F7D-28186B959E01}"/>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06</a:t>
            </a:r>
          </a:p>
        </p:txBody>
      </p:sp>
      <p:graphicFrame>
        <p:nvGraphicFramePr>
          <p:cNvPr id="10" name=""/>
          <p:cNvGraphicFramePr/>
          <p:nvPr/>
        </p:nvGraphicFramePr>
        <p:xfrm>
          <a:off xmlns:a="http://schemas.openxmlformats.org/drawingml/2006/main" x="666750" y="1676400"/>
          <a:ext xmlns:a="http://schemas.openxmlformats.org/drawingml/2006/main" cx="7048500" cy="3705225"/>
        </p:xfrm>
        <a:graphic xmlns:a="http://schemas.openxmlformats.org/drawingml/2006/main">
          <a:graphicData uri="http://schemas.openxmlformats.org/drawingml/2006/table">
            <a:tbl>
              <a:tblPr/>
              <a:tblGrid>
                <a:gridCol w="5238750"/>
                <a:gridCol w="1809750"/>
              </a:tblGrid>
              <a:tr h="741045">
                <a:tc>
                  <a:txBody>
                    <a:bodyPr lIns="152400" tIns="85725" rIns="114300" bIns="85725">
                      <a:noAutofit/>
                    </a:bodyPr>
                    <a:lstStyle/>
                    <a:p>
                      <a:r>
                        <a:rPr sz="1875" b="1">
                          <a:solidFill>
                            <a:srgbClr val="FFFFFF"/>
                          </a:solidFill>
                          <a:latin typeface="Microsoft JhengHei"/>
                          <a:ea typeface="Microsoft JhengHei"/>
                          <a:cs typeface="Microsoft JhengHei"/>
                        </a:rPr>
                        <a:t>整理動作</a:t>
                      </a:r>
                    </a:p>
                  </a:txBody>
                  <a:tcPr marL="91440" marR="91440" marT="45720" marB="45720" anchor="ctr">
                    <a:solidFill>
                      <a:srgbClr val="173C38"/>
                    </a:solidFill>
                  </a:tcPr>
                </a:tc>
                <a:tc>
                  <a:txBody>
                    <a:bodyPr lIns="152400" tIns="85725" rIns="114300" bIns="85725">
                      <a:noAutofit/>
                    </a:bodyPr>
                    <a:lstStyle/>
                    <a:p>
                      <a:r>
                        <a:rPr sz="1875" b="1">
                          <a:solidFill>
                            <a:srgbClr val="FFFFFF"/>
                          </a:solidFill>
                          <a:latin typeface="Microsoft JhengHei"/>
                          <a:ea typeface="Microsoft JhengHei"/>
                          <a:cs typeface="Microsoft JhengHei"/>
                        </a:rPr>
                        <a:t>保留列數</a:t>
                      </a:r>
                    </a:p>
                  </a:txBody>
                  <a:tcPr marL="91440" marR="91440" marT="45720" marB="45720" anchor="ctr">
                    <a:solidFill>
                      <a:srgbClr val="173C38"/>
                    </a:solidFill>
                  </a:tcPr>
                </a:tc>
              </a:tr>
              <a:tr h="741045">
                <a:tc>
                  <a:txBody>
                    <a:bodyPr lIns="152400" tIns="85725" rIns="114300" bIns="85725">
                      <a:noAutofit/>
                    </a:bodyPr>
                    <a:lstStyle/>
                    <a:p>
                      <a:r>
                        <a:rPr sz="1875" b="0">
                          <a:solidFill>
                            <a:srgbClr val="314B46"/>
                          </a:solidFill>
                          <a:latin typeface="Microsoft JhengHei"/>
                          <a:ea typeface="Microsoft JhengHei"/>
                          <a:cs typeface="Microsoft JhengHei"/>
                        </a:rPr>
                        <a:t>原始 train</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455,787</a:t>
                      </a:r>
                    </a:p>
                  </a:txBody>
                  <a:tcPr marL="91440" marR="91440" marT="45720" marB="45720" anchor="ctr">
                    <a:solidFill>
                      <a:srgbClr val="FFFFFF"/>
                    </a:solidFill>
                  </a:tcPr>
                </a:tc>
              </a:tr>
              <a:tr h="741045">
                <a:tc>
                  <a:txBody>
                    <a:bodyPr lIns="152400" tIns="85725" rIns="114300" bIns="85725">
                      <a:noAutofit/>
                    </a:bodyPr>
                    <a:lstStyle/>
                    <a:p>
                      <a:r>
                        <a:rPr sz="1875" b="0">
                          <a:solidFill>
                            <a:srgbClr val="314B46"/>
                          </a:solidFill>
                          <a:latin typeface="Microsoft JhengHei"/>
                          <a:ea typeface="Microsoft JhengHei"/>
                          <a:cs typeface="Microsoft JhengHei"/>
                        </a:rPr>
                        <a:t>移除 3 列英文表頭</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455,784</a:t>
                      </a:r>
                    </a:p>
                  </a:txBody>
                  <a:tcPr marL="91440" marR="91440" marT="45720" marB="45720" anchor="ctr">
                    <a:solidFill>
                      <a:srgbClr val="E4EDE6"/>
                    </a:solidFill>
                  </a:tcPr>
                </a:tc>
              </a:tr>
              <a:tr h="741045">
                <a:tc>
                  <a:txBody>
                    <a:bodyPr lIns="152400" tIns="85725" rIns="114300" bIns="85725">
                      <a:noAutofit/>
                    </a:bodyPr>
                    <a:lstStyle/>
                    <a:p>
                      <a:r>
                        <a:rPr sz="1875" b="0">
                          <a:solidFill>
                            <a:srgbClr val="314B46"/>
                          </a:solidFill>
                          <a:latin typeface="Microsoft JhengHei"/>
                          <a:ea typeface="Microsoft JhengHei"/>
                          <a:cs typeface="Microsoft JhengHei"/>
                        </a:rPr>
                        <a:t>移除 529 列完全重複</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455,255</a:t>
                      </a:r>
                    </a:p>
                  </a:txBody>
                  <a:tcPr marL="91440" marR="91440" marT="45720" marB="45720" anchor="ctr">
                    <a:solidFill>
                      <a:srgbClr val="FFFFFF"/>
                    </a:solidFill>
                  </a:tcPr>
                </a:tc>
              </a:tr>
              <a:tr h="741045">
                <a:tc>
                  <a:txBody>
                    <a:bodyPr lIns="152400" tIns="85725" rIns="114300" bIns="85725">
                      <a:noAutofit/>
                    </a:bodyPr>
                    <a:lstStyle/>
                    <a:p>
                      <a:r>
                        <a:rPr sz="1875" b="0">
                          <a:solidFill>
                            <a:srgbClr val="314B46"/>
                          </a:solidFill>
                          <a:latin typeface="Microsoft JhengHei"/>
                          <a:ea typeface="Microsoft JhengHei"/>
                          <a:cs typeface="Microsoft JhengHei"/>
                        </a:rPr>
                        <a:t>加入 11,994 筆 valid，再去重 28 筆</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467,221</a:t>
                      </a:r>
                    </a:p>
                  </a:txBody>
                  <a:tcPr marL="91440" marR="91440" marT="45720" marB="45720" anchor="ctr">
                    <a:solidFill>
                      <a:srgbClr val="E4EDE6"/>
                    </a:solidFill>
                  </a:tcPr>
                </a:tc>
              </a:tr>
            </a:tbl>
          </a:graphicData>
        </a:graphic>
      </p:graphicFrame>
      <p:sp>
        <p:nvSpPr>
          <p:cNvPr id="4" name="body">
            <a:extLst xmlns:a="http://schemas.openxmlformats.org/drawingml/2006/main">
              <a:ext uri="{FF2B5EF4-FFF2-40B4-BE49-F238E27FC236}">
                <a16:creationId xmlns:a16="http://schemas.microsoft.com/office/drawing/2014/main" id="{1A00570B-3050-4187-8BE2-B150EA43F081}"/>
              </a:ext>
            </a:extLst>
          </p:cNvPr>
          <p:cNvSpPr>
            <a:spLocks xmlns:a="http://schemas.openxmlformats.org/drawingml/2006/main" noGrp="1"/>
          </p:cNvSpPr>
          <p:nvPr/>
        </p:nvSpPr>
        <p:spPr>
          <a:xfrm xmlns:a="http://schemas.openxmlformats.org/drawingml/2006/main">
            <a:off x="8239125" y="2047875"/>
            <a:ext cx="3295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167364"/>
                </a:solidFill>
                <a:latin typeface="Microsoft JhengHei"/>
                <a:ea typeface="Microsoft JhengHei"/>
                <a:cs typeface="Microsoft JhengHei"/>
              </a:defRPr>
            </a:pPr>
            <a:r>
              <a:rPr sz="4275" b="1">
                <a:solidFill>
                  <a:srgbClr val="167364"/>
                </a:solidFill>
                <a:latin typeface="Microsoft JhengHei"/>
                <a:ea typeface="Microsoft JhengHei"/>
                <a:cs typeface="Microsoft JhengHei"/>
              </a:rPr>
              <a:t>467,221</a:t>
            </a:r>
          </a:p>
        </p:txBody>
      </p:sp>
      <p:sp>
        <p:nvSpPr>
          <p:cNvPr id="5" name="body">
            <a:extLst xmlns:a="http://schemas.openxmlformats.org/drawingml/2006/main">
              <a:ext uri="{FF2B5EF4-FFF2-40B4-BE49-F238E27FC236}">
                <a16:creationId xmlns:a16="http://schemas.microsoft.com/office/drawing/2014/main" id="{1754B454-0477-454C-BAFA-D84A635EFC6B}"/>
              </a:ext>
            </a:extLst>
          </p:cNvPr>
          <p:cNvSpPr>
            <a:spLocks xmlns:a="http://schemas.openxmlformats.org/drawingml/2006/main" noGrp="1"/>
          </p:cNvSpPr>
          <p:nvPr/>
        </p:nvSpPr>
        <p:spPr>
          <a:xfrm xmlns:a="http://schemas.openxmlformats.org/drawingml/2006/main">
            <a:off x="8239125" y="3038475"/>
            <a:ext cx="3171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314B46"/>
                </a:solidFill>
                <a:latin typeface="Microsoft JhengHei"/>
                <a:ea typeface="Microsoft JhengHei"/>
                <a:cs typeface="Microsoft JhengHei"/>
              </a:defRPr>
            </a:pPr>
            <a:r>
              <a:rPr sz="2175" b="0">
                <a:solidFill>
                  <a:srgbClr val="314B46"/>
                </a:solidFill>
                <a:latin typeface="Microsoft JhengHei"/>
                <a:ea typeface="Microsoft JhengHei"/>
                <a:cs typeface="Microsoft JhengHei"/>
              </a:rPr>
              <a:t>最終有標籤交易</a:t>
            </a:r>
          </a:p>
        </p:txBody>
      </p:sp>
      <p:sp>
        <p:nvSpPr>
          <p:cNvPr id="6" name="body">
            <a:extLst xmlns:a="http://schemas.openxmlformats.org/drawingml/2006/main">
              <a:ext uri="{FF2B5EF4-FFF2-40B4-BE49-F238E27FC236}">
                <a16:creationId xmlns:a16="http://schemas.microsoft.com/office/drawing/2014/main" id="{BF546840-ADBF-47A2-827D-24DEADDE7EC8}"/>
              </a:ext>
            </a:extLst>
          </p:cNvPr>
          <p:cNvSpPr>
            <a:spLocks xmlns:a="http://schemas.openxmlformats.org/drawingml/2006/main" noGrp="1"/>
          </p:cNvSpPr>
          <p:nvPr/>
        </p:nvSpPr>
        <p:spPr>
          <a:xfrm xmlns:a="http://schemas.openxmlformats.org/drawingml/2006/main">
            <a:off x="8239125" y="4276725"/>
            <a:ext cx="32766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314B46"/>
                </a:solidFill>
                <a:latin typeface="Microsoft JhengHei"/>
                <a:ea typeface="Microsoft JhengHei"/>
                <a:cs typeface="Microsoft JhengHei"/>
              </a:defRPr>
            </a:pPr>
            <a:r>
              <a:rPr sz="2025" b="0">
                <a:solidFill>
                  <a:srgbClr val="314B46"/>
                </a:solidFill>
                <a:latin typeface="Microsoft JhengHei"/>
                <a:ea typeface="Microsoft JhengHei"/>
                <a:cs typeface="Microsoft JhengHei"/>
              </a:rPr>
              <a:t>去重比對整列</a:t>
            </a:r>
          </a:p>
          <a:p xmlns:a="http://schemas.openxmlformats.org/drawingml/2006/main">
            <a:pPr algn="l">
              <a:defRPr sz="2025" b="0">
                <a:solidFill>
                  <a:srgbClr val="314B46"/>
                </a:solidFill>
                <a:latin typeface="Microsoft JhengHei"/>
                <a:ea typeface="Microsoft JhengHei"/>
                <a:cs typeface="Microsoft JhengHei"/>
              </a:defRPr>
            </a:pPr>
            <a:r>
              <a:rPr sz="2025" b="0">
                <a:solidFill>
                  <a:srgbClr val="314B46"/>
                </a:solidFill>
                <a:latin typeface="Microsoft JhengHei"/>
                <a:ea typeface="Microsoft JhengHei"/>
                <a:cs typeface="Microsoft JhengHei"/>
              </a:rPr>
              <a:t>包含價格、排除編號</a:t>
            </a:r>
          </a:p>
        </p:txBody>
      </p:sp>
      <p:sp>
        <p:nvSpPr>
          <p:cNvPr id="7" name="body">
            <a:extLst xmlns:a="http://schemas.openxmlformats.org/drawingml/2006/main">
              <a:ext uri="{FF2B5EF4-FFF2-40B4-BE49-F238E27FC236}">
                <a16:creationId xmlns:a16="http://schemas.microsoft.com/office/drawing/2014/main" id="{7952B483-5355-469F-A9FF-7FB0A2B8E964}"/>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67364"/>
                </a:solidFill>
                <a:latin typeface="Microsoft JhengHei"/>
                <a:ea typeface="Microsoft JhengHei"/>
                <a:cs typeface="Microsoft JhengHei"/>
              </a:defRPr>
            </a:pPr>
            <a:r>
              <a:rPr sz="2025" b="0">
                <a:solidFill>
                  <a:srgbClr val="167364"/>
                </a:solidFill>
                <a:latin typeface="Microsoft JhengHei"/>
                <a:ea typeface="Microsoft JhengHei"/>
                <a:cs typeface="Microsoft JhengHei"/>
              </a:rPr>
              <a:t>修正格式與重複資訊，test 的 47,073 筆全數保留</a:t>
            </a:r>
          </a:p>
        </p:txBody>
      </p:sp>
    </p:spTree>
    <p:extLst>
      <p:ext uri="{BB962C8B-B14F-4D97-AF65-F5344CB8AC3E}">
        <p14:creationId xmlns:p14="http://schemas.microsoft.com/office/powerpoint/2010/main" val="1750034512"/>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509FE893-9CFB-47D9-B485-CA731A567F07}"/>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特徵工程與欄位取捨</a:t>
            </a:r>
          </a:p>
        </p:txBody>
      </p:sp>
      <p:sp>
        <p:nvSpPr>
          <p:cNvPr id="2" name="body">
            <a:extLst xmlns:a="http://schemas.openxmlformats.org/drawingml/2006/main">
              <a:ext uri="{FF2B5EF4-FFF2-40B4-BE49-F238E27FC236}">
                <a16:creationId xmlns:a16="http://schemas.microsoft.com/office/drawing/2014/main" id="{53EFF201-71EB-429A-841B-BC5F11FFA696}"/>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07</a:t>
            </a:r>
          </a:p>
        </p:txBody>
      </p:sp>
      <p:graphicFrame>
        <p:nvGraphicFramePr>
          <p:cNvPr id="7" name=""/>
          <p:cNvGraphicFramePr/>
          <p:nvPr/>
        </p:nvGraphicFramePr>
        <p:xfrm>
          <a:off xmlns:a="http://schemas.openxmlformats.org/drawingml/2006/main" x="666750" y="1676400"/>
          <a:ext xmlns:a="http://schemas.openxmlformats.org/drawingml/2006/main" cx="10839450" cy="3676650"/>
        </p:xfrm>
        <a:graphic xmlns:a="http://schemas.openxmlformats.org/drawingml/2006/main">
          <a:graphicData uri="http://schemas.openxmlformats.org/drawingml/2006/table">
            <a:tbl>
              <a:tblPr/>
              <a:tblGrid>
                <a:gridCol w="3190875"/>
                <a:gridCol w="4314825"/>
                <a:gridCol w="3333750"/>
              </a:tblGrid>
              <a:tr h="735330">
                <a:tc>
                  <a:txBody>
                    <a:bodyPr lIns="152400" tIns="85725" rIns="114300" bIns="85725">
                      <a:noAutofit/>
                    </a:bodyPr>
                    <a:lstStyle/>
                    <a:p>
                      <a:r>
                        <a:rPr sz="1875" b="1">
                          <a:solidFill>
                            <a:srgbClr val="FFFFFF"/>
                          </a:solidFill>
                          <a:latin typeface="Microsoft JhengHei"/>
                          <a:ea typeface="Microsoft JhengHei"/>
                          <a:cs typeface="Microsoft JhengHei"/>
                        </a:rPr>
                        <a:t>原始資料</a:t>
                      </a:r>
                    </a:p>
                  </a:txBody>
                  <a:tcPr marL="91440" marR="91440" marT="45720" marB="45720" anchor="ctr">
                    <a:solidFill>
                      <a:srgbClr val="173C38"/>
                    </a:solidFill>
                  </a:tcPr>
                </a:tc>
                <a:tc>
                  <a:txBody>
                    <a:bodyPr lIns="152400" tIns="85725" rIns="114300" bIns="85725">
                      <a:noAutofit/>
                    </a:bodyPr>
                    <a:lstStyle/>
                    <a:p>
                      <a:r>
                        <a:rPr sz="1875" b="1">
                          <a:solidFill>
                            <a:srgbClr val="FFFFFF"/>
                          </a:solidFill>
                          <a:latin typeface="Microsoft JhengHei"/>
                          <a:ea typeface="Microsoft JhengHei"/>
                          <a:cs typeface="Microsoft JhengHei"/>
                        </a:rPr>
                        <a:t>交給模型的特徵</a:t>
                      </a:r>
                    </a:p>
                  </a:txBody>
                  <a:tcPr marL="91440" marR="91440" marT="45720" marB="45720" anchor="ctr">
                    <a:solidFill>
                      <a:srgbClr val="173C38"/>
                    </a:solidFill>
                  </a:tcPr>
                </a:tc>
                <a:tc>
                  <a:txBody>
                    <a:bodyPr lIns="152400" tIns="85725" rIns="114300" bIns="85725">
                      <a:noAutofit/>
                    </a:bodyPr>
                    <a:lstStyle/>
                    <a:p>
                      <a:r>
                        <a:rPr sz="1875" b="1">
                          <a:solidFill>
                            <a:srgbClr val="FFFFFF"/>
                          </a:solidFill>
                          <a:latin typeface="Microsoft JhengHei"/>
                          <a:ea typeface="Microsoft JhengHei"/>
                          <a:cs typeface="Microsoft JhengHei"/>
                        </a:rPr>
                        <a:t>用途</a:t>
                      </a:r>
                    </a:p>
                  </a:txBody>
                  <a:tcPr marL="91440" marR="91440" marT="45720" marB="45720" anchor="ctr">
                    <a:solidFill>
                      <a:srgbClr val="173C38"/>
                    </a:solidFill>
                  </a:tcPr>
                </a:tc>
              </a:tr>
              <a:tr h="735330">
                <a:tc>
                  <a:txBody>
                    <a:bodyPr lIns="152400" tIns="85725" rIns="114300" bIns="85725">
                      <a:noAutofit/>
                    </a:bodyPr>
                    <a:lstStyle/>
                    <a:p>
                      <a:r>
                        <a:rPr sz="1875" b="0">
                          <a:solidFill>
                            <a:srgbClr val="314B46"/>
                          </a:solidFill>
                          <a:latin typeface="Microsoft JhengHei"/>
                          <a:ea typeface="Microsoft JhengHei"/>
                          <a:cs typeface="Microsoft JhengHei"/>
                        </a:rPr>
                        <a:t>民國日期、中文樓層</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交易時點、樓層數值與旗標</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保留時間與樓層意義</a:t>
                      </a:r>
                    </a:p>
                  </a:txBody>
                  <a:tcPr marL="91440" marR="91440" marT="45720" marB="45720" anchor="ctr">
                    <a:solidFill>
                      <a:srgbClr val="FFFFFF"/>
                    </a:solidFill>
                  </a:tcPr>
                </a:tc>
              </a:tr>
              <a:tr h="735330">
                <a:tc>
                  <a:txBody>
                    <a:bodyPr lIns="152400" tIns="85725" rIns="114300" bIns="85725">
                      <a:noAutofit/>
                    </a:bodyPr>
                    <a:lstStyle/>
                    <a:p>
                      <a:r>
                        <a:rPr sz="1875" b="0">
                          <a:solidFill>
                            <a:srgbClr val="314B46"/>
                          </a:solidFill>
                          <a:latin typeface="Microsoft JhengHei"/>
                          <a:ea typeface="Microsoft JhengHei"/>
                          <a:cs typeface="Microsoft JhengHei"/>
                        </a:rPr>
                        <a:t>土地、建物、車位面積</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面積與比例</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描述交易的規模與組成</a:t>
                      </a:r>
                    </a:p>
                  </a:txBody>
                  <a:tcPr marL="91440" marR="91440" marT="45720" marB="45720" anchor="ctr">
                    <a:solidFill>
                      <a:srgbClr val="E4EDE6"/>
                    </a:solidFill>
                  </a:tcPr>
                </a:tc>
              </a:tr>
              <a:tr h="735330">
                <a:tc>
                  <a:txBody>
                    <a:bodyPr lIns="152400" tIns="85725" rIns="114300" bIns="85725">
                      <a:noAutofit/>
                    </a:bodyPr>
                    <a:lstStyle/>
                    <a:p>
                      <a:r>
                        <a:rPr sz="1875" b="0">
                          <a:solidFill>
                            <a:srgbClr val="314B46"/>
                          </a:solidFill>
                          <a:latin typeface="Microsoft JhengHei"/>
                          <a:ea typeface="Microsoft JhengHei"/>
                          <a:cs typeface="Microsoft JhengHei"/>
                        </a:rPr>
                        <a:t>地址、道路、建案</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區域類別與粗略地理資訊</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描述區位</a:t>
                      </a:r>
                    </a:p>
                  </a:txBody>
                  <a:tcPr marL="91440" marR="91440" marT="45720" marB="45720" anchor="ctr">
                    <a:solidFill>
                      <a:srgbClr val="FFFFFF"/>
                    </a:solidFill>
                  </a:tcPr>
                </a:tc>
              </a:tr>
              <a:tr h="735330">
                <a:tc>
                  <a:txBody>
                    <a:bodyPr lIns="152400" tIns="85725" rIns="114300" bIns="85725">
                      <a:noAutofit/>
                    </a:bodyPr>
                    <a:lstStyle/>
                    <a:p>
                      <a:r>
                        <a:rPr sz="1875" b="0">
                          <a:solidFill>
                            <a:srgbClr val="314B46"/>
                          </a:solidFill>
                          <a:latin typeface="Microsoft JhengHei"/>
                          <a:ea typeface="Microsoft JhengHei"/>
                          <a:cs typeface="Microsoft JhengHei"/>
                        </a:rPr>
                        <a:t>編號、總價</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編號對齊，總價作學習答案</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不把這兩欄當輸入特徵</a:t>
                      </a:r>
                    </a:p>
                  </a:txBody>
                  <a:tcPr marL="91440" marR="91440" marT="45720" marB="45720" anchor="ctr">
                    <a:solidFill>
                      <a:srgbClr val="E4EDE6"/>
                    </a:solidFill>
                  </a:tcPr>
                </a:tc>
              </a:tr>
            </a:tbl>
          </a:graphicData>
        </a:graphic>
      </p:graphicFrame>
      <p:sp>
        <p:nvSpPr>
          <p:cNvPr id="4" name="body">
            <a:extLst xmlns:a="http://schemas.openxmlformats.org/drawingml/2006/main">
              <a:ext uri="{FF2B5EF4-FFF2-40B4-BE49-F238E27FC236}">
                <a16:creationId xmlns:a16="http://schemas.microsoft.com/office/drawing/2014/main" id="{0E09A798-516C-4AC9-A498-EAC19249B141}"/>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67364"/>
                </a:solidFill>
                <a:latin typeface="Microsoft JhengHei"/>
                <a:ea typeface="Microsoft JhengHei"/>
                <a:cs typeface="Microsoft JhengHei"/>
              </a:defRPr>
            </a:pPr>
            <a:r>
              <a:rPr sz="1875" b="0">
                <a:solidFill>
                  <a:srgbClr val="167364"/>
                </a:solidFill>
                <a:latin typeface="Microsoft JhengHei"/>
                <a:ea typeface="Microsoft JhengHei"/>
                <a:cs typeface="Microsoft JhengHei"/>
              </a:rPr>
              <a:t>單價 CatBoost 使用 95 欄，其中 23 欄是類別；其他模型另有編碼</a:t>
            </a:r>
          </a:p>
        </p:txBody>
      </p:sp>
    </p:spTree>
    <p:extLst>
      <p:ext uri="{BB962C8B-B14F-4D97-AF65-F5344CB8AC3E}">
        <p14:creationId xmlns:p14="http://schemas.microsoft.com/office/powerpoint/2010/main" val="221139124"/>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E4DF70F-BC69-430E-B2F7-F36E5A3A85FF}"/>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時間回測與過擬合</a:t>
            </a:r>
          </a:p>
        </p:txBody>
      </p:sp>
      <p:sp>
        <p:nvSpPr>
          <p:cNvPr id="2" name="body">
            <a:extLst xmlns:a="http://schemas.openxmlformats.org/drawingml/2006/main">
              <a:ext uri="{FF2B5EF4-FFF2-40B4-BE49-F238E27FC236}">
                <a16:creationId xmlns:a16="http://schemas.microsoft.com/office/drawing/2014/main" id="{DF103776-7490-4134-81D0-9F56CECA5254}"/>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08</a:t>
            </a:r>
          </a:p>
        </p:txBody>
      </p:sp>
      <p:sp>
        <p:nvSpPr>
          <p:cNvPr id="3" name="body">
            <a:extLst xmlns:a="http://schemas.openxmlformats.org/drawingml/2006/main">
              <a:ext uri="{FF2B5EF4-FFF2-40B4-BE49-F238E27FC236}">
                <a16:creationId xmlns:a16="http://schemas.microsoft.com/office/drawing/2014/main" id="{F3BD8F03-B3E1-4939-81EC-AB7FC5D72AD8}"/>
              </a:ext>
            </a:extLst>
          </p:cNvPr>
          <p:cNvSpPr>
            <a:spLocks xmlns:a="http://schemas.openxmlformats.org/drawingml/2006/main" noGrp="1"/>
          </p:cNvSpPr>
          <p:nvPr/>
        </p:nvSpPr>
        <p:spPr>
          <a:xfrm xmlns:a="http://schemas.openxmlformats.org/drawingml/2006/main">
            <a:off x="666750" y="1514475"/>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67364"/>
                </a:solidFill>
                <a:latin typeface="Microsoft JhengHei"/>
                <a:ea typeface="Microsoft JhengHei"/>
                <a:cs typeface="Microsoft JhengHei"/>
              </a:defRPr>
            </a:pPr>
            <a:r>
              <a:rPr sz="2775" b="1">
                <a:solidFill>
                  <a:srgbClr val="167364"/>
                </a:solidFill>
                <a:latin typeface="Microsoft JhengHei"/>
                <a:ea typeface="Microsoft JhengHei"/>
                <a:cs typeface="Microsoft JhengHei"/>
              </a:rPr>
              <a:t>先學過去，再預測後一年</a:t>
            </a:r>
          </a:p>
        </p:txBody>
      </p:sp>
      <p:graphicFrame>
        <p:nvGraphicFramePr>
          <p:cNvPr id="9" name=""/>
          <p:cNvGraphicFramePr/>
          <p:nvPr/>
        </p:nvGraphicFramePr>
        <p:xfrm>
          <a:off xmlns:a="http://schemas.openxmlformats.org/drawingml/2006/main" x="666750" y="2609850"/>
          <a:ext xmlns:a="http://schemas.openxmlformats.org/drawingml/2006/main" cx="10839450" cy="2705100"/>
        </p:xfrm>
        <a:graphic xmlns:a="http://schemas.openxmlformats.org/drawingml/2006/main">
          <a:graphicData uri="http://schemas.openxmlformats.org/drawingml/2006/table">
            <a:tbl>
              <a:tblPr/>
              <a:tblGrid>
                <a:gridCol w="2190750"/>
                <a:gridCol w="3429000"/>
                <a:gridCol w="5219700"/>
              </a:tblGrid>
              <a:tr h="676275">
                <a:tc>
                  <a:txBody>
                    <a:bodyPr lIns="152400" tIns="85725" rIns="114300" bIns="85725">
                      <a:noAutofit/>
                    </a:bodyPr>
                    <a:lstStyle/>
                    <a:p>
                      <a:r>
                        <a:rPr sz="2025" b="1">
                          <a:solidFill>
                            <a:srgbClr val="FFFFFF"/>
                          </a:solidFill>
                          <a:latin typeface="Microsoft JhengHei"/>
                          <a:ea typeface="Microsoft JhengHei"/>
                          <a:cs typeface="Microsoft JhengHei"/>
                        </a:rPr>
                        <a:t>回測</a:t>
                      </a:r>
                    </a:p>
                  </a:txBody>
                  <a:tcPr marL="91440" marR="91440" marT="45720" marB="45720" anchor="ctr">
                    <a:solidFill>
                      <a:srgbClr val="173C38"/>
                    </a:solidFill>
                  </a:tcPr>
                </a:tc>
                <a:tc>
                  <a:txBody>
                    <a:bodyPr lIns="152400" tIns="85725" rIns="114300" bIns="85725">
                      <a:noAutofit/>
                    </a:bodyPr>
                    <a:lstStyle/>
                    <a:p>
                      <a:r>
                        <a:rPr sz="2025" b="1">
                          <a:solidFill>
                            <a:srgbClr val="FFFFFF"/>
                          </a:solidFill>
                          <a:latin typeface="Microsoft JhengHei"/>
                          <a:ea typeface="Microsoft JhengHei"/>
                          <a:cs typeface="Microsoft JhengHei"/>
                        </a:rPr>
                        <a:t>學習資料的截止日</a:t>
                      </a:r>
                    </a:p>
                  </a:txBody>
                  <a:tcPr marL="91440" marR="91440" marT="45720" marB="45720" anchor="ctr">
                    <a:solidFill>
                      <a:srgbClr val="173C38"/>
                    </a:solidFill>
                  </a:tcPr>
                </a:tc>
                <a:tc>
                  <a:txBody>
                    <a:bodyPr lIns="152400" tIns="85725" rIns="114300" bIns="85725">
                      <a:noAutofit/>
                    </a:bodyPr>
                    <a:lstStyle/>
                    <a:p>
                      <a:r>
                        <a:rPr sz="2025" b="1">
                          <a:solidFill>
                            <a:srgbClr val="FFFFFF"/>
                          </a:solidFill>
                          <a:latin typeface="Microsoft JhengHei"/>
                          <a:ea typeface="Microsoft JhengHei"/>
                          <a:cs typeface="Microsoft JhengHei"/>
                        </a:rPr>
                        <a:t>評分交易期間</a:t>
                      </a:r>
                    </a:p>
                  </a:txBody>
                  <a:tcPr marL="91440" marR="91440" marT="45720" marB="45720" anchor="ctr">
                    <a:solidFill>
                      <a:srgbClr val="173C38"/>
                    </a:solidFill>
                  </a:tcPr>
                </a:tc>
              </a:tr>
              <a:tr h="676275">
                <a:tc>
                  <a:txBody>
                    <a:bodyPr lIns="152400" tIns="85725" rIns="114300" bIns="85725">
                      <a:noAutofit/>
                    </a:bodyPr>
                    <a:lstStyle/>
                    <a:p>
                      <a:r>
                        <a:rPr sz="2025" b="0">
                          <a:solidFill>
                            <a:srgbClr val="314B46"/>
                          </a:solidFill>
                          <a:latin typeface="Microsoft JhengHei"/>
                          <a:ea typeface="Microsoft JhengHei"/>
                          <a:cs typeface="Microsoft JhengHei"/>
                        </a:rPr>
                        <a:t>較早窗口</a:t>
                      </a:r>
                    </a:p>
                  </a:txBody>
                  <a:tcPr marL="91440" marR="91440" marT="45720" marB="45720" anchor="ctr">
                    <a:solidFill>
                      <a:srgbClr val="FFFFFF"/>
                    </a:solidFill>
                  </a:tcPr>
                </a:tc>
                <a:tc>
                  <a:txBody>
                    <a:bodyPr lIns="152400" tIns="85725" rIns="114300" bIns="85725">
                      <a:noAutofit/>
                    </a:bodyPr>
                    <a:lstStyle/>
                    <a:p>
                      <a:r>
                        <a:rPr sz="2025" b="0">
                          <a:solidFill>
                            <a:srgbClr val="314B46"/>
                          </a:solidFill>
                          <a:latin typeface="Microsoft JhengHei"/>
                          <a:ea typeface="Microsoft JhengHei"/>
                          <a:cs typeface="Microsoft JhengHei"/>
                        </a:rPr>
                        <a:t>2021-08-10</a:t>
                      </a:r>
                    </a:p>
                  </a:txBody>
                  <a:tcPr marL="91440" marR="91440" marT="45720" marB="45720" anchor="ctr">
                    <a:solidFill>
                      <a:srgbClr val="FFFFFF"/>
                    </a:solidFill>
                  </a:tcPr>
                </a:tc>
                <a:tc>
                  <a:txBody>
                    <a:bodyPr lIns="152400" tIns="85725" rIns="114300" bIns="85725">
                      <a:noAutofit/>
                    </a:bodyPr>
                    <a:lstStyle/>
                    <a:p>
                      <a:r>
                        <a:rPr sz="2025" b="0">
                          <a:solidFill>
                            <a:srgbClr val="314B46"/>
                          </a:solidFill>
                          <a:latin typeface="Microsoft JhengHei"/>
                          <a:ea typeface="Microsoft JhengHei"/>
                          <a:cs typeface="Microsoft JhengHei"/>
                        </a:rPr>
                        <a:t>2021-08-11 至 2022-08-10</a:t>
                      </a:r>
                    </a:p>
                  </a:txBody>
                  <a:tcPr marL="91440" marR="91440" marT="45720" marB="45720" anchor="ctr">
                    <a:solidFill>
                      <a:srgbClr val="FFFFFF"/>
                    </a:solidFill>
                  </a:tcPr>
                </a:tc>
              </a:tr>
              <a:tr h="676275">
                <a:tc>
                  <a:txBody>
                    <a:bodyPr lIns="152400" tIns="85725" rIns="114300" bIns="85725">
                      <a:noAutofit/>
                    </a:bodyPr>
                    <a:lstStyle/>
                    <a:p>
                      <a:r>
                        <a:rPr sz="2025" b="0">
                          <a:solidFill>
                            <a:srgbClr val="314B46"/>
                          </a:solidFill>
                          <a:latin typeface="Microsoft JhengHei"/>
                          <a:ea typeface="Microsoft JhengHei"/>
                          <a:cs typeface="Microsoft JhengHei"/>
                        </a:rPr>
                        <a:t>中間窗口</a:t>
                      </a:r>
                    </a:p>
                  </a:txBody>
                  <a:tcPr marL="91440" marR="91440" marT="45720" marB="45720" anchor="ctr">
                    <a:solidFill>
                      <a:srgbClr val="E4EDE6"/>
                    </a:solidFill>
                  </a:tcPr>
                </a:tc>
                <a:tc>
                  <a:txBody>
                    <a:bodyPr lIns="152400" tIns="85725" rIns="114300" bIns="85725">
                      <a:noAutofit/>
                    </a:bodyPr>
                    <a:lstStyle/>
                    <a:p>
                      <a:r>
                        <a:rPr sz="2025" b="0">
                          <a:solidFill>
                            <a:srgbClr val="314B46"/>
                          </a:solidFill>
                          <a:latin typeface="Microsoft JhengHei"/>
                          <a:ea typeface="Microsoft JhengHei"/>
                          <a:cs typeface="Microsoft JhengHei"/>
                        </a:rPr>
                        <a:t>2022-08-10</a:t>
                      </a:r>
                    </a:p>
                  </a:txBody>
                  <a:tcPr marL="91440" marR="91440" marT="45720" marB="45720" anchor="ctr">
                    <a:solidFill>
                      <a:srgbClr val="E4EDE6"/>
                    </a:solidFill>
                  </a:tcPr>
                </a:tc>
                <a:tc>
                  <a:txBody>
                    <a:bodyPr lIns="152400" tIns="85725" rIns="114300" bIns="85725">
                      <a:noAutofit/>
                    </a:bodyPr>
                    <a:lstStyle/>
                    <a:p>
                      <a:r>
                        <a:rPr sz="2025" b="0">
                          <a:solidFill>
                            <a:srgbClr val="314B46"/>
                          </a:solidFill>
                          <a:latin typeface="Microsoft JhengHei"/>
                          <a:ea typeface="Microsoft JhengHei"/>
                          <a:cs typeface="Microsoft JhengHei"/>
                        </a:rPr>
                        <a:t>2022-08-11 至 2023-08-10</a:t>
                      </a:r>
                    </a:p>
                  </a:txBody>
                  <a:tcPr marL="91440" marR="91440" marT="45720" marB="45720" anchor="ctr">
                    <a:solidFill>
                      <a:srgbClr val="E4EDE6"/>
                    </a:solidFill>
                  </a:tcPr>
                </a:tc>
              </a:tr>
              <a:tr h="676275">
                <a:tc>
                  <a:txBody>
                    <a:bodyPr lIns="152400" tIns="85725" rIns="114300" bIns="85725">
                      <a:noAutofit/>
                    </a:bodyPr>
                    <a:lstStyle/>
                    <a:p>
                      <a:r>
                        <a:rPr sz="2025" b="0">
                          <a:solidFill>
                            <a:srgbClr val="314B46"/>
                          </a:solidFill>
                          <a:latin typeface="Microsoft JhengHei"/>
                          <a:ea typeface="Microsoft JhengHei"/>
                          <a:cs typeface="Microsoft JhengHei"/>
                        </a:rPr>
                        <a:t>較新窗口</a:t>
                      </a:r>
                    </a:p>
                  </a:txBody>
                  <a:tcPr marL="91440" marR="91440" marT="45720" marB="45720" anchor="ctr">
                    <a:solidFill>
                      <a:srgbClr val="FFFFFF"/>
                    </a:solidFill>
                  </a:tcPr>
                </a:tc>
                <a:tc>
                  <a:txBody>
                    <a:bodyPr lIns="152400" tIns="85725" rIns="114300" bIns="85725">
                      <a:noAutofit/>
                    </a:bodyPr>
                    <a:lstStyle/>
                    <a:p>
                      <a:r>
                        <a:rPr sz="2025" b="0">
                          <a:solidFill>
                            <a:srgbClr val="314B46"/>
                          </a:solidFill>
                          <a:latin typeface="Microsoft JhengHei"/>
                          <a:ea typeface="Microsoft JhengHei"/>
                          <a:cs typeface="Microsoft JhengHei"/>
                        </a:rPr>
                        <a:t>2023-08-10</a:t>
                      </a:r>
                    </a:p>
                  </a:txBody>
                  <a:tcPr marL="91440" marR="91440" marT="45720" marB="45720" anchor="ctr">
                    <a:solidFill>
                      <a:srgbClr val="FFFFFF"/>
                    </a:solidFill>
                  </a:tcPr>
                </a:tc>
                <a:tc>
                  <a:txBody>
                    <a:bodyPr lIns="152400" tIns="85725" rIns="114300" bIns="85725">
                      <a:noAutofit/>
                    </a:bodyPr>
                    <a:lstStyle/>
                    <a:p>
                      <a:r>
                        <a:rPr sz="2025" b="0">
                          <a:solidFill>
                            <a:srgbClr val="314B46"/>
                          </a:solidFill>
                          <a:latin typeface="Microsoft JhengHei"/>
                          <a:ea typeface="Microsoft JhengHei"/>
                          <a:cs typeface="Microsoft JhengHei"/>
                        </a:rPr>
                        <a:t>2023-08-11 至 2024-08-10</a:t>
                      </a:r>
                    </a:p>
                  </a:txBody>
                  <a:tcPr marL="91440" marR="91440" marT="45720" marB="45720" anchor="ctr">
                    <a:solidFill>
                      <a:srgbClr val="FFFFFF"/>
                    </a:solidFill>
                  </a:tcPr>
                </a:tc>
              </a:tr>
            </a:tbl>
          </a:graphicData>
        </a:graphic>
      </p:graphicFrame>
      <p:sp>
        <p:nvSpPr>
          <p:cNvPr id="5" name="body">
            <a:extLst xmlns:a="http://schemas.openxmlformats.org/drawingml/2006/main">
              <a:ext uri="{FF2B5EF4-FFF2-40B4-BE49-F238E27FC236}">
                <a16:creationId xmlns:a16="http://schemas.microsoft.com/office/drawing/2014/main" id="{C3EDB70B-8CFC-486D-9AED-F6B3E4B12BF8}"/>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67364"/>
                </a:solidFill>
                <a:latin typeface="Microsoft JhengHei"/>
                <a:ea typeface="Microsoft JhengHei"/>
                <a:cs typeface="Microsoft JhengHei"/>
              </a:defRPr>
            </a:pPr>
            <a:r>
              <a:rPr sz="2025" b="1">
                <a:solidFill>
                  <a:srgbClr val="167364"/>
                </a:solidFill>
                <a:latin typeface="Microsoft JhengHei"/>
                <a:ea typeface="Microsoft JhengHei"/>
                <a:cs typeface="Microsoft JhengHei"/>
              </a:rPr>
              <a:t>模型、編碼與價格參考都只從當期學習資料建立</a:t>
            </a:r>
          </a:p>
        </p:txBody>
      </p:sp>
    </p:spTree>
    <p:extLst>
      <p:ext uri="{BB962C8B-B14F-4D97-AF65-F5344CB8AC3E}">
        <p14:creationId xmlns:p14="http://schemas.microsoft.com/office/powerpoint/2010/main" val="1202789701"/>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FE5BC28-6505-4558-A88A-D0B56F5A7180}"/>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樹模型與神經網路</a:t>
            </a:r>
          </a:p>
        </p:txBody>
      </p:sp>
      <p:sp>
        <p:nvSpPr>
          <p:cNvPr id="2" name="body">
            <a:extLst xmlns:a="http://schemas.openxmlformats.org/drawingml/2006/main">
              <a:ext uri="{FF2B5EF4-FFF2-40B4-BE49-F238E27FC236}">
                <a16:creationId xmlns:a16="http://schemas.microsoft.com/office/drawing/2014/main" id="{EFA0C0B4-1D06-4155-8FB5-1A683C3FA4A5}"/>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09</a:t>
            </a:r>
          </a:p>
        </p:txBody>
      </p:sp>
      <p:sp>
        <p:nvSpPr>
          <p:cNvPr id="3" name="body">
            <a:extLst xmlns:a="http://schemas.openxmlformats.org/drawingml/2006/main">
              <a:ext uri="{FF2B5EF4-FFF2-40B4-BE49-F238E27FC236}">
                <a16:creationId xmlns:a16="http://schemas.microsoft.com/office/drawing/2014/main" id="{61AAFE38-B3F9-43D9-A2BF-6C8D152DB2C9}"/>
              </a:ext>
            </a:extLst>
          </p:cNvPr>
          <p:cNvSpPr>
            <a:spLocks xmlns:a="http://schemas.openxmlformats.org/drawingml/2006/main" noGrp="1"/>
          </p:cNvSpPr>
          <p:nvPr/>
        </p:nvSpPr>
        <p:spPr>
          <a:xfrm xmlns:a="http://schemas.openxmlformats.org/drawingml/2006/main">
            <a:off x="666750" y="160020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67364"/>
                </a:solidFill>
                <a:latin typeface="Microsoft JhengHei"/>
                <a:ea typeface="Microsoft JhengHei"/>
                <a:cs typeface="Microsoft JhengHei"/>
              </a:defRPr>
            </a:pPr>
            <a:r>
              <a:rPr sz="2475" b="1">
                <a:solidFill>
                  <a:srgbClr val="167364"/>
                </a:solidFill>
                <a:latin typeface="Microsoft JhengHei"/>
                <a:ea typeface="Microsoft JhengHei"/>
                <a:cs typeface="Microsoft JhengHei"/>
              </a:rPr>
              <a:t>樹模型</a:t>
            </a:r>
          </a:p>
        </p:txBody>
      </p:sp>
      <p:sp>
        <p:nvSpPr>
          <p:cNvPr id="4" name="body">
            <a:extLst xmlns:a="http://schemas.openxmlformats.org/drawingml/2006/main">
              <a:ext uri="{FF2B5EF4-FFF2-40B4-BE49-F238E27FC236}">
                <a16:creationId xmlns:a16="http://schemas.microsoft.com/office/drawing/2014/main" id="{AE051A47-9016-4700-AA43-E49905983DC8}"/>
              </a:ext>
            </a:extLst>
          </p:cNvPr>
          <p:cNvSpPr>
            <a:spLocks xmlns:a="http://schemas.openxmlformats.org/drawingml/2006/main" noGrp="1"/>
          </p:cNvSpPr>
          <p:nvPr/>
        </p:nvSpPr>
        <p:spPr>
          <a:xfrm xmlns:a="http://schemas.openxmlformats.org/drawingml/2006/main">
            <a:off x="4410075" y="160020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依資料條件逐步分群，再估計價格</a:t>
            </a:r>
          </a:p>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例如同區、面積、樓層共同影響估價</a:t>
            </a:r>
          </a:p>
        </p:txBody>
      </p:sp>
      <p:sp>
        <p:nvSpPr>
          <p:cNvPr id="5" name="body">
            <a:extLst xmlns:a="http://schemas.openxmlformats.org/drawingml/2006/main">
              <a:ext uri="{FF2B5EF4-FFF2-40B4-BE49-F238E27FC236}">
                <a16:creationId xmlns:a16="http://schemas.microsoft.com/office/drawing/2014/main" id="{DF88C92F-2D13-4D30-ACA4-C24278A36460}"/>
              </a:ext>
            </a:extLst>
          </p:cNvPr>
          <p:cNvSpPr>
            <a:spLocks xmlns:a="http://schemas.openxmlformats.org/drawingml/2006/main" noGrp="1"/>
          </p:cNvSpPr>
          <p:nvPr/>
        </p:nvSpPr>
        <p:spPr>
          <a:xfrm xmlns:a="http://schemas.openxmlformats.org/drawingml/2006/main">
            <a:off x="4410075" y="2876550"/>
            <a:ext cx="70199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27570"/>
                </a:solidFill>
                <a:latin typeface="Microsoft JhengHei"/>
                <a:ea typeface="Microsoft JhengHei"/>
                <a:cs typeface="Microsoft JhengHei"/>
              </a:defRPr>
            </a:pPr>
            <a:r>
              <a:rPr sz="2025" b="0">
                <a:solidFill>
                  <a:srgbClr val="627570"/>
                </a:solidFill>
                <a:latin typeface="Microsoft JhengHei"/>
                <a:ea typeface="Microsoft JhengHei"/>
                <a:cs typeface="Microsoft JhengHei"/>
              </a:rPr>
              <a:t>CatBoost 與 LightGBM 會讓多棵樹逐步修正誤差</a:t>
            </a:r>
          </a:p>
        </p:txBody>
      </p:sp>
      <p:sp>
        <p:nvSpPr>
          <p:cNvPr id="6" name="body">
            <a:extLst xmlns:a="http://schemas.openxmlformats.org/drawingml/2006/main">
              <a:ext uri="{FF2B5EF4-FFF2-40B4-BE49-F238E27FC236}">
                <a16:creationId xmlns:a16="http://schemas.microsoft.com/office/drawing/2014/main" id="{46901727-BEA5-4F71-BAC2-9774B0F0ED72}"/>
              </a:ext>
            </a:extLst>
          </p:cNvPr>
          <p:cNvSpPr>
            <a:spLocks xmlns:a="http://schemas.openxmlformats.org/drawingml/2006/main" noGrp="1"/>
          </p:cNvSpPr>
          <p:nvPr/>
        </p:nvSpPr>
        <p:spPr>
          <a:xfrm xmlns:a="http://schemas.openxmlformats.org/drawingml/2006/main">
            <a:off x="666750" y="403860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67364"/>
                </a:solidFill>
                <a:latin typeface="Microsoft JhengHei"/>
                <a:ea typeface="Microsoft JhengHei"/>
                <a:cs typeface="Microsoft JhengHei"/>
              </a:defRPr>
            </a:pPr>
            <a:r>
              <a:rPr sz="2475" b="1">
                <a:solidFill>
                  <a:srgbClr val="167364"/>
                </a:solidFill>
                <a:latin typeface="Microsoft JhengHei"/>
                <a:ea typeface="Microsoft JhengHei"/>
                <a:cs typeface="Microsoft JhengHei"/>
              </a:rPr>
              <a:t>表格神經網路</a:t>
            </a:r>
          </a:p>
        </p:txBody>
      </p:sp>
      <p:sp>
        <p:nvSpPr>
          <p:cNvPr id="7" name="body">
            <a:extLst xmlns:a="http://schemas.openxmlformats.org/drawingml/2006/main">
              <a:ext uri="{FF2B5EF4-FFF2-40B4-BE49-F238E27FC236}">
                <a16:creationId xmlns:a16="http://schemas.microsoft.com/office/drawing/2014/main" id="{BA249E41-AD8F-4EE4-B1DC-0845BBD00310}"/>
              </a:ext>
            </a:extLst>
          </p:cNvPr>
          <p:cNvSpPr>
            <a:spLocks xmlns:a="http://schemas.openxmlformats.org/drawingml/2006/main" noGrp="1"/>
          </p:cNvSpPr>
          <p:nvPr/>
        </p:nvSpPr>
        <p:spPr>
          <a:xfrm xmlns:a="http://schemas.openxmlformats.org/drawingml/2006/main">
            <a:off x="4410075" y="403860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把數值和類別轉成可學習的表示</a:t>
            </a:r>
          </a:p>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再透過多層計算估計價格</a:t>
            </a:r>
          </a:p>
        </p:txBody>
      </p:sp>
      <p:sp>
        <p:nvSpPr>
          <p:cNvPr id="8" name="body">
            <a:extLst xmlns:a="http://schemas.openxmlformats.org/drawingml/2006/main">
              <a:ext uri="{FF2B5EF4-FFF2-40B4-BE49-F238E27FC236}">
                <a16:creationId xmlns:a16="http://schemas.microsoft.com/office/drawing/2014/main" id="{0CC6A084-14CA-49A0-85CD-47D408B9C6F9}"/>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67364"/>
                </a:solidFill>
                <a:latin typeface="Microsoft JhengHei"/>
                <a:ea typeface="Microsoft JhengHei"/>
                <a:cs typeface="Microsoft JhengHei"/>
              </a:defRPr>
            </a:pPr>
            <a:r>
              <a:rPr sz="1950" b="0">
                <a:solidFill>
                  <a:srgbClr val="167364"/>
                </a:solidFill>
                <a:latin typeface="Microsoft JhengHei"/>
                <a:ea typeface="Microsoft JhengHei"/>
                <a:cs typeface="Microsoft JhengHei"/>
              </a:rPr>
              <a:t>使用多種模型的目的是嘗試不同估計方式，效果仍要靠回測</a:t>
            </a:r>
          </a:p>
        </p:txBody>
      </p:sp>
    </p:spTree>
    <p:extLst>
      <p:ext uri="{BB962C8B-B14F-4D97-AF65-F5344CB8AC3E}">
        <p14:creationId xmlns:p14="http://schemas.microsoft.com/office/powerpoint/2010/main" val="485838508"/>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FEA13C1-FE28-471B-B0EC-967C23CEC5E7}"/>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總價、單價與對數</a:t>
            </a:r>
          </a:p>
        </p:txBody>
      </p:sp>
      <p:sp>
        <p:nvSpPr>
          <p:cNvPr id="2" name="body">
            <a:extLst xmlns:a="http://schemas.openxmlformats.org/drawingml/2006/main">
              <a:ext uri="{FF2B5EF4-FFF2-40B4-BE49-F238E27FC236}">
                <a16:creationId xmlns:a16="http://schemas.microsoft.com/office/drawing/2014/main" id="{149C3A01-3699-4E03-94EA-822BEA74E35B}"/>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10</a:t>
            </a:r>
          </a:p>
        </p:txBody>
      </p:sp>
      <p:sp>
        <p:nvSpPr>
          <p:cNvPr id="3" name="body">
            <a:extLst xmlns:a="http://schemas.openxmlformats.org/drawingml/2006/main">
              <a:ext uri="{FF2B5EF4-FFF2-40B4-BE49-F238E27FC236}">
                <a16:creationId xmlns:a16="http://schemas.microsoft.com/office/drawing/2014/main" id="{FE92B7DB-11A0-453D-8C03-EE8FCEDF486E}"/>
              </a:ext>
            </a:extLst>
          </p:cNvPr>
          <p:cNvSpPr>
            <a:spLocks xmlns:a="http://schemas.openxmlformats.org/drawingml/2006/main" noGrp="1"/>
          </p:cNvSpPr>
          <p:nvPr/>
        </p:nvSpPr>
        <p:spPr>
          <a:xfrm xmlns:a="http://schemas.openxmlformats.org/drawingml/2006/main">
            <a:off x="666750" y="149542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67364"/>
                </a:solidFill>
                <a:latin typeface="Microsoft JhengHei"/>
                <a:ea typeface="Microsoft JhengHei"/>
                <a:cs typeface="Microsoft JhengHei"/>
              </a:defRPr>
            </a:pPr>
            <a:r>
              <a:rPr sz="3000" b="1">
                <a:solidFill>
                  <a:srgbClr val="167364"/>
                </a:solidFill>
                <a:latin typeface="Microsoft JhengHei"/>
                <a:ea typeface="Microsoft JhengHei"/>
                <a:cs typeface="Microsoft JhengHei"/>
              </a:rPr>
              <a:t>總價 = 單價 × 面積</a:t>
            </a:r>
          </a:p>
        </p:txBody>
      </p:sp>
      <p:graphicFrame>
        <p:nvGraphicFramePr>
          <p:cNvPr id="10" name=""/>
          <p:cNvGraphicFramePr/>
          <p:nvPr/>
        </p:nvGraphicFramePr>
        <p:xfrm>
          <a:off xmlns:a="http://schemas.openxmlformats.org/drawingml/2006/main" x="666750" y="2466975"/>
          <a:ext xmlns:a="http://schemas.openxmlformats.org/drawingml/2006/main" cx="10839450" cy="2286000"/>
        </p:xfrm>
        <a:graphic xmlns:a="http://schemas.openxmlformats.org/drawingml/2006/main">
          <a:graphicData uri="http://schemas.openxmlformats.org/drawingml/2006/table">
            <a:tbl>
              <a:tblPr/>
              <a:tblGrid>
                <a:gridCol w="3429000"/>
                <a:gridCol w="3705225"/>
                <a:gridCol w="3705225"/>
              </a:tblGrid>
              <a:tr h="762000">
                <a:tc>
                  <a:txBody>
                    <a:bodyPr lIns="152400" tIns="85725" rIns="114300" bIns="85725">
                      <a:noAutofit/>
                    </a:bodyPr>
                    <a:lstStyle/>
                    <a:p>
                      <a:r>
                        <a:rPr sz="2175" b="1">
                          <a:solidFill>
                            <a:srgbClr val="FFFFFF"/>
                          </a:solidFill>
                          <a:latin typeface="Microsoft JhengHei"/>
                          <a:ea typeface="Microsoft JhengHei"/>
                          <a:cs typeface="Microsoft JhengHei"/>
                        </a:rPr>
                        <a:t>教學假設</a:t>
                      </a:r>
                    </a:p>
                  </a:txBody>
                  <a:tcPr marL="91440" marR="91440" marT="45720" marB="45720" anchor="ctr">
                    <a:solidFill>
                      <a:srgbClr val="173C38"/>
                    </a:solidFill>
                  </a:tcPr>
                </a:tc>
                <a:tc>
                  <a:txBody>
                    <a:bodyPr lIns="152400" tIns="85725" rIns="114300" bIns="85725">
                      <a:noAutofit/>
                    </a:bodyPr>
                    <a:lstStyle/>
                    <a:p>
                      <a:r>
                        <a:rPr sz="2175" b="1">
                          <a:solidFill>
                            <a:srgbClr val="FFFFFF"/>
                          </a:solidFill>
                          <a:latin typeface="Microsoft JhengHei"/>
                          <a:ea typeface="Microsoft JhengHei"/>
                          <a:cs typeface="Microsoft JhengHei"/>
                        </a:rPr>
                        <a:t>單價估錯</a:t>
                      </a:r>
                    </a:p>
                  </a:txBody>
                  <a:tcPr marL="91440" marR="91440" marT="45720" marB="45720" anchor="ctr">
                    <a:solidFill>
                      <a:srgbClr val="173C38"/>
                    </a:solidFill>
                  </a:tcPr>
                </a:tc>
                <a:tc>
                  <a:txBody>
                    <a:bodyPr lIns="152400" tIns="85725" rIns="114300" bIns="85725">
                      <a:noAutofit/>
                    </a:bodyPr>
                    <a:lstStyle/>
                    <a:p>
                      <a:r>
                        <a:rPr sz="2175" b="1">
                          <a:solidFill>
                            <a:srgbClr val="FFFFFF"/>
                          </a:solidFill>
                          <a:latin typeface="Microsoft JhengHei"/>
                          <a:ea typeface="Microsoft JhengHei"/>
                          <a:cs typeface="Microsoft JhengHei"/>
                        </a:rPr>
                        <a:t>造成的總價誤差</a:t>
                      </a:r>
                    </a:p>
                  </a:txBody>
                  <a:tcPr marL="91440" marR="91440" marT="45720" marB="45720" anchor="ctr">
                    <a:solidFill>
                      <a:srgbClr val="173C38"/>
                    </a:solidFill>
                  </a:tcPr>
                </a:tc>
              </a:tr>
              <a:tr h="762000">
                <a:tc>
                  <a:txBody>
                    <a:bodyPr lIns="152400" tIns="85725" rIns="114300" bIns="85725">
                      <a:noAutofit/>
                    </a:bodyPr>
                    <a:lstStyle/>
                    <a:p>
                      <a:r>
                        <a:rPr sz="2175" b="0">
                          <a:solidFill>
                            <a:srgbClr val="314B46"/>
                          </a:solidFill>
                          <a:latin typeface="Microsoft JhengHei"/>
                          <a:ea typeface="Microsoft JhengHei"/>
                          <a:cs typeface="Microsoft JhengHei"/>
                        </a:rPr>
                        <a:t>50 平方公尺</a:t>
                      </a:r>
                    </a:p>
                  </a:txBody>
                  <a:tcPr marL="91440" marR="91440" marT="45720" marB="45720" anchor="ctr">
                    <a:solidFill>
                      <a:srgbClr val="FFFFFF"/>
                    </a:solidFill>
                  </a:tcPr>
                </a:tc>
                <a:tc>
                  <a:txBody>
                    <a:bodyPr lIns="152400" tIns="85725" rIns="114300" bIns="85725">
                      <a:noAutofit/>
                    </a:bodyPr>
                    <a:lstStyle/>
                    <a:p>
                      <a:r>
                        <a:rPr sz="2175" b="0">
                          <a:solidFill>
                            <a:srgbClr val="314B46"/>
                          </a:solidFill>
                          <a:latin typeface="Microsoft JhengHei"/>
                          <a:ea typeface="Microsoft JhengHei"/>
                          <a:cs typeface="Microsoft JhengHei"/>
                        </a:rPr>
                        <a:t>每平方公尺 1 萬元</a:t>
                      </a:r>
                    </a:p>
                  </a:txBody>
                  <a:tcPr marL="91440" marR="91440" marT="45720" marB="45720" anchor="ctr">
                    <a:solidFill>
                      <a:srgbClr val="FFFFFF"/>
                    </a:solidFill>
                  </a:tcPr>
                </a:tc>
                <a:tc>
                  <a:txBody>
                    <a:bodyPr lIns="152400" tIns="85725" rIns="114300" bIns="85725">
                      <a:noAutofit/>
                    </a:bodyPr>
                    <a:lstStyle/>
                    <a:p>
                      <a:r>
                        <a:rPr sz="2175" b="0">
                          <a:solidFill>
                            <a:srgbClr val="314B46"/>
                          </a:solidFill>
                          <a:latin typeface="Microsoft JhengHei"/>
                          <a:ea typeface="Microsoft JhengHei"/>
                          <a:cs typeface="Microsoft JhengHei"/>
                        </a:rPr>
                        <a:t>50 萬元</a:t>
                      </a:r>
                    </a:p>
                  </a:txBody>
                  <a:tcPr marL="91440" marR="91440" marT="45720" marB="45720" anchor="ctr">
                    <a:solidFill>
                      <a:srgbClr val="FFFFFF"/>
                    </a:solidFill>
                  </a:tcPr>
                </a:tc>
              </a:tr>
              <a:tr h="762000">
                <a:tc>
                  <a:txBody>
                    <a:bodyPr lIns="152400" tIns="85725" rIns="114300" bIns="85725">
                      <a:noAutofit/>
                    </a:bodyPr>
                    <a:lstStyle/>
                    <a:p>
                      <a:r>
                        <a:rPr sz="2175" b="0">
                          <a:solidFill>
                            <a:srgbClr val="314B46"/>
                          </a:solidFill>
                          <a:latin typeface="Microsoft JhengHei"/>
                          <a:ea typeface="Microsoft JhengHei"/>
                          <a:cs typeface="Microsoft JhengHei"/>
                        </a:rPr>
                        <a:t>100 平方公尺</a:t>
                      </a:r>
                    </a:p>
                  </a:txBody>
                  <a:tcPr marL="91440" marR="91440" marT="45720" marB="45720" anchor="ctr">
                    <a:solidFill>
                      <a:srgbClr val="E4EDE6"/>
                    </a:solidFill>
                  </a:tcPr>
                </a:tc>
                <a:tc>
                  <a:txBody>
                    <a:bodyPr lIns="152400" tIns="85725" rIns="114300" bIns="85725">
                      <a:noAutofit/>
                    </a:bodyPr>
                    <a:lstStyle/>
                    <a:p>
                      <a:r>
                        <a:rPr sz="2175" b="0">
                          <a:solidFill>
                            <a:srgbClr val="314B46"/>
                          </a:solidFill>
                          <a:latin typeface="Microsoft JhengHei"/>
                          <a:ea typeface="Microsoft JhengHei"/>
                          <a:cs typeface="Microsoft JhengHei"/>
                        </a:rPr>
                        <a:t>每平方公尺 1 萬元</a:t>
                      </a:r>
                    </a:p>
                  </a:txBody>
                  <a:tcPr marL="91440" marR="91440" marT="45720" marB="45720" anchor="ctr">
                    <a:solidFill>
                      <a:srgbClr val="E4EDE6"/>
                    </a:solidFill>
                  </a:tcPr>
                </a:tc>
                <a:tc>
                  <a:txBody>
                    <a:bodyPr lIns="152400" tIns="85725" rIns="114300" bIns="85725">
                      <a:noAutofit/>
                    </a:bodyPr>
                    <a:lstStyle/>
                    <a:p>
                      <a:r>
                        <a:rPr sz="2175" b="0">
                          <a:solidFill>
                            <a:srgbClr val="314B46"/>
                          </a:solidFill>
                          <a:latin typeface="Microsoft JhengHei"/>
                          <a:ea typeface="Microsoft JhengHei"/>
                          <a:cs typeface="Microsoft JhengHei"/>
                        </a:rPr>
                        <a:t>100 萬元</a:t>
                      </a:r>
                    </a:p>
                  </a:txBody>
                  <a:tcPr marL="91440" marR="91440" marT="45720" marB="45720" anchor="ctr">
                    <a:solidFill>
                      <a:srgbClr val="E4EDE6"/>
                    </a:solidFill>
                  </a:tcPr>
                </a:tc>
              </a:tr>
            </a:tbl>
          </a:graphicData>
        </a:graphic>
      </p:graphicFrame>
      <p:sp>
        <p:nvSpPr>
          <p:cNvPr id="5" name="body">
            <a:extLst xmlns:a="http://schemas.openxmlformats.org/drawingml/2006/main">
              <a:ext uri="{FF2B5EF4-FFF2-40B4-BE49-F238E27FC236}">
                <a16:creationId xmlns:a16="http://schemas.microsoft.com/office/drawing/2014/main" id="{378EE146-3BC8-4B4A-943C-54A845AF52E4}"/>
              </a:ext>
            </a:extLst>
          </p:cNvPr>
          <p:cNvSpPr>
            <a:spLocks xmlns:a="http://schemas.openxmlformats.org/drawingml/2006/main" noGrp="1"/>
          </p:cNvSpPr>
          <p:nvPr/>
        </p:nvSpPr>
        <p:spPr>
          <a:xfrm xmlns:a="http://schemas.openxmlformats.org/drawingml/2006/main">
            <a:off x="666750" y="515302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67364"/>
                </a:solidFill>
                <a:latin typeface="Microsoft JhengHei"/>
                <a:ea typeface="Microsoft JhengHei"/>
                <a:cs typeface="Microsoft JhengHei"/>
              </a:defRPr>
            </a:pPr>
            <a:r>
              <a:rPr sz="2250" b="1">
                <a:solidFill>
                  <a:srgbClr val="167364"/>
                </a:solidFill>
                <a:latin typeface="Microsoft JhengHei"/>
                <a:ea typeface="Microsoft JhengHei"/>
                <a:cs typeface="Microsoft JhengHei"/>
              </a:rPr>
              <a:t>面積權重讓單價模型更貼近「總共差多少錢」</a:t>
            </a:r>
          </a:p>
        </p:txBody>
      </p:sp>
      <p:sp>
        <p:nvSpPr>
          <p:cNvPr id="6" name="body">
            <a:extLst xmlns:a="http://schemas.openxmlformats.org/drawingml/2006/main">
              <a:ext uri="{FF2B5EF4-FFF2-40B4-BE49-F238E27FC236}">
                <a16:creationId xmlns:a16="http://schemas.microsoft.com/office/drawing/2014/main" id="{86342ECE-EAAF-40AB-9AB6-1AF69DBEB913}"/>
              </a:ext>
            </a:extLst>
          </p:cNvPr>
          <p:cNvSpPr>
            <a:spLocks xmlns:a="http://schemas.openxmlformats.org/drawingml/2006/main" noGrp="1"/>
          </p:cNvSpPr>
          <p:nvPr/>
        </p:nvSpPr>
        <p:spPr>
          <a:xfrm xmlns:a="http://schemas.openxmlformats.org/drawingml/2006/main">
            <a:off x="666750" y="5857875"/>
            <a:ext cx="10839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27570"/>
                </a:solidFill>
                <a:latin typeface="Microsoft JhengHei"/>
                <a:ea typeface="Microsoft JhengHei"/>
                <a:cs typeface="Microsoft JhengHei"/>
              </a:defRPr>
            </a:pPr>
            <a:r>
              <a:rPr sz="1950" b="0">
                <a:solidFill>
                  <a:srgbClr val="627570"/>
                </a:solidFill>
                <a:latin typeface="Microsoft JhengHei"/>
                <a:ea typeface="Microsoft JhengHei"/>
                <a:cs typeface="Microsoft JhengHei"/>
              </a:rPr>
              <a:t>另一種表示使用 log 壓縮價格尺度，最後都還原成總價元</a:t>
            </a:r>
          </a:p>
        </p:txBody>
      </p:sp>
    </p:spTree>
    <p:extLst>
      <p:ext uri="{BB962C8B-B14F-4D97-AF65-F5344CB8AC3E}">
        <p14:creationId xmlns:p14="http://schemas.microsoft.com/office/powerpoint/2010/main" val="291820948"/>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E998550-14D8-4F3F-BA12-7D47E30DF611}"/>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近期成交權重</a:t>
            </a:r>
          </a:p>
        </p:txBody>
      </p:sp>
      <p:sp>
        <p:nvSpPr>
          <p:cNvPr id="2" name="body">
            <a:extLst xmlns:a="http://schemas.openxmlformats.org/drawingml/2006/main">
              <a:ext uri="{FF2B5EF4-FFF2-40B4-BE49-F238E27FC236}">
                <a16:creationId xmlns:a16="http://schemas.microsoft.com/office/drawing/2014/main" id="{84F85643-1067-43EB-BE94-8A219BAC3393}"/>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11</a:t>
            </a:r>
          </a:p>
        </p:txBody>
      </p:sp>
      <p:sp>
        <p:nvSpPr>
          <p:cNvPr id="3" name="body">
            <a:extLst xmlns:a="http://schemas.openxmlformats.org/drawingml/2006/main">
              <a:ext uri="{FF2B5EF4-FFF2-40B4-BE49-F238E27FC236}">
                <a16:creationId xmlns:a16="http://schemas.microsoft.com/office/drawing/2014/main" id="{71F5F4E5-8B18-43C8-9731-D7F963B4EE87}"/>
              </a:ext>
            </a:extLst>
          </p:cNvPr>
          <p:cNvSpPr>
            <a:spLocks xmlns:a="http://schemas.openxmlformats.org/drawingml/2006/main" noGrp="1"/>
          </p:cNvSpPr>
          <p:nvPr/>
        </p:nvSpPr>
        <p:spPr>
          <a:xfrm xmlns:a="http://schemas.openxmlformats.org/drawingml/2006/main">
            <a:off x="666750" y="1485900"/>
            <a:ext cx="10839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627570"/>
                </a:solidFill>
                <a:latin typeface="Microsoft JhengHei"/>
                <a:ea typeface="Microsoft JhengHei"/>
                <a:cs typeface="Microsoft JhengHei"/>
              </a:defRPr>
            </a:pPr>
            <a:r>
              <a:rPr sz="2175" b="0">
                <a:solidFill>
                  <a:srgbClr val="627570"/>
                </a:solidFill>
                <a:latin typeface="Microsoft JhengHei"/>
                <a:ea typeface="Microsoft JhengHei"/>
                <a:cs typeface="Microsoft JhengHei"/>
              </a:rPr>
              <a:t>相對日期權重，未正規化的示意</a:t>
            </a:r>
          </a:p>
        </p:txBody>
      </p:sp>
      <p:graphicFrame>
        <p:nvGraphicFramePr>
          <p:cNvPr id="9" name="Chart"/>
          <p:cNvGraphicFramePr/>
          <p:nvPr/>
        </p:nvGraphicFramePr>
        <p:xfrm>
          <a:off xmlns:a="http://schemas.openxmlformats.org/drawingml/2006/main" x="666750" y="2152650"/>
          <a:ext xmlns:a="http://schemas.openxmlformats.org/drawingml/2006/main" cx="10668000" cy="2962275"/>
        </p:xfrm>
        <a:graphic xmlns:a="http://schemas.openxmlformats.org/drawingml/2006/main">
          <a:graphicData uri="http://schemas.openxmlformats.org/drawingml/2006/chart">
            <c:chart xmlns:r="http://schemas.openxmlformats.org/officeDocument/2006/relationships" xmlns:c="http://schemas.openxmlformats.org/drawingml/2006/chart" r:id="R4d2d19083ce24d57"/>
          </a:graphicData>
        </a:graphic>
      </p:graphicFrame>
      <p:sp>
        <p:nvSpPr>
          <p:cNvPr id="5" name="body">
            <a:extLst xmlns:a="http://schemas.openxmlformats.org/drawingml/2006/main">
              <a:ext uri="{FF2B5EF4-FFF2-40B4-BE49-F238E27FC236}">
                <a16:creationId xmlns:a16="http://schemas.microsoft.com/office/drawing/2014/main" id="{7B53E4BC-BF1F-4686-B4A5-8A2D9D497B58}"/>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67364"/>
                </a:solidFill>
                <a:latin typeface="Microsoft JhengHei"/>
                <a:ea typeface="Microsoft JhengHei"/>
                <a:cs typeface="Microsoft JhengHei"/>
              </a:defRPr>
            </a:pPr>
            <a:r>
              <a:rPr sz="2175" b="1">
                <a:solidFill>
                  <a:srgbClr val="167364"/>
                </a:solidFill>
                <a:latin typeface="Microsoft JhengHei"/>
                <a:ea typeface="Microsoft JhengHei"/>
                <a:cs typeface="Microsoft JhengHei"/>
              </a:rPr>
              <a:t>365 日半衰期：較近的成交在訓練中占較大比重</a:t>
            </a:r>
          </a:p>
        </p:txBody>
      </p:sp>
    </p:spTree>
    <p:extLst>
      <p:ext uri="{BB962C8B-B14F-4D97-AF65-F5344CB8AC3E}">
        <p14:creationId xmlns:p14="http://schemas.microsoft.com/office/powerpoint/2010/main" val="1131116445"/>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489EA0D-FFD4-4816-886D-B1D1D5C16912}"/>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價格先驗與分組學習</a:t>
            </a:r>
          </a:p>
        </p:txBody>
      </p:sp>
      <p:sp>
        <p:nvSpPr>
          <p:cNvPr id="2" name="body">
            <a:extLst xmlns:a="http://schemas.openxmlformats.org/drawingml/2006/main">
              <a:ext uri="{FF2B5EF4-FFF2-40B4-BE49-F238E27FC236}">
                <a16:creationId xmlns:a16="http://schemas.microsoft.com/office/drawing/2014/main" id="{E548DBA9-30CC-49D2-B5FA-253EB6F3503C}"/>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12</a:t>
            </a:r>
          </a:p>
        </p:txBody>
      </p:sp>
      <p:sp>
        <p:nvSpPr>
          <p:cNvPr id="3" name="body">
            <a:extLst xmlns:a="http://schemas.openxmlformats.org/drawingml/2006/main">
              <a:ext uri="{FF2B5EF4-FFF2-40B4-BE49-F238E27FC236}">
                <a16:creationId xmlns:a16="http://schemas.microsoft.com/office/drawing/2014/main" id="{4F8CFBC5-E4B7-438B-8B69-02734D02D683}"/>
              </a:ext>
            </a:extLst>
          </p:cNvPr>
          <p:cNvSpPr>
            <a:spLocks xmlns:a="http://schemas.openxmlformats.org/drawingml/2006/main" noGrp="1"/>
          </p:cNvSpPr>
          <p:nvPr/>
        </p:nvSpPr>
        <p:spPr>
          <a:xfrm xmlns:a="http://schemas.openxmlformats.org/drawingml/2006/main">
            <a:off x="666750" y="1524000"/>
            <a:ext cx="10839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67364"/>
                </a:solidFill>
                <a:latin typeface="Microsoft JhengHei"/>
                <a:ea typeface="Microsoft JhengHei"/>
                <a:cs typeface="Microsoft JhengHei"/>
              </a:defRPr>
            </a:pPr>
            <a:r>
              <a:rPr sz="2550" b="1">
                <a:solidFill>
                  <a:srgbClr val="167364"/>
                </a:solidFill>
                <a:latin typeface="Microsoft JhengHei"/>
                <a:ea typeface="Microsoft JhengHei"/>
                <a:cs typeface="Microsoft JhengHei"/>
              </a:rPr>
              <a:t>價格先驗：先從已知成交，估一個參考單價</a:t>
            </a:r>
          </a:p>
        </p:txBody>
      </p:sp>
      <p:graphicFrame>
        <p:nvGraphicFramePr>
          <p:cNvPr id="9" name=""/>
          <p:cNvGraphicFramePr/>
          <p:nvPr/>
        </p:nvGraphicFramePr>
        <p:xfrm>
          <a:off xmlns:a="http://schemas.openxmlformats.org/drawingml/2006/main" x="666750" y="2609850"/>
          <a:ext xmlns:a="http://schemas.openxmlformats.org/drawingml/2006/main" cx="10839450" cy="2686050"/>
        </p:xfrm>
        <a:graphic xmlns:a="http://schemas.openxmlformats.org/drawingml/2006/main">
          <a:graphicData uri="http://schemas.openxmlformats.org/drawingml/2006/table">
            <a:tbl>
              <a:tblPr/>
              <a:tblGrid>
                <a:gridCol w="2952750"/>
                <a:gridCol w="3810000"/>
                <a:gridCol w="4076700"/>
              </a:tblGrid>
              <a:tr h="671513">
                <a:tc>
                  <a:txBody>
                    <a:bodyPr lIns="152400" tIns="85725" rIns="114300" bIns="85725">
                      <a:noAutofit/>
                    </a:bodyPr>
                    <a:lstStyle/>
                    <a:p>
                      <a:r>
                        <a:rPr sz="1875" b="1">
                          <a:solidFill>
                            <a:srgbClr val="FFFFFF"/>
                          </a:solidFill>
                          <a:latin typeface="Microsoft JhengHei"/>
                          <a:ea typeface="Microsoft JhengHei"/>
                          <a:cs typeface="Microsoft JhengHei"/>
                        </a:rPr>
                        <a:t>建立誰的價格先驗</a:t>
                      </a:r>
                    </a:p>
                  </a:txBody>
                  <a:tcPr marL="91440" marR="91440" marT="45720" marB="45720" anchor="ctr">
                    <a:solidFill>
                      <a:srgbClr val="173C38"/>
                    </a:solidFill>
                  </a:tcPr>
                </a:tc>
                <a:tc>
                  <a:txBody>
                    <a:bodyPr lIns="152400" tIns="85725" rIns="114300" bIns="85725">
                      <a:noAutofit/>
                    </a:bodyPr>
                    <a:lstStyle/>
                    <a:p>
                      <a:r>
                        <a:rPr sz="1875" b="1">
                          <a:solidFill>
                            <a:srgbClr val="FFFFFF"/>
                          </a:solidFill>
                          <a:latin typeface="Microsoft JhengHei"/>
                          <a:ea typeface="Microsoft JhengHei"/>
                          <a:cs typeface="Microsoft JhengHei"/>
                        </a:rPr>
                        <a:t>參考價格來自</a:t>
                      </a:r>
                    </a:p>
                  </a:txBody>
                  <a:tcPr marL="91440" marR="91440" marT="45720" marB="45720" anchor="ctr">
                    <a:solidFill>
                      <a:srgbClr val="173C38"/>
                    </a:solidFill>
                  </a:tcPr>
                </a:tc>
                <a:tc>
                  <a:txBody>
                    <a:bodyPr lIns="152400" tIns="85725" rIns="114300" bIns="85725">
                      <a:noAutofit/>
                    </a:bodyPr>
                    <a:lstStyle/>
                    <a:p>
                      <a:r>
                        <a:rPr sz="1875" b="1">
                          <a:solidFill>
                            <a:srgbClr val="FFFFFF"/>
                          </a:solidFill>
                          <a:latin typeface="Microsoft JhengHei"/>
                          <a:ea typeface="Microsoft JhengHei"/>
                          <a:cs typeface="Microsoft JhengHei"/>
                        </a:rPr>
                        <a:t>避開的問題</a:t>
                      </a:r>
                    </a:p>
                  </a:txBody>
                  <a:tcPr marL="91440" marR="91440" marT="45720" marB="45720" anchor="ctr">
                    <a:solidFill>
                      <a:srgbClr val="173C38"/>
                    </a:solidFill>
                  </a:tcPr>
                </a:tc>
              </a:tr>
              <a:tr h="671513">
                <a:tc>
                  <a:txBody>
                    <a:bodyPr lIns="152400" tIns="85725" rIns="114300" bIns="85725">
                      <a:noAutofit/>
                    </a:bodyPr>
                    <a:lstStyle/>
                    <a:p>
                      <a:r>
                        <a:rPr sz="1875" b="0">
                          <a:solidFill>
                            <a:srgbClr val="314B46"/>
                          </a:solidFill>
                          <a:latin typeface="Microsoft JhengHei"/>
                          <a:ea typeface="Microsoft JhengHei"/>
                          <a:cs typeface="Microsoft JhengHei"/>
                        </a:rPr>
                        <a:t>第 1 組建案</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其餘 4 組的已知成交</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把本組答案塞回自己的特徵</a:t>
                      </a:r>
                    </a:p>
                  </a:txBody>
                  <a:tcPr marL="91440" marR="91440" marT="45720" marB="45720" anchor="ctr">
                    <a:solidFill>
                      <a:srgbClr val="FFFFFF"/>
                    </a:solidFill>
                  </a:tcPr>
                </a:tc>
              </a:tr>
              <a:tr h="671513">
                <a:tc>
                  <a:txBody>
                    <a:bodyPr lIns="152400" tIns="85725" rIns="114300" bIns="85725">
                      <a:noAutofit/>
                    </a:bodyPr>
                    <a:lstStyle/>
                    <a:p>
                      <a:r>
                        <a:rPr sz="1875" b="0">
                          <a:solidFill>
                            <a:srgbClr val="314B46"/>
                          </a:solidFill>
                          <a:latin typeface="Microsoft JhengHei"/>
                          <a:ea typeface="Microsoft JhengHei"/>
                          <a:cs typeface="Microsoft JhengHei"/>
                        </a:rPr>
                        <a:t>第 2 組建案</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其餘 4 組的已知成交</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同樣排除自己的建案組</a:t>
                      </a:r>
                    </a:p>
                  </a:txBody>
                  <a:tcPr marL="91440" marR="91440" marT="45720" marB="45720" anchor="ctr">
                    <a:solidFill>
                      <a:srgbClr val="E4EDE6"/>
                    </a:solidFill>
                  </a:tcPr>
                </a:tc>
              </a:tr>
              <a:tr h="671513">
                <a:tc>
                  <a:txBody>
                    <a:bodyPr lIns="152400" tIns="85725" rIns="114300" bIns="85725">
                      <a:noAutofit/>
                    </a:bodyPr>
                    <a:lstStyle/>
                    <a:p>
                      <a:r>
                        <a:rPr sz="1875" b="0">
                          <a:solidFill>
                            <a:srgbClr val="314B46"/>
                          </a:solidFill>
                          <a:latin typeface="Microsoft JhengHei"/>
                          <a:ea typeface="Microsoft JhengHei"/>
                          <a:cs typeface="Microsoft JhengHei"/>
                        </a:rPr>
                        <a:t>新的待預測交易</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當期學習資料的已知成交</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使用待預測交易的未知價格</a:t>
                      </a:r>
                    </a:p>
                  </a:txBody>
                  <a:tcPr marL="91440" marR="91440" marT="45720" marB="45720" anchor="ctr">
                    <a:solidFill>
                      <a:srgbClr val="FFFFFF"/>
                    </a:solidFill>
                  </a:tcPr>
                </a:tc>
              </a:tr>
            </a:tbl>
          </a:graphicData>
        </a:graphic>
      </p:graphicFrame>
      <p:sp>
        <p:nvSpPr>
          <p:cNvPr id="5" name="body">
            <a:extLst xmlns:a="http://schemas.openxmlformats.org/drawingml/2006/main">
              <a:ext uri="{FF2B5EF4-FFF2-40B4-BE49-F238E27FC236}">
                <a16:creationId xmlns:a16="http://schemas.microsoft.com/office/drawing/2014/main" id="{D532C863-456D-4D47-A115-9FF69500E57E}"/>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67364"/>
                </a:solidFill>
                <a:latin typeface="Microsoft JhengHei"/>
                <a:ea typeface="Microsoft JhengHei"/>
                <a:cs typeface="Microsoft JhengHei"/>
              </a:defRPr>
            </a:pPr>
            <a:r>
              <a:rPr sz="2025" b="0">
                <a:solidFill>
                  <a:srgbClr val="167364"/>
                </a:solidFill>
                <a:latin typeface="Microsoft JhengHei"/>
                <a:ea typeface="Microsoft JhengHei"/>
                <a:cs typeface="Microsoft JhengHei"/>
              </a:rPr>
              <a:t>五折建案分組 OOF 會輪流排除一組；它不等於時間切分</a:t>
            </a:r>
          </a:p>
        </p:txBody>
      </p:sp>
    </p:spTree>
    <p:extLst>
      <p:ext uri="{BB962C8B-B14F-4D97-AF65-F5344CB8AC3E}">
        <p14:creationId xmlns:p14="http://schemas.microsoft.com/office/powerpoint/2010/main" val="689906677"/>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9143B2C-AB75-4EC8-BD8B-EC4C8E22A4C9}"/>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六個模型與三條分支</a:t>
            </a:r>
          </a:p>
        </p:txBody>
      </p:sp>
      <p:sp>
        <p:nvSpPr>
          <p:cNvPr id="2" name="body">
            <a:extLst xmlns:a="http://schemas.openxmlformats.org/drawingml/2006/main">
              <a:ext uri="{FF2B5EF4-FFF2-40B4-BE49-F238E27FC236}">
                <a16:creationId xmlns:a16="http://schemas.microsoft.com/office/drawing/2014/main" id="{7842C8AC-978F-4A01-A1D1-F333F3F5887B}"/>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13</a:t>
            </a:r>
          </a:p>
        </p:txBody>
      </p:sp>
      <p:graphicFrame>
        <p:nvGraphicFramePr>
          <p:cNvPr id="8" name=""/>
          <p:cNvGraphicFramePr/>
          <p:nvPr/>
        </p:nvGraphicFramePr>
        <p:xfrm>
          <a:off xmlns:a="http://schemas.openxmlformats.org/drawingml/2006/main" x="666750" y="1933575"/>
          <a:ext xmlns:a="http://schemas.openxmlformats.org/drawingml/2006/main" cx="10839450" cy="2828925"/>
        </p:xfrm>
        <a:graphic xmlns:a="http://schemas.openxmlformats.org/drawingml/2006/main">
          <a:graphicData uri="http://schemas.openxmlformats.org/drawingml/2006/table">
            <a:tbl>
              <a:tblPr/>
              <a:tblGrid>
                <a:gridCol w="2647950"/>
                <a:gridCol w="4705350"/>
                <a:gridCol w="3486150"/>
              </a:tblGrid>
              <a:tr h="707231">
                <a:tc>
                  <a:txBody>
                    <a:bodyPr lIns="152400" tIns="85725" rIns="114300" bIns="85725">
                      <a:noAutofit/>
                    </a:bodyPr>
                    <a:lstStyle/>
                    <a:p>
                      <a:r>
                        <a:rPr sz="1950" b="1">
                          <a:solidFill>
                            <a:srgbClr val="FFFFFF"/>
                          </a:solidFill>
                          <a:latin typeface="Microsoft JhengHei"/>
                          <a:ea typeface="Microsoft JhengHei"/>
                          <a:cs typeface="Microsoft JhengHei"/>
                        </a:rPr>
                        <a:t>分支</a:t>
                      </a:r>
                    </a:p>
                  </a:txBody>
                  <a:tcPr marL="91440" marR="91440" marT="45720" marB="45720" anchor="ctr">
                    <a:solidFill>
                      <a:srgbClr val="173C38"/>
                    </a:solidFill>
                  </a:tcPr>
                </a:tc>
                <a:tc>
                  <a:txBody>
                    <a:bodyPr lIns="152400" tIns="85725" rIns="114300" bIns="85725">
                      <a:noAutofit/>
                    </a:bodyPr>
                    <a:lstStyle/>
                    <a:p>
                      <a:r>
                        <a:rPr sz="1950" b="1">
                          <a:solidFill>
                            <a:srgbClr val="FFFFFF"/>
                          </a:solidFill>
                          <a:latin typeface="Microsoft JhengHei"/>
                          <a:ea typeface="Microsoft JhengHei"/>
                          <a:cs typeface="Microsoft JhengHei"/>
                        </a:rPr>
                        <a:t>主要模型</a:t>
                      </a:r>
                    </a:p>
                  </a:txBody>
                  <a:tcPr marL="91440" marR="91440" marT="45720" marB="45720" anchor="ctr">
                    <a:solidFill>
                      <a:srgbClr val="173C38"/>
                    </a:solidFill>
                  </a:tcPr>
                </a:tc>
                <a:tc>
                  <a:txBody>
                    <a:bodyPr lIns="152400" tIns="85725" rIns="114300" bIns="85725">
                      <a:noAutofit/>
                    </a:bodyPr>
                    <a:lstStyle/>
                    <a:p>
                      <a:r>
                        <a:rPr sz="1950" b="1">
                          <a:solidFill>
                            <a:srgbClr val="FFFFFF"/>
                          </a:solidFill>
                          <a:latin typeface="Microsoft JhengHei"/>
                          <a:ea typeface="Microsoft JhengHei"/>
                          <a:cs typeface="Microsoft JhengHei"/>
                        </a:rPr>
                        <a:t>共同加入</a:t>
                      </a:r>
                    </a:p>
                  </a:txBody>
                  <a:tcPr marL="91440" marR="91440" marT="45720" marB="45720" anchor="ctr">
                    <a:solidFill>
                      <a:srgbClr val="173C38"/>
                    </a:solidFill>
                  </a:tcPr>
                </a:tc>
              </a:tr>
              <a:tr h="707231">
                <a:tc>
                  <a:txBody>
                    <a:bodyPr lIns="152400" tIns="85725" rIns="114300" bIns="85725">
                      <a:noAutofit/>
                    </a:bodyPr>
                    <a:lstStyle/>
                    <a:p>
                      <a:r>
                        <a:rPr sz="1950" b="0">
                          <a:solidFill>
                            <a:srgbClr val="314B46"/>
                          </a:solidFill>
                          <a:latin typeface="Microsoft JhengHei"/>
                          <a:ea typeface="Microsoft JhengHei"/>
                          <a:cs typeface="Microsoft JhengHei"/>
                        </a:rPr>
                        <a:t>單價分支</a:t>
                      </a:r>
                    </a:p>
                  </a:txBody>
                  <a:tcPr marL="91440" marR="91440" marT="45720" marB="45720" anchor="ctr">
                    <a:solidFill>
                      <a:srgbClr val="FFFFFF"/>
                    </a:solidFill>
                  </a:tcPr>
                </a:tc>
                <a:tc>
                  <a:txBody>
                    <a:bodyPr lIns="152400" tIns="85725" rIns="114300" bIns="85725">
                      <a:noAutofit/>
                    </a:bodyPr>
                    <a:lstStyle/>
                    <a:p>
                      <a:r>
                        <a:rPr sz="1950" b="0">
                          <a:solidFill>
                            <a:srgbClr val="314B46"/>
                          </a:solidFill>
                          <a:latin typeface="Microsoft JhengHei"/>
                          <a:ea typeface="Microsoft JhengHei"/>
                          <a:cs typeface="Microsoft JhengHei"/>
                        </a:rPr>
                        <a:t>單價 CatBoost</a:t>
                      </a:r>
                    </a:p>
                  </a:txBody>
                  <a:tcPr marL="91440" marR="91440" marT="45720" marB="45720" anchor="ctr">
                    <a:solidFill>
                      <a:srgbClr val="FFFFFF"/>
                    </a:solidFill>
                  </a:tcPr>
                </a:tc>
                <a:tc>
                  <a:txBody>
                    <a:bodyPr lIns="152400" tIns="85725" rIns="114300" bIns="85725">
                      <a:noAutofit/>
                    </a:bodyPr>
                    <a:lstStyle/>
                    <a:p>
                      <a:r>
                        <a:rPr sz="1950" b="0">
                          <a:solidFill>
                            <a:srgbClr val="314B46"/>
                          </a:solidFill>
                          <a:latin typeface="Microsoft JhengHei"/>
                          <a:ea typeface="Microsoft JhengHei"/>
                          <a:cs typeface="Microsoft JhengHei"/>
                        </a:rPr>
                        <a:t>單價 LightGBM</a:t>
                      </a:r>
                    </a:p>
                  </a:txBody>
                  <a:tcPr marL="91440" marR="91440" marT="45720" marB="45720" anchor="ctr">
                    <a:solidFill>
                      <a:srgbClr val="FFFFFF"/>
                    </a:solidFill>
                  </a:tcPr>
                </a:tc>
              </a:tr>
              <a:tr h="707231">
                <a:tc>
                  <a:txBody>
                    <a:bodyPr lIns="152400" tIns="85725" rIns="114300" bIns="85725">
                      <a:noAutofit/>
                    </a:bodyPr>
                    <a:lstStyle/>
                    <a:p>
                      <a:r>
                        <a:rPr sz="1950" b="0">
                          <a:solidFill>
                            <a:srgbClr val="314B46"/>
                          </a:solidFill>
                          <a:latin typeface="Microsoft JhengHei"/>
                          <a:ea typeface="Microsoft JhengHei"/>
                          <a:cs typeface="Microsoft JhengHei"/>
                        </a:rPr>
                        <a:t>神經網路分支</a:t>
                      </a:r>
                    </a:p>
                  </a:txBody>
                  <a:tcPr marL="91440" marR="91440" marT="45720" marB="45720" anchor="ctr">
                    <a:solidFill>
                      <a:srgbClr val="E4EDE6"/>
                    </a:solidFill>
                  </a:tcPr>
                </a:tc>
                <a:tc>
                  <a:txBody>
                    <a:bodyPr lIns="152400" tIns="85725" rIns="114300" bIns="85725">
                      <a:noAutofit/>
                    </a:bodyPr>
                    <a:lstStyle/>
                    <a:p>
                      <a:r>
                        <a:rPr sz="1950" b="0">
                          <a:solidFill>
                            <a:srgbClr val="314B46"/>
                          </a:solidFill>
                          <a:latin typeface="Microsoft JhengHei"/>
                          <a:ea typeface="Microsoft JhengHei"/>
                          <a:cs typeface="Microsoft JhengHei"/>
                        </a:rPr>
                        <a:t>面積 NN、價格先驗 NN</a:t>
                      </a:r>
                    </a:p>
                  </a:txBody>
                  <a:tcPr marL="91440" marR="91440" marT="45720" marB="45720" anchor="ctr">
                    <a:solidFill>
                      <a:srgbClr val="E4EDE6"/>
                    </a:solidFill>
                  </a:tcPr>
                </a:tc>
                <a:tc>
                  <a:txBody>
                    <a:bodyPr lIns="152400" tIns="85725" rIns="114300" bIns="85725">
                      <a:noAutofit/>
                    </a:bodyPr>
                    <a:lstStyle/>
                    <a:p>
                      <a:r>
                        <a:rPr sz="1950" b="0">
                          <a:solidFill>
                            <a:srgbClr val="314B46"/>
                          </a:solidFill>
                          <a:latin typeface="Microsoft JhengHei"/>
                          <a:ea typeface="Microsoft JhengHei"/>
                          <a:cs typeface="Microsoft JhengHei"/>
                        </a:rPr>
                        <a:t>同一個 LightGBM 預測</a:t>
                      </a:r>
                    </a:p>
                  </a:txBody>
                  <a:tcPr marL="91440" marR="91440" marT="45720" marB="45720" anchor="ctr">
                    <a:solidFill>
                      <a:srgbClr val="E4EDE6"/>
                    </a:solidFill>
                  </a:tcPr>
                </a:tc>
              </a:tr>
              <a:tr h="707231">
                <a:tc>
                  <a:txBody>
                    <a:bodyPr lIns="152400" tIns="85725" rIns="114300" bIns="85725">
                      <a:noAutofit/>
                    </a:bodyPr>
                    <a:lstStyle/>
                    <a:p>
                      <a:r>
                        <a:rPr sz="1950" b="0">
                          <a:solidFill>
                            <a:srgbClr val="314B46"/>
                          </a:solidFill>
                          <a:latin typeface="Microsoft JhengHei"/>
                          <a:ea typeface="Microsoft JhengHei"/>
                          <a:cs typeface="Microsoft JhengHei"/>
                        </a:rPr>
                        <a:t>對數分支</a:t>
                      </a:r>
                    </a:p>
                  </a:txBody>
                  <a:tcPr marL="91440" marR="91440" marT="45720" marB="45720" anchor="ctr">
                    <a:solidFill>
                      <a:srgbClr val="FFFFFF"/>
                    </a:solidFill>
                  </a:tcPr>
                </a:tc>
                <a:tc>
                  <a:txBody>
                    <a:bodyPr lIns="152400" tIns="85725" rIns="114300" bIns="85725">
                      <a:noAutofit/>
                    </a:bodyPr>
                    <a:lstStyle/>
                    <a:p>
                      <a:r>
                        <a:rPr sz="1950" b="0">
                          <a:solidFill>
                            <a:srgbClr val="314B46"/>
                          </a:solidFill>
                          <a:latin typeface="Microsoft JhengHei"/>
                          <a:ea typeface="Microsoft JhengHei"/>
                          <a:cs typeface="Microsoft JhengHei"/>
                        </a:rPr>
                        <a:t>總價 CatBoost、log CatBoost</a:t>
                      </a:r>
                    </a:p>
                  </a:txBody>
                  <a:tcPr marL="91440" marR="91440" marT="45720" marB="45720" anchor="ctr">
                    <a:solidFill>
                      <a:srgbClr val="FFFFFF"/>
                    </a:solidFill>
                  </a:tcPr>
                </a:tc>
                <a:tc>
                  <a:txBody>
                    <a:bodyPr lIns="152400" tIns="85725" rIns="114300" bIns="85725">
                      <a:noAutofit/>
                    </a:bodyPr>
                    <a:lstStyle/>
                    <a:p>
                      <a:r>
                        <a:rPr sz="1950" b="0">
                          <a:solidFill>
                            <a:srgbClr val="314B46"/>
                          </a:solidFill>
                          <a:latin typeface="Microsoft JhengHei"/>
                          <a:ea typeface="Microsoft JhengHei"/>
                          <a:cs typeface="Microsoft JhengHei"/>
                        </a:rPr>
                        <a:t>同一個 LightGBM 預測</a:t>
                      </a:r>
                    </a:p>
                  </a:txBody>
                  <a:tcPr marL="91440" marR="91440" marT="45720" marB="45720" anchor="ctr">
                    <a:solidFill>
                      <a:srgbClr val="FFFFFF"/>
                    </a:solidFill>
                  </a:tcPr>
                </a:tc>
              </a:tr>
            </a:tbl>
          </a:graphicData>
        </a:graphic>
      </p:graphicFrame>
      <p:sp>
        <p:nvSpPr>
          <p:cNvPr id="4" name="body">
            <a:extLst xmlns:a="http://schemas.openxmlformats.org/drawingml/2006/main">
              <a:ext uri="{FF2B5EF4-FFF2-40B4-BE49-F238E27FC236}">
                <a16:creationId xmlns:a16="http://schemas.microsoft.com/office/drawing/2014/main" id="{F569ADCC-3C55-441D-ABDA-94F814B3EBE8}"/>
              </a:ext>
            </a:extLst>
          </p:cNvPr>
          <p:cNvSpPr>
            <a:spLocks xmlns:a="http://schemas.openxmlformats.org/drawingml/2006/main" noGrp="1"/>
          </p:cNvSpPr>
          <p:nvPr/>
        </p:nvSpPr>
        <p:spPr>
          <a:xfrm xmlns:a="http://schemas.openxmlformats.org/drawingml/2006/main">
            <a:off x="666750" y="5181600"/>
            <a:ext cx="10839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67364"/>
                </a:solidFill>
                <a:latin typeface="Microsoft JhengHei"/>
                <a:ea typeface="Microsoft JhengHei"/>
                <a:cs typeface="Microsoft JhengHei"/>
              </a:defRPr>
            </a:pPr>
            <a:r>
              <a:rPr sz="2175" b="1">
                <a:solidFill>
                  <a:srgbClr val="167364"/>
                </a:solidFill>
                <a:latin typeface="Microsoft JhengHei"/>
                <a:ea typeface="Microsoft JhengHei"/>
                <a:cs typeface="Microsoft JhengHei"/>
              </a:rPr>
              <a:t>3 個 CatBoost + 1 個 LightGBM + 2 個 NN = 6 個模型</a:t>
            </a:r>
          </a:p>
        </p:txBody>
      </p:sp>
      <p:sp>
        <p:nvSpPr>
          <p:cNvPr id="5" name="body">
            <a:extLst xmlns:a="http://schemas.openxmlformats.org/drawingml/2006/main">
              <a:ext uri="{FF2B5EF4-FFF2-40B4-BE49-F238E27FC236}">
                <a16:creationId xmlns:a16="http://schemas.microsoft.com/office/drawing/2014/main" id="{9214CF8E-68A3-46B6-9DA3-FB80D6934143}"/>
              </a:ext>
            </a:extLst>
          </p:cNvPr>
          <p:cNvSpPr>
            <a:spLocks xmlns:a="http://schemas.openxmlformats.org/drawingml/2006/main" noGrp="1"/>
          </p:cNvSpPr>
          <p:nvPr/>
        </p:nvSpPr>
        <p:spPr>
          <a:xfrm xmlns:a="http://schemas.openxmlformats.org/drawingml/2006/main">
            <a:off x="666750" y="5886450"/>
            <a:ext cx="10839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27570"/>
                </a:solidFill>
                <a:latin typeface="Microsoft JhengHei"/>
                <a:ea typeface="Microsoft JhengHei"/>
                <a:cs typeface="Microsoft JhengHei"/>
              </a:defRPr>
            </a:pPr>
            <a:r>
              <a:rPr sz="2025" b="0">
                <a:solidFill>
                  <a:srgbClr val="627570"/>
                </a:solidFill>
                <a:latin typeface="Microsoft JhengHei"/>
                <a:ea typeface="Microsoft JhengHei"/>
                <a:cs typeface="Microsoft JhengHei"/>
              </a:rPr>
              <a:t>每條分支先組合模型、再修正價格，精確係數放在附錄</a:t>
            </a:r>
          </a:p>
        </p:txBody>
      </p:sp>
    </p:spTree>
    <p:extLst>
      <p:ext uri="{BB962C8B-B14F-4D97-AF65-F5344CB8AC3E}">
        <p14:creationId xmlns:p14="http://schemas.microsoft.com/office/powerpoint/2010/main" val="1275416908"/>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B104D7B-B707-487C-8D11-2499E42E8EE8}"/>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成交參考與空間修正</a:t>
            </a:r>
          </a:p>
        </p:txBody>
      </p:sp>
      <p:sp>
        <p:nvSpPr>
          <p:cNvPr id="2" name="body">
            <a:extLst xmlns:a="http://schemas.openxmlformats.org/drawingml/2006/main">
              <a:ext uri="{FF2B5EF4-FFF2-40B4-BE49-F238E27FC236}">
                <a16:creationId xmlns:a16="http://schemas.microsoft.com/office/drawing/2014/main" id="{C63249D9-4A21-46E5-A5B1-A5B2481C2453}"/>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14</a:t>
            </a:r>
          </a:p>
        </p:txBody>
      </p:sp>
      <p:sp>
        <p:nvSpPr>
          <p:cNvPr id="3" name="body">
            <a:extLst xmlns:a="http://schemas.openxmlformats.org/drawingml/2006/main">
              <a:ext uri="{FF2B5EF4-FFF2-40B4-BE49-F238E27FC236}">
                <a16:creationId xmlns:a16="http://schemas.microsoft.com/office/drawing/2014/main" id="{C47D8F9D-245C-481E-92FF-10BDCA4B9DA5}"/>
              </a:ext>
            </a:extLst>
          </p:cNvPr>
          <p:cNvSpPr>
            <a:spLocks xmlns:a="http://schemas.openxmlformats.org/drawingml/2006/main" noGrp="1"/>
          </p:cNvSpPr>
          <p:nvPr/>
        </p:nvSpPr>
        <p:spPr>
          <a:xfrm xmlns:a="http://schemas.openxmlformats.org/drawingml/2006/main">
            <a:off x="666750" y="161925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67364"/>
                </a:solidFill>
                <a:latin typeface="Microsoft JhengHei"/>
                <a:ea typeface="Microsoft JhengHei"/>
                <a:cs typeface="Microsoft JhengHei"/>
              </a:defRPr>
            </a:pPr>
            <a:r>
              <a:rPr sz="2475" b="1">
                <a:solidFill>
                  <a:srgbClr val="167364"/>
                </a:solidFill>
                <a:latin typeface="Microsoft JhengHei"/>
                <a:ea typeface="Microsoft JhengHei"/>
                <a:cs typeface="Microsoft JhengHei"/>
              </a:rPr>
              <a:t>成交參考</a:t>
            </a:r>
          </a:p>
        </p:txBody>
      </p:sp>
      <p:sp>
        <p:nvSpPr>
          <p:cNvPr id="4" name="body">
            <a:extLst xmlns:a="http://schemas.openxmlformats.org/drawingml/2006/main">
              <a:ext uri="{FF2B5EF4-FFF2-40B4-BE49-F238E27FC236}">
                <a16:creationId xmlns:a16="http://schemas.microsoft.com/office/drawing/2014/main" id="{EF9080B8-9448-4F2F-87FA-231E92F076C7}"/>
              </a:ext>
            </a:extLst>
          </p:cNvPr>
          <p:cNvSpPr>
            <a:spLocks xmlns:a="http://schemas.openxmlformats.org/drawingml/2006/main" noGrp="1"/>
          </p:cNvSpPr>
          <p:nvPr/>
        </p:nvSpPr>
        <p:spPr>
          <a:xfrm xmlns:a="http://schemas.openxmlformats.org/drawingml/2006/main">
            <a:off x="4410075" y="161925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從當期資料找同建案、同地址、同道路的成交</a:t>
            </a:r>
          </a:p>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再按物件條件比較，結合模型估價與參考價</a:t>
            </a:r>
          </a:p>
        </p:txBody>
      </p:sp>
      <p:sp>
        <p:nvSpPr>
          <p:cNvPr id="5" name="body">
            <a:extLst xmlns:a="http://schemas.openxmlformats.org/drawingml/2006/main">
              <a:ext uri="{FF2B5EF4-FFF2-40B4-BE49-F238E27FC236}">
                <a16:creationId xmlns:a16="http://schemas.microsoft.com/office/drawing/2014/main" id="{8C63C6AE-F95A-436E-9A6B-2EFC7A8D7C3A}"/>
              </a:ext>
            </a:extLst>
          </p:cNvPr>
          <p:cNvSpPr>
            <a:spLocks xmlns:a="http://schemas.openxmlformats.org/drawingml/2006/main" noGrp="1"/>
          </p:cNvSpPr>
          <p:nvPr/>
        </p:nvSpPr>
        <p:spPr>
          <a:xfrm xmlns:a="http://schemas.openxmlformats.org/drawingml/2006/main">
            <a:off x="666750" y="367665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67364"/>
                </a:solidFill>
                <a:latin typeface="Microsoft JhengHei"/>
                <a:ea typeface="Microsoft JhengHei"/>
                <a:cs typeface="Microsoft JhengHei"/>
              </a:defRPr>
            </a:pPr>
            <a:r>
              <a:rPr sz="2475" b="1">
                <a:solidFill>
                  <a:srgbClr val="167364"/>
                </a:solidFill>
                <a:latin typeface="Microsoft JhengHei"/>
                <a:ea typeface="Microsoft JhengHei"/>
                <a:cs typeface="Microsoft JhengHei"/>
              </a:rPr>
              <a:t>空間修正</a:t>
            </a:r>
          </a:p>
        </p:txBody>
      </p:sp>
      <p:sp>
        <p:nvSpPr>
          <p:cNvPr id="6" name="body">
            <a:extLst xmlns:a="http://schemas.openxmlformats.org/drawingml/2006/main">
              <a:ext uri="{FF2B5EF4-FFF2-40B4-BE49-F238E27FC236}">
                <a16:creationId xmlns:a16="http://schemas.microsoft.com/office/drawing/2014/main" id="{E733E5A0-EE36-4B53-B85C-55FE848542BB}"/>
              </a:ext>
            </a:extLst>
          </p:cNvPr>
          <p:cNvSpPr>
            <a:spLocks xmlns:a="http://schemas.openxmlformats.org/drawingml/2006/main" noGrp="1"/>
          </p:cNvSpPr>
          <p:nvPr/>
        </p:nvSpPr>
        <p:spPr>
          <a:xfrm xmlns:a="http://schemas.openxmlformats.org/drawingml/2006/main">
            <a:off x="4410075" y="367665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參考支持較弱時，補充附近空間資訊</a:t>
            </a:r>
          </a:p>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支持不足就回退，避免勉強套用少量樣本</a:t>
            </a:r>
          </a:p>
        </p:txBody>
      </p:sp>
      <p:sp>
        <p:nvSpPr>
          <p:cNvPr id="7" name="body">
            <a:extLst xmlns:a="http://schemas.openxmlformats.org/drawingml/2006/main">
              <a:ext uri="{FF2B5EF4-FFF2-40B4-BE49-F238E27FC236}">
                <a16:creationId xmlns:a16="http://schemas.microsoft.com/office/drawing/2014/main" id="{CBA7C729-D8DB-41C5-8172-BAA113377EB4}"/>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67364"/>
                </a:solidFill>
                <a:latin typeface="Microsoft JhengHei"/>
                <a:ea typeface="Microsoft JhengHei"/>
                <a:cs typeface="Microsoft JhengHei"/>
              </a:defRPr>
            </a:pPr>
            <a:r>
              <a:rPr sz="1950" b="0">
                <a:solidFill>
                  <a:srgbClr val="167364"/>
                </a:solidFill>
                <a:latin typeface="Microsoft JhengHei"/>
                <a:ea typeface="Microsoft JhengHei"/>
                <a:cs typeface="Microsoft JhengHei"/>
              </a:rPr>
              <a:t>成交價格只來自課程的已知標籤；外部道路資料不含成交價</a:t>
            </a:r>
          </a:p>
        </p:txBody>
      </p:sp>
    </p:spTree>
    <p:extLst>
      <p:ext uri="{BB962C8B-B14F-4D97-AF65-F5344CB8AC3E}">
        <p14:creationId xmlns:p14="http://schemas.microsoft.com/office/powerpoint/2010/main" val="932810"/>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C9E6FE1-008D-4D6F-8770-CE220E99C662}"/>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逐筆取中位數</a:t>
            </a:r>
          </a:p>
        </p:txBody>
      </p:sp>
      <p:sp>
        <p:nvSpPr>
          <p:cNvPr id="2" name="body">
            <a:extLst xmlns:a="http://schemas.openxmlformats.org/drawingml/2006/main">
              <a:ext uri="{FF2B5EF4-FFF2-40B4-BE49-F238E27FC236}">
                <a16:creationId xmlns:a16="http://schemas.microsoft.com/office/drawing/2014/main" id="{B8AD5953-7707-43CD-B75F-A730F8E1E423}"/>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15</a:t>
            </a:r>
          </a:p>
        </p:txBody>
      </p:sp>
      <p:sp>
        <p:nvSpPr>
          <p:cNvPr id="3" name="body">
            <a:extLst xmlns:a="http://schemas.openxmlformats.org/drawingml/2006/main">
              <a:ext uri="{FF2B5EF4-FFF2-40B4-BE49-F238E27FC236}">
                <a16:creationId xmlns:a16="http://schemas.microsoft.com/office/drawing/2014/main" id="{4E9A869A-75F6-408E-B97B-719C671D68A5}"/>
              </a:ext>
            </a:extLst>
          </p:cNvPr>
          <p:cNvSpPr>
            <a:spLocks xmlns:a="http://schemas.openxmlformats.org/drawingml/2006/main" noGrp="1"/>
          </p:cNvSpPr>
          <p:nvPr/>
        </p:nvSpPr>
        <p:spPr>
          <a:xfrm xmlns:a="http://schemas.openxmlformats.org/drawingml/2006/main">
            <a:off x="666750" y="1438275"/>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27570"/>
                </a:solidFill>
                <a:latin typeface="Microsoft JhengHei"/>
                <a:ea typeface="Microsoft JhengHei"/>
                <a:cs typeface="Microsoft JhengHei"/>
              </a:defRPr>
            </a:pPr>
            <a:r>
              <a:rPr sz="2100" b="0">
                <a:solidFill>
                  <a:srgbClr val="627570"/>
                </a:solidFill>
                <a:latin typeface="Microsoft JhengHei"/>
                <a:ea typeface="Microsoft JhengHei"/>
                <a:cs typeface="Microsoft JhengHei"/>
              </a:rPr>
              <a:t>同一間房子的三個修正後估價，單位：萬元（教學假設）</a:t>
            </a:r>
          </a:p>
        </p:txBody>
      </p:sp>
      <p:graphicFrame>
        <p:nvGraphicFramePr>
          <p:cNvPr id="9" name="Chart"/>
          <p:cNvGraphicFramePr/>
          <p:nvPr/>
        </p:nvGraphicFramePr>
        <p:xfrm>
          <a:off xmlns:a="http://schemas.openxmlformats.org/drawingml/2006/main" x="666750" y="2266950"/>
          <a:ext xmlns:a="http://schemas.openxmlformats.org/drawingml/2006/main" cx="10668000" cy="2838450"/>
        </p:xfrm>
        <a:graphic xmlns:a="http://schemas.openxmlformats.org/drawingml/2006/main">
          <a:graphicData uri="http://schemas.openxmlformats.org/drawingml/2006/chart">
            <c:chart xmlns:r="http://schemas.openxmlformats.org/officeDocument/2006/relationships" xmlns:c="http://schemas.openxmlformats.org/drawingml/2006/chart" r:id="R8ba73dea71a94f0c"/>
          </a:graphicData>
        </a:graphic>
      </p:graphicFrame>
      <p:sp>
        <p:nvSpPr>
          <p:cNvPr id="5" name="body">
            <a:extLst xmlns:a="http://schemas.openxmlformats.org/drawingml/2006/main">
              <a:ext uri="{FF2B5EF4-FFF2-40B4-BE49-F238E27FC236}">
                <a16:creationId xmlns:a16="http://schemas.microsoft.com/office/drawing/2014/main" id="{48D71623-A361-4E97-A486-3FE1289BB79E}"/>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67364"/>
                </a:solidFill>
                <a:latin typeface="Microsoft JhengHei"/>
                <a:ea typeface="Microsoft JhengHei"/>
                <a:cs typeface="Microsoft JhengHei"/>
              </a:defRPr>
            </a:pPr>
            <a:r>
              <a:rPr sz="2100" b="1">
                <a:solidFill>
                  <a:srgbClr val="167364"/>
                </a:solidFill>
                <a:latin typeface="Microsoft JhengHei"/>
                <a:ea typeface="Microsoft JhengHei"/>
                <a:cs typeface="Microsoft JhengHei"/>
              </a:rPr>
              <a:t>排序後取中間值 1,020 萬元，降低單一極端估價的影響</a:t>
            </a:r>
          </a:p>
        </p:txBody>
      </p:sp>
    </p:spTree>
    <p:extLst>
      <p:ext uri="{BB962C8B-B14F-4D97-AF65-F5344CB8AC3E}">
        <p14:creationId xmlns:p14="http://schemas.microsoft.com/office/powerpoint/2010/main" val="540074200"/>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BC09B900-47E1-4B5B-A7C4-5BC8DCFD87ED}"/>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三期時間回測</a:t>
            </a:r>
          </a:p>
        </p:txBody>
      </p:sp>
      <p:sp>
        <p:nvSpPr>
          <p:cNvPr id="2" name="body">
            <a:extLst xmlns:a="http://schemas.openxmlformats.org/drawingml/2006/main">
              <a:ext uri="{FF2B5EF4-FFF2-40B4-BE49-F238E27FC236}">
                <a16:creationId xmlns:a16="http://schemas.microsoft.com/office/drawing/2014/main" id="{98507151-B72A-4DF9-9429-DCDDEE9889B2}"/>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16</a:t>
            </a:r>
          </a:p>
        </p:txBody>
      </p:sp>
      <p:sp>
        <p:nvSpPr>
          <p:cNvPr id="3" name="body">
            <a:extLst xmlns:a="http://schemas.openxmlformats.org/drawingml/2006/main">
              <a:ext uri="{FF2B5EF4-FFF2-40B4-BE49-F238E27FC236}">
                <a16:creationId xmlns:a16="http://schemas.microsoft.com/office/drawing/2014/main" id="{DD782C78-3D96-4899-9A37-4AB7269B80BC}"/>
              </a:ext>
            </a:extLst>
          </p:cNvPr>
          <p:cNvSpPr>
            <a:spLocks xmlns:a="http://schemas.openxmlformats.org/drawingml/2006/main" noGrp="1"/>
          </p:cNvSpPr>
          <p:nvPr/>
        </p:nvSpPr>
        <p:spPr>
          <a:xfrm xmlns:a="http://schemas.openxmlformats.org/drawingml/2006/main">
            <a:off x="666750" y="1457325"/>
            <a:ext cx="10839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27570"/>
                </a:solidFill>
                <a:latin typeface="Microsoft JhengHei"/>
                <a:ea typeface="Microsoft JhengHei"/>
                <a:cs typeface="Microsoft JhengHei"/>
              </a:defRPr>
            </a:pPr>
            <a:r>
              <a:rPr sz="2100" b="0">
                <a:solidFill>
                  <a:srgbClr val="627570"/>
                </a:solidFill>
                <a:latin typeface="Microsoft JhengHei"/>
                <a:ea typeface="Microsoft JhengHei"/>
                <a:cs typeface="Microsoft JhengHei"/>
              </a:rPr>
              <a:t>MAE，單位：萬元，越低越好</a:t>
            </a:r>
          </a:p>
        </p:txBody>
      </p:sp>
      <p:graphicFrame>
        <p:nvGraphicFramePr>
          <p:cNvPr id="9" name="Chart"/>
          <p:cNvGraphicFramePr/>
          <p:nvPr/>
        </p:nvGraphicFramePr>
        <p:xfrm>
          <a:off xmlns:a="http://schemas.openxmlformats.org/drawingml/2006/main" x="666750" y="2200275"/>
          <a:ext xmlns:a="http://schemas.openxmlformats.org/drawingml/2006/main" cx="10668000" cy="2876550"/>
        </p:xfrm>
        <a:graphic xmlns:a="http://schemas.openxmlformats.org/drawingml/2006/main">
          <a:graphicData uri="http://schemas.openxmlformats.org/drawingml/2006/chart">
            <c:chart xmlns:r="http://schemas.openxmlformats.org/officeDocument/2006/relationships" xmlns:c="http://schemas.openxmlformats.org/drawingml/2006/chart" r:id="Ra756f22c11974e6d"/>
          </a:graphicData>
        </a:graphic>
      </p:graphicFrame>
      <p:sp>
        <p:nvSpPr>
          <p:cNvPr id="5" name="body">
            <a:extLst xmlns:a="http://schemas.openxmlformats.org/drawingml/2006/main">
              <a:ext uri="{FF2B5EF4-FFF2-40B4-BE49-F238E27FC236}">
                <a16:creationId xmlns:a16="http://schemas.microsoft.com/office/drawing/2014/main" id="{B7BEE1B7-8CDC-4A6A-A4A7-9664EE8D13AD}"/>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67364"/>
                </a:solidFill>
                <a:latin typeface="Microsoft JhengHei"/>
                <a:ea typeface="Microsoft JhengHei"/>
                <a:cs typeface="Microsoft JhengHei"/>
              </a:defRPr>
            </a:pPr>
            <a:r>
              <a:rPr sz="1875" b="0">
                <a:solidFill>
                  <a:srgbClr val="167364"/>
                </a:solidFill>
                <a:latin typeface="Microsoft JhengHei"/>
                <a:ea typeface="Microsoft JhengHei"/>
                <a:cs typeface="Microsoft JhengHei"/>
              </a:rPr>
              <a:t>三個年度是不同評分集合，不能把下降解讀成同一批資料持續進步</a:t>
            </a:r>
          </a:p>
        </p:txBody>
      </p:sp>
    </p:spTree>
    <p:extLst>
      <p:ext uri="{BB962C8B-B14F-4D97-AF65-F5344CB8AC3E}">
        <p14:creationId xmlns:p14="http://schemas.microsoft.com/office/powerpoint/2010/main" val="1537357975"/>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D35696FD-9337-4F8D-B5A3-997C394A84DF}"/>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Kaggle 公開成績</a:t>
            </a:r>
          </a:p>
        </p:txBody>
      </p:sp>
      <p:sp>
        <p:nvSpPr>
          <p:cNvPr id="2" name="body">
            <a:extLst xmlns:a="http://schemas.openxmlformats.org/drawingml/2006/main">
              <a:ext uri="{FF2B5EF4-FFF2-40B4-BE49-F238E27FC236}">
                <a16:creationId xmlns:a16="http://schemas.microsoft.com/office/drawing/2014/main" id="{BB3F4226-89AE-454C-B87E-116D9A0FDE18}"/>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17</a:t>
            </a:r>
          </a:p>
        </p:txBody>
      </p:sp>
      <p:sp>
        <p:nvSpPr>
          <p:cNvPr id="3" name="body">
            <a:extLst xmlns:a="http://schemas.openxmlformats.org/drawingml/2006/main">
              <a:ext uri="{FF2B5EF4-FFF2-40B4-BE49-F238E27FC236}">
                <a16:creationId xmlns:a16="http://schemas.microsoft.com/office/drawing/2014/main" id="{E9DF1DEF-D784-4008-BDEC-C3AA13E754A8}"/>
              </a:ext>
            </a:extLst>
          </p:cNvPr>
          <p:cNvSpPr>
            <a:spLocks xmlns:a="http://schemas.openxmlformats.org/drawingml/2006/main" noGrp="1"/>
          </p:cNvSpPr>
          <p:nvPr/>
        </p:nvSpPr>
        <p:spPr>
          <a:xfrm xmlns:a="http://schemas.openxmlformats.org/drawingml/2006/main">
            <a:off x="666750" y="1657350"/>
            <a:ext cx="108394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925" b="1">
                <a:solidFill>
                  <a:srgbClr val="167364"/>
                </a:solidFill>
                <a:latin typeface="Microsoft JhengHei"/>
                <a:ea typeface="Microsoft JhengHei"/>
                <a:cs typeface="Microsoft JhengHei"/>
              </a:defRPr>
            </a:pPr>
            <a:r>
              <a:rPr sz="5925" b="1">
                <a:solidFill>
                  <a:srgbClr val="167364"/>
                </a:solidFill>
                <a:latin typeface="Microsoft JhengHei"/>
                <a:ea typeface="Microsoft JhengHei"/>
                <a:cs typeface="Microsoft JhengHei"/>
              </a:rPr>
              <a:t>199.86 萬元</a:t>
            </a:r>
          </a:p>
        </p:txBody>
      </p:sp>
      <p:sp>
        <p:nvSpPr>
          <p:cNvPr id="4" name="body">
            <a:extLst xmlns:a="http://schemas.openxmlformats.org/drawingml/2006/main">
              <a:ext uri="{FF2B5EF4-FFF2-40B4-BE49-F238E27FC236}">
                <a16:creationId xmlns:a16="http://schemas.microsoft.com/office/drawing/2014/main" id="{2CDD5D0E-AC1D-4F70-BF4E-8CBA143CFBD2}"/>
              </a:ext>
            </a:extLst>
          </p:cNvPr>
          <p:cNvSpPr>
            <a:spLocks xmlns:a="http://schemas.openxmlformats.org/drawingml/2006/main" noGrp="1"/>
          </p:cNvSpPr>
          <p:nvPr/>
        </p:nvSpPr>
        <p:spPr>
          <a:xfrm xmlns:a="http://schemas.openxmlformats.org/drawingml/2006/main">
            <a:off x="714375" y="3009900"/>
            <a:ext cx="1062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314B46"/>
                </a:solidFill>
                <a:latin typeface="Microsoft JhengHei"/>
                <a:ea typeface="Microsoft JhengHei"/>
                <a:cs typeface="Microsoft JhengHei"/>
              </a:defRPr>
            </a:pPr>
            <a:r>
              <a:rPr sz="2550" b="0">
                <a:solidFill>
                  <a:srgbClr val="314B46"/>
                </a:solidFill>
                <a:latin typeface="Microsoft JhengHei"/>
                <a:ea typeface="Microsoft JhengHei"/>
                <a:cs typeface="Microsoft JhengHei"/>
              </a:rPr>
              <a:t>v22 的 Public 平均絕對誤差</a:t>
            </a:r>
          </a:p>
        </p:txBody>
      </p:sp>
      <p:sp>
        <p:nvSpPr>
          <p:cNvPr id="5" name="body">
            <a:extLst xmlns:a="http://schemas.openxmlformats.org/drawingml/2006/main">
              <a:ext uri="{FF2B5EF4-FFF2-40B4-BE49-F238E27FC236}">
                <a16:creationId xmlns:a16="http://schemas.microsoft.com/office/drawing/2014/main" id="{D86DD4EE-2C5F-4227-B98D-0F3C8F07CE60}"/>
              </a:ext>
            </a:extLst>
          </p:cNvPr>
          <p:cNvSpPr>
            <a:spLocks xmlns:a="http://schemas.openxmlformats.org/drawingml/2006/main" noGrp="1"/>
          </p:cNvSpPr>
          <p:nvPr/>
        </p:nvSpPr>
        <p:spPr>
          <a:xfrm xmlns:a="http://schemas.openxmlformats.org/drawingml/2006/main">
            <a:off x="714375" y="3895725"/>
            <a:ext cx="10620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27570"/>
                </a:solidFill>
                <a:latin typeface="Microsoft JhengHei"/>
                <a:ea typeface="Microsoft JhengHei"/>
                <a:cs typeface="Microsoft JhengHei"/>
              </a:defRPr>
            </a:pPr>
            <a:r>
              <a:rPr sz="1950" b="0">
                <a:solidFill>
                  <a:srgbClr val="627570"/>
                </a:solidFill>
                <a:latin typeface="Microsoft JhengHei"/>
                <a:ea typeface="Microsoft JhengHei"/>
                <a:cs typeface="Microsoft JhengHei"/>
              </a:rPr>
              <a:t>完整分數 1,998,568.5706 元，依留存的 Kaggle 提交結果截圖</a:t>
            </a:r>
          </a:p>
        </p:txBody>
      </p:sp>
      <p:sp>
        <p:nvSpPr>
          <p:cNvPr id="6" name="body">
            <a:extLst xmlns:a="http://schemas.openxmlformats.org/drawingml/2006/main">
              <a:ext uri="{FF2B5EF4-FFF2-40B4-BE49-F238E27FC236}">
                <a16:creationId xmlns:a16="http://schemas.microsoft.com/office/drawing/2014/main" id="{1B110C4B-1865-4F4C-9A7B-7A136BA9166A}"/>
              </a:ext>
            </a:extLst>
          </p:cNvPr>
          <p:cNvSpPr>
            <a:spLocks xmlns:a="http://schemas.openxmlformats.org/drawingml/2006/main" noGrp="1"/>
          </p:cNvSpPr>
          <p:nvPr/>
        </p:nvSpPr>
        <p:spPr>
          <a:xfrm xmlns:a="http://schemas.openxmlformats.org/drawingml/2006/main">
            <a:off x="714375" y="5162550"/>
            <a:ext cx="1062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3C38"/>
                </a:solidFill>
                <a:latin typeface="Microsoft JhengHei"/>
                <a:ea typeface="Microsoft JhengHei"/>
                <a:cs typeface="Microsoft JhengHei"/>
              </a:defRPr>
            </a:pPr>
            <a:r>
              <a:rPr sz="2550" b="1">
                <a:solidFill>
                  <a:srgbClr val="173C38"/>
                </a:solidFill>
                <a:latin typeface="Microsoft JhengHei"/>
                <a:ea typeface="Microsoft JhengHei"/>
                <a:cs typeface="Microsoft JhengHei"/>
              </a:rPr>
              <a:t>Private 約占 test 的 70%，目前分數未知</a:t>
            </a:r>
          </a:p>
        </p:txBody>
      </p:sp>
    </p:spTree>
    <p:extLst>
      <p:ext uri="{BB962C8B-B14F-4D97-AF65-F5344CB8AC3E}">
        <p14:creationId xmlns:p14="http://schemas.microsoft.com/office/powerpoint/2010/main" val="1100772935"/>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A771DFAF-376A-43C6-8551-75991DD293E5}"/>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限制與防過擬合</a:t>
            </a:r>
          </a:p>
        </p:txBody>
      </p:sp>
      <p:sp>
        <p:nvSpPr>
          <p:cNvPr id="2" name="body">
            <a:extLst xmlns:a="http://schemas.openxmlformats.org/drawingml/2006/main">
              <a:ext uri="{FF2B5EF4-FFF2-40B4-BE49-F238E27FC236}">
                <a16:creationId xmlns:a16="http://schemas.microsoft.com/office/drawing/2014/main" id="{318A6BA6-F4C3-4D2F-9DC6-6A6FCB4830DB}"/>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18</a:t>
            </a:r>
          </a:p>
        </p:txBody>
      </p:sp>
      <p:sp>
        <p:nvSpPr>
          <p:cNvPr id="3" name="body">
            <a:extLst xmlns:a="http://schemas.openxmlformats.org/drawingml/2006/main">
              <a:ext uri="{FF2B5EF4-FFF2-40B4-BE49-F238E27FC236}">
                <a16:creationId xmlns:a16="http://schemas.microsoft.com/office/drawing/2014/main" id="{D6163062-C0D8-41F7-ADB3-8CB72A0DD29B}"/>
              </a:ext>
            </a:extLst>
          </p:cNvPr>
          <p:cNvSpPr>
            <a:spLocks xmlns:a="http://schemas.openxmlformats.org/drawingml/2006/main" noGrp="1"/>
          </p:cNvSpPr>
          <p:nvPr/>
        </p:nvSpPr>
        <p:spPr>
          <a:xfrm xmlns:a="http://schemas.openxmlformats.org/drawingml/2006/main">
            <a:off x="666750" y="159067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67364"/>
                </a:solidFill>
                <a:latin typeface="Microsoft JhengHei"/>
                <a:ea typeface="Microsoft JhengHei"/>
                <a:cs typeface="Microsoft JhengHei"/>
              </a:defRPr>
            </a:pPr>
            <a:r>
              <a:rPr sz="2475" b="1">
                <a:solidFill>
                  <a:srgbClr val="167364"/>
                </a:solidFill>
                <a:latin typeface="Microsoft JhengHei"/>
                <a:ea typeface="Microsoft JhengHei"/>
                <a:cs typeface="Microsoft JhengHei"/>
              </a:rPr>
              <a:t>驗證重複使用</a:t>
            </a:r>
          </a:p>
        </p:txBody>
      </p:sp>
      <p:sp>
        <p:nvSpPr>
          <p:cNvPr id="4" name="body">
            <a:extLst xmlns:a="http://schemas.openxmlformats.org/drawingml/2006/main">
              <a:ext uri="{FF2B5EF4-FFF2-40B4-BE49-F238E27FC236}">
                <a16:creationId xmlns:a16="http://schemas.microsoft.com/office/drawing/2014/main" id="{A88B1890-E76D-4785-A3FE-485C4B0BB84B}"/>
              </a:ext>
            </a:extLst>
          </p:cNvPr>
          <p:cNvSpPr>
            <a:spLocks xmlns:a="http://schemas.openxmlformats.org/drawingml/2006/main" noGrp="1"/>
          </p:cNvSpPr>
          <p:nvPr/>
        </p:nvSpPr>
        <p:spPr>
          <a:xfrm xmlns:a="http://schemas.openxmlformats.org/drawingml/2006/main">
            <a:off x="4410075" y="159067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研究多次看過同一批歷史窗口</a:t>
            </a:r>
          </a:p>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選擇方法時仍可能逐漸貼近那些資料</a:t>
            </a:r>
          </a:p>
        </p:txBody>
      </p:sp>
      <p:sp>
        <p:nvSpPr>
          <p:cNvPr id="5" name="body">
            <a:extLst xmlns:a="http://schemas.openxmlformats.org/drawingml/2006/main">
              <a:ext uri="{FF2B5EF4-FFF2-40B4-BE49-F238E27FC236}">
                <a16:creationId xmlns:a16="http://schemas.microsoft.com/office/drawing/2014/main" id="{6B79CA33-60A7-4A21-8DBF-60FC40552594}"/>
              </a:ext>
            </a:extLst>
          </p:cNvPr>
          <p:cNvSpPr>
            <a:spLocks xmlns:a="http://schemas.openxmlformats.org/drawingml/2006/main" noGrp="1"/>
          </p:cNvSpPr>
          <p:nvPr/>
        </p:nvSpPr>
        <p:spPr>
          <a:xfrm xmlns:a="http://schemas.openxmlformats.org/drawingml/2006/main">
            <a:off x="666750" y="317182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67364"/>
                </a:solidFill>
                <a:latin typeface="Microsoft JhengHei"/>
                <a:ea typeface="Microsoft JhengHei"/>
                <a:cs typeface="Microsoft JhengHei"/>
              </a:defRPr>
            </a:pPr>
            <a:r>
              <a:rPr sz="2475" b="1">
                <a:solidFill>
                  <a:srgbClr val="167364"/>
                </a:solidFill>
                <a:latin typeface="Microsoft JhengHei"/>
                <a:ea typeface="Microsoft JhengHei"/>
                <a:cs typeface="Microsoft JhengHei"/>
              </a:rPr>
              <a:t>整體平均的盲點</a:t>
            </a:r>
          </a:p>
        </p:txBody>
      </p:sp>
      <p:sp>
        <p:nvSpPr>
          <p:cNvPr id="6" name="body">
            <a:extLst xmlns:a="http://schemas.openxmlformats.org/drawingml/2006/main">
              <a:ext uri="{FF2B5EF4-FFF2-40B4-BE49-F238E27FC236}">
                <a16:creationId xmlns:a16="http://schemas.microsoft.com/office/drawing/2014/main" id="{1DAA30C0-5CC2-400A-ADBF-B079329962E3}"/>
              </a:ext>
            </a:extLst>
          </p:cNvPr>
          <p:cNvSpPr>
            <a:spLocks xmlns:a="http://schemas.openxmlformats.org/drawingml/2006/main" noGrp="1"/>
          </p:cNvSpPr>
          <p:nvPr/>
        </p:nvSpPr>
        <p:spPr>
          <a:xfrm xmlns:a="http://schemas.openxmlformats.org/drawingml/2006/main">
            <a:off x="4410075" y="317182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某些高價群或新建案仍可能更差</a:t>
            </a:r>
          </a:p>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中位數也無法消除三條分支共同的偏差</a:t>
            </a:r>
          </a:p>
        </p:txBody>
      </p:sp>
      <p:sp>
        <p:nvSpPr>
          <p:cNvPr id="7" name="body">
            <a:extLst xmlns:a="http://schemas.openxmlformats.org/drawingml/2006/main">
              <a:ext uri="{FF2B5EF4-FFF2-40B4-BE49-F238E27FC236}">
                <a16:creationId xmlns:a16="http://schemas.microsoft.com/office/drawing/2014/main" id="{2DDAC252-BC99-4141-BE96-861DEEC341AA}"/>
              </a:ext>
            </a:extLst>
          </p:cNvPr>
          <p:cNvSpPr>
            <a:spLocks xmlns:a="http://schemas.openxmlformats.org/drawingml/2006/main" noGrp="1"/>
          </p:cNvSpPr>
          <p:nvPr/>
        </p:nvSpPr>
        <p:spPr>
          <a:xfrm xmlns:a="http://schemas.openxmlformats.org/drawingml/2006/main">
            <a:off x="666750" y="475297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67364"/>
                </a:solidFill>
                <a:latin typeface="Microsoft JhengHei"/>
                <a:ea typeface="Microsoft JhengHei"/>
                <a:cs typeface="Microsoft JhengHei"/>
              </a:defRPr>
            </a:pPr>
            <a:r>
              <a:rPr sz="2475" b="1">
                <a:solidFill>
                  <a:srgbClr val="167364"/>
                </a:solidFill>
                <a:latin typeface="Microsoft JhengHei"/>
                <a:ea typeface="Microsoft JhengHei"/>
                <a:cs typeface="Microsoft JhengHei"/>
              </a:rPr>
              <a:t>地理資訊的精度</a:t>
            </a:r>
          </a:p>
        </p:txBody>
      </p:sp>
      <p:sp>
        <p:nvSpPr>
          <p:cNvPr id="8" name="body">
            <a:extLst xmlns:a="http://schemas.openxmlformats.org/drawingml/2006/main">
              <a:ext uri="{FF2B5EF4-FFF2-40B4-BE49-F238E27FC236}">
                <a16:creationId xmlns:a16="http://schemas.microsoft.com/office/drawing/2014/main" id="{8D4F4331-1F2C-486A-B835-E2F8449EC09D}"/>
              </a:ext>
            </a:extLst>
          </p:cNvPr>
          <p:cNvSpPr>
            <a:spLocks xmlns:a="http://schemas.openxmlformats.org/drawingml/2006/main" noGrp="1"/>
          </p:cNvSpPr>
          <p:nvPr/>
        </p:nvSpPr>
        <p:spPr>
          <a:xfrm xmlns:a="http://schemas.openxmlformats.org/drawingml/2006/main">
            <a:off x="4410075" y="475297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各年度使用對應的非價格道路快照</a:t>
            </a:r>
          </a:p>
          <a:p xmlns:a="http://schemas.openxmlformats.org/drawingml/2006/main">
            <a:pPr algn="l">
              <a:defRPr sz="2250" b="0">
                <a:solidFill>
                  <a:srgbClr val="314B46"/>
                </a:solidFill>
                <a:latin typeface="Microsoft JhengHei"/>
                <a:ea typeface="Microsoft JhengHei"/>
                <a:cs typeface="Microsoft JhengHei"/>
              </a:defRPr>
            </a:pPr>
            <a:r>
              <a:rPr sz="2250" b="0">
                <a:solidFill>
                  <a:srgbClr val="314B46"/>
                </a:solidFill>
                <a:latin typeface="Microsoft JhengHei"/>
                <a:ea typeface="Microsoft JhengHei"/>
                <a:cs typeface="Microsoft JhengHei"/>
              </a:rPr>
              <a:t>道路代表點無法等同精確的住宅位置</a:t>
            </a:r>
          </a:p>
        </p:txBody>
      </p:sp>
    </p:spTree>
    <p:extLst>
      <p:ext uri="{BB962C8B-B14F-4D97-AF65-F5344CB8AC3E}">
        <p14:creationId xmlns:p14="http://schemas.microsoft.com/office/powerpoint/2010/main" val="66809395"/>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1C4D750-AE7D-4831-A711-7C2A5B9A6188}"/>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最終訓練與程式重現</a:t>
            </a:r>
          </a:p>
        </p:txBody>
      </p:sp>
      <p:sp>
        <p:nvSpPr>
          <p:cNvPr id="2" name="body">
            <a:extLst xmlns:a="http://schemas.openxmlformats.org/drawingml/2006/main">
              <a:ext uri="{FF2B5EF4-FFF2-40B4-BE49-F238E27FC236}">
                <a16:creationId xmlns:a16="http://schemas.microsoft.com/office/drawing/2014/main" id="{593B6F5B-6BB9-44AC-B3BD-A4311A8BA5A7}"/>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19</a:t>
            </a:r>
          </a:p>
        </p:txBody>
      </p:sp>
      <p:sp>
        <p:nvSpPr>
          <p:cNvPr id="3" name="body">
            <a:extLst xmlns:a="http://schemas.openxmlformats.org/drawingml/2006/main">
              <a:ext uri="{FF2B5EF4-FFF2-40B4-BE49-F238E27FC236}">
                <a16:creationId xmlns:a16="http://schemas.microsoft.com/office/drawing/2014/main" id="{15C6372B-097E-4AB9-9E0C-9A79318F3349}"/>
              </a:ext>
            </a:extLst>
          </p:cNvPr>
          <p:cNvSpPr>
            <a:spLocks xmlns:a="http://schemas.openxmlformats.org/drawingml/2006/main" noGrp="1"/>
          </p:cNvSpPr>
          <p:nvPr/>
        </p:nvSpPr>
        <p:spPr>
          <a:xfrm xmlns:a="http://schemas.openxmlformats.org/drawingml/2006/main">
            <a:off x="666750" y="154305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67364"/>
                </a:solidFill>
                <a:latin typeface="Microsoft JhengHei"/>
                <a:ea typeface="Microsoft JhengHei"/>
                <a:cs typeface="Microsoft JhengHei"/>
              </a:defRPr>
            </a:pPr>
            <a:r>
              <a:rPr sz="2850" b="1">
                <a:solidFill>
                  <a:srgbClr val="167364"/>
                </a:solidFill>
                <a:latin typeface="Microsoft JhengHei"/>
                <a:ea typeface="Microsoft JhengHei"/>
                <a:cs typeface="Microsoft JhengHei"/>
              </a:rPr>
              <a:t>467,221 筆有標籤資料完成最終學習</a:t>
            </a:r>
          </a:p>
        </p:txBody>
      </p:sp>
      <p:sp>
        <p:nvSpPr>
          <p:cNvPr id="4" name="body">
            <a:extLst xmlns:a="http://schemas.openxmlformats.org/drawingml/2006/main">
              <a:ext uri="{FF2B5EF4-FFF2-40B4-BE49-F238E27FC236}">
                <a16:creationId xmlns:a16="http://schemas.microsoft.com/office/drawing/2014/main" id="{4ED795AB-3EB6-4593-9501-08EFFF83DA01}"/>
              </a:ext>
            </a:extLst>
          </p:cNvPr>
          <p:cNvSpPr>
            <a:spLocks xmlns:a="http://schemas.openxmlformats.org/drawingml/2006/main" noGrp="1"/>
          </p:cNvSpPr>
          <p:nvPr/>
        </p:nvSpPr>
        <p:spPr>
          <a:xfrm xmlns:a="http://schemas.openxmlformats.org/drawingml/2006/main">
            <a:off x="666750" y="2638425"/>
            <a:ext cx="1083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314B46"/>
                </a:solidFill>
                <a:latin typeface="Microsoft JhengHei"/>
                <a:ea typeface="Microsoft JhengHei"/>
                <a:cs typeface="Microsoft JhengHei"/>
              </a:defRPr>
            </a:pPr>
            <a:r>
              <a:rPr sz="2400" b="0">
                <a:solidFill>
                  <a:srgbClr val="314B46"/>
                </a:solidFill>
                <a:latin typeface="Microsoft JhengHei"/>
                <a:ea typeface="Microsoft JhengHei"/>
                <a:cs typeface="Microsoft JhengHei"/>
              </a:rPr>
              <a:t>47,073 筆 test 全部保留並輸出「編號、總價元」</a:t>
            </a:r>
          </a:p>
        </p:txBody>
      </p:sp>
      <p:sp>
        <p:nvSpPr>
          <p:cNvPr id="5" name="body">
            <a:extLst xmlns:a="http://schemas.openxmlformats.org/drawingml/2006/main">
              <a:ext uri="{FF2B5EF4-FFF2-40B4-BE49-F238E27FC236}">
                <a16:creationId xmlns:a16="http://schemas.microsoft.com/office/drawing/2014/main" id="{5A4F816E-F44A-4466-AD44-8A4488C418D0}"/>
              </a:ext>
            </a:extLst>
          </p:cNvPr>
          <p:cNvSpPr>
            <a:spLocks xmlns:a="http://schemas.openxmlformats.org/drawingml/2006/main" noGrp="1"/>
          </p:cNvSpPr>
          <p:nvPr/>
        </p:nvSpPr>
        <p:spPr>
          <a:xfrm xmlns:a="http://schemas.openxmlformats.org/drawingml/2006/main">
            <a:off x="666750" y="3695700"/>
            <a:ext cx="252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14B46"/>
                </a:solidFill>
                <a:latin typeface="Microsoft JhengHei"/>
                <a:ea typeface="Microsoft JhengHei"/>
                <a:cs typeface="Microsoft JhengHei"/>
              </a:defRPr>
            </a:pPr>
            <a:r>
              <a:rPr sz="2250" b="1">
                <a:solidFill>
                  <a:srgbClr val="314B46"/>
                </a:solidFill>
                <a:latin typeface="Microsoft JhengHei"/>
                <a:ea typeface="Microsoft JhengHei"/>
                <a:cs typeface="Microsoft JhengHei"/>
              </a:rPr>
              <a:t>程式入口</a:t>
            </a:r>
          </a:p>
        </p:txBody>
      </p:sp>
      <p:sp>
        <p:nvSpPr>
          <p:cNvPr id="6" name="body">
            <a:extLst xmlns:a="http://schemas.openxmlformats.org/drawingml/2006/main">
              <a:ext uri="{FF2B5EF4-FFF2-40B4-BE49-F238E27FC236}">
                <a16:creationId xmlns:a16="http://schemas.microsoft.com/office/drawing/2014/main" id="{70E62B33-52BF-4ED1-9C0C-438460FC0704}"/>
              </a:ext>
            </a:extLst>
          </p:cNvPr>
          <p:cNvSpPr>
            <a:spLocks xmlns:a="http://schemas.openxmlformats.org/drawingml/2006/main" noGrp="1"/>
          </p:cNvSpPr>
          <p:nvPr/>
        </p:nvSpPr>
        <p:spPr>
          <a:xfrm xmlns:a="http://schemas.openxmlformats.org/drawingml/2006/main">
            <a:off x="3419475" y="3695700"/>
            <a:ext cx="804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67364"/>
                </a:solidFill>
                <a:latin typeface="Consolas"/>
                <a:ea typeface="Consolas"/>
                <a:cs typeface="Consolas"/>
              </a:defRPr>
            </a:pPr>
            <a:r>
              <a:rPr sz="2700" b="0">
                <a:solidFill>
                  <a:srgbClr val="167364"/>
                </a:solidFill>
                <a:latin typeface="Consolas"/>
                <a:ea typeface="Consolas"/>
                <a:cs typeface="Consolas"/>
              </a:rPr>
              <a:t>src/predict_v22.py</a:t>
            </a:r>
          </a:p>
        </p:txBody>
      </p:sp>
      <p:sp>
        <p:nvSpPr>
          <p:cNvPr id="7" name="body">
            <a:extLst xmlns:a="http://schemas.openxmlformats.org/drawingml/2006/main">
              <a:ext uri="{FF2B5EF4-FFF2-40B4-BE49-F238E27FC236}">
                <a16:creationId xmlns:a16="http://schemas.microsoft.com/office/drawing/2014/main" id="{7E3ED169-6A41-4900-BBD2-B18FA7B3A1EE}"/>
              </a:ext>
            </a:extLst>
          </p:cNvPr>
          <p:cNvSpPr>
            <a:spLocks xmlns:a="http://schemas.openxmlformats.org/drawingml/2006/main" noGrp="1"/>
          </p:cNvSpPr>
          <p:nvPr/>
        </p:nvSpPr>
        <p:spPr>
          <a:xfrm xmlns:a="http://schemas.openxmlformats.org/drawingml/2006/main">
            <a:off x="666750" y="4743450"/>
            <a:ext cx="10839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314B46"/>
                </a:solidFill>
                <a:latin typeface="Microsoft JhengHei"/>
                <a:ea typeface="Microsoft JhengHei"/>
                <a:cs typeface="Microsoft JhengHei"/>
              </a:defRPr>
            </a:pPr>
            <a:r>
              <a:rPr sz="2175" b="0">
                <a:solidFill>
                  <a:srgbClr val="314B46"/>
                </a:solidFill>
                <a:latin typeface="Microsoft JhengHei"/>
                <a:ea typeface="Microsoft JhengHei"/>
                <a:cs typeface="Microsoft JhengHei"/>
              </a:rPr>
              <a:t>保存模型加原始 test 重新推論，47,073 筆及 CSV 完全一致</a:t>
            </a:r>
          </a:p>
        </p:txBody>
      </p:sp>
      <p:sp>
        <p:nvSpPr>
          <p:cNvPr id="8" name="body">
            <a:extLst xmlns:a="http://schemas.openxmlformats.org/drawingml/2006/main">
              <a:ext uri="{FF2B5EF4-FFF2-40B4-BE49-F238E27FC236}">
                <a16:creationId xmlns:a16="http://schemas.microsoft.com/office/drawing/2014/main" id="{DECF820D-0FF5-43AF-A29E-0392E0FBA26B}"/>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04F35"/>
                </a:solidFill>
                <a:latin typeface="Microsoft JhengHei"/>
                <a:ea typeface="Microsoft JhengHei"/>
                <a:cs typeface="Microsoft JhengHei"/>
              </a:defRPr>
            </a:pPr>
            <a:r>
              <a:rPr sz="1875" b="0">
                <a:solidFill>
                  <a:srgbClr val="B04F35"/>
                </a:solidFill>
                <a:latin typeface="Microsoft JhengHei"/>
                <a:ea typeface="Microsoft JhengHei"/>
                <a:cs typeface="Microsoft JhengHei"/>
              </a:rPr>
              <a:t>已驗證的是保存模型推論；全新環境安裝與從零重訓尚未驗證</a:t>
            </a:r>
          </a:p>
        </p:txBody>
      </p:sp>
    </p:spTree>
    <p:extLst>
      <p:ext uri="{BB962C8B-B14F-4D97-AF65-F5344CB8AC3E}">
        <p14:creationId xmlns:p14="http://schemas.microsoft.com/office/powerpoint/2010/main" val="40655488"/>
      </p:ext>
    </p:extLst>
  </p:cSld>
</p:sld>
</file>

<file path=ppt/slides/slide20.xml><?xml version="1.0" encoding="utf-8"?>
<p:sld xmlns:p="http://schemas.openxmlformats.org/presentationml/2006/main">
  <p:cSld>
    <p:bg>
      <p:bgPr>
        <a:solidFill xmlns:a="http://schemas.openxmlformats.org/drawingml/2006/main">
          <a:srgbClr val="173C3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1F8D4BE-CD63-4BB4-823A-0853A52C5628}"/>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Microsoft JhengHei"/>
                <a:ea typeface="Microsoft JhengHei"/>
                <a:cs typeface="Microsoft JhengHei"/>
              </a:defRPr>
            </a:pPr>
            <a:r>
              <a:rPr sz="3450" b="1">
                <a:solidFill>
                  <a:srgbClr val="FFFFFF"/>
                </a:solidFill>
                <a:latin typeface="Microsoft JhengHei"/>
                <a:ea typeface="Microsoft JhengHei"/>
                <a:cs typeface="Microsoft JhengHei"/>
              </a:rPr>
              <a:t>結論</a:t>
            </a:r>
          </a:p>
        </p:txBody>
      </p:sp>
      <p:sp>
        <p:nvSpPr>
          <p:cNvPr id="2" name="body">
            <a:extLst xmlns:a="http://schemas.openxmlformats.org/drawingml/2006/main">
              <a:ext uri="{FF2B5EF4-FFF2-40B4-BE49-F238E27FC236}">
                <a16:creationId xmlns:a16="http://schemas.microsoft.com/office/drawing/2014/main" id="{CB58B026-6C22-4B42-81C5-A421E64EC78D}"/>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E4EDE6"/>
                </a:solidFill>
                <a:latin typeface="Microsoft JhengHei"/>
                <a:ea typeface="Microsoft JhengHei"/>
                <a:cs typeface="Microsoft JhengHei"/>
              </a:defRPr>
            </a:pPr>
            <a:r>
              <a:rPr sz="1425" b="0">
                <a:solidFill>
                  <a:srgbClr val="E4EDE6"/>
                </a:solidFill>
                <a:latin typeface="Microsoft JhengHei"/>
                <a:ea typeface="Microsoft JhengHei"/>
                <a:cs typeface="Microsoft JhengHei"/>
              </a:rPr>
              <a:t>20</a:t>
            </a:r>
          </a:p>
        </p:txBody>
      </p:sp>
      <p:sp>
        <p:nvSpPr>
          <p:cNvPr id="3" name="body">
            <a:extLst xmlns:a="http://schemas.openxmlformats.org/drawingml/2006/main">
              <a:ext uri="{FF2B5EF4-FFF2-40B4-BE49-F238E27FC236}">
                <a16:creationId xmlns:a16="http://schemas.microsoft.com/office/drawing/2014/main" id="{9BD68B6C-8FE7-4213-9F38-52B543F8B05A}"/>
              </a:ext>
            </a:extLst>
          </p:cNvPr>
          <p:cNvSpPr>
            <a:spLocks xmlns:a="http://schemas.openxmlformats.org/drawingml/2006/main" noGrp="1"/>
          </p:cNvSpPr>
          <p:nvPr/>
        </p:nvSpPr>
        <p:spPr>
          <a:xfrm xmlns:a="http://schemas.openxmlformats.org/drawingml/2006/main">
            <a:off x="666750" y="1628775"/>
            <a:ext cx="10839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Microsoft JhengHei"/>
                <a:ea typeface="Microsoft JhengHei"/>
                <a:cs typeface="Microsoft JhengHei"/>
              </a:defRPr>
            </a:pPr>
            <a:r>
              <a:rPr sz="3225" b="1">
                <a:solidFill>
                  <a:srgbClr val="FFFFFF"/>
                </a:solidFill>
                <a:latin typeface="Microsoft JhengHei"/>
                <a:ea typeface="Microsoft JhengHei"/>
                <a:cs typeface="Microsoft JhengHei"/>
              </a:rPr>
              <a:t>用歷史交易學習房價規律</a:t>
            </a:r>
          </a:p>
        </p:txBody>
      </p:sp>
      <p:sp>
        <p:nvSpPr>
          <p:cNvPr id="4" name="body">
            <a:extLst xmlns:a="http://schemas.openxmlformats.org/drawingml/2006/main">
              <a:ext uri="{FF2B5EF4-FFF2-40B4-BE49-F238E27FC236}">
                <a16:creationId xmlns:a16="http://schemas.microsoft.com/office/drawing/2014/main" id="{BD81FB07-4115-46AD-9A59-D2905EA5DDCC}"/>
              </a:ext>
            </a:extLst>
          </p:cNvPr>
          <p:cNvSpPr>
            <a:spLocks xmlns:a="http://schemas.openxmlformats.org/drawingml/2006/main" noGrp="1"/>
          </p:cNvSpPr>
          <p:nvPr/>
        </p:nvSpPr>
        <p:spPr>
          <a:xfrm xmlns:a="http://schemas.openxmlformats.org/drawingml/2006/main">
            <a:off x="666750" y="2867025"/>
            <a:ext cx="1083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E4EDE6"/>
                </a:solidFill>
                <a:latin typeface="Microsoft JhengHei"/>
                <a:ea typeface="Microsoft JhengHei"/>
                <a:cs typeface="Microsoft JhengHei"/>
              </a:defRPr>
            </a:pPr>
            <a:r>
              <a:rPr sz="2475" b="0">
                <a:solidFill>
                  <a:srgbClr val="E4EDE6"/>
                </a:solidFill>
                <a:latin typeface="Microsoft JhengHei"/>
                <a:ea typeface="Microsoft JhengHei"/>
                <a:cs typeface="Microsoft JhengHei"/>
              </a:rPr>
              <a:t>清理資料、設計特徵，再用時間回測檢查誤差</a:t>
            </a:r>
          </a:p>
        </p:txBody>
      </p:sp>
      <p:sp>
        <p:nvSpPr>
          <p:cNvPr id="5" name="body">
            <a:extLst xmlns:a="http://schemas.openxmlformats.org/drawingml/2006/main">
              <a:ext uri="{FF2B5EF4-FFF2-40B4-BE49-F238E27FC236}">
                <a16:creationId xmlns:a16="http://schemas.microsoft.com/office/drawing/2014/main" id="{CAD66443-903E-4C42-BEFD-EF72F7AD4EE4}"/>
              </a:ext>
            </a:extLst>
          </p:cNvPr>
          <p:cNvSpPr>
            <a:spLocks xmlns:a="http://schemas.openxmlformats.org/drawingml/2006/main" noGrp="1"/>
          </p:cNvSpPr>
          <p:nvPr/>
        </p:nvSpPr>
        <p:spPr>
          <a:xfrm xmlns:a="http://schemas.openxmlformats.org/drawingml/2006/main">
            <a:off x="666750" y="4010025"/>
            <a:ext cx="1083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E4EDE6"/>
                </a:solidFill>
                <a:latin typeface="Microsoft JhengHei"/>
                <a:ea typeface="Microsoft JhengHei"/>
                <a:cs typeface="Microsoft JhengHei"/>
              </a:defRPr>
            </a:pPr>
            <a:r>
              <a:rPr sz="2475" b="0">
                <a:solidFill>
                  <a:srgbClr val="E4EDE6"/>
                </a:solidFill>
                <a:latin typeface="Microsoft JhengHei"/>
                <a:ea typeface="Microsoft JhengHei"/>
                <a:cs typeface="Microsoft JhengHei"/>
              </a:rPr>
              <a:t>六模型形成三分支，修正後逐筆取中位數</a:t>
            </a:r>
          </a:p>
        </p:txBody>
      </p:sp>
      <p:sp>
        <p:nvSpPr>
          <p:cNvPr id="6" name="body">
            <a:extLst xmlns:a="http://schemas.openxmlformats.org/drawingml/2006/main">
              <a:ext uri="{FF2B5EF4-FFF2-40B4-BE49-F238E27FC236}">
                <a16:creationId xmlns:a16="http://schemas.microsoft.com/office/drawing/2014/main" id="{43070088-EACA-4D71-96C9-447CE945680F}"/>
              </a:ext>
            </a:extLst>
          </p:cNvPr>
          <p:cNvSpPr>
            <a:spLocks xmlns:a="http://schemas.openxmlformats.org/drawingml/2006/main" noGrp="1"/>
          </p:cNvSpPr>
          <p:nvPr/>
        </p:nvSpPr>
        <p:spPr>
          <a:xfrm xmlns:a="http://schemas.openxmlformats.org/drawingml/2006/main">
            <a:off x="666750" y="5276850"/>
            <a:ext cx="108394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FFFFF"/>
                </a:solidFill>
                <a:latin typeface="Microsoft JhengHei"/>
                <a:ea typeface="Microsoft JhengHei"/>
                <a:cs typeface="Microsoft JhengHei"/>
              </a:defRPr>
            </a:pPr>
            <a:r>
              <a:rPr sz="2475" b="1">
                <a:solidFill>
                  <a:srgbClr val="FFFFFF"/>
                </a:solidFill>
                <a:latin typeface="Microsoft JhengHei"/>
                <a:ea typeface="Microsoft JhengHei"/>
                <a:cs typeface="Microsoft JhengHei"/>
              </a:rPr>
              <a:t>Public MAE 約 199.86 萬元，Private 分數仍未知</a:t>
            </a:r>
          </a:p>
        </p:txBody>
      </p:sp>
    </p:spTree>
    <p:extLst>
      <p:ext uri="{BB962C8B-B14F-4D97-AF65-F5344CB8AC3E}">
        <p14:creationId xmlns:p14="http://schemas.microsoft.com/office/powerpoint/2010/main" val="341552939"/>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F6756E4-25E3-44C8-B42B-33AB521333AA}"/>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附錄：精確計算公式</a:t>
            </a:r>
          </a:p>
        </p:txBody>
      </p:sp>
      <p:sp>
        <p:nvSpPr>
          <p:cNvPr id="2" name="body">
            <a:extLst xmlns:a="http://schemas.openxmlformats.org/drawingml/2006/main">
              <a:ext uri="{FF2B5EF4-FFF2-40B4-BE49-F238E27FC236}">
                <a16:creationId xmlns:a16="http://schemas.microsoft.com/office/drawing/2014/main" id="{68138E8E-E569-43DE-8044-7FB38D6C8A01}"/>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21</a:t>
            </a:r>
          </a:p>
        </p:txBody>
      </p:sp>
      <p:sp>
        <p:nvSpPr>
          <p:cNvPr id="3" name="body">
            <a:extLst xmlns:a="http://schemas.openxmlformats.org/drawingml/2006/main">
              <a:ext uri="{FF2B5EF4-FFF2-40B4-BE49-F238E27FC236}">
                <a16:creationId xmlns:a16="http://schemas.microsoft.com/office/drawing/2014/main" id="{FF6DAB86-EDE6-426A-A4AB-360B12F6A1C0}"/>
              </a:ext>
            </a:extLst>
          </p:cNvPr>
          <p:cNvSpPr>
            <a:spLocks xmlns:a="http://schemas.openxmlformats.org/drawingml/2006/main" noGrp="1"/>
          </p:cNvSpPr>
          <p:nvPr/>
        </p:nvSpPr>
        <p:spPr>
          <a:xfrm xmlns:a="http://schemas.openxmlformats.org/drawingml/2006/main">
            <a:off x="666750" y="14192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67364"/>
                </a:solidFill>
                <a:latin typeface="Microsoft JhengHei"/>
                <a:ea typeface="Microsoft JhengHei"/>
                <a:cs typeface="Microsoft JhengHei"/>
              </a:defRPr>
            </a:pPr>
            <a:r>
              <a:rPr sz="2250" b="1">
                <a:solidFill>
                  <a:srgbClr val="167364"/>
                </a:solidFill>
                <a:latin typeface="Microsoft JhengHei"/>
                <a:ea typeface="Microsoft JhengHei"/>
                <a:cs typeface="Microsoft JhengHei"/>
              </a:rPr>
              <a:t>所有模型預測先還原成總價元</a:t>
            </a:r>
          </a:p>
        </p:txBody>
      </p:sp>
      <p:sp>
        <p:nvSpPr>
          <p:cNvPr id="4" name="body">
            <a:extLst xmlns:a="http://schemas.openxmlformats.org/drawingml/2006/main">
              <a:ext uri="{FF2B5EF4-FFF2-40B4-BE49-F238E27FC236}">
                <a16:creationId xmlns:a16="http://schemas.microsoft.com/office/drawing/2014/main" id="{0E82CE7A-ECF8-4237-8369-3A62AC34E009}"/>
              </a:ext>
            </a:extLst>
          </p:cNvPr>
          <p:cNvSpPr>
            <a:spLocks xmlns:a="http://schemas.openxmlformats.org/drawingml/2006/main" noGrp="1"/>
          </p:cNvSpPr>
          <p:nvPr/>
        </p:nvSpPr>
        <p:spPr>
          <a:xfrm xmlns:a="http://schemas.openxmlformats.org/drawingml/2006/main">
            <a:off x="685800" y="2124075"/>
            <a:ext cx="10820400"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C38"/>
                </a:solidFill>
                <a:latin typeface="Consolas"/>
                <a:ea typeface="Consolas"/>
                <a:cs typeface="Consolas"/>
              </a:defRPr>
            </a:pPr>
            <a:r>
              <a:rPr sz="2025" b="0">
                <a:solidFill>
                  <a:srgbClr val="173C38"/>
                </a:solidFill>
                <a:latin typeface="Consolas"/>
                <a:ea typeface="Consolas"/>
                <a:cs typeface="Consolas"/>
              </a:rPr>
              <a:t>B_unit = .75*C_unit + .25*L_unit</a:t>
            </a:r>
          </a:p>
          <a:p xmlns:a="http://schemas.openxmlformats.org/drawingml/2006/main">
            <a:pPr algn="l">
              <a:defRPr sz="2025" b="0">
                <a:solidFill>
                  <a:srgbClr val="173C38"/>
                </a:solidFill>
                <a:latin typeface="Consolas"/>
                <a:ea typeface="Consolas"/>
                <a:cs typeface="Consolas"/>
              </a:defRPr>
            </a:pPr>
            <a:r>
              <a:rPr sz="2025" b="0">
                <a:solidFill>
                  <a:srgbClr val="173C38"/>
                </a:solidFill>
                <a:latin typeface="Consolas"/>
                <a:ea typeface="Consolas"/>
                <a:cs typeface="Consolas"/>
              </a:rPr>
              <a:t>B_nn   = .75*(.5*N_area + .5*N_prior) + .25*L_unit</a:t>
            </a:r>
          </a:p>
          <a:p xmlns:a="http://schemas.openxmlformats.org/drawingml/2006/main">
            <a:pPr algn="l">
              <a:defRPr sz="2025" b="0">
                <a:solidFill>
                  <a:srgbClr val="173C38"/>
                </a:solidFill>
                <a:latin typeface="Consolas"/>
                <a:ea typeface="Consolas"/>
                <a:cs typeface="Consolas"/>
              </a:defRPr>
            </a:pPr>
            <a:r>
              <a:rPr sz="2025" b="0">
                <a:solidFill>
                  <a:srgbClr val="173C38"/>
                </a:solidFill>
                <a:latin typeface="Consolas"/>
                <a:ea typeface="Consolas"/>
                <a:cs typeface="Consolas"/>
              </a:rPr>
              <a:t>B_log  = .75*(.5*C_raw  + .5*C_log)   + .25*L_unit</a:t>
            </a:r>
          </a:p>
          <a:p xmlns:a="http://schemas.openxmlformats.org/drawingml/2006/main">
            <a:r>
              <a:t/>
            </a:r>
          </a:p>
          <a:p xmlns:a="http://schemas.openxmlformats.org/drawingml/2006/main">
            <a:pPr algn="l">
              <a:defRPr sz="2025" b="0">
                <a:solidFill>
                  <a:srgbClr val="173C38"/>
                </a:solidFill>
                <a:latin typeface="Consolas"/>
                <a:ea typeface="Consolas"/>
                <a:cs typeface="Consolas"/>
              </a:defRPr>
            </a:pPr>
            <a:r>
              <a:rPr sz="2025" b="0">
                <a:solidFill>
                  <a:srgbClr val="173C38"/>
                </a:solidFill>
                <a:latin typeface="Consolas"/>
                <a:ea typeface="Consolas"/>
                <a:cs typeface="Consolas"/>
              </a:rPr>
              <a:t>U = S(B_unit, R(B_unit))</a:t>
            </a:r>
          </a:p>
          <a:p xmlns:a="http://schemas.openxmlformats.org/drawingml/2006/main">
            <a:pPr algn="l">
              <a:defRPr sz="2025" b="0">
                <a:solidFill>
                  <a:srgbClr val="173C38"/>
                </a:solidFill>
                <a:latin typeface="Consolas"/>
                <a:ea typeface="Consolas"/>
                <a:cs typeface="Consolas"/>
              </a:defRPr>
            </a:pPr>
            <a:r>
              <a:rPr sz="2025" b="0">
                <a:solidFill>
                  <a:srgbClr val="173C38"/>
                </a:solidFill>
                <a:latin typeface="Consolas"/>
                <a:ea typeface="Consolas"/>
                <a:cs typeface="Consolas"/>
              </a:rPr>
              <a:t>N = S(B_nn,   R(B_nn))</a:t>
            </a:r>
          </a:p>
          <a:p xmlns:a="http://schemas.openxmlformats.org/drawingml/2006/main">
            <a:pPr algn="l">
              <a:defRPr sz="2025" b="0">
                <a:solidFill>
                  <a:srgbClr val="173C38"/>
                </a:solidFill>
                <a:latin typeface="Consolas"/>
                <a:ea typeface="Consolas"/>
                <a:cs typeface="Consolas"/>
              </a:defRPr>
            </a:pPr>
            <a:r>
              <a:rPr sz="2025" b="0">
                <a:solidFill>
                  <a:srgbClr val="173C38"/>
                </a:solidFill>
                <a:latin typeface="Consolas"/>
                <a:ea typeface="Consolas"/>
                <a:cs typeface="Consolas"/>
              </a:rPr>
              <a:t>H = S(B_log,  R(B_log))</a:t>
            </a:r>
          </a:p>
          <a:p xmlns:a="http://schemas.openxmlformats.org/drawingml/2006/main">
            <a:r>
              <a:t/>
            </a:r>
          </a:p>
          <a:p xmlns:a="http://schemas.openxmlformats.org/drawingml/2006/main">
            <a:pPr algn="l">
              <a:defRPr sz="2025" b="0">
                <a:solidFill>
                  <a:srgbClr val="173C38"/>
                </a:solidFill>
                <a:latin typeface="Consolas"/>
                <a:ea typeface="Consolas"/>
                <a:cs typeface="Consolas"/>
              </a:defRPr>
            </a:pPr>
            <a:r>
              <a:rPr sz="2025" b="0">
                <a:solidFill>
                  <a:srgbClr val="173C38"/>
                </a:solidFill>
                <a:latin typeface="Consolas"/>
                <a:ea typeface="Consolas"/>
                <a:cs typeface="Consolas"/>
              </a:rPr>
              <a:t>prediction = median(N, H, U)</a:t>
            </a:r>
          </a:p>
        </p:txBody>
      </p:sp>
      <p:sp>
        <p:nvSpPr>
          <p:cNvPr id="5" name="body">
            <a:extLst xmlns:a="http://schemas.openxmlformats.org/drawingml/2006/main">
              <a:ext uri="{FF2B5EF4-FFF2-40B4-BE49-F238E27FC236}">
                <a16:creationId xmlns:a16="http://schemas.microsoft.com/office/drawing/2014/main" id="{37C4135E-7FCC-4D53-BBA7-6DC69F93438C}"/>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67364"/>
                </a:solidFill>
                <a:latin typeface="Microsoft JhengHei"/>
                <a:ea typeface="Microsoft JhengHei"/>
                <a:cs typeface="Microsoft JhengHei"/>
              </a:defRPr>
            </a:pPr>
            <a:r>
              <a:rPr sz="2025" b="0">
                <a:solidFill>
                  <a:srgbClr val="167364"/>
                </a:solidFill>
                <a:latin typeface="Microsoft JhengHei"/>
                <a:ea typeface="Microsoft JhengHei"/>
                <a:cs typeface="Microsoft JhengHei"/>
              </a:rPr>
              <a:t>R 代表成交參考與時間趨勢，S 代表固定空間修正</a:t>
            </a:r>
          </a:p>
        </p:txBody>
      </p:sp>
    </p:spTree>
    <p:extLst>
      <p:ext uri="{BB962C8B-B14F-4D97-AF65-F5344CB8AC3E}">
        <p14:creationId xmlns:p14="http://schemas.microsoft.com/office/powerpoint/2010/main" val="1489862301"/>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0155294-82D7-455C-827A-7927DE3C6F7C}"/>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附錄：參數與程式</a:t>
            </a:r>
          </a:p>
        </p:txBody>
      </p:sp>
      <p:sp>
        <p:nvSpPr>
          <p:cNvPr id="2" name="body">
            <a:extLst xmlns:a="http://schemas.openxmlformats.org/drawingml/2006/main">
              <a:ext uri="{FF2B5EF4-FFF2-40B4-BE49-F238E27FC236}">
                <a16:creationId xmlns:a16="http://schemas.microsoft.com/office/drawing/2014/main" id="{431558FB-D200-4D43-905D-9864CB7DAE94}"/>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22</a:t>
            </a:r>
          </a:p>
        </p:txBody>
      </p:sp>
      <p:graphicFrame>
        <p:nvGraphicFramePr>
          <p:cNvPr id="7" name=""/>
          <p:cNvGraphicFramePr/>
          <p:nvPr/>
        </p:nvGraphicFramePr>
        <p:xfrm>
          <a:off xmlns:a="http://schemas.openxmlformats.org/drawingml/2006/main" x="666750" y="1743075"/>
          <a:ext xmlns:a="http://schemas.openxmlformats.org/drawingml/2006/main" cx="10839450" cy="3629025"/>
        </p:xfrm>
        <a:graphic xmlns:a="http://schemas.openxmlformats.org/drawingml/2006/main">
          <a:graphicData uri="http://schemas.openxmlformats.org/drawingml/2006/table">
            <a:tbl>
              <a:tblPr/>
              <a:tblGrid>
                <a:gridCol w="2914650"/>
                <a:gridCol w="7924800"/>
              </a:tblGrid>
              <a:tr h="604838">
                <a:tc>
                  <a:txBody>
                    <a:bodyPr lIns="152400" tIns="85725" rIns="114300" bIns="85725">
                      <a:noAutofit/>
                    </a:bodyPr>
                    <a:lstStyle/>
                    <a:p>
                      <a:r>
                        <a:rPr sz="1800" b="1">
                          <a:solidFill>
                            <a:srgbClr val="FFFFFF"/>
                          </a:solidFill>
                          <a:latin typeface="Microsoft JhengHei"/>
                          <a:ea typeface="Microsoft JhengHei"/>
                          <a:cs typeface="Microsoft JhengHei"/>
                        </a:rPr>
                        <a:t>項目</a:t>
                      </a:r>
                    </a:p>
                  </a:txBody>
                  <a:tcPr marL="91440" marR="91440" marT="45720" marB="45720" anchor="ctr">
                    <a:solidFill>
                      <a:srgbClr val="173C38"/>
                    </a:solidFill>
                  </a:tcPr>
                </a:tc>
                <a:tc>
                  <a:txBody>
                    <a:bodyPr lIns="152400" tIns="85725" rIns="114300" bIns="85725">
                      <a:noAutofit/>
                    </a:bodyPr>
                    <a:lstStyle/>
                    <a:p>
                      <a:r>
                        <a:rPr sz="1800" b="1">
                          <a:solidFill>
                            <a:srgbClr val="FFFFFF"/>
                          </a:solidFill>
                          <a:latin typeface="Microsoft JhengHei"/>
                          <a:ea typeface="Microsoft JhengHei"/>
                          <a:cs typeface="Microsoft JhengHei"/>
                        </a:rPr>
                        <a:t>保存設定</a:t>
                      </a:r>
                    </a:p>
                  </a:txBody>
                  <a:tcPr marL="91440" marR="91440" marT="45720" marB="45720" anchor="ctr">
                    <a:solidFill>
                      <a:srgbClr val="173C38"/>
                    </a:solidFill>
                  </a:tcPr>
                </a:tc>
              </a:tr>
              <a:tr h="604838">
                <a:tc>
                  <a:txBody>
                    <a:bodyPr lIns="152400" tIns="85725" rIns="114300" bIns="85725">
                      <a:noAutofit/>
                    </a:bodyPr>
                    <a:lstStyle/>
                    <a:p>
                      <a:r>
                        <a:rPr sz="1800" b="0">
                          <a:solidFill>
                            <a:srgbClr val="314B46"/>
                          </a:solidFill>
                          <a:latin typeface="Microsoft JhengHei"/>
                          <a:ea typeface="Microsoft JhengHei"/>
                          <a:cs typeface="Microsoft JhengHei"/>
                        </a:rPr>
                        <a:t>單價 CatBoost</a:t>
                      </a:r>
                    </a:p>
                  </a:txBody>
                  <a:tcPr marL="91440" marR="91440" marT="45720" marB="45720" anchor="ctr">
                    <a:solidFill>
                      <a:srgbClr val="FFFFFF"/>
                    </a:solidFill>
                  </a:tcPr>
                </a:tc>
                <a:tc>
                  <a:txBody>
                    <a:bodyPr lIns="152400" tIns="85725" rIns="114300" bIns="85725">
                      <a:noAutofit/>
                    </a:bodyPr>
                    <a:lstStyle/>
                    <a:p>
                      <a:r>
                        <a:rPr sz="1800" b="0">
                          <a:solidFill>
                            <a:srgbClr val="314B46"/>
                          </a:solidFill>
                          <a:latin typeface="Microsoft JhengHei"/>
                          <a:ea typeface="Microsoft JhengHei"/>
                          <a:cs typeface="Microsoft JhengHei"/>
                        </a:rPr>
                        <a:t>MAE，2,999 棵樹，深度 8，學習率 0.065</a:t>
                      </a:r>
                    </a:p>
                  </a:txBody>
                  <a:tcPr marL="91440" marR="91440" marT="45720" marB="45720" anchor="ctr">
                    <a:solidFill>
                      <a:srgbClr val="FFFFFF"/>
                    </a:solidFill>
                  </a:tcPr>
                </a:tc>
              </a:tr>
              <a:tr h="604838">
                <a:tc>
                  <a:txBody>
                    <a:bodyPr lIns="152400" tIns="85725" rIns="114300" bIns="85725">
                      <a:noAutofit/>
                    </a:bodyPr>
                    <a:lstStyle/>
                    <a:p>
                      <a:r>
                        <a:rPr sz="1800" b="0">
                          <a:solidFill>
                            <a:srgbClr val="314B46"/>
                          </a:solidFill>
                          <a:latin typeface="Microsoft JhengHei"/>
                          <a:ea typeface="Microsoft JhengHei"/>
                          <a:cs typeface="Microsoft JhengHei"/>
                        </a:rPr>
                        <a:t>單價目標與權重</a:t>
                      </a:r>
                    </a:p>
                  </a:txBody>
                  <a:tcPr marL="91440" marR="91440" marT="45720" marB="45720" anchor="ctr">
                    <a:solidFill>
                      <a:srgbClr val="E4EDE6"/>
                    </a:solidFill>
                  </a:tcPr>
                </a:tc>
                <a:tc>
                  <a:txBody>
                    <a:bodyPr lIns="152400" tIns="85725" rIns="114300" bIns="85725">
                      <a:noAutofit/>
                    </a:bodyPr>
                    <a:lstStyle/>
                    <a:p>
                      <a:r>
                        <a:rPr sz="1800" b="0">
                          <a:solidFill>
                            <a:srgbClr val="314B46"/>
                          </a:solidFill>
                          <a:latin typeface="Microsoft JhengHei"/>
                          <a:ea typeface="Microsoft JhengHei"/>
                          <a:cs typeface="Microsoft JhengHei"/>
                        </a:rPr>
                        <a:t>目標 y / (A × 10,000)，權重 A / 100 × 日期權重</a:t>
                      </a:r>
                    </a:p>
                  </a:txBody>
                  <a:tcPr marL="91440" marR="91440" marT="45720" marB="45720" anchor="ctr">
                    <a:solidFill>
                      <a:srgbClr val="E4EDE6"/>
                    </a:solidFill>
                  </a:tcPr>
                </a:tc>
              </a:tr>
              <a:tr h="604838">
                <a:tc>
                  <a:txBody>
                    <a:bodyPr lIns="152400" tIns="85725" rIns="114300" bIns="85725">
                      <a:noAutofit/>
                    </a:bodyPr>
                    <a:lstStyle/>
                    <a:p>
                      <a:r>
                        <a:rPr sz="1800" b="0">
                          <a:solidFill>
                            <a:srgbClr val="314B46"/>
                          </a:solidFill>
                          <a:latin typeface="Microsoft JhengHei"/>
                          <a:ea typeface="Microsoft JhengHei"/>
                          <a:cs typeface="Microsoft JhengHei"/>
                        </a:rPr>
                        <a:t>有效面積 A</a:t>
                      </a:r>
                    </a:p>
                  </a:txBody>
                  <a:tcPr marL="91440" marR="91440" marT="45720" marB="45720" anchor="ctr">
                    <a:solidFill>
                      <a:srgbClr val="FFFFFF"/>
                    </a:solidFill>
                  </a:tcPr>
                </a:tc>
                <a:tc>
                  <a:txBody>
                    <a:bodyPr lIns="152400" tIns="85725" rIns="114300" bIns="85725">
                      <a:noAutofit/>
                    </a:bodyPr>
                    <a:lstStyle/>
                    <a:p>
                      <a:r>
                        <a:rPr sz="1800" b="0">
                          <a:solidFill>
                            <a:srgbClr val="314B46"/>
                          </a:solidFill>
                          <a:latin typeface="Microsoft JhengHei"/>
                          <a:ea typeface="Microsoft JhengHei"/>
                          <a:cs typeface="Microsoft JhengHei"/>
                        </a:rPr>
                        <a:t>正且有限：先建物面積，再車位面積，否則 1</a:t>
                      </a:r>
                    </a:p>
                  </a:txBody>
                  <a:tcPr marL="91440" marR="91440" marT="45720" marB="45720" anchor="ctr">
                    <a:solidFill>
                      <a:srgbClr val="FFFFFF"/>
                    </a:solidFill>
                  </a:tcPr>
                </a:tc>
              </a:tr>
              <a:tr h="604838">
                <a:tc>
                  <a:txBody>
                    <a:bodyPr lIns="152400" tIns="85725" rIns="114300" bIns="85725">
                      <a:noAutofit/>
                    </a:bodyPr>
                    <a:lstStyle/>
                    <a:p>
                      <a:r>
                        <a:rPr sz="1800" b="0">
                          <a:solidFill>
                            <a:srgbClr val="314B46"/>
                          </a:solidFill>
                          <a:latin typeface="Microsoft JhengHei"/>
                          <a:ea typeface="Microsoft JhengHei"/>
                          <a:cs typeface="Microsoft JhengHei"/>
                        </a:rPr>
                        <a:t>v22 推論入口</a:t>
                      </a:r>
                    </a:p>
                  </a:txBody>
                  <a:tcPr marL="91440" marR="91440" marT="45720" marB="45720" anchor="ctr">
                    <a:solidFill>
                      <a:srgbClr val="E4EDE6"/>
                    </a:solidFill>
                  </a:tcPr>
                </a:tc>
                <a:tc>
                  <a:txBody>
                    <a:bodyPr lIns="152400" tIns="85725" rIns="114300" bIns="85725">
                      <a:noAutofit/>
                    </a:bodyPr>
                    <a:lstStyle/>
                    <a:p>
                      <a:r>
                        <a:rPr sz="1800" b="0">
                          <a:solidFill>
                            <a:srgbClr val="314B46"/>
                          </a:solidFill>
                          <a:latin typeface="Microsoft JhengHei"/>
                          <a:ea typeface="Microsoft JhengHei"/>
                          <a:cs typeface="Microsoft JhengHei"/>
                        </a:rPr>
                        <a:t>deliverables/v22_github/src/predict_v22.py</a:t>
                      </a:r>
                    </a:p>
                  </a:txBody>
                  <a:tcPr marL="91440" marR="91440" marT="45720" marB="45720" anchor="ctr">
                    <a:solidFill>
                      <a:srgbClr val="E4EDE6"/>
                    </a:solidFill>
                  </a:tcPr>
                </a:tc>
              </a:tr>
              <a:tr h="604838">
                <a:tc>
                  <a:txBody>
                    <a:bodyPr lIns="152400" tIns="85725" rIns="114300" bIns="85725">
                      <a:noAutofit/>
                    </a:bodyPr>
                    <a:lstStyle/>
                    <a:p>
                      <a:r>
                        <a:rPr sz="1800" b="0">
                          <a:solidFill>
                            <a:srgbClr val="314B46"/>
                          </a:solidFill>
                          <a:latin typeface="Microsoft JhengHei"/>
                          <a:ea typeface="Microsoft JhengHei"/>
                          <a:cs typeface="Microsoft JhengHei"/>
                        </a:rPr>
                        <a:t>主要訓練來源</a:t>
                      </a:r>
                    </a:p>
                  </a:txBody>
                  <a:tcPr marL="91440" marR="91440" marT="45720" marB="45720" anchor="ctr">
                    <a:solidFill>
                      <a:srgbClr val="FFFFFF"/>
                    </a:solidFill>
                  </a:tcPr>
                </a:tc>
                <a:tc>
                  <a:txBody>
                    <a:bodyPr lIns="152400" tIns="85725" rIns="114300" bIns="85725">
                      <a:noAutofit/>
                    </a:bodyPr>
                    <a:lstStyle/>
                    <a:p>
                      <a:r>
                        <a:rPr sz="1800" b="0">
                          <a:solidFill>
                            <a:srgbClr val="314B46"/>
                          </a:solidFill>
                          <a:latin typeface="Microsoft JhengHei"/>
                          <a:ea typeface="Microsoft JhengHei"/>
                          <a:cs typeface="Microsoft JhengHei"/>
                        </a:rPr>
                        <a:t>src/round79_recency_unit.py</a:t>
                      </a:r>
                    </a:p>
                  </a:txBody>
                  <a:tcPr marL="91440" marR="91440" marT="45720" marB="45720" anchor="ctr">
                    <a:solidFill>
                      <a:srgbClr val="FFFFFF"/>
                    </a:solidFill>
                  </a:tcPr>
                </a:tc>
              </a:tr>
            </a:tbl>
          </a:graphicData>
        </a:graphic>
      </p:graphicFrame>
      <p:sp>
        <p:nvSpPr>
          <p:cNvPr id="4" name="body">
            <a:extLst xmlns:a="http://schemas.openxmlformats.org/drawingml/2006/main">
              <a:ext uri="{FF2B5EF4-FFF2-40B4-BE49-F238E27FC236}">
                <a16:creationId xmlns:a16="http://schemas.microsoft.com/office/drawing/2014/main" id="{DA6DB133-A624-47BF-B47D-9D16DD33F4A2}"/>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67364"/>
                </a:solidFill>
                <a:latin typeface="Microsoft JhengHei"/>
                <a:ea typeface="Microsoft JhengHei"/>
                <a:cs typeface="Microsoft JhengHei"/>
              </a:defRPr>
            </a:pPr>
            <a:r>
              <a:rPr sz="1950" b="0">
                <a:solidFill>
                  <a:srgbClr val="167364"/>
                </a:solidFill>
                <a:latin typeface="Microsoft JhengHei"/>
                <a:ea typeface="Microsoft JhengHei"/>
                <a:cs typeface="Microsoft JhengHei"/>
              </a:rPr>
              <a:t>精確環境、依賴與完整指令見隨附報告及 GitHub 重現文件</a:t>
            </a:r>
          </a:p>
        </p:txBody>
      </p:sp>
    </p:spTree>
    <p:extLst>
      <p:ext uri="{BB962C8B-B14F-4D97-AF65-F5344CB8AC3E}">
        <p14:creationId xmlns:p14="http://schemas.microsoft.com/office/powerpoint/2010/main" val="159619466"/>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90F876DD-393D-41E5-AC3C-EA5AD05AD57F}"/>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C38"/>
                </a:solidFill>
                <a:latin typeface="Microsoft JhengHei"/>
                <a:ea typeface="Microsoft JhengHei"/>
                <a:cs typeface="Microsoft JhengHei"/>
              </a:defRPr>
            </a:pPr>
            <a:r>
              <a:rPr sz="3450" b="1">
                <a:solidFill>
                  <a:srgbClr val="173C38"/>
                </a:solidFill>
                <a:latin typeface="Microsoft JhengHei"/>
                <a:ea typeface="Microsoft JhengHei"/>
                <a:cs typeface="Microsoft JhengHei"/>
              </a:rPr>
              <a:t>附錄：常見名詞</a:t>
            </a:r>
          </a:p>
        </p:txBody>
      </p:sp>
      <p:sp>
        <p:nvSpPr>
          <p:cNvPr id="2" name="body">
            <a:extLst xmlns:a="http://schemas.openxmlformats.org/drawingml/2006/main">
              <a:ext uri="{FF2B5EF4-FFF2-40B4-BE49-F238E27FC236}">
                <a16:creationId xmlns:a16="http://schemas.microsoft.com/office/drawing/2014/main" id="{0D57F0F1-7BCD-4456-9E09-D2522CF4D7BC}"/>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27570"/>
                </a:solidFill>
                <a:latin typeface="Microsoft JhengHei"/>
                <a:ea typeface="Microsoft JhengHei"/>
                <a:cs typeface="Microsoft JhengHei"/>
              </a:defRPr>
            </a:pPr>
            <a:r>
              <a:rPr sz="1425" b="0">
                <a:solidFill>
                  <a:srgbClr val="627570"/>
                </a:solidFill>
                <a:latin typeface="Microsoft JhengHei"/>
                <a:ea typeface="Microsoft JhengHei"/>
                <a:cs typeface="Microsoft JhengHei"/>
              </a:rPr>
              <a:t>23</a:t>
            </a:r>
          </a:p>
        </p:txBody>
      </p:sp>
      <p:graphicFrame>
        <p:nvGraphicFramePr>
          <p:cNvPr id="6" name=""/>
          <p:cNvGraphicFramePr/>
          <p:nvPr/>
        </p:nvGraphicFramePr>
        <p:xfrm>
          <a:off xmlns:a="http://schemas.openxmlformats.org/drawingml/2006/main" x="666750" y="1685925"/>
          <a:ext xmlns:a="http://schemas.openxmlformats.org/drawingml/2006/main" cx="10839450" cy="3981450"/>
        </p:xfrm>
        <a:graphic xmlns:a="http://schemas.openxmlformats.org/drawingml/2006/main">
          <a:graphicData uri="http://schemas.openxmlformats.org/drawingml/2006/table">
            <a:tbl>
              <a:tblPr/>
              <a:tblGrid>
                <a:gridCol w="2867025"/>
                <a:gridCol w="7972425"/>
              </a:tblGrid>
              <a:tr h="568779">
                <a:tc>
                  <a:txBody>
                    <a:bodyPr lIns="152400" tIns="85725" rIns="114300" bIns="85725">
                      <a:noAutofit/>
                    </a:bodyPr>
                    <a:lstStyle/>
                    <a:p>
                      <a:r>
                        <a:rPr sz="1875" b="1">
                          <a:solidFill>
                            <a:srgbClr val="FFFFFF"/>
                          </a:solidFill>
                          <a:latin typeface="Microsoft JhengHei"/>
                          <a:ea typeface="Microsoft JhengHei"/>
                          <a:cs typeface="Microsoft JhengHei"/>
                        </a:rPr>
                        <a:t>名詞</a:t>
                      </a:r>
                    </a:p>
                  </a:txBody>
                  <a:tcPr marL="91440" marR="91440" marT="45720" marB="45720" anchor="ctr">
                    <a:solidFill>
                      <a:srgbClr val="173C38"/>
                    </a:solidFill>
                  </a:tcPr>
                </a:tc>
                <a:tc>
                  <a:txBody>
                    <a:bodyPr lIns="152400" tIns="85725" rIns="114300" bIns="85725">
                      <a:noAutofit/>
                    </a:bodyPr>
                    <a:lstStyle/>
                    <a:p>
                      <a:r>
                        <a:rPr sz="1875" b="1">
                          <a:solidFill>
                            <a:srgbClr val="FFFFFF"/>
                          </a:solidFill>
                          <a:latin typeface="Microsoft JhengHei"/>
                          <a:ea typeface="Microsoft JhengHei"/>
                          <a:cs typeface="Microsoft JhengHei"/>
                        </a:rPr>
                        <a:t>白話意思</a:t>
                      </a:r>
                    </a:p>
                  </a:txBody>
                  <a:tcPr marL="91440" marR="91440" marT="45720" marB="45720" anchor="ctr">
                    <a:solidFill>
                      <a:srgbClr val="173C38"/>
                    </a:solidFill>
                  </a:tcPr>
                </a:tc>
              </a:tr>
              <a:tr h="568779">
                <a:tc>
                  <a:txBody>
                    <a:bodyPr lIns="152400" tIns="85725" rIns="114300" bIns="85725">
                      <a:noAutofit/>
                    </a:bodyPr>
                    <a:lstStyle/>
                    <a:p>
                      <a:r>
                        <a:rPr sz="1875" b="0">
                          <a:solidFill>
                            <a:srgbClr val="314B46"/>
                          </a:solidFill>
                          <a:latin typeface="Microsoft JhengHei"/>
                          <a:ea typeface="Microsoft JhengHei"/>
                          <a:cs typeface="Microsoft JhengHei"/>
                        </a:rPr>
                        <a:t>特徵與標籤</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特徵是已知房屋條件，標籤是學習時的成交價答案</a:t>
                      </a:r>
                    </a:p>
                  </a:txBody>
                  <a:tcPr marL="91440" marR="91440" marT="45720" marB="45720" anchor="ctr">
                    <a:solidFill>
                      <a:srgbClr val="FFFFFF"/>
                    </a:solidFill>
                  </a:tcPr>
                </a:tc>
              </a:tr>
              <a:tr h="568779">
                <a:tc>
                  <a:txBody>
                    <a:bodyPr lIns="152400" tIns="85725" rIns="114300" bIns="85725">
                      <a:noAutofit/>
                    </a:bodyPr>
                    <a:lstStyle/>
                    <a:p>
                      <a:r>
                        <a:rPr sz="1875" b="0">
                          <a:solidFill>
                            <a:srgbClr val="314B46"/>
                          </a:solidFill>
                          <a:latin typeface="Microsoft JhengHei"/>
                          <a:ea typeface="Microsoft JhengHei"/>
                          <a:cs typeface="Microsoft JhengHei"/>
                        </a:rPr>
                        <a:t>訓練與推論</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訓練找規律，推論用保存的規律估計新交易</a:t>
                      </a:r>
                    </a:p>
                  </a:txBody>
                  <a:tcPr marL="91440" marR="91440" marT="45720" marB="45720" anchor="ctr">
                    <a:solidFill>
                      <a:srgbClr val="E4EDE6"/>
                    </a:solidFill>
                  </a:tcPr>
                </a:tc>
              </a:tr>
              <a:tr h="568779">
                <a:tc>
                  <a:txBody>
                    <a:bodyPr lIns="152400" tIns="85725" rIns="114300" bIns="85725">
                      <a:noAutofit/>
                    </a:bodyPr>
                    <a:lstStyle/>
                    <a:p>
                      <a:r>
                        <a:rPr sz="1875" b="0">
                          <a:solidFill>
                            <a:srgbClr val="314B46"/>
                          </a:solidFill>
                          <a:latin typeface="Microsoft JhengHei"/>
                          <a:ea typeface="Microsoft JhengHei"/>
                          <a:cs typeface="Microsoft JhengHei"/>
                        </a:rPr>
                        <a:t>過擬合</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過度貼近看過的資料，遇到新資料誤差可能變大</a:t>
                      </a:r>
                    </a:p>
                  </a:txBody>
                  <a:tcPr marL="91440" marR="91440" marT="45720" marB="45720" anchor="ctr">
                    <a:solidFill>
                      <a:srgbClr val="FFFFFF"/>
                    </a:solidFill>
                  </a:tcPr>
                </a:tc>
              </a:tr>
              <a:tr h="568779">
                <a:tc>
                  <a:txBody>
                    <a:bodyPr lIns="152400" tIns="85725" rIns="114300" bIns="85725">
                      <a:noAutofit/>
                    </a:bodyPr>
                    <a:lstStyle/>
                    <a:p>
                      <a:r>
                        <a:rPr sz="1875" b="0">
                          <a:solidFill>
                            <a:srgbClr val="314B46"/>
                          </a:solidFill>
                          <a:latin typeface="Microsoft JhengHei"/>
                          <a:ea typeface="Microsoft JhengHei"/>
                          <a:cs typeface="Microsoft JhengHei"/>
                        </a:rPr>
                        <a:t>權重</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某筆資料的誤差，在學習目標中占多少比重</a:t>
                      </a:r>
                    </a:p>
                  </a:txBody>
                  <a:tcPr marL="91440" marR="91440" marT="45720" marB="45720" anchor="ctr">
                    <a:solidFill>
                      <a:srgbClr val="E4EDE6"/>
                    </a:solidFill>
                  </a:tcPr>
                </a:tc>
              </a:tr>
              <a:tr h="568779">
                <a:tc>
                  <a:txBody>
                    <a:bodyPr lIns="152400" tIns="85725" rIns="114300" bIns="85725">
                      <a:noAutofit/>
                    </a:bodyPr>
                    <a:lstStyle/>
                    <a:p>
                      <a:r>
                        <a:rPr sz="1875" b="0">
                          <a:solidFill>
                            <a:srgbClr val="314B46"/>
                          </a:solidFill>
                          <a:latin typeface="Microsoft JhengHei"/>
                          <a:ea typeface="Microsoft JhengHei"/>
                          <a:cs typeface="Microsoft JhengHei"/>
                        </a:rPr>
                        <a:t>先驗與 OOF</a:t>
                      </a:r>
                    </a:p>
                  </a:txBody>
                  <a:tcPr marL="91440" marR="91440" marT="45720" marB="45720" anchor="ctr">
                    <a:solidFill>
                      <a:srgbClr val="FFFFFF"/>
                    </a:solidFill>
                  </a:tcPr>
                </a:tc>
                <a:tc>
                  <a:txBody>
                    <a:bodyPr lIns="152400" tIns="85725" rIns="114300" bIns="85725">
                      <a:noAutofit/>
                    </a:bodyPr>
                    <a:lstStyle/>
                    <a:p>
                      <a:r>
                        <a:rPr sz="1875" b="0">
                          <a:solidFill>
                            <a:srgbClr val="314B46"/>
                          </a:solidFill>
                          <a:latin typeface="Microsoft JhengHei"/>
                          <a:ea typeface="Microsoft JhengHei"/>
                          <a:cs typeface="Microsoft JhengHei"/>
                        </a:rPr>
                        <a:t>先建立參考價，並用其他組資料建立訓練特徵</a:t>
                      </a:r>
                    </a:p>
                  </a:txBody>
                  <a:tcPr marL="91440" marR="91440" marT="45720" marB="45720" anchor="ctr">
                    <a:solidFill>
                      <a:srgbClr val="FFFFFF"/>
                    </a:solidFill>
                  </a:tcPr>
                </a:tc>
              </a:tr>
              <a:tr h="568779">
                <a:tc>
                  <a:txBody>
                    <a:bodyPr lIns="152400" tIns="85725" rIns="114300" bIns="85725">
                      <a:noAutofit/>
                    </a:bodyPr>
                    <a:lstStyle/>
                    <a:p>
                      <a:r>
                        <a:rPr sz="1875" b="0">
                          <a:solidFill>
                            <a:srgbClr val="314B46"/>
                          </a:solidFill>
                          <a:latin typeface="Microsoft JhengHei"/>
                          <a:ea typeface="Microsoft JhengHei"/>
                          <a:cs typeface="Microsoft JhengHei"/>
                        </a:rPr>
                        <a:t>集成與中位數</a:t>
                      </a:r>
                    </a:p>
                  </a:txBody>
                  <a:tcPr marL="91440" marR="91440" marT="45720" marB="45720" anchor="ctr">
                    <a:solidFill>
                      <a:srgbClr val="E4EDE6"/>
                    </a:solidFill>
                  </a:tcPr>
                </a:tc>
                <a:tc>
                  <a:txBody>
                    <a:bodyPr lIns="152400" tIns="85725" rIns="114300" bIns="85725">
                      <a:noAutofit/>
                    </a:bodyPr>
                    <a:lstStyle/>
                    <a:p>
                      <a:r>
                        <a:rPr sz="1875" b="0">
                          <a:solidFill>
                            <a:srgbClr val="314B46"/>
                          </a:solidFill>
                          <a:latin typeface="Microsoft JhengHei"/>
                          <a:ea typeface="Microsoft JhengHei"/>
                          <a:cs typeface="Microsoft JhengHei"/>
                        </a:rPr>
                        <a:t>集成結合多個估計，中位數是排序後的中間值</a:t>
                      </a:r>
                    </a:p>
                  </a:txBody>
                  <a:tcPr marL="91440" marR="91440" marT="45720" marB="45720" anchor="ctr">
                    <a:solidFill>
                      <a:srgbClr val="E4EDE6"/>
                    </a:solidFill>
                  </a:tcPr>
                </a:tc>
              </a:tr>
            </a:tbl>
          </a:graphicData>
        </a:graphic>
      </p:graphicFrame>
    </p:spTree>
    <p:extLst>
      <p:ext uri="{BB962C8B-B14F-4D97-AF65-F5344CB8AC3E}">
        <p14:creationId xmlns:p14="http://schemas.microsoft.com/office/powerpoint/2010/main" val="18677100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2026-09-30T20:15:37.5580000Z</dcterms:created>
  <dcterms:modified xsi:type="dcterms:W3CDTF">2026-09-30T20:15:37.5580000Z</dcterms:modified>
</coreProperties>
</file>