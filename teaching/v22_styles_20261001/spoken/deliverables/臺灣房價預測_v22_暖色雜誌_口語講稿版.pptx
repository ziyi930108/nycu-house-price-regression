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2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3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80d14a8f354e4c" /><Relationship Type="http://schemas.openxmlformats.org/officeDocument/2006/relationships/extended-properties" Target="/docProps/app.xml" Id="R7834df1c628843ae" /><Relationship Type="http://schemas.openxmlformats.org/officeDocument/2006/relationships/officeDocument" Target="/ppt/presentation.xml" Id="R01639fbd764748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f371ab74194e4c"/>
  </p:sldMasterIdLst>
  <p:notesMasterIdLst>
    <p:notesMasterId xmlns:r="http://schemas.openxmlformats.org/officeDocument/2006/relationships" r:id="Re759e282a8944500"/>
  </p:notesMasterIdLst>
  <p:sldIdLst>
    <p:sldId xmlns:r="http://schemas.openxmlformats.org/officeDocument/2006/relationships" id="256" r:id="Rf74fc5eda495467b"/>
    <p:sldId xmlns:r="http://schemas.openxmlformats.org/officeDocument/2006/relationships" id="257" r:id="R3ed202a149144076"/>
    <p:sldId xmlns:r="http://schemas.openxmlformats.org/officeDocument/2006/relationships" id="258" r:id="R3fc8540b9be34350"/>
    <p:sldId xmlns:r="http://schemas.openxmlformats.org/officeDocument/2006/relationships" id="259" r:id="R8efebfd8644a4081"/>
    <p:sldId xmlns:r="http://schemas.openxmlformats.org/officeDocument/2006/relationships" id="260" r:id="R11db56a43d444ec1"/>
    <p:sldId xmlns:r="http://schemas.openxmlformats.org/officeDocument/2006/relationships" id="261" r:id="R4ed659901c54431a"/>
    <p:sldId xmlns:r="http://schemas.openxmlformats.org/officeDocument/2006/relationships" id="262" r:id="R27c87c02ee6f4d17"/>
    <p:sldId xmlns:r="http://schemas.openxmlformats.org/officeDocument/2006/relationships" id="263" r:id="R7cdd2b43d5284867"/>
    <p:sldId xmlns:r="http://schemas.openxmlformats.org/officeDocument/2006/relationships" id="264" r:id="Rb9d0cd3b70b54160"/>
    <p:sldId xmlns:r="http://schemas.openxmlformats.org/officeDocument/2006/relationships" id="265" r:id="R0b5e6fe68ed646c8"/>
    <p:sldId xmlns:r="http://schemas.openxmlformats.org/officeDocument/2006/relationships" id="266" r:id="R735ab3d916414516"/>
    <p:sldId xmlns:r="http://schemas.openxmlformats.org/officeDocument/2006/relationships" id="267" r:id="R11471f8f30de4cef"/>
    <p:sldId xmlns:r="http://schemas.openxmlformats.org/officeDocument/2006/relationships" id="268" r:id="R7ce9b4813f6649ae"/>
    <p:sldId xmlns:r="http://schemas.openxmlformats.org/officeDocument/2006/relationships" id="269" r:id="Rca2c6571d4094354"/>
    <p:sldId xmlns:r="http://schemas.openxmlformats.org/officeDocument/2006/relationships" id="270" r:id="R420e3534d23c48d9"/>
    <p:sldId xmlns:r="http://schemas.openxmlformats.org/officeDocument/2006/relationships" id="271" r:id="R95635f2ff7a04612"/>
    <p:sldId xmlns:r="http://schemas.openxmlformats.org/officeDocument/2006/relationships" id="272" r:id="Rf3361c2797404fbd"/>
    <p:sldId xmlns:r="http://schemas.openxmlformats.org/officeDocument/2006/relationships" id="273" r:id="Rd8656ced47e043f0"/>
    <p:sldId xmlns:r="http://schemas.openxmlformats.org/officeDocument/2006/relationships" id="274" r:id="R63518f0fccc44478"/>
    <p:sldId xmlns:r="http://schemas.openxmlformats.org/officeDocument/2006/relationships" id="275" r:id="Raf07ebb220aa4e28"/>
    <p:sldId xmlns:r="http://schemas.openxmlformats.org/officeDocument/2006/relationships" id="276" r:id="R4f07ab02d0d84722"/>
    <p:sldId xmlns:r="http://schemas.openxmlformats.org/officeDocument/2006/relationships" id="277" r:id="R803d809c8f144937"/>
    <p:sldId xmlns:r="http://schemas.openxmlformats.org/officeDocument/2006/relationships" id="278" r:id="R5c22df9bf7af41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b9c287fb8d4843" /><Relationship Type="http://schemas.openxmlformats.org/officeDocument/2006/relationships/slideMaster" Target="/ppt/slideMasters/slideMaster1.xml" Id="Raef371ab74194e4c" /><Relationship Type="http://schemas.openxmlformats.org/officeDocument/2006/relationships/notesMaster" Target="/ppt/notesMasters/notesMaster1.xml" Id="Re759e282a8944500" /><Relationship Type="http://schemas.openxmlformats.org/officeDocument/2006/relationships/presProps" Target="/ppt/presProps.xml" Id="R5a00f02a8f114dca" /><Relationship Type="http://schemas.openxmlformats.org/officeDocument/2006/relationships/tableStyles" Target="/ppt/tableStyles.xml" Id="Rd24d7c8608154470" /><Relationship Type="http://schemas.openxmlformats.org/officeDocument/2006/relationships/slide" Target="/ppt/slides/slide1.xml" Id="Rf74fc5eda495467b" /><Relationship Type="http://schemas.openxmlformats.org/officeDocument/2006/relationships/slide" Target="/ppt/slides/slide2.xml" Id="R3ed202a149144076" /><Relationship Type="http://schemas.openxmlformats.org/officeDocument/2006/relationships/slide" Target="/ppt/slides/slide3.xml" Id="R3fc8540b9be34350" /><Relationship Type="http://schemas.openxmlformats.org/officeDocument/2006/relationships/slide" Target="/ppt/slides/slide4.xml" Id="R8efebfd8644a4081" /><Relationship Type="http://schemas.openxmlformats.org/officeDocument/2006/relationships/slide" Target="/ppt/slides/slide5.xml" Id="R11db56a43d444ec1" /><Relationship Type="http://schemas.openxmlformats.org/officeDocument/2006/relationships/slide" Target="/ppt/slides/slide6.xml" Id="R4ed659901c54431a" /><Relationship Type="http://schemas.openxmlformats.org/officeDocument/2006/relationships/slide" Target="/ppt/slides/slide7.xml" Id="R27c87c02ee6f4d17" /><Relationship Type="http://schemas.openxmlformats.org/officeDocument/2006/relationships/slide" Target="/ppt/slides/slide8.xml" Id="R7cdd2b43d5284867" /><Relationship Type="http://schemas.openxmlformats.org/officeDocument/2006/relationships/slide" Target="/ppt/slides/slide9.xml" Id="Rb9d0cd3b70b54160" /><Relationship Type="http://schemas.openxmlformats.org/officeDocument/2006/relationships/slide" Target="/ppt/slides/slide10.xml" Id="R0b5e6fe68ed646c8" /><Relationship Type="http://schemas.openxmlformats.org/officeDocument/2006/relationships/slide" Target="/ppt/slides/slide11.xml" Id="R735ab3d916414516" /><Relationship Type="http://schemas.openxmlformats.org/officeDocument/2006/relationships/slide" Target="/ppt/slides/slide12.xml" Id="R11471f8f30de4cef" /><Relationship Type="http://schemas.openxmlformats.org/officeDocument/2006/relationships/slide" Target="/ppt/slides/slide13.xml" Id="R7ce9b4813f6649ae" /><Relationship Type="http://schemas.openxmlformats.org/officeDocument/2006/relationships/slide" Target="/ppt/slides/slide14.xml" Id="Rca2c6571d4094354" /><Relationship Type="http://schemas.openxmlformats.org/officeDocument/2006/relationships/slide" Target="/ppt/slides/slide15.xml" Id="R420e3534d23c48d9" /><Relationship Type="http://schemas.openxmlformats.org/officeDocument/2006/relationships/slide" Target="/ppt/slides/slide16.xml" Id="R95635f2ff7a04612" /><Relationship Type="http://schemas.openxmlformats.org/officeDocument/2006/relationships/slide" Target="/ppt/slides/slide17.xml" Id="Rf3361c2797404fbd" /><Relationship Type="http://schemas.openxmlformats.org/officeDocument/2006/relationships/slide" Target="/ppt/slides/slide18.xml" Id="Rd8656ced47e043f0" /><Relationship Type="http://schemas.openxmlformats.org/officeDocument/2006/relationships/slide" Target="/ppt/slides/slide19.xml" Id="R63518f0fccc44478" /><Relationship Type="http://schemas.openxmlformats.org/officeDocument/2006/relationships/slide" Target="/ppt/slides/slide20.xml" Id="Raf07ebb220aa4e28" /><Relationship Type="http://schemas.openxmlformats.org/officeDocument/2006/relationships/slide" Target="/ppt/slides/slide21.xml" Id="R4f07ab02d0d84722" /><Relationship Type="http://schemas.openxmlformats.org/officeDocument/2006/relationships/slide" Target="/ppt/slides/slide22.xml" Id="R803d809c8f144937" /><Relationship Type="http://schemas.openxmlformats.org/officeDocument/2006/relationships/slide" Target="/ppt/slides/slide23.xml" Id="R5c22df9bf7af41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2cfae1d7834f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b0f9b800684bad" /><Relationship Type="http://schemas.openxmlformats.org/officeDocument/2006/relationships/notesMaster" Target="/ppt/notesMasters/notesMaster1.xml" Id="R5d72a28cc8ba40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3a3664b21041d6" /><Relationship Type="http://schemas.openxmlformats.org/officeDocument/2006/relationships/notesMaster" Target="/ppt/notesMasters/notesMaster1.xml" Id="R65b879c65e7344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07bba1f7ee442d" /><Relationship Type="http://schemas.openxmlformats.org/officeDocument/2006/relationships/notesMaster" Target="/ppt/notesMasters/notesMaster1.xml" Id="R49dd7dc9860241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2e91e8e7e540ff" /><Relationship Type="http://schemas.openxmlformats.org/officeDocument/2006/relationships/notesMaster" Target="/ppt/notesMasters/notesMaster1.xml" Id="Rf82b0c590ef64a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e2c26961884181" /><Relationship Type="http://schemas.openxmlformats.org/officeDocument/2006/relationships/notesMaster" Target="/ppt/notesMasters/notesMaster1.xml" Id="R64b580e84ef741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103a2f4f7c4bfb" /><Relationship Type="http://schemas.openxmlformats.org/officeDocument/2006/relationships/notesMaster" Target="/ppt/notesMasters/notesMaster1.xml" Id="Rbb71f914bf2f44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f9ee4f1c6a4295" /><Relationship Type="http://schemas.openxmlformats.org/officeDocument/2006/relationships/notesMaster" Target="/ppt/notesMasters/notesMaster1.xml" Id="R9a97cfa83e124d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dda6c0cb1d49f6" /><Relationship Type="http://schemas.openxmlformats.org/officeDocument/2006/relationships/notesMaster" Target="/ppt/notesMasters/notesMaster1.xml" Id="R0ed2efc873ab45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21a56513ac4c0a" /><Relationship Type="http://schemas.openxmlformats.org/officeDocument/2006/relationships/notesMaster" Target="/ppt/notesMasters/notesMaster1.xml" Id="R74b64f4d229b4a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dbe44c29ba4753" /><Relationship Type="http://schemas.openxmlformats.org/officeDocument/2006/relationships/notesMaster" Target="/ppt/notesMasters/notesMaster1.xml" Id="R769cb76879584c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87e358708b46f8" /><Relationship Type="http://schemas.openxmlformats.org/officeDocument/2006/relationships/notesMaster" Target="/ppt/notesMasters/notesMaster1.xml" Id="R1e786c072ede4a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997d935f674b1c" /><Relationship Type="http://schemas.openxmlformats.org/officeDocument/2006/relationships/notesMaster" Target="/ppt/notesMasters/notesMaster1.xml" Id="R89180189322946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3af4af97c34342" /><Relationship Type="http://schemas.openxmlformats.org/officeDocument/2006/relationships/notesMaster" Target="/ppt/notesMasters/notesMaster1.xml" Id="Ra59d4bebb21748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30fdd88da484872" /><Relationship Type="http://schemas.openxmlformats.org/officeDocument/2006/relationships/notesMaster" Target="/ppt/notesMasters/notesMaster1.xml" Id="R297ae489c8d249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4d4b9e168c4663" /><Relationship Type="http://schemas.openxmlformats.org/officeDocument/2006/relationships/notesMaster" Target="/ppt/notesMasters/notesMaster1.xml" Id="Rf82184b7dbd14f0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c24aae59464e00" /><Relationship Type="http://schemas.openxmlformats.org/officeDocument/2006/relationships/notesMaster" Target="/ppt/notesMasters/notesMaster1.xml" Id="R8adc2b0483e142b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5be84fc19df458d" /><Relationship Type="http://schemas.openxmlformats.org/officeDocument/2006/relationships/notesMaster" Target="/ppt/notesMasters/notesMaster1.xml" Id="Rb443e57b3caf4d9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6c2733ebd5d421a" /><Relationship Type="http://schemas.openxmlformats.org/officeDocument/2006/relationships/notesMaster" Target="/ppt/notesMasters/notesMaster1.xml" Id="Rdd0251c87807476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d271807b4ce4ab2" /><Relationship Type="http://schemas.openxmlformats.org/officeDocument/2006/relationships/notesMaster" Target="/ppt/notesMasters/notesMaster1.xml" Id="Rf45d2b0174da460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6bc17b0f1a14f44" /><Relationship Type="http://schemas.openxmlformats.org/officeDocument/2006/relationships/notesMaster" Target="/ppt/notesMasters/notesMaster1.xml" Id="R6f1003e512304ac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6ede6f7608146ea" /><Relationship Type="http://schemas.openxmlformats.org/officeDocument/2006/relationships/notesMaster" Target="/ppt/notesMasters/notesMaster1.xml" Id="Rf4cce02a23554b2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60c5f208cbd4789" /><Relationship Type="http://schemas.openxmlformats.org/officeDocument/2006/relationships/notesMaster" Target="/ppt/notesMasters/notesMaster1.xml" Id="R56edb4c927c5459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9ca44f3869f48b5" /><Relationship Type="http://schemas.openxmlformats.org/officeDocument/2006/relationships/notesMaster" Target="/ppt/notesMasters/notesMaster1.xml" Id="Rae714bbeeb7641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大家好，今天要介紹的是臺灣房屋總價預測。先想一個情境：我們拿到一筆房屋交易，知道面積、地點和成交日期，卻不知道總價。能不能從以前的成交資料，估出這筆交易大概多少錢？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這就是這次要做的事。今天只介紹已選定提交的模型，檔案裡叫做版本二十二。大家不需要先學過機器學習。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我會從電腦怎麼學估價開始，再說明資料怎麼整理、幾種估價方法怎麼組合，以及最後怎麼檢查。每一步都會交代為什麼這樣做，哪些地方還不能下定論。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Photo: Markus Winkler, Taipei. https://unsplash.com/photos/gray-concrete-building-vztbnMlTDNs ; Unsplash License. Contextual image, not a competition row.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金額是連續數值，預測這類數值的問題，就叫回歸。機器學習可以想成：讓電腦從很多題目和答案中，找出估價規則。面積、樓層和地點是題目提供的線索，叫做特徵。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已知的成交總價是答案，叫做標籤。學習時，模型先估一個價格，看看和答案差多少，再調整規則。反覆練習之後，把學好的規則保存起來。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之後遇到沒有答案的新交易，就只看房屋條件來估價。前面學規則叫訓練，後面套用規則叫推論。我們採用這種方法，是因為地點、面積和建物型態會一起影響價格，很難用一條人工公式全部處理。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不過練習得好還不夠，接下來要用沒參與學習的交易檢查。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那麼，怎麼知道估得好不好？比賽看的是平均絕對誤差，英文叫ＭＡＥ。我們直接算一次。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這裡是教學例子，兩間房的真價都是一千萬元。第一間估一千一百萬元，多估一百萬；第二間估九百五十萬元，少估五十萬。我們只看差距大小，把一百萬和五十萬加起來，再除以兩筆，得到七十五萬元。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這就是這兩筆的平均絕對誤差。為什麼要取絕對值？因為多估和少估都是誤差，不能互相抵銷。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數越低，表示這批交易的平均金額差距越小。要注意，七十五萬元不是答對的百分比，也不是說每一筆都剛好差七十五萬。後面不管看到本機回測還是平台分數，都用這個方式讀：先看是哪一批交易，再看平均差多少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先把手上的四份資料分清楚。第一份是訓練檔，大約四十五萬六千列，有房屋條件，也有總價答案。第二份叫驗證檔，大約一萬二千列，同樣有答案；這個提交模型是在最後完整訓練時，才把它加進來。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第三份是測試檔，共四萬七千零七十三筆，沒有總價，我們要全部估出來。第四份是提交範本，告訴我們欄位名稱和編號順序，裡面的範例價格不能拿來學。還有一個容易混淆的地方。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把測試檔分成兩部分，約三成計算公開分數，叫Public；其餘約七成計算隱藏分數，叫Private。所以這個三比七，分的是測試檔，不是剛才那份有答案的驗證檔。分清楚用途，才不會拿錯資料，也不會誤以為我們已經知道隱藏部分的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outputs/kaggle_feedback/public_submissions_v19_v24_20260927.json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先看整條流程，後面每一步都可以放回這張圖。第一步，讀取原始檔，確認欄位、筆數和資料順序。第二步，處理格式問題和完全重複的內容。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第三步，把日期、樓層和地址整理成模型能比較的線索。接著才建立模型。我們先用較早的資料學習，再用後面一年的交易評分，看看方法遇到之後的市場還行不行。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確定方法後，才用最後可用的有答案資料建立模型，預測測試檔，並檢查提交格式。為什麼要分這麼多關？因為跑得動不代表正確。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像是資料順序一旦錯開，這間房的條件就可能配到另一間房的價格。後面再怎麼訓練也會出問題。所以除了分數，資料順序、程式和保存模型，也都要能追查。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先看資料清理。原始訓練檔混入三列英文表頭，這三列不是交易，要先移除。接著把編號放在一旁，比較其他所有原始欄位，總價也一起比對。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內容完全一樣才算重複，這一步移除了五百二十九列。為什麼不直接照編號刪？因為編號相同，不一定代表交易內容完全一樣。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最後加進有答案的驗證檔時，又移除了二十八列跨檔重複。清理完，共有四十六萬七千二百二十一筆可用的有標籤資料。這樣處理，是為了避免同一筆內容反覆影響模型。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測試檔則一筆也不能少，因為每個編號都要交出預測。其他缺失和異常也按固定規則處理，不能因為某筆價格很難估，就把它刪掉。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src/prepare_data.py</a:t>
            </a:r>
          </a:p>
          <a:p xmlns:a="http://schemas.openxmlformats.org/drawingml/2006/main">
            <a:r>
              <a:t>src/model_common.py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清理完，下一步是整理房屋線索，這叫特徵工程。例如把民國日期換成可計算的時間，把中文樓層分出地下室或整棟，再從地址拆出行政區和道路。面積也可以換算成比例。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這些處理，是讓不同交易能用一致的方式比較。欄位也不是越多越好。編號只拿來對齊，總價留在答案欄，都不能當估價線索。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完整備註可能寫到價格，解約資訊可能在交易之後才出現，因此不直接放進模型。備註只保留有限的條件旗標。建築完成年月在這份資料不可用，管理組織又全部相同，也就排除。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另外，我們使用開放街圖的道路位置，補充不含價格的地理資訊。單價CatBoost這個模型共有九十五欄，其中二十三欄是地區名稱這類分類文字。其他模型的編碼維度不同。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道路位置只能表示大致區域，不能當成每間房的精確門牌座標。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src/house_features.py</a:t>
            </a:r>
          </a:p>
          <a:p xmlns:a="http://schemas.openxmlformats.org/drawingml/2006/main">
            <a:r>
              <a:t>src/round6_geo.py</a:t>
            </a:r>
          </a:p>
          <a:p xmlns:a="http://schemas.openxmlformats.org/drawingml/2006/main">
            <a:r>
              <a:t>data_external/geography/ATTRIBUTION.md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接下來，要怎麼檢查模型是真的學會，還是只記住練習題？如果模型連資料裡偶然出現的細節都記下來，換一批交易就估不準，這叫過擬合。房市又會隨時間改變，所以我們用時間來分練習和考試。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每一次，只讓模型看評分期間以前的資料，再預測後面一年，總共檢查三個年度。這個界線不只管模型。把文字轉成數字的規則、區域價格參考，也都要重新用當期訓練資料建立。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否則後面的答案，可能從這些步驟偷偷流進來，這叫資料洩漏。三個年度能看出跨期表現，但還有限制：研究中已經反覆看過這些窗口，還是可能挑到剛好適合它們的配方。因此時間回測很重要，卻不能當成一份從來沒看過的隱藏考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src/round79_experiment.py</a:t>
            </a:r>
          </a:p>
          <a:p xmlns:a="http://schemas.openxmlformats.org/drawingml/2006/main">
            <a:r>
              <a:t>outputs/round79/results.json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模型怎麼從線索估價？這次用了兩種方式。第一種是樹模型，可以想成一連串條件判斷，例如面積在哪個範圍、房子位在哪個地區。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判斷條件和門檻由資料學出來，再讓很多棵小樹接著修正估價誤差。我們使用的兩套工具，叫CatBoost和LightGBM。第二種是神經網路。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把面積等數值，以及建案等分類資訊，整理成一組數字，再經過多層計算，學習這些條件一起出現時，價格會怎麼變。代表建案的數字也會隨訓練調整，不是人工指定某個建案比較高級。兩種方式有機會補上彼此的不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但這只是設計理由，模型比較多，不一定就更準。最後還是要看完整組合的回測，不能說每個零件都已經單獨證明有效。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src/round47_nn_train.py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價格也可以換一種寫法來學。第一種直接學總價。第二種先把總價除以有效面積，學每平方公尺單價，估完再乘回面積。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這裡為什麼要給面積加權？用兩間房來看，一間五十平方公尺，另一間一百平方公尺。假設單價都估錯一萬元，總價就分別錯五十萬和一百萬。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訓練時把這兩個單價誤差看得一樣重，就沒有反映比賽真正關心的總價差距。因此面積越大，單價誤差在學習中的分量也越大。建物面積不可用時，依固定規則改用車位面積；再沒有才用一，讓數值換算能進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第三種是對數，把很大的金額壓縮，提供另一個學習角度。它訓練時看的是對數尺度誤差。這幾種寫法最後都要換回總價元，才能放在一起組合和評分。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src/round19_unit_geo.py</a:t>
            </a:r>
          </a:p>
          <a:p xmlns:a="http://schemas.openxmlformats.org/drawingml/2006/main">
            <a:r>
              <a:t>src/round12_log_geo.py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房屋大小會影響價格，成交時間也可能有影響。我們的想法是，近期成交可能更接近目前市場，所以在單價CatBoost裡，讓近期資料對學習有較大影響。這個影響大小就叫權重。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它調整的是一筆誤差有多重要，不是直接修改房價。先看簡單比例：最近的成交算一，一年前算零點五，兩年前算零點二五。每過三百六十五天，較早交易的相對權重就減半，所以叫半衰期。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實際程式還有一步：把合法日期的權重，除以這些權重的平均值，統一尺度。日期無效的資料則給一，當作中性值。最後再乘上上一頁的面積權重。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其他分支有自己的設定，不能說全部模型都加了同一套新權重。較近期的資料，也不一定更可靠，近期資料同樣可能有雜訊，效果還是要用回測確認。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其中一個神經網路，會先拿到區域的參考單價，再學這間房應該調高或調低多少。這個估價起點，叫價格先驗，仍然是從訓練資料的成交價格整理出來。但要注意：如果先用某筆交易的答案算參考價，再拿這個參考價訓練同一筆，模型就可能偷看到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怎麼避開？我們按建案分成五組，同一建案一定放在同一組。輪到其中一組時，用另外四組建立它的訓練參考價。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五組輪流做，就能避免自己的建案答案直接混進自己的先驗。這種處理叫折外，英文縮寫是ＯＯＦ。真正預測新交易時，才使用該次全部訓練資料建立的保存先驗。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另外要分清楚：這裡是按建案分組，不是按日期排序。因此不能說每筆訓練參考價都只來自更早成交，也不能說這樣就完全不會過擬合。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src/round63_recency_weighted_prior_train.py</a:t>
            </a:r>
          </a:p>
          <a:p xmlns:a="http://schemas.openxmlformats.org/drawingml/2006/main">
            <a:r>
              <a:t>deliverables/v22_github/src/nn_prepare.py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把前面的做法放在一起，總共有六個模型。三個CatBoost分別學單價、總價和對數總價；一個LightGBM學單價；另外兩個是神經網路。一個用面積把單價連到總價，另一個以價格先驗為起點。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這六個模型不是直接全部平均。我們先把預測都換回總價元，再分成三條估價分支。第一條以單價CatBoost為主。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第二條先平均兩個神經網路。第三條先平均直接總價和對數總價兩個樹模型。每一條都再加入同一個LightGBM的意見：主要部分占七成五，LightGBM占兩成五。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用一間房的教學例子來算，單價CatBoost換回總價後估一千萬元，LightGBM估一千兩百萬元。分別乘上七成五和兩成五，加起來是一千零五十萬元。這只是一條分支的初估，下一頁還要修正。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這樣安排，是希望保留不同估價方式的差異。比例是固定配方，不代表已證明最佳；成績要看整個組合，各支的改善不能直接相加。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在有三條分支的初估，接下來每一條都各自做兩步修正。因為模型學的是整體關係，特定建案或街區，可能還有細部價格差異。第一步，找訓練資料裡同建案、同地址或同道路的可比成交，再配合從訓練資料估出的時間趨勢，調整初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步，如果前面的成交參考較弱，就用粗略道路位置附近的歷史資訊補充，也會檢查城市、建物型態和用途是否相容。這一步叫空間修正，會同時看原本的初估，以及第一步修正後的結果。不是找到附近一筆就直接照抄，而是依支持條件決定能採用多少；資訊不夠，就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些價格都來自當期訓練資料，沒有到外部實價登錄找測試答案。道路位置也不等於精確門牌，所以這只是有限度的補充，不表示知道每間房的真正市價。三條分支各自做完後，手上仍然有三個總價，下一頁才合成最後一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src/round2_neighborhood.py</a:t>
            </a:r>
          </a:p>
          <a:p xmlns:a="http://schemas.openxmlformats.org/drawingml/2006/main">
            <a:r>
              <a:t>src/round8_spatial_reference.py</a:t>
            </a:r>
          </a:p>
          <a:p xmlns:a="http://schemas.openxmlformats.org/drawingml/2006/main">
            <a:r>
              <a:t>deliverables/v22_github/src/tree_runtime.py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三個總價，最後選哪一個？我們把它們由小到大排好，取中間那個，這就叫中位數。用教學例子來看，三條分支修正後，分別估九百八十萬、一千零二十萬和一千八百萬元。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排好之後，中間是一千零二十萬元，就採用這個價格。為什麼這樣做？如果其中一條估得特別高，直接平均會把結果往上拉；中位數可以減少單一極端估價的影響。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但它也有代價。假如那個很高的估價剛好才是正確答案，中位數反而可能把有用資訊捨掉。如果三條分支一起低估，取中間也不會自動變準。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所以沒有保證每次都比較好。順序也要記住：先換回總價，各支完成成交和空間修正，最後才取中位數。到了這裡已經是總價，不能再乘一次面積。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方法說完，來看實際結果。最早一期預測的是二〇二一年八月到二〇二二年八月，平均絕對誤差約兩百三十點九四萬元。中間一期約一百四十點七四萬元，最新一期約一百三十八點三二萬元。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一期都只用當時以前的資料，建立剛才介紹的完整方法；到了評分時，才拿後面一年的總價答案來比較。數字一路下降，卻不能解讀成模型逐年進步。因為三個年度考的是不同交易，房屋組成、交易量和市場狀況都不一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這張表能說的是，同一套方法在三批歷史資料各自表現如何，不能拿最低的那個數字保證未來結果。另外，我們不只看整體平均，也分季度、建案和價格群檢查。有時整體看起來更好，某一群卻變差。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這些不利結果同樣要留下，才能知道方法在哪些地方還有弱點。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outputs/round79/results.json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再來是平台回報的公開成績。精確數字寫在投影片上，換成萬元，大約是一百九十九點八六萬元，也就是接近兩百萬元。按照前面的ＭＡＥ定義，它表示公開評分那批交易，每筆預測總價和真價的絕對差，平均接近兩百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這是我提交後，平台回報的結果，已保存截圖。公開評分只涵蓋約三成測試資料，其餘約七成的隱藏分數還不知道。也不能直接和上一頁某個年度相比，就說提交後進步或退步，因為兩邊評分的交易不同。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這是目前已觀察到的成果。最後名次要看隱藏部分，所以選定這個模型，並不代表已經證明它在隱藏資料最好。平均差兩百萬，也不表示每間房的誤差都在兩百萬以內。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outputs/kaggle_feedback/public_submissions_v19_v24_20260927.json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最後整理幾個限制。第一，歷史回測的窗口已經反覆看過，配方可能越來越適合這幾份考卷，卻不一定同樣適合新交易。第二，整體平均會藏住局部問題，例如某些高價交易群仍然退步，不能只挑好看的分數。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第三，地理資訊有精度限制。道路代表位置不等於真正門牌，地址也不一定能匹配成功。各年度雖然用了對應的非價格道路快照，仍不能把它當成精準定位或完整生活機能。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要減少這些風險，我們會先固定問題和時間切分，讓所有需要學習的規則，只看當期訓練資料，再一起檢查整體和分群結果，保留失敗方案。公開分數可以參考，但不能一看到變動，就不停改比例、追著它調整。這些做法能減少過擬合風險，不能完全消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三條分支也可能一起估錯，這個限制仍然存在。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outputs/round79/results.json</a:t>
            </a:r>
          </a:p>
          <a:p xmlns:a="http://schemas.openxmlformats.org/drawingml/2006/main">
            <a:r>
              <a:t>reports/round83_delivery.md</a:t>
            </a:r>
          </a:p>
          <a:p xmlns:a="http://schemas.openxmlformats.org/drawingml/2006/main">
            <a:r>
              <a:t>data_external/geography/ATTRIBUTION.md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確定後，最後用四十六萬七千二百二十一筆有答案資料，建立模型和需要保存的規則，再預測全部四萬七千零七十三筆測試交易。提交檔只有編號和總價元兩欄，照範本順序排列，最後才一次取整成正整數。程式有一個統一的推論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從原始測試表重新做特徵，載入六個模型，以及保存的編碼、價格參考和地理狀態，再算出三條分支與最後結果。我們已經實際重跑，全部預測和原提交一致，整份提交檔也相同。這能證明保存模型可以重新推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剛才的重現驗證，是重新載入保存模型，沒有從頭重訓全部模型，也還沒在全新電腦驗證安裝流程。程式包附有必要檔案清單，模型和交易資料要另外具備，所以只下載程式，還不等於拿到了全部訓練素材。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  <a:p xmlns:a="http://schemas.openxmlformats.org/drawingml/2006/main">
            <a:r>
              <a:t>deliverables/v22_github/src/submission_io.py</a:t>
            </a:r>
          </a:p>
          <a:p xmlns:a="http://schemas.openxmlformats.org/drawingml/2006/main">
            <a:r>
              <a:t>deliverables/v22_github/evidence/reproduction/integration_verified.json</a:t>
            </a:r>
          </a:p>
          <a:p xmlns:a="http://schemas.openxmlformats.org/drawingml/2006/main">
            <a:r>
              <a:t>deliverables/v22_github/docs/REPRODUCIBILITY.md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回到一開始的問題：只有房屋條件，怎麼估總價？我們先整理原始資料，把條件轉成模型能比較的線索，再用已知成交學估價規則。不同模型從總價、單價和對數等角度學習。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價的面積權重，讓學習對齊總價誤差；日期權重，讓近期成交在特定模型裡占較大分量。六個模型組成三條分支，各自經過成交和空間修正，最後取中位數。我們用三期時間回測和平台公開分數檢查，也完成保存模型的推論重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每一步都有設計理由，也有證據的限制。目前公開平均誤差接近兩百萬元，隱藏分數仍然未知。以上是這次的完整流程，謝謝大家。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供問答核對。每個模型符號都代表已經換回元的預測。神經網路分支先平均兩個網路，對數分支先平均直接總價與對數總價模型，再各占四分之三，加入四分之一的共同單價LightGBM。各條分支先經成交參考，再依原基準與參考結果做空間修正，最後逐筆取中位數。完整係數和面積、日期公式列在報告與程式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單價 CatBoost的主要設定包括兩千九百九十九次迭代、深度八，以及學習率零點零六五。兩個神經網路使用相同的多層架構，但輸入編碼與學習目標不同。參數代表學習如何進行，不是準確率保證。若要實際重現，請依操作文件準備原始測試檔和保存狀態，並使用受測環境。單價訓練、先驗建立與最終推論各有對應程式，路徑可在報告查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src/round79_recency_unit.py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deliverables/v22_github/src/predict_v22.py</a:t>
            </a:r>
          </a:p>
          <a:p xmlns:a="http://schemas.openxmlformats.org/drawingml/2006/main">
            <a:r>
              <a:t>deliverables/v22_github/docs/REPRODUCIBILITY.md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遇到名詞，可以先問它在流程中做什麼。特徵是房屋條件，標籤是已知價格。訓練或擬合，是利用有答案的資料調整模型。推論是把保存規則套用到待預測資料。編碼把文字或數值整理成模型輸入，價格先驗提供參考基準。泛化表示模型能處理沒練習過的交易，過擬合則是太貼合練習資料的細節。折外處理用其他組建立參考，中位數則是把數字排序後取中間那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39fe40880040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b4ac822efb4e1f" /><Relationship Type="http://schemas.openxmlformats.org/officeDocument/2006/relationships/slideLayout" Target="/ppt/slideLayouts/slideLayout1.xml" Id="R5c8ef620396b41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8ef620396b41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4486657684a2d" /><Relationship Type="http://schemas.openxmlformats.org/officeDocument/2006/relationships/image" Target="/ppt/media/image.jpeg" Id="R1f7d20086b7a41b3" /><Relationship Type="http://schemas.openxmlformats.org/officeDocument/2006/relationships/notesSlide" Target="/ppt/notesSlides/notesSlide1.xml" Id="Rcecd229bceb640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af0d0f7b14a83" /><Relationship Type="http://schemas.openxmlformats.org/officeDocument/2006/relationships/notesSlide" Target="/ppt/notesSlides/notesSlide2.xml" Id="R92030be7934f44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7b42b84704bec" /><Relationship Type="http://schemas.openxmlformats.org/officeDocument/2006/relationships/notesSlide" Target="/ppt/notesSlides/notesSlide3.xml" Id="R8d52e5b2809f42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39a2f6b4143d4" /><Relationship Type="http://schemas.openxmlformats.org/officeDocument/2006/relationships/notesSlide" Target="/ppt/notesSlides/notesSlide4.xml" Id="Rd6416c75a38b46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e62ea7d5f40b5" /><Relationship Type="http://schemas.openxmlformats.org/officeDocument/2006/relationships/notesSlide" Target="/ppt/notesSlides/notesSlide5.xml" Id="Rea8ce31651af41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f2a8afdc24eaf" /><Relationship Type="http://schemas.openxmlformats.org/officeDocument/2006/relationships/notesSlide" Target="/ppt/notesSlides/notesSlide6.xml" Id="Rcf977e1318ea43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3e24259b04554" /><Relationship Type="http://schemas.openxmlformats.org/officeDocument/2006/relationships/notesSlide" Target="/ppt/notesSlides/notesSlide7.xml" Id="R76a965c7baa04a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c8a19aac1422f" /><Relationship Type="http://schemas.openxmlformats.org/officeDocument/2006/relationships/notesSlide" Target="/ppt/notesSlides/notesSlide8.xml" Id="Rc68fadd9fb1c4e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4b1a2f8bf4bb8" /><Relationship Type="http://schemas.openxmlformats.org/officeDocument/2006/relationships/notesSlide" Target="/ppt/notesSlides/notesSlide9.xml" Id="Rf8217f9c6c494a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e6a1cf596433c" /><Relationship Type="http://schemas.openxmlformats.org/officeDocument/2006/relationships/notesSlide" Target="/ppt/notesSlides/notesSlide10.xml" Id="R8b8778e974cd4f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3cac010714f3e" /><Relationship Type="http://schemas.openxmlformats.org/officeDocument/2006/relationships/chart" Target="/ppt/slides/charts/chart1.xml" Id="R1e5c499718494e3c" /><Relationship Type="http://schemas.openxmlformats.org/officeDocument/2006/relationships/notesSlide" Target="/ppt/notesSlides/notesSlide11.xml" Id="R569b7d7af85943c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d7abc8f534793" /><Relationship Type="http://schemas.openxmlformats.org/officeDocument/2006/relationships/notesSlide" Target="/ppt/notesSlides/notesSlide12.xml" Id="R27d5d4a8ed6445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fa19bbd6242ce" /><Relationship Type="http://schemas.openxmlformats.org/officeDocument/2006/relationships/notesSlide" Target="/ppt/notesSlides/notesSlide13.xml" Id="R505aa600c4fc494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6d52fc7ad48bc" /><Relationship Type="http://schemas.openxmlformats.org/officeDocument/2006/relationships/notesSlide" Target="/ppt/notesSlides/notesSlide14.xml" Id="R1880271351b9496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8af1547b54517" /><Relationship Type="http://schemas.openxmlformats.org/officeDocument/2006/relationships/chart" Target="/ppt/slides/charts/chart2.xml" Id="Rd3e7eedd8db049da" /><Relationship Type="http://schemas.openxmlformats.org/officeDocument/2006/relationships/notesSlide" Target="/ppt/notesSlides/notesSlide15.xml" Id="R1a062e77e49b466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c3260b06444bc" /><Relationship Type="http://schemas.openxmlformats.org/officeDocument/2006/relationships/chart" Target="/ppt/slides/charts/chart3.xml" Id="R9b13a47ddf6147a1" /><Relationship Type="http://schemas.openxmlformats.org/officeDocument/2006/relationships/notesSlide" Target="/ppt/notesSlides/notesSlide16.xml" Id="R31f6717e34194e2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089a91d0a44bf" /><Relationship Type="http://schemas.openxmlformats.org/officeDocument/2006/relationships/notesSlide" Target="/ppt/notesSlides/notesSlide17.xml" Id="Raa604f6471d5484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fb21f6d7a4cc9" /><Relationship Type="http://schemas.openxmlformats.org/officeDocument/2006/relationships/notesSlide" Target="/ppt/notesSlides/notesSlide18.xml" Id="Re521591345e64df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2443d864a40f8" /><Relationship Type="http://schemas.openxmlformats.org/officeDocument/2006/relationships/notesSlide" Target="/ppt/notesSlides/notesSlide19.xml" Id="R88a13e568fdb4a5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de4d930b74382" /><Relationship Type="http://schemas.openxmlformats.org/officeDocument/2006/relationships/notesSlide" Target="/ppt/notesSlides/notesSlide20.xml" Id="R6d222b2aea36458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21ff0390541ec" /><Relationship Type="http://schemas.openxmlformats.org/officeDocument/2006/relationships/notesSlide" Target="/ppt/notesSlides/notesSlide21.xml" Id="R7f4c0c2ea3a6451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2925168fb4982" /><Relationship Type="http://schemas.openxmlformats.org/officeDocument/2006/relationships/notesSlide" Target="/ppt/notesSlides/notesSlide22.xml" Id="R9e1d6f55230b4c5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4609ab602436c" /><Relationship Type="http://schemas.openxmlformats.org/officeDocument/2006/relationships/notesSlide" Target="/ppt/notesSlides/notesSlide23.xml" Id="R767cea105fc7430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AC482F"/>
            </a:solidFill>
          </c:spPr>
          <c:cat>
            <c:strRef>
              <c:f>'Chart Data'!$A$2:$A$4</c:f>
              <c:strCache>
                <c:ptCount val="3"/>
                <c:pt idx="0">
                  <c:v>最新日期</c:v>
                </c:pt>
                <c:pt idx="1">
                  <c:v>早一年</c:v>
                </c:pt>
                <c:pt idx="2">
                  <c:v>早兩年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</c:v>
                </c:pt>
                <c:pt idx="1">
                  <c:v>0.5</c:v>
                </c:pt>
                <c:pt idx="2">
                  <c:v>0.25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352E29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DBBA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D5C3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AC482F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647663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分支 A</c:v>
                </c:pt>
                <c:pt idx="1">
                  <c:v>分支 B</c:v>
                </c:pt>
                <c:pt idx="2">
                  <c:v>分支 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980</c:v>
                </c:pt>
                <c:pt idx="1">
                  <c:v>1020</c:v>
                </c:pt>
                <c:pt idx="2">
                  <c:v>1800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352E29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DBBA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D5C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AC482F"/>
            </a:solidFill>
          </c:spPr>
          <c:cat>
            <c:strRef>
              <c:f>'Chart Data'!$A$2:$A$4</c:f>
              <c:strCache>
                <c:ptCount val="3"/>
                <c:pt idx="0">
                  <c:v>2021–2022</c:v>
                </c:pt>
                <c:pt idx="1">
                  <c:v>2022–2023</c:v>
                </c:pt>
                <c:pt idx="2">
                  <c:v>2023–2024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230.94</c:v>
                </c:pt>
                <c:pt idx="1">
                  <c:v>140.74</c:v>
                </c:pt>
                <c:pt idx="2">
                  <c:v>138.32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352E29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DBBA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D5C3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d20086b7a41b3"/>
          <a:srcRect xmlns:a="http://schemas.openxmlformats.org/drawingml/2006/main" l="25893" t="0" r="258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2850" y="571500"/>
            <a:ext cx="3962400" cy="5476875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2F01B7-A5ED-4789-ACE5-4409421F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981075"/>
            <a:ext cx="6381750" cy="250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7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667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臺灣房屋</a:t>
            </a:r>
          </a:p>
          <a:p xmlns:a="http://schemas.openxmlformats.org/drawingml/2006/main">
            <a:pPr algn="l">
              <a:defRPr sz="667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667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總價預測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1142F0E-240D-470E-A796-8F7C29B3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05275"/>
            <a:ext cx="63055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AC482F"/>
                </a:solidFill>
                <a:latin typeface="PMingLiU"/>
                <a:ea typeface="PMingLiU"/>
                <a:cs typeface="PMingLiU"/>
              </a:defRPr>
            </a:pPr>
            <a:r>
              <a:rPr sz="2625" b="0">
                <a:solidFill>
                  <a:srgbClr val="AC482F"/>
                </a:solidFill>
                <a:latin typeface="PMingLiU"/>
                <a:ea typeface="PMingLiU"/>
                <a:cs typeface="PMingLiU"/>
              </a:rPr>
              <a:t>一筆交易，如何變成一個估價？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70967A2-DDE4-4699-AFD5-D2F25617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486400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資料處理與回歸模型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02A422B-9E0A-46FD-BB6E-F224AB9C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v22 專題報告</a:t>
            </a:r>
          </a:p>
        </p:txBody>
      </p:sp>
    </p:spTree>
    <p:extLst>
      <p:ext uri="{BB962C8B-B14F-4D97-AF65-F5344CB8AC3E}">
        <p14:creationId xmlns:p14="http://schemas.microsoft.com/office/powerpoint/2010/main" val="21158664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80FD44-667A-4D49-B257-C2673F46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回歸與模型學習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85D9B0-B182-4994-BB38-F6778563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4457D64-BF21-4D71-B567-E246F6F3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房屋條件（特徵）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032C80D-468A-454E-9079-9B32A9BE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00200"/>
            <a:ext cx="475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成交總價（標籤）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0A6EF93-C289-4E2A-BA78-34B636E7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5219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地點、面積、樓層、交易日期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CBAB432-CF7F-4EC6-B647-25BB8708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33650"/>
            <a:ext cx="4714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訓練時用來比較的答案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F3E77B9-6452-499E-8B96-B748E76D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訓練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31794B69-715B-489E-9D74-DDAAE156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8766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先估價，再與已知總價比較，調整模型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102C6BA9-1EBC-429A-AF78-CE08F201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推論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CA16DC81-2B00-4E53-9EF1-C960DCA8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9530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只提供房屋條件，用保存模型估計未知價格</a:t>
            </a:r>
          </a:p>
        </p:txBody>
      </p:sp>
    </p:spTree>
    <p:extLst>
      <p:ext uri="{BB962C8B-B14F-4D97-AF65-F5344CB8AC3E}">
        <p14:creationId xmlns:p14="http://schemas.microsoft.com/office/powerpoint/2010/main" val="15104308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CDEEFC-EE37-4499-A55B-2D8C66AD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平均絕對誤差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6E17C81-51AB-4A06-AD2C-2A303FC4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F5A6C0A-91EE-4FAC-89B9-5120FF71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MAE = 每筆「差多少錢」的平均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14375" y="2352675"/>
          <a:ext xmlns:a="http://schemas.openxmlformats.org/drawingml/2006/main" cx="7143750" cy="2419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43050"/>
                <a:gridCol w="1838325"/>
                <a:gridCol w="1838325"/>
                <a:gridCol w="1924050"/>
              </a:tblGrid>
              <a:tr h="80645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教學假設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真實總價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預測總價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差額絕對值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80645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 A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1,000 萬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1,100 萬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萬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80645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 B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1,000 萬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950 萬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萬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FC75A7E-1D63-419B-A9BB-41AB879F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276475"/>
            <a:ext cx="30861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0" b="0">
                <a:solidFill>
                  <a:srgbClr val="AC482F"/>
                </a:solidFill>
                <a:latin typeface="PMingLiU"/>
                <a:ea typeface="PMingLiU"/>
                <a:cs typeface="PMingLiU"/>
              </a:defRPr>
            </a:pPr>
            <a:r>
              <a:rPr sz="7950" b="0">
                <a:solidFill>
                  <a:srgbClr val="AC482F"/>
                </a:solidFill>
                <a:latin typeface="PMingLiU"/>
                <a:ea typeface="PMingLiU"/>
                <a:cs typeface="PMingLiU"/>
              </a:rPr>
              <a:t>75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2FACB7C-D6D9-4717-8D92-4847A06A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67125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544740"/>
                </a:solidFill>
                <a:latin typeface="PMingLiU"/>
                <a:ea typeface="PMingLiU"/>
                <a:cs typeface="PMingLiU"/>
              </a:defRPr>
            </a:pPr>
            <a:r>
              <a:rPr sz="3375" b="0">
                <a:solidFill>
                  <a:srgbClr val="544740"/>
                </a:solidFill>
                <a:latin typeface="PMingLiU"/>
                <a:ea typeface="PMingLiU"/>
                <a:cs typeface="PMingLiU"/>
              </a:rPr>
              <a:t>萬元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3171774-F37D-4B2E-A3A7-B2251747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38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2700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（100 萬 + 50 萬）÷ 2 = 75 萬元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BF57DA9-474E-4B10-907F-35E682E5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取每筆差額的絕對值再平均，越低越好</a:t>
            </a:r>
          </a:p>
        </p:txBody>
      </p:sp>
    </p:spTree>
    <p:extLst>
      <p:ext uri="{BB962C8B-B14F-4D97-AF65-F5344CB8AC3E}">
        <p14:creationId xmlns:p14="http://schemas.microsoft.com/office/powerpoint/2010/main" val="12632780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E8363E-2402-4D8D-9B8A-263CAC72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四份資料的用途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C60FC87-B775-4742-8048-A69DC15F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83945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1952625"/>
                <a:gridCol w="2076450"/>
                <a:gridCol w="4762500"/>
              </a:tblGrid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檔案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原始列數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已知總價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實際用途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train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455,787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學習與歷史回測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valid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11,994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最終全量訓練時併入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test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47,073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全部產生價格預測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sample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47,073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格式示例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提供欄名和編號順序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4181F4DA-6BED-4156-A555-BD790705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Kaggle 將 test 約分成 Public 30% 與 Private 70%</a:t>
            </a:r>
          </a:p>
        </p:txBody>
      </p:sp>
    </p:spTree>
    <p:extLst>
      <p:ext uri="{BB962C8B-B14F-4D97-AF65-F5344CB8AC3E}">
        <p14:creationId xmlns:p14="http://schemas.microsoft.com/office/powerpoint/2010/main" val="10250025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7593CB-2B08-46D3-8925-5E15E05A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完整工作流程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F9FD193-3872-443D-9693-A40F90B5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3917E90-7869-4401-A79F-7EFE27CE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502CE23-6486-4F4B-8CE1-7B414306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6478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資料整理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4AC6AF1-D3D6-4A7B-9975-181E55F9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676400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清理格式、去重、轉換特徵，先把資料對齊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D32FEE5-0084-4B8F-8525-95764514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718EC33-7F1B-45A4-B26B-ED703B11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609850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模型學習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231310CA-C348-4F8A-BB16-496841B0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38425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用較早交易學習房屋條件與價格的關係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0DAF98B1-A50E-454B-B608-77F7EF86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95F4C701-AEF6-4578-AF6B-475496FD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7187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歷史回測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EB2C9ECB-91F8-40B1-AD69-D1DB84F1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00450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預測較晚交易，檢查面對新資料的誤差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3F24148B-CC3B-409E-A008-1DD164C6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E3BA325A-B277-4DE3-A5F6-B5AC5C88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533900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最終交付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F9AA7DC0-69EC-428D-AB73-78010058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562475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確認方法後全量訓練，再推論並核對CSV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F40D2ABA-0ED1-481F-8FDE-C8D76E46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每一步都保留程式與結果，讓資料、模型與提交能互相核對</a:t>
            </a:r>
          </a:p>
        </p:txBody>
      </p:sp>
    </p:spTree>
    <p:extLst>
      <p:ext uri="{BB962C8B-B14F-4D97-AF65-F5344CB8AC3E}">
        <p14:creationId xmlns:p14="http://schemas.microsoft.com/office/powerpoint/2010/main" val="12024280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8174DB-5001-4CF7-BA8B-8DD77E27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資料清理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398618E-71E0-4ED5-85D7-933255BD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1676400"/>
          <a:ext xmlns:a="http://schemas.openxmlformats.org/drawingml/2006/main" cx="7048500" cy="3705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1809750"/>
              </a:tblGrid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整理動作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保留列數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 train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455,787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3 列英文表頭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455,784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529 列完全重複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455,255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加入 11,994 筆 valid，再去重 28 筆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467,221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82A76E1-120D-40E8-A3D6-F7E186E0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3295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0">
                <a:solidFill>
                  <a:srgbClr val="AC482F"/>
                </a:solidFill>
                <a:latin typeface="PMingLiU"/>
                <a:ea typeface="PMingLiU"/>
                <a:cs typeface="PMingLiU"/>
              </a:defRPr>
            </a:pPr>
            <a:r>
              <a:rPr sz="5025" b="0">
                <a:solidFill>
                  <a:srgbClr val="AC482F"/>
                </a:solidFill>
                <a:latin typeface="PMingLiU"/>
                <a:ea typeface="PMingLiU"/>
                <a:cs typeface="PMingLiU"/>
              </a:rPr>
              <a:t>467,221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EE599DF-8205-46AB-A917-CEAEA73B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31718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最終有標籤交易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4DC42FE-EE28-4077-BECC-0572CD2B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76725"/>
            <a:ext cx="3276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去重比對整列</a:t>
            </a:r>
          </a:p>
          <a:p xmlns:a="http://schemas.openxmlformats.org/drawingml/2006/main">
            <a:pPr algn="l">
              <a:defRPr sz="202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包含價格、排除編號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4B7BEB6F-2921-4B39-837A-7F1CE68C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修正格式與重複資訊，test 的 47,073 筆全數保留</a:t>
            </a:r>
          </a:p>
        </p:txBody>
      </p:sp>
    </p:spTree>
    <p:extLst>
      <p:ext uri="{BB962C8B-B14F-4D97-AF65-F5344CB8AC3E}">
        <p14:creationId xmlns:p14="http://schemas.microsoft.com/office/powerpoint/2010/main" val="217308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B8BAC9-32AB-46F4-90E4-7DFD7650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特徵工程與欄位取捨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F61AC85-78BE-4D9B-9C14-E526F31D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676400"/>
          <a:ext xmlns:a="http://schemas.openxmlformats.org/drawingml/2006/main" cx="1083945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4314825"/>
                <a:gridCol w="3333750"/>
              </a:tblGrid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原始資料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交給模型的特徵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民國日期、中文樓層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交易時點、樓層數值與旗標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保留時間與樓層意義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土地、建物、車位面積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面積與比例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描述交易的規模與組成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地址、道路、建案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區域類別與粗略地理資訊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描述區位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編號、總價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編號對齊，總價作學習答案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不把這兩欄當輸入特徵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AB683A5-4FD3-4AEB-8C43-1D76363B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單價 CatBoost 使用 95 欄，其中 23 欄是類別；其他模型另有編碼</a:t>
            </a:r>
          </a:p>
        </p:txBody>
      </p:sp>
    </p:spTree>
    <p:extLst>
      <p:ext uri="{BB962C8B-B14F-4D97-AF65-F5344CB8AC3E}">
        <p14:creationId xmlns:p14="http://schemas.microsoft.com/office/powerpoint/2010/main" val="10896755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33B300-01B6-4461-972D-48CF54B2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時間回測與過擬合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49695AD-5D00-420E-8E90-597AAAB0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707D60A-0100-41E9-9E04-AFE91BB9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14475"/>
            <a:ext cx="1071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先學過去，再預測後一年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609850"/>
          <a:ext xmlns:a="http://schemas.openxmlformats.org/drawingml/2006/main" cx="10839450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429000"/>
                <a:gridCol w="5219700"/>
              </a:tblGrid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回測窗口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學習：截至這天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評分：接下來一年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較早窗口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2021-08-10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2021-08-11 至 2022-08-10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中間窗口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2022-08-10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2022-08-11 至 2023-08-10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較新窗口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2023-08-10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2023-08-11 至 2024-08-10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7C4034F-CD9E-4A52-B109-07898478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每個窗口都只用當期學習資料，重建模型、編碼與價格參考</a:t>
            </a:r>
          </a:p>
        </p:txBody>
      </p:sp>
    </p:spTree>
    <p:extLst>
      <p:ext uri="{BB962C8B-B14F-4D97-AF65-F5344CB8AC3E}">
        <p14:creationId xmlns:p14="http://schemas.microsoft.com/office/powerpoint/2010/main" val="1469108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2EAD81-6AE5-4539-9C71-E5947C94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樹模型與神經網路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B528C81-DCDE-4F8C-969B-04AD3DC3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5387E49-E11B-47DA-B2D9-3541905C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樹模型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B280579-5B13-47D9-AD6F-5A8587F8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6002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依資料條件逐步分群，再估計價格</a:t>
            </a:r>
          </a:p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例如同區、面積、樓層共同影響估價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61EAA54-258B-4B08-9F62-C0C54A81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76550"/>
            <a:ext cx="70199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CatBoost 與 LightGBM 會讓多棵樹逐步修正誤差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989EA42-6FE7-40D0-B8AD-479FCA3A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表格神經網路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A9BAA5C0-462D-472B-8E85-C75D7F5D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0386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把數值和類別轉成可學習的表示</a:t>
            </a:r>
          </a:p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再透過多層計算估計價格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DBB311E-C5A6-4691-A0CC-BE08F118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使用多種模型的目的是嘗試不同估計方式，效果仍要靠回測</a:t>
            </a:r>
          </a:p>
        </p:txBody>
      </p:sp>
    </p:spTree>
    <p:extLst>
      <p:ext uri="{BB962C8B-B14F-4D97-AF65-F5344CB8AC3E}">
        <p14:creationId xmlns:p14="http://schemas.microsoft.com/office/powerpoint/2010/main" val="19358296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D920CF-E816-4746-AC65-B6549D02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總價、單價與對數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EF3A16F-8E9E-4269-9B34-16AAE647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20A9E1D-7118-4857-B64B-A482D193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10839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總價 = 單價 × 面積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466975"/>
          <a:ext xmlns:a="http://schemas.openxmlformats.org/drawingml/2006/main" cx="1083945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05225"/>
                <a:gridCol w="3705225"/>
              </a:tblGrid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教學假設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單價估錯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造成的總價誤差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平方公尺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每平方公尺 1 萬元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萬元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平方公尺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每平方公尺 1 萬元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萬元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0411727-1FCC-409A-BCA2-5D722CC8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面積權重讓單價模型更貼近「總共差多少錢」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3997011-A01C-4AA9-9CB2-06167DDB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83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另一種表示使用 log 壓縮價格尺度，最後都還原成總價元</a:t>
            </a:r>
          </a:p>
        </p:txBody>
      </p:sp>
    </p:spTree>
    <p:extLst>
      <p:ext uri="{BB962C8B-B14F-4D97-AF65-F5344CB8AC3E}">
        <p14:creationId xmlns:p14="http://schemas.microsoft.com/office/powerpoint/2010/main" val="13031192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ADBBFC-947F-47FC-9DDF-4C4A154B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近期成交權重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4329E8F-475C-471C-B912-54E26E95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433DE13-BAE0-41FC-B2A2-00F271D3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83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相對日期權重，未正規化的示意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152650"/>
          <a:ext xmlns:a="http://schemas.openxmlformats.org/drawingml/2006/main" cx="10668000" cy="2962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5c499718494e3c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8E6358E-40C2-4C83-9EB3-47334818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365 日半衰期：較近的成交在訓練中占較大比重</a:t>
            </a:r>
          </a:p>
        </p:txBody>
      </p:sp>
    </p:spTree>
    <p:extLst>
      <p:ext uri="{BB962C8B-B14F-4D97-AF65-F5344CB8AC3E}">
        <p14:creationId xmlns:p14="http://schemas.microsoft.com/office/powerpoint/2010/main" val="15086855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9932A9-E2CD-4659-B682-CE358A29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價格先驗與分組學習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5004AA6-69DC-48FA-825A-E4110546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A311E0A-DA3D-4DA4-B1F2-F2FE52D3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10839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先驗 = 從訓練成交整理出的參考單價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05AC140-41E8-43E0-A88D-FF34BCD7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按建案分成 5 組，每組包含多個建案；以第 1 組為例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3162300"/>
          <a:ext xmlns:a="http://schemas.openxmlformats.org/drawingml/2006/main" cx="1083945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2175"/>
                <a:gridCol w="2162175"/>
                <a:gridCol w="2162175"/>
                <a:gridCol w="2162175"/>
                <a:gridCol w="2190750"/>
              </a:tblGrid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 組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2 組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3 組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4 組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5 組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待建立先驗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</a:tbl>
          </a:graphicData>
        </a:graphic>
      </p:graphicFrame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FBB7D8F-6866-4877-B048-AB95048F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10839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五組輪流排除自身建案；這是分組 OOF，不是時間切分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67E93FB-E34B-48A5-9A89-D3DBE18C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10839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新交易推論：使用當期全部訓練資料建立的保存先驗</a:t>
            </a:r>
          </a:p>
        </p:txBody>
      </p:sp>
    </p:spTree>
    <p:extLst>
      <p:ext uri="{BB962C8B-B14F-4D97-AF65-F5344CB8AC3E}">
        <p14:creationId xmlns:p14="http://schemas.microsoft.com/office/powerpoint/2010/main" val="13385115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EECDAD-F8AD-4E81-ADA3-75064AE4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六個模型與三條分支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F8342D-C957-40B9-94C9-07D05300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8F747A6-7E8F-4749-9B3B-139ABA8D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38275"/>
            <a:ext cx="10753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所有預測先換回總價元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124075"/>
          <a:ext xmlns:a="http://schemas.openxmlformats.org/drawingml/2006/main" cx="10839450" cy="2771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9350"/>
                <a:gridCol w="4572000"/>
                <a:gridCol w="3848100"/>
              </a:tblGrid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分支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主要部分：占 75%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共同加入：占 25%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單價分支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 CatBoost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神經網路分支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面積 NN、先驗 NN 先平均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對數分支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總價、log CatBoost 先平均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68B9E0B-6775-4D91-BE2B-CB536314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14925"/>
            <a:ext cx="10801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3 個 CatBoost + 1 個 LightGBM + 2 個 NN = 6 個模型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9098C89-1343-4B57-8342-EE8736AF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80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教學假設（萬元）：1,000×75% + 1,200×25% = 1,050</a:t>
            </a:r>
          </a:p>
        </p:txBody>
      </p:sp>
    </p:spTree>
    <p:extLst>
      <p:ext uri="{BB962C8B-B14F-4D97-AF65-F5344CB8AC3E}">
        <p14:creationId xmlns:p14="http://schemas.microsoft.com/office/powerpoint/2010/main" val="21267412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02CE2B-D69B-47E2-81BF-166B88F2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成交參考與空間修正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6E1E9F7-617E-452D-936A-E9567CB2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B0D1844-8DBB-4BFC-A485-CFE52CD9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B0C01AF-5134-4939-A803-0CB75DF2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5430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成交參考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3F05378-9B68-4317-B930-D553B700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247900"/>
            <a:ext cx="9334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同建案、同地址、同道路的已知成交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1285A38-0240-437F-876F-23F71077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857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再比較物件條件與時間趨勢，結合原估價及參考價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F21193F-4741-41F2-9F10-4F41B5A8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1932D53-D451-4C1A-BC73-8EA1FE9B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7242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空間修正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AF70B15-DC2B-4893-9E9A-D6CBB931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38150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參考支持較弱時才補充附近資訊，支持不足就回退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22AC1D48-CBD8-4CF3-AA82-996D1039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83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每條分支各自修正，保留三個總價，下一步才取中位數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58B235F0-DB9B-4774-9A07-3FAB5B1C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價格只來自課程已知標籤；外部道路資料不提供成交答案</a:t>
            </a:r>
          </a:p>
        </p:txBody>
      </p:sp>
    </p:spTree>
    <p:extLst>
      <p:ext uri="{BB962C8B-B14F-4D97-AF65-F5344CB8AC3E}">
        <p14:creationId xmlns:p14="http://schemas.microsoft.com/office/powerpoint/2010/main" val="21138136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5E6A1E-119E-4F44-8DD9-CE205AEF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逐筆取中位數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394AC16-9E68-4DA8-9541-BD9C5213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7D8ED1A-C0E3-4C80-B2AE-85972C47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同一間房子的三個修正後估價，單位：萬元（教學假設）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266950"/>
          <a:ext xmlns:a="http://schemas.openxmlformats.org/drawingml/2006/main" cx="10668000" cy="2838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e7eedd8db049da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D1C98CE-391F-4285-896A-33A03F93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排序後取中間值 1,020 萬元，降低單一極端估價的影響</a:t>
            </a:r>
          </a:p>
        </p:txBody>
      </p:sp>
    </p:spTree>
    <p:extLst>
      <p:ext uri="{BB962C8B-B14F-4D97-AF65-F5344CB8AC3E}">
        <p14:creationId xmlns:p14="http://schemas.microsoft.com/office/powerpoint/2010/main" val="19999825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8576BE-9629-478D-8DBF-4793BCA1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三期時間回測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C80755A-5883-4D22-9285-854196DF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BE02601-F2D4-4627-95E1-C9301BF9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3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MAE，單位：萬元，越低越好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200275"/>
          <a:ext xmlns:a="http://schemas.openxmlformats.org/drawingml/2006/main" cx="10668000" cy="2876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13a47ddf6147a1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FF389C3-6556-46B8-9050-D4729A15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三個年度是不同評分集合，不能把下降解讀成同一批資料持續進步</a:t>
            </a:r>
          </a:p>
        </p:txBody>
      </p:sp>
    </p:spTree>
    <p:extLst>
      <p:ext uri="{BB962C8B-B14F-4D97-AF65-F5344CB8AC3E}">
        <p14:creationId xmlns:p14="http://schemas.microsoft.com/office/powerpoint/2010/main" val="11711998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908834-ACD6-4EF7-ABC9-0D2BACB8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Kaggle 公開成績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CCF69D-629E-4A80-A102-792819AE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FE83020-3934-407B-92D3-1BD08213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Public 平均絕對誤差（MAE）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CA6542F-C863-4C2C-866C-E1413A07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95475"/>
            <a:ext cx="65722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0" b="0">
                <a:solidFill>
                  <a:srgbClr val="AC482F"/>
                </a:solidFill>
                <a:latin typeface="PMingLiU"/>
                <a:ea typeface="PMingLiU"/>
                <a:cs typeface="PMingLiU"/>
              </a:defRPr>
            </a:pPr>
            <a:r>
              <a:rPr sz="8400" b="0">
                <a:solidFill>
                  <a:srgbClr val="AC482F"/>
                </a:solidFill>
                <a:latin typeface="PMingLiU"/>
                <a:ea typeface="PMingLiU"/>
                <a:cs typeface="PMingLiU"/>
              </a:rPr>
              <a:t>199.86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DEF99EF-0808-438C-845F-CA80BEA1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38525"/>
            <a:ext cx="2762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544740"/>
                </a:solidFill>
                <a:latin typeface="PMingLiU"/>
                <a:ea typeface="PMingLiU"/>
                <a:cs typeface="PMingLiU"/>
              </a:defRPr>
            </a:pPr>
            <a:r>
              <a:rPr sz="3225" b="0">
                <a:solidFill>
                  <a:srgbClr val="544740"/>
                </a:solidFill>
                <a:latin typeface="PMingLiU"/>
                <a:ea typeface="PMingLiU"/>
                <a:cs typeface="PMingLiU"/>
              </a:rPr>
              <a:t>萬元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9B1178E-C0CF-45AB-B62F-E94A9CB8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4019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52E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352E29"/>
                </a:solidFill>
                <a:latin typeface="Microsoft JhengHei"/>
                <a:ea typeface="Microsoft JhengHei"/>
                <a:cs typeface="Microsoft JhengHei"/>
              </a:rPr>
              <a:t>公開 test 約 30%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A0AA3470-5AC7-4036-A611-4860F269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90875"/>
            <a:ext cx="39909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反映平均差距</a:t>
            </a:r>
          </a:p>
          <a:p xmlns:a="http://schemas.openxmlformats.org/drawingml/2006/main">
            <a:pPr algn="l">
              <a:def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不是每筆誤差上限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8DFF5C4-CDCF-44FC-897B-F2902000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24425"/>
            <a:ext cx="107727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完整分數：1,998,568.5706 元，依使用者提供的 Kaggle 截圖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58C90687-7557-4AFE-B81C-DECA64EF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810250"/>
            <a:ext cx="1064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2E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352E29"/>
                </a:solidFill>
                <a:latin typeface="Microsoft JhengHei"/>
                <a:ea typeface="Microsoft JhengHei"/>
                <a:cs typeface="Microsoft JhengHei"/>
              </a:rPr>
              <a:t>其餘約 70% 是 Private，目前分數未知</a:t>
            </a:r>
          </a:p>
        </p:txBody>
      </p:sp>
    </p:spTree>
    <p:extLst>
      <p:ext uri="{BB962C8B-B14F-4D97-AF65-F5344CB8AC3E}">
        <p14:creationId xmlns:p14="http://schemas.microsoft.com/office/powerpoint/2010/main" val="6795941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B992A2-09CA-4D58-A0F7-5D275E05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限制與防過擬合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BCEB13E-2DF3-4B15-B93B-F77BDB84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BD29AFA-7C57-4AA8-9746-0262CACE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906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驗證重複使用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D54C99D-8A74-47A7-98A8-E30514EC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5906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研究多次看過同一批歷史窗口</a:t>
            </a:r>
          </a:p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選擇方法時仍可能逐漸貼近那些資料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EDB3899-23F9-4E7C-AC00-E4CBFF1B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整體平均的盲點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1A7D44F-4706-4F59-8986-2B72B429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7182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某些高價群或新建案仍可能更差</a:t>
            </a:r>
          </a:p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中位數也無法消除三條分支共同的偏差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2D1CA9A-5702-4140-826E-AA8EA2EF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地理資訊的精度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D0CAA98-8C1F-45D9-A55C-E82C3378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7529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各年度使用對應的非價格道路快照</a:t>
            </a:r>
          </a:p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道路代表點無法等同精確的住宅位置</a:t>
            </a:r>
          </a:p>
        </p:txBody>
      </p:sp>
    </p:spTree>
    <p:extLst>
      <p:ext uri="{BB962C8B-B14F-4D97-AF65-F5344CB8AC3E}">
        <p14:creationId xmlns:p14="http://schemas.microsoft.com/office/powerpoint/2010/main" val="5740097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609035-61EC-46C4-AAF9-683B055B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最終訓練與程式重現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AC99D6-3C17-43FF-AB32-05119D03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38E1628-FCDE-4BF2-AD65-57D021E0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1083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467,221 筆有標籤資料完成最終學習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5575689-1C33-4E9A-BF67-D97B2A46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47,073 筆 test 全部保留並輸出「編號、總價元」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43E9286-8FA9-45D2-817E-8A542609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程式入口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C2471B0-E61F-4BA4-BA4E-42EBA8C7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95700"/>
            <a:ext cx="804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AC482F"/>
                </a:solidFill>
                <a:latin typeface="Consolas"/>
                <a:ea typeface="Consolas"/>
                <a:cs typeface="Consolas"/>
              </a:defRPr>
            </a:pPr>
            <a:r>
              <a:rPr sz="2700" b="0">
                <a:solidFill>
                  <a:srgbClr val="AC482F"/>
                </a:solidFill>
                <a:latin typeface="Consolas"/>
                <a:ea typeface="Consolas"/>
                <a:cs typeface="Consolas"/>
              </a:rPr>
              <a:t>src/predict_v22.py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44A3E1B3-61BC-4041-A040-BCCDD39F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108394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保存模型加原始 test 重新推論，47,073 筆及 CSV 完全一致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B52F572-43B0-4D4F-A055-6B344079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6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47663"/>
                </a:solidFill>
                <a:latin typeface="Microsoft JhengHei"/>
                <a:ea typeface="Microsoft JhengHei"/>
                <a:cs typeface="Microsoft JhengHei"/>
              </a:rPr>
              <a:t>已驗證的是保存模型推論；全新環境安裝與從零重訓尚未驗證</a:t>
            </a:r>
          </a:p>
        </p:txBody>
      </p:sp>
    </p:spTree>
    <p:extLst>
      <p:ext uri="{BB962C8B-B14F-4D97-AF65-F5344CB8AC3E}">
        <p14:creationId xmlns:p14="http://schemas.microsoft.com/office/powerpoint/2010/main" val="14955473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352E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CC50DE-6932-4468-AD8F-717B71A4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FFFFFF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FFFFFF"/>
                </a:solidFill>
                <a:latin typeface="PMingLiU"/>
                <a:ea typeface="PMingLiU"/>
                <a:cs typeface="PMingLiU"/>
              </a:rPr>
              <a:t>結論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2EF42B-4FDF-4B01-8DFB-2393E46C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EFE1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EFE1D0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8DDFC17-0E26-4086-AA66-DF530219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10839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用歷史交易學習房價規律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80A17059-A772-4D87-8D8C-D20E037E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EFE1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EFE1D0"/>
                </a:solidFill>
                <a:latin typeface="Microsoft JhengHei"/>
                <a:ea typeface="Microsoft JhengHei"/>
                <a:cs typeface="Microsoft JhengHei"/>
              </a:rPr>
              <a:t>清理資料、設計特徵，再用時間回測檢查誤差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6067923-B529-4A56-B295-81BDAB51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EFE1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EFE1D0"/>
                </a:solidFill>
                <a:latin typeface="Microsoft JhengHei"/>
                <a:ea typeface="Microsoft JhengHei"/>
                <a:cs typeface="Microsoft JhengHei"/>
              </a:rPr>
              <a:t>六模型形成三分支，修正後逐筆取中位數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6E44309-5A37-440B-B21E-A1E2C451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08394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Public MAE 約 199.86 萬元，Private 分數仍未知</a:t>
            </a:r>
          </a:p>
        </p:txBody>
      </p:sp>
    </p:spTree>
    <p:extLst>
      <p:ext uri="{BB962C8B-B14F-4D97-AF65-F5344CB8AC3E}">
        <p14:creationId xmlns:p14="http://schemas.microsoft.com/office/powerpoint/2010/main" val="10778968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AEE988-EB2F-44BC-BFF1-C6D5A996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附錄：精確計算公式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6558180-92E1-4AA8-8A92-C72827F0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247907A-4A1D-4B5C-A97A-EFFD9D2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1922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所有模型預測先還原成總價元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B754ADA-C1F5-4ACB-AD14-0B8F3FEC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10820400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52E29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52E29"/>
                </a:solidFill>
                <a:latin typeface="Consolas"/>
                <a:ea typeface="Consolas"/>
                <a:cs typeface="Consolas"/>
              </a:rPr>
              <a:t>B_unit = .75*C_unit + .25*L_unit</a:t>
            </a:r>
          </a:p>
          <a:p xmlns:a="http://schemas.openxmlformats.org/drawingml/2006/main">
            <a:pPr algn="l">
              <a:defRPr sz="2025" b="0">
                <a:solidFill>
                  <a:srgbClr val="352E29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52E29"/>
                </a:solidFill>
                <a:latin typeface="Consolas"/>
                <a:ea typeface="Consolas"/>
                <a:cs typeface="Consolas"/>
              </a:rPr>
              <a:t>B_nn   = .75*(.5*N_area + .5*N_prior) + .25*L_unit</a:t>
            </a:r>
          </a:p>
          <a:p xmlns:a="http://schemas.openxmlformats.org/drawingml/2006/main">
            <a:pPr algn="l">
              <a:defRPr sz="2025" b="0">
                <a:solidFill>
                  <a:srgbClr val="352E29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52E29"/>
                </a:solidFill>
                <a:latin typeface="Consolas"/>
                <a:ea typeface="Consolas"/>
                <a:cs typeface="Consolas"/>
              </a:rPr>
              <a:t>B_log  = .75*(.5*C_raw  + .5*C_log)   + .25*L_unit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352E29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52E29"/>
                </a:solidFill>
                <a:latin typeface="Consolas"/>
                <a:ea typeface="Consolas"/>
                <a:cs typeface="Consolas"/>
              </a:rPr>
              <a:t>U = S(B_unit, R(B_unit))</a:t>
            </a:r>
          </a:p>
          <a:p xmlns:a="http://schemas.openxmlformats.org/drawingml/2006/main">
            <a:pPr algn="l">
              <a:defRPr sz="2025" b="0">
                <a:solidFill>
                  <a:srgbClr val="352E29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52E29"/>
                </a:solidFill>
                <a:latin typeface="Consolas"/>
                <a:ea typeface="Consolas"/>
                <a:cs typeface="Consolas"/>
              </a:rPr>
              <a:t>N = S(B_nn,   R(B_nn))</a:t>
            </a:r>
          </a:p>
          <a:p xmlns:a="http://schemas.openxmlformats.org/drawingml/2006/main">
            <a:pPr algn="l">
              <a:defRPr sz="2025" b="0">
                <a:solidFill>
                  <a:srgbClr val="352E29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52E29"/>
                </a:solidFill>
                <a:latin typeface="Consolas"/>
                <a:ea typeface="Consolas"/>
                <a:cs typeface="Consolas"/>
              </a:rPr>
              <a:t>H = S(B_log,  R(B_log))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352E29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52E29"/>
                </a:solidFill>
                <a:latin typeface="Consolas"/>
                <a:ea typeface="Consolas"/>
                <a:cs typeface="Consolas"/>
              </a:rPr>
              <a:t>prediction = median(N, H, U)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6BA925A-0192-4572-B223-4CCFB533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R 代表成交參考與時間趨勢，S 代表固定空間修正</a:t>
            </a:r>
          </a:p>
        </p:txBody>
      </p:sp>
    </p:spTree>
    <p:extLst>
      <p:ext uri="{BB962C8B-B14F-4D97-AF65-F5344CB8AC3E}">
        <p14:creationId xmlns:p14="http://schemas.microsoft.com/office/powerpoint/2010/main" val="63343781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0BF0E9-6DC6-4B6E-8114-9F8D445C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附錄：參數與程式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7949970-E9DF-4F70-B38D-5021E846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743075"/>
          <a:ext xmlns:a="http://schemas.openxmlformats.org/drawingml/2006/main" cx="1083945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14650"/>
                <a:gridCol w="7924800"/>
              </a:tblGrid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保存設定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 CatBoost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MAE，2,999 棵樹，深度 8，學習率 0.065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單價目標與權重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目標 y / (A × 10,000)，權重 A / 100 × 日期權重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有效面積 A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正且有限：先建物面積，再車位面積，否則 1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v22 推論入口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deliverables/v22_github/src/predict_v22.py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主要訓練來源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src/round79_recency_unit.py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C85AF5CB-1D27-402E-B45B-699EE0BE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精確環境、依賴與完整指令見隨附報告及 GitHub 重現文件</a:t>
            </a:r>
          </a:p>
        </p:txBody>
      </p:sp>
    </p:spTree>
    <p:extLst>
      <p:ext uri="{BB962C8B-B14F-4D97-AF65-F5344CB8AC3E}">
        <p14:creationId xmlns:p14="http://schemas.microsoft.com/office/powerpoint/2010/main" val="102363281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CDC6F8-922F-404C-88AD-623568FD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附錄：常見名詞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FC72127-7682-4272-A71D-AAD9635B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685925"/>
          <a:ext xmlns:a="http://schemas.openxmlformats.org/drawingml/2006/main" cx="108394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67025"/>
                <a:gridCol w="7972425"/>
              </a:tblGrid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名詞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白話意思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特徵與標籤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特徵是已知房屋條件，標籤是學習時的成交價答案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訓練與推論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訓練找規律，推論用保存的規律估計新交易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過擬合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過度貼近看過的資料，遇到新資料誤差可能變大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權重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某筆資料的誤差，在學習目標中占多少比重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先驗與 OOF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先建立參考價，並用其他組資料建立訓練特徵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集成與中位數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集成結合多個估計，中位數是排序後的中間值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7771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2026-10-01T02:11:59.4550000Z</dcterms:created>
  <dcterms:modified xsi:type="dcterms:W3CDTF">2026-10-01T02:11:59.4550000Z</dcterms:modified>
</coreProperties>
</file>