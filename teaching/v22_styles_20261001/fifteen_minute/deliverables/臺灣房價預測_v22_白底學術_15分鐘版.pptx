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ff77f825d34452" /><Relationship Type="http://schemas.openxmlformats.org/officeDocument/2006/relationships/extended-properties" Target="/docProps/app.xml" Id="R59a5f28cc88345ca" /><Relationship Type="http://schemas.openxmlformats.org/officeDocument/2006/relationships/officeDocument" Target="/ppt/presentation.xml" Id="Rca3de4f200874e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ed41ce21304bae"/>
  </p:sldMasterIdLst>
  <p:notesMasterIdLst>
    <p:notesMasterId xmlns:r="http://schemas.openxmlformats.org/officeDocument/2006/relationships" r:id="R90acd277fa57400d"/>
  </p:notesMasterIdLst>
  <p:sldIdLst>
    <p:sldId xmlns:r="http://schemas.openxmlformats.org/officeDocument/2006/relationships" id="256" r:id="R7a5fb0d5ae394f2d"/>
    <p:sldId xmlns:r="http://schemas.openxmlformats.org/officeDocument/2006/relationships" id="257" r:id="R9085e81d30b04e8a"/>
    <p:sldId xmlns:r="http://schemas.openxmlformats.org/officeDocument/2006/relationships" id="258" r:id="Reaa7c6e69a014c2a"/>
    <p:sldId xmlns:r="http://schemas.openxmlformats.org/officeDocument/2006/relationships" id="259" r:id="R911b0621c6dc40a4"/>
    <p:sldId xmlns:r="http://schemas.openxmlformats.org/officeDocument/2006/relationships" id="260" r:id="R2603dae3a8de4fca"/>
    <p:sldId xmlns:r="http://schemas.openxmlformats.org/officeDocument/2006/relationships" id="261" r:id="Rc0bc120e176749e2"/>
    <p:sldId xmlns:r="http://schemas.openxmlformats.org/officeDocument/2006/relationships" id="262" r:id="R1ace05f8400f4c84"/>
    <p:sldId xmlns:r="http://schemas.openxmlformats.org/officeDocument/2006/relationships" id="263" r:id="R7a5176b3706f4352"/>
    <p:sldId xmlns:r="http://schemas.openxmlformats.org/officeDocument/2006/relationships" id="264" r:id="R3769ad332e974fd2"/>
    <p:sldId xmlns:r="http://schemas.openxmlformats.org/officeDocument/2006/relationships" id="265" r:id="Rc17a7805f0a94fe7"/>
    <p:sldId xmlns:r="http://schemas.openxmlformats.org/officeDocument/2006/relationships" id="266" r:id="Ra3f04b024e9c47b1"/>
    <p:sldId xmlns:r="http://schemas.openxmlformats.org/officeDocument/2006/relationships" id="267" r:id="R24f524d677b04420"/>
    <p:sldId xmlns:r="http://schemas.openxmlformats.org/officeDocument/2006/relationships" id="268" r:id="R346cc91505c848f3"/>
    <p:sldId xmlns:r="http://schemas.openxmlformats.org/officeDocument/2006/relationships" id="269" r:id="R3015adc0c1a849f5"/>
    <p:sldId xmlns:r="http://schemas.openxmlformats.org/officeDocument/2006/relationships" id="270" r:id="R6ec154796c854786"/>
    <p:sldId xmlns:r="http://schemas.openxmlformats.org/officeDocument/2006/relationships" id="271" r:id="Rbdfaf07b7d9d4183"/>
    <p:sldId xmlns:r="http://schemas.openxmlformats.org/officeDocument/2006/relationships" id="272" r:id="Re080418b441f40cf"/>
    <p:sldId xmlns:r="http://schemas.openxmlformats.org/officeDocument/2006/relationships" id="273" r:id="Rdc5141de7d244013"/>
    <p:sldId xmlns:r="http://schemas.openxmlformats.org/officeDocument/2006/relationships" id="274" r:id="R3b40e5abf0104100"/>
    <p:sldId xmlns:r="http://schemas.openxmlformats.org/officeDocument/2006/relationships" id="275" r:id="R0926ea46cea54939"/>
    <p:sldId xmlns:r="http://schemas.openxmlformats.org/officeDocument/2006/relationships" id="276" r:id="R863b0c26e36f4992"/>
    <p:sldId xmlns:r="http://schemas.openxmlformats.org/officeDocument/2006/relationships" id="277" r:id="Ra59bfa6e9a0848e3"/>
    <p:sldId xmlns:r="http://schemas.openxmlformats.org/officeDocument/2006/relationships" id="278" r:id="R196c9edf1e2147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4e5bc7f4ef4461" /><Relationship Type="http://schemas.openxmlformats.org/officeDocument/2006/relationships/slideMaster" Target="/ppt/slideMasters/slideMaster1.xml" Id="R9fed41ce21304bae" /><Relationship Type="http://schemas.openxmlformats.org/officeDocument/2006/relationships/notesMaster" Target="/ppt/notesMasters/notesMaster1.xml" Id="R90acd277fa57400d" /><Relationship Type="http://schemas.openxmlformats.org/officeDocument/2006/relationships/presProps" Target="/ppt/presProps.xml" Id="Rdce4bf83b77b49e5" /><Relationship Type="http://schemas.openxmlformats.org/officeDocument/2006/relationships/tableStyles" Target="/ppt/tableStyles.xml" Id="R6bac02acdde447c9" /><Relationship Type="http://schemas.openxmlformats.org/officeDocument/2006/relationships/slide" Target="/ppt/slides/slide1.xml" Id="R7a5fb0d5ae394f2d" /><Relationship Type="http://schemas.openxmlformats.org/officeDocument/2006/relationships/slide" Target="/ppt/slides/slide2.xml" Id="R9085e81d30b04e8a" /><Relationship Type="http://schemas.openxmlformats.org/officeDocument/2006/relationships/slide" Target="/ppt/slides/slide3.xml" Id="Reaa7c6e69a014c2a" /><Relationship Type="http://schemas.openxmlformats.org/officeDocument/2006/relationships/slide" Target="/ppt/slides/slide4.xml" Id="R911b0621c6dc40a4" /><Relationship Type="http://schemas.openxmlformats.org/officeDocument/2006/relationships/slide" Target="/ppt/slides/slide5.xml" Id="R2603dae3a8de4fca" /><Relationship Type="http://schemas.openxmlformats.org/officeDocument/2006/relationships/slide" Target="/ppt/slides/slide6.xml" Id="Rc0bc120e176749e2" /><Relationship Type="http://schemas.openxmlformats.org/officeDocument/2006/relationships/slide" Target="/ppt/slides/slide7.xml" Id="R1ace05f8400f4c84" /><Relationship Type="http://schemas.openxmlformats.org/officeDocument/2006/relationships/slide" Target="/ppt/slides/slide8.xml" Id="R7a5176b3706f4352" /><Relationship Type="http://schemas.openxmlformats.org/officeDocument/2006/relationships/slide" Target="/ppt/slides/slide9.xml" Id="R3769ad332e974fd2" /><Relationship Type="http://schemas.openxmlformats.org/officeDocument/2006/relationships/slide" Target="/ppt/slides/slide10.xml" Id="Rc17a7805f0a94fe7" /><Relationship Type="http://schemas.openxmlformats.org/officeDocument/2006/relationships/slide" Target="/ppt/slides/slide11.xml" Id="Ra3f04b024e9c47b1" /><Relationship Type="http://schemas.openxmlformats.org/officeDocument/2006/relationships/slide" Target="/ppt/slides/slide12.xml" Id="R24f524d677b04420" /><Relationship Type="http://schemas.openxmlformats.org/officeDocument/2006/relationships/slide" Target="/ppt/slides/slide13.xml" Id="R346cc91505c848f3" /><Relationship Type="http://schemas.openxmlformats.org/officeDocument/2006/relationships/slide" Target="/ppt/slides/slide14.xml" Id="R3015adc0c1a849f5" /><Relationship Type="http://schemas.openxmlformats.org/officeDocument/2006/relationships/slide" Target="/ppt/slides/slide15.xml" Id="R6ec154796c854786" /><Relationship Type="http://schemas.openxmlformats.org/officeDocument/2006/relationships/slide" Target="/ppt/slides/slide16.xml" Id="Rbdfaf07b7d9d4183" /><Relationship Type="http://schemas.openxmlformats.org/officeDocument/2006/relationships/slide" Target="/ppt/slides/slide17.xml" Id="Re080418b441f40cf" /><Relationship Type="http://schemas.openxmlformats.org/officeDocument/2006/relationships/slide" Target="/ppt/slides/slide18.xml" Id="Rdc5141de7d244013" /><Relationship Type="http://schemas.openxmlformats.org/officeDocument/2006/relationships/slide" Target="/ppt/slides/slide19.xml" Id="R3b40e5abf0104100" /><Relationship Type="http://schemas.openxmlformats.org/officeDocument/2006/relationships/slide" Target="/ppt/slides/slide20.xml" Id="R0926ea46cea54939" /><Relationship Type="http://schemas.openxmlformats.org/officeDocument/2006/relationships/slide" Target="/ppt/slides/slide21.xml" Id="R863b0c26e36f4992" /><Relationship Type="http://schemas.openxmlformats.org/officeDocument/2006/relationships/slide" Target="/ppt/slides/slide22.xml" Id="Ra59bfa6e9a0848e3" /><Relationship Type="http://schemas.openxmlformats.org/officeDocument/2006/relationships/slide" Target="/ppt/slides/slide23.xml" Id="R196c9edf1e2147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cbff77a25e47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cb4cf21ec04a5c" /><Relationship Type="http://schemas.openxmlformats.org/officeDocument/2006/relationships/notesMaster" Target="/ppt/notesMasters/notesMaster1.xml" Id="Rdfa34258c69140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79d8997ee04cb5" /><Relationship Type="http://schemas.openxmlformats.org/officeDocument/2006/relationships/notesMaster" Target="/ppt/notesMasters/notesMaster1.xml" Id="Ra5d8ef356b7443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d02d62358c4545" /><Relationship Type="http://schemas.openxmlformats.org/officeDocument/2006/relationships/notesMaster" Target="/ppt/notesMasters/notesMaster1.xml" Id="R51ba1676cf8044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b87756924e4153" /><Relationship Type="http://schemas.openxmlformats.org/officeDocument/2006/relationships/notesMaster" Target="/ppt/notesMasters/notesMaster1.xml" Id="R28e4a45aa26449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561ec35c5d4496" /><Relationship Type="http://schemas.openxmlformats.org/officeDocument/2006/relationships/notesMaster" Target="/ppt/notesMasters/notesMaster1.xml" Id="R34d0863990574f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9a5b7b0e7f49db" /><Relationship Type="http://schemas.openxmlformats.org/officeDocument/2006/relationships/notesMaster" Target="/ppt/notesMasters/notesMaster1.xml" Id="R9e6ab683e17140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a58976938f4a97" /><Relationship Type="http://schemas.openxmlformats.org/officeDocument/2006/relationships/notesMaster" Target="/ppt/notesMasters/notesMaster1.xml" Id="R0ef261094d444b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a21ad5a5b34be5" /><Relationship Type="http://schemas.openxmlformats.org/officeDocument/2006/relationships/notesMaster" Target="/ppt/notesMasters/notesMaster1.xml" Id="R45f6cfcdf1264a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eada9143194f10" /><Relationship Type="http://schemas.openxmlformats.org/officeDocument/2006/relationships/notesMaster" Target="/ppt/notesMasters/notesMaster1.xml" Id="R0fbd056bdbb744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7c2417d6b84435" /><Relationship Type="http://schemas.openxmlformats.org/officeDocument/2006/relationships/notesMaster" Target="/ppt/notesMasters/notesMaster1.xml" Id="R7c79a7550a5a4d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5086969bea4716" /><Relationship Type="http://schemas.openxmlformats.org/officeDocument/2006/relationships/notesMaster" Target="/ppt/notesMasters/notesMaster1.xml" Id="Reab50b86205446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be6b1801b84970" /><Relationship Type="http://schemas.openxmlformats.org/officeDocument/2006/relationships/notesMaster" Target="/ppt/notesMasters/notesMaster1.xml" Id="Rfa70941da3404a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133206e1ad4db5" /><Relationship Type="http://schemas.openxmlformats.org/officeDocument/2006/relationships/notesMaster" Target="/ppt/notesMasters/notesMaster1.xml" Id="Rf635a47dba954e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8eb364fbe0438a" /><Relationship Type="http://schemas.openxmlformats.org/officeDocument/2006/relationships/notesMaster" Target="/ppt/notesMasters/notesMaster1.xml" Id="R1378427a75a444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c9f21d22d74a52" /><Relationship Type="http://schemas.openxmlformats.org/officeDocument/2006/relationships/notesMaster" Target="/ppt/notesMasters/notesMaster1.xml" Id="R515287c3fdbb48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e3cad99aac45d4" /><Relationship Type="http://schemas.openxmlformats.org/officeDocument/2006/relationships/notesMaster" Target="/ppt/notesMasters/notesMaster1.xml" Id="R390a7d20f65e44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632567e7df4fbc" /><Relationship Type="http://schemas.openxmlformats.org/officeDocument/2006/relationships/notesMaster" Target="/ppt/notesMasters/notesMaster1.xml" Id="R4b0d4c3f0f0147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92785633cc4d46" /><Relationship Type="http://schemas.openxmlformats.org/officeDocument/2006/relationships/notesMaster" Target="/ppt/notesMasters/notesMaster1.xml" Id="R059e003388bb48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edf9f75f78d48d1" /><Relationship Type="http://schemas.openxmlformats.org/officeDocument/2006/relationships/notesMaster" Target="/ppt/notesMasters/notesMaster1.xml" Id="R4c3b82706b5046b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c02f67b8754499a" /><Relationship Type="http://schemas.openxmlformats.org/officeDocument/2006/relationships/notesMaster" Target="/ppt/notesMasters/notesMaster1.xml" Id="Rb5aacab9a20346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076bfb696ab4b3f" /><Relationship Type="http://schemas.openxmlformats.org/officeDocument/2006/relationships/notesMaster" Target="/ppt/notesMasters/notesMaster1.xml" Id="Ra6c84c16f37c4f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25ac0d1cc843bb" /><Relationship Type="http://schemas.openxmlformats.org/officeDocument/2006/relationships/notesMaster" Target="/ppt/notesMasters/notesMaster1.xml" Id="Rd31cf92cc6db42a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a6eed7f074945c1" /><Relationship Type="http://schemas.openxmlformats.org/officeDocument/2006/relationships/notesMaster" Target="/ppt/notesMasters/notesMaster1.xml" Id="R1f065505bd5049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大家好，今天介紹臺灣房屋總價預測。想像我們拿到一筆交易，知道面積、地點和成交日期，卻不知道總價。能不能從以前的成交資料，估出它大概多少錢？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今天只介紹已選定提交的模型，檔案裡叫版本二十二，不需要先學過機器學習。我會從電腦怎麼學估價開始，說明資料整理、方法組合與結果檢查，交代每步理由，以及證據還有哪些限制。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我們重點是了解一筆預測怎麼產生，不需要先記住工具名稱或公式。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金額是連續數值，預測這類數值叫回歸。機器學習可以想成：讓電腦從很多題目和答案中找估價規則。面積、樓層、地點是題目線索，叫特徵。已知成交總價是答案，叫標籤。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模型先估價格，比較和答案差多少，再調整規則。反覆練習後，把學好的規則保存起來。遇到沒有答案的新交易，就只看條件來估價。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學規則叫訓練，套用規則叫推論。採用這種方法，是因為地點、面積、建物型態會一起影響價格，很難用一條人工公式處理。但練習得好不夠，還要用沒參與學習的交易檢查。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例如同樣一百平方公尺，地點不同，總價也可能差很多，模型要把這些條件一起看。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怎麼知道估得好不好？比賽看平均絕對誤差，英文叫ＭＡＥ。我們算一個教學例子：兩間房的真價都是一千萬元，第一間估一千一百萬，多估一百萬。第二間估九百五十萬，少估五十萬。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只看差距大小，把一百萬和五十萬加起來，除以兩筆，得到七十五萬元。為什麼取絕對值？因為多估和少估都是誤差，不能互相抵銷。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分數越低，這批交易的平均金額差距越小。七十五萬元不是答對的百分比，也不是每筆都差七十五萬。後面讀分數，都要先看是哪一批交易，再看平均差多少錢。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四份資料各有用途。訓練檔約四十五萬六千列，有房屋條件和總價答案。驗證檔約一萬二千列，也有答案。這個提交模型是在最後完整訓練時，才把它加入。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測試檔共四萬七千零七十三筆，沒有總價，要全部估出來。提交範本規定欄位和編號順序，範例價格不能拿來學。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平台再把測試檔分成兩部分：約三成算公開分數，叫Public。其餘約七成算隱藏分數，叫Private。這個三比七分的是測試檔，不是有答案的驗證檔。分清用途，才能避免拿錯資料。隱藏部分的答案我們仍然不知道。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先看整條流程。第一步讀原始檔，確認欄位、筆數和順序。第二步處理格式問題和完全重複的內容。第三步，把日期、樓層和地址整理成模型能比較的線索。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接著用較早資料學習，再用後面一年的交易評分，檢查遇到之後的市場還行不行。確定方法後，才用最後可用的有答案資料建立模型，預測測試檔，檢查提交格式。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為什麼分這麼多關？因為跑得動不代表正確。例如順序錯開，就可能把這間房的條件配到另一間房的價格。因此資料順序、程式和保存模型，都要能追查。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後面看到每個方法時，都可以放回這張流程圖，分清它在準備資料、學習，還是在估價。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原始訓練檔混入三列英文表頭，不是交易，先移除。接著把編號放一旁，比較其他所有原始欄位，總價也一起比。內容完全相同才算重複，移除了五百二十九列。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為什麼不照編號刪？因為編號相同，不一定代表內容完全一樣。最後加入有答案的驗證檔時，再移除二十八列跨檔重複，留下四十六萬七千二百二十一筆有標籤資料，避免同一內容反覆影響模型。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測試檔一筆也不能少，每個編號都要預測。其他缺失和異常按固定規則處理，不能因為某筆價格難估就刪掉。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src/prepare_data.py</a:t>
            </a:r>
          </a:p>
          <a:p xmlns:a="http://schemas.openxmlformats.org/drawingml/2006/main">
            <a:r>
              <a:t>src/model_common.py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整理房屋線索叫特徵工程。例如把民國日期換成可計算時間，中文樓層分出地下室或整棟，地址拆成行政區和道路，讓交易能用一致方式比較。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欄位不是越多越好。編號只用來對齊，總價是答案，不能當線索。完整備註可能含價格，解約資訊可能在交易後才出現，因此不直接輸入。備註只保留有限的條件旗標。建築完成年月不可用，管理組織全相同，也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另外使用開放街圖道路位置，補充不含價格的地理資訊。單價CatBoost共有九十五欄，其中二十三欄是地區名稱這類分類文字。其他模型的編碼維度不同。道路位置只代表大致區域，不是精確門牌。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同一欄文字，經過不同編碼方式，可能變成不同數量的數字，所以不能把九十五欄當成所有模型共同規格。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src/house_features.py</a:t>
            </a:r>
          </a:p>
          <a:p xmlns:a="http://schemas.openxmlformats.org/drawingml/2006/main">
            <a:r>
              <a:t>src/round6_geo.py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模型如果只記住練習資料的偶然細節，換一批交易就失準，叫過擬合。房市會隨時間改變，因此每次只看評分期間以前的資料，再預測後面一年，共檢查三個年度。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這個時間界線不只管模型。文字編碼、價格先驗、成交參考和空間狀態，凡是要從資料建立的部分，都用當期訓練資料重建。否則後面的答案可能偷偷流入，叫資料洩漏。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三個年度能檢查跨期表現，但研究已反覆看過這些窗口，仍可能挑到剛好適合它們的配方。時間回測很重要，卻不能當成從沒看過的隱藏考卷。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src/round79_experiment.py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這次用了兩種模型。樹模型像一連串條件判斷，例如面積在哪個範圍、位在哪個地區。條件和門檻由資料學出來，再讓很多棵小樹接著修正誤差。兩套工具叫CatBoost和LightGBM。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另一種是神經網路。它把面積等數值、建案等分類資訊整理成數字，經過多層計算，學習條件一起出現時價格怎麼變。代表建案的數字也隨訓練調整，不是人工指定哪個建案高級。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兩種方式有機會互補，但模型多不一定更準。要看完整組合的回測，不能說每個零件都已單獨證明有效。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神經網路的多層計算不容易直接讀成幾條規則，因此更需要用保留資料檢查效果。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src/round47_nn_train.py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價格有三種學法：直接學總價。或總價除以有效面積，先學每平方公尺單價，估完再乘回面積。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價為什麼加面積權重？假設兩間房分別五十和一百平方公尺，單價都估錯一萬元，總價就錯五十萬和一百萬。如果把兩個單價誤差看得一樣重，就沒反映比賽關心的總價差距。因此面積越大，單價誤差在學習中的分量越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有效面積依固定規則選取：建物面積不可用時改用車位面積，再沒有才用一。第三種是對數，把大金額壓縮，提供另一個學習角度。訓練看的是對數尺度誤差。最後都要換回總價元，才能組合和評分。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src/round19_unit_geo.py</a:t>
            </a:r>
          </a:p>
          <a:p xmlns:a="http://schemas.openxmlformats.org/drawingml/2006/main">
            <a:r>
              <a:t>src/round12_log_geo.py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近期成交可能更接近目前市場，所以單價CatBoost讓近期資料對學習有較大影響，這個影響大小叫權重。它改變的是誤差有多重要，不是直接修改房價。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先看比例：最近成交算一，一年前零點五，兩年前零點二五。每過三百六十五天，較早交易的相對權重減半，叫半衰期。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程式再把合法日期的權重除以這些權重的平均值，統一尺度。無效日期給一，作中性值，最後乘上面積權重。其他分支有自己的設定，不能說全部模型都加同一套新權重。近期資料也有雜訊，效果仍要回測確認。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權重較小，不等於刪除舊交易。舊資料仍參與學習，只是單筆誤差的影響不同。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其中一個神經網路先拿區域參考單價，再學這間房應調高或調低多少。這個估價起點叫價格先驗，來自訓練資料。但如果用某筆答案算參考價，再拿來訓練同一筆，就可能偷看答案。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因此按建案分五組，同建案一定同組。輪到一組時，用另外四組建立它的訓練參考價，五組輪流做，避免自己的建案答案直接混入自己的先驗。這叫折外，縮寫ＯＯＦ。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真正預測新交易時，才使用該次全部訓練資料建立的保存先驗。這裡按建案分組，不是日期排序，不能說每筆參考價只來自更早成交，也不能說完全不會過擬合。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src/round63_recency_weighted_prior_train.py</a:t>
            </a:r>
          </a:p>
          <a:p xmlns:a="http://schemas.openxmlformats.org/drawingml/2006/main">
            <a:r>
              <a:t>deliverables/v22_github/src/nn_prepare.py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總共有六個模型：三個CatBoost學單價、總價和對數總價。一個LightGBM學單價。兩個神經網路，一個用面積把單價連到總價，另一個以價格先驗為起點。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六個模型先換回總價元，再組三條分支。第一條以單價CatBoost為主。第二條先平均兩個神經網路。第三條先平均直接總價和對數總價兩個樹模型。每條再加入同一個LightGBM：主要部分占七成五，它占兩成五。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例如單價CatBoost換回總價估一千萬，LightGBM估一千兩百萬，加權後是一千零五十萬，這還只是初估。這樣安排希望保留不同估價方式的差異，比例是固定配方，沒有證明最佳。各支改善也不能直接相加。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三條分支都共用同一個LightGBM，因此它們也不是三個完全獨立的估價者。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三條分支各自做兩步修正，補充模型整體關係沒掌握的建案或街區差異。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第一步，找訓練資料裡同建案、同地址或同道路的可比成交，配合訓練資料估出的時間趨勢，調整初估。第二步，成交參考較弱時，用粗略道路位置附近的歷史資訊補充，並檢查城市、建物型態和用途是否相容。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叫空間修正，同時讀原本初估和第一步的修正結果，依支持條件決定採用多少，資訊不足就回退。這些價格只來自當期訓練資料，沒有去外部實價登錄找測試答案。道路位置也不等於門牌。三支各自完成後，仍有三個總價，下一步才合成一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這不是找到附近一筆就照抄。成交是否可比，比距離近不近還重要。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src/round2_neighborhood.py</a:t>
            </a:r>
          </a:p>
          <a:p xmlns:a="http://schemas.openxmlformats.org/drawingml/2006/main">
            <a:r>
              <a:t>src/round8_spatial_reference.py</a:t>
            </a:r>
          </a:p>
          <a:p xmlns:a="http://schemas.openxmlformats.org/drawingml/2006/main">
            <a:r>
              <a:t>deliverables/v22_github/src/tree_runtime.py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把三個總價由小到大排好，取中間那個，叫中位數。教學例子中，三支修正後估九百八十萬、一千零二十萬和一千八百萬元，中間是一千零二十萬，就採用它。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如果一條估得特別高，平均會被往上拉。中位數能減少單一極端估價的影響。但假如那個高估價剛好正確，中位數也可能捨掉有用資訊。如果三條一起低估，取中間不會自動變準。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所以它沒有每次更好的保證。順序是先換回總價，各支完成成交與空間修正，最後取中位數。這時已經是總價，不能再乘一次面積。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三期實際結果：最早一期預測二〇二一年八月到二〇二二年八月，平均絕對誤差約兩百三十點九四萬元。中間一期約一百四十點七四萬元。最新一期約一百三十八點三二萬元。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每期都只用當時以前資料建立完整方法，到評分時才比較後面一年的答案。數字下降，不能說模型逐年進步，因為各期交易、房屋組成和市場狀況不同。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這張表說明同一方法在三批歷史資料的表現，最低數字不能保證未來。我們也按季度、建案和價格群檢查，整體變好時某一群仍可能變差，不利結果同樣要留下。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平台公開成績的精確數字在畫面上，口頭說就是平均誤差接近兩百萬元。它表示公開評分那批交易，每筆預測總價和真價的絕對差，平均接近兩百萬，不表示每間房都差在兩百萬以內。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這是提交後的平台回報，已保存截圖。公開部分只約占測試資料三成，其餘約七成的Private仍未知。兩邊評分的交易不同，也不能拿它和上一頁某年度直接相比，說進步或退步。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目前這是已觀察成果。選定這個模型，不代表證明它在隱藏資料最好。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把限制整理起來：歷史窗口反覆使用，配方可能越來越適合那幾份考卷。整體平均又會藏住局部退步，例如某些高價交易群。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地理資訊也有限制，道路代表點不等於門牌，地址不一定匹配成功。各年度雖有對應的非價格道路快照，仍不是精確定位或完整生活機能。多分支也可能一起估錯。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減少風險的做法，是事前固定問題和時間切分，所有要學的規則只看當期訓練資料，同時檢查整體及分群，保留失敗方案。公開分數可以參考，不能追著它反覆改比例。這些做法能減少過擬合，不能完全消除。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  <a:p xmlns:a="http://schemas.openxmlformats.org/drawingml/2006/main">
            <a:r>
              <a:t>reports/round83_delivery.md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最後用四十六萬七千二百二十一筆有答案資料建立模型和保存規則，再預測全部四萬七千零七十三筆測試交易。提交檔只有編號和總價元，照範本順序，最後才一次取整成正整數。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統一推論入口從原始測試表重做特徵，載入六模型及保存的編碼、價格參考和地理狀態，算出三分支與最終結果。我們已實際重跑，全部預測及整份提交檔都與原件相同，證明保存模型能重新推論。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但這沒有從頭重訓全部模型，也沒驗證全新電腦的安裝流程。程式包附必要檔案清單，模型和交易資料仍要另外具備。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deliverables/v22_github/src/submission_io.py</a:t>
            </a:r>
          </a:p>
          <a:p xmlns:a="http://schemas.openxmlformats.org/drawingml/2006/main">
            <a:r>
              <a:t>deliverables/v22_github/evidence/reproduction/integration_verified.json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回到最初問題，只有房屋條件怎麼估總價？先清理資料，把條件整理成線索，再從已知成交學規則。不同模型學總價、單價和對數，單價的面積權重對齊總價誤差，特定模型的日期權重提高近期成交影響。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六模型組三分支，每支先成交、再空間修正，最後取中位數。用三期時間回測及平台公開分數檢查，也完成保存模型的推論重現。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每步都有理由，也有證據限制。目前公開平均誤差接近兩百萬元，Private仍未知。以上是完整流程，謝謝大家。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供問答核對。每個模型符號都代表已經換回元的預測。神經網路分支先平均兩個網路，對數分支先平均直接總價與對數總價模型，再各占四分之三，加入四分之一的共同單價LightGBM。各條分支先經成交參考，再依原基準與參考結果做空間修正，最後逐筆取中位數。完整係數和面積、日期公式列在報告與程式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單價 CatBoost的主要設定包括兩千九百九十九次迭代、深度八，以及學習率零點零六五。兩個神經網路使用相同的多層架構，但輸入編碼與學習目標不同。參數代表學習如何進行，不是準確率保證。若要實際重現，請依操作文件準備原始測試檔和保存狀態，並使用受測環境。單價訓練、先驗建立與最終推論各有對應程式，路徑可在報告查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src/round79_recency_unit.py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遇到名詞，可以先問它在流程中做什麼。特徵是房屋條件，標籤是已知價格。訓練或擬合，是利用有答案的資料調整模型。推論是把保存規則套用到待預測資料。編碼把文字或數值整理成模型輸入，價格先驗提供參考基準。泛化表示模型能處理沒練習過的交易，過擬合則是太貼合練習資料的細節。折外處理用其他組建立參考，中位數則是把數字排序後取中間那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a66f68ab94f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e715d4b4af4322" /><Relationship Type="http://schemas.openxmlformats.org/officeDocument/2006/relationships/slideLayout" Target="/ppt/slideLayouts/slideLayout1.xml" Id="Rae2169e59d7143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2169e59d7143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2d508c2014358" /><Relationship Type="http://schemas.openxmlformats.org/officeDocument/2006/relationships/notesSlide" Target="/ppt/notesSlides/notesSlide1.xml" Id="Rcd8cd64214094f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c1de260b740f2" /><Relationship Type="http://schemas.openxmlformats.org/officeDocument/2006/relationships/notesSlide" Target="/ppt/notesSlides/notesSlide2.xml" Id="Ref7cd6f71bd946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56fc49a8a4190" /><Relationship Type="http://schemas.openxmlformats.org/officeDocument/2006/relationships/notesSlide" Target="/ppt/notesSlides/notesSlide3.xml" Id="R99c5648943234a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68a8e1a69475e" /><Relationship Type="http://schemas.openxmlformats.org/officeDocument/2006/relationships/notesSlide" Target="/ppt/notesSlides/notesSlide4.xml" Id="Rac43ab9321854c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1584221d440cb" /><Relationship Type="http://schemas.openxmlformats.org/officeDocument/2006/relationships/notesSlide" Target="/ppt/notesSlides/notesSlide5.xml" Id="R872ab9b623af41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8429adb8e443e" /><Relationship Type="http://schemas.openxmlformats.org/officeDocument/2006/relationships/notesSlide" Target="/ppt/notesSlides/notesSlide6.xml" Id="R68d9dad2f2a849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8a52f1a714fea" /><Relationship Type="http://schemas.openxmlformats.org/officeDocument/2006/relationships/notesSlide" Target="/ppt/notesSlides/notesSlide7.xml" Id="R2275413540de43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d119462cb4297" /><Relationship Type="http://schemas.openxmlformats.org/officeDocument/2006/relationships/notesSlide" Target="/ppt/notesSlides/notesSlide8.xml" Id="Rc232a287ca0a4a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a75eec67a4ea0" /><Relationship Type="http://schemas.openxmlformats.org/officeDocument/2006/relationships/notesSlide" Target="/ppt/notesSlides/notesSlide9.xml" Id="R374da21ef0b04e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9bc9b506149a4" /><Relationship Type="http://schemas.openxmlformats.org/officeDocument/2006/relationships/notesSlide" Target="/ppt/notesSlides/notesSlide10.xml" Id="R9eadff16b09a41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b5a393fe9455f" /><Relationship Type="http://schemas.openxmlformats.org/officeDocument/2006/relationships/chart" Target="/ppt/slides/charts/chart1.xml" Id="R3ac82470446a4c8b" /><Relationship Type="http://schemas.openxmlformats.org/officeDocument/2006/relationships/notesSlide" Target="/ppt/notesSlides/notesSlide11.xml" Id="R104b4a615e3d40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270af84584c55" /><Relationship Type="http://schemas.openxmlformats.org/officeDocument/2006/relationships/notesSlide" Target="/ppt/notesSlides/notesSlide12.xml" Id="Re0326633e13c45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cda96367b470b" /><Relationship Type="http://schemas.openxmlformats.org/officeDocument/2006/relationships/notesSlide" Target="/ppt/notesSlides/notesSlide13.xml" Id="R2a4c6301db5a48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b92f70ce546fe" /><Relationship Type="http://schemas.openxmlformats.org/officeDocument/2006/relationships/notesSlide" Target="/ppt/notesSlides/notesSlide14.xml" Id="R7fb186e119a041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85bb002b048be" /><Relationship Type="http://schemas.openxmlformats.org/officeDocument/2006/relationships/chart" Target="/ppt/slides/charts/chart2.xml" Id="Ra077008e931e41a1" /><Relationship Type="http://schemas.openxmlformats.org/officeDocument/2006/relationships/notesSlide" Target="/ppt/notesSlides/notesSlide15.xml" Id="Raa2ec98cae8741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a2238f701448f" /><Relationship Type="http://schemas.openxmlformats.org/officeDocument/2006/relationships/chart" Target="/ppt/slides/charts/chart3.xml" Id="R971d483596984f9e" /><Relationship Type="http://schemas.openxmlformats.org/officeDocument/2006/relationships/notesSlide" Target="/ppt/notesSlides/notesSlide16.xml" Id="R37e881c5a1bd45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1d518aa814b23" /><Relationship Type="http://schemas.openxmlformats.org/officeDocument/2006/relationships/notesSlide" Target="/ppt/notesSlides/notesSlide17.xml" Id="R121cddb542e24a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06b79f72d45b0" /><Relationship Type="http://schemas.openxmlformats.org/officeDocument/2006/relationships/notesSlide" Target="/ppt/notesSlides/notesSlide18.xml" Id="Rcb86394e5f654a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01e4832e5438e" /><Relationship Type="http://schemas.openxmlformats.org/officeDocument/2006/relationships/notesSlide" Target="/ppt/notesSlides/notesSlide19.xml" Id="R07074cd3fc984f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3cca5a2694ec0" /><Relationship Type="http://schemas.openxmlformats.org/officeDocument/2006/relationships/notesSlide" Target="/ppt/notesSlides/notesSlide20.xml" Id="R2fcdb01faf4a4c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fecca4ebd4175" /><Relationship Type="http://schemas.openxmlformats.org/officeDocument/2006/relationships/notesSlide" Target="/ppt/notesSlides/notesSlide21.xml" Id="Rfd74e9df1b70456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4dafa86f54d14" /><Relationship Type="http://schemas.openxmlformats.org/officeDocument/2006/relationships/notesSlide" Target="/ppt/notesSlides/notesSlide22.xml" Id="R16ca6b7f9ff74bd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d43bcdfc54b58" /><Relationship Type="http://schemas.openxmlformats.org/officeDocument/2006/relationships/notesSlide" Target="/ppt/notesSlides/notesSlide23.xml" Id="R353281983cd243f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259CB"/>
            </a:solidFill>
          </c:spPr>
          <c:cat>
            <c:strRef>
              <c:f>'Chart Data'!$A$2:$A$4</c:f>
              <c:strCache>
                <c:ptCount val="3"/>
                <c:pt idx="0">
                  <c:v>最新日期</c:v>
                </c:pt>
                <c:pt idx="1">
                  <c:v>早一年</c:v>
                </c:pt>
                <c:pt idx="2">
                  <c:v>早兩年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227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9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0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259CB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AD4B2E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分支 A</c:v>
                </c:pt>
                <c:pt idx="1">
                  <c:v>分支 B</c:v>
                </c:pt>
                <c:pt idx="2">
                  <c:v>分支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980</c:v>
                </c:pt>
                <c:pt idx="1">
                  <c:v>1020</c:v>
                </c:pt>
                <c:pt idx="2">
                  <c:v>1800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227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9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0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259CB"/>
            </a:solidFill>
          </c:spPr>
          <c:cat>
            <c:strRef>
              <c:f>'Chart Data'!$A$2:$A$4</c:f>
              <c:strCache>
                <c:ptCount val="3"/>
                <c:pt idx="0">
                  <c:v>2021–2022</c:v>
                </c:pt>
                <c:pt idx="1">
                  <c:v>2022–2023</c:v>
                </c:pt>
                <c:pt idx="2">
                  <c:v>2023–2024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230.94</c:v>
                </c:pt>
                <c:pt idx="1">
                  <c:v>140.74</c:v>
                </c:pt>
                <c:pt idx="2">
                  <c:v>138.32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227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9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0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97C00B-DD6F-486D-8741-6F9807C5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5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臺灣房屋總價預測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65B6F6-60CD-4A92-8029-24C3F650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資料處理與回歸模型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A1B44AD-4C53-4545-B920-A97368AA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利用歷史成交資料，估計未知交易的總價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3C0F1F1-15B6-43FD-B4C1-3583ABEE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完整流程  /  設計理由  /  結果與限制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FDE1D95-E52C-43FC-92A8-0F1A80C1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v22 專題報告</a:t>
            </a:r>
          </a:p>
        </p:txBody>
      </p:sp>
    </p:spTree>
    <p:extLst>
      <p:ext uri="{BB962C8B-B14F-4D97-AF65-F5344CB8AC3E}">
        <p14:creationId xmlns:p14="http://schemas.microsoft.com/office/powerpoint/2010/main" val="2063148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779CFF-DC2D-42F6-A105-2ACAC596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回歸與模型學習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1A7E5F-E588-4708-8C43-E7543F25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87C568B-A52E-45D1-9167-69D36521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房屋條件（特徵）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4ABC57B-4A9D-4373-A68E-4E6D9DF4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475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成交總價（標籤）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2E03DCD-DC9F-4409-9466-A3348B89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219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地點、面積、樓層、交易日期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D1AEABF-24D2-4408-A8EE-6BE4FC54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訓練時用來比較的答案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D84FA58-5EF9-4789-9551-C4A9D6E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訓練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EE5BAFA-0A45-4244-90ED-6B800FA0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76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先估價，再與已知總價比較，調整模型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33BABF6-D582-43B0-B440-BC789C5B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推論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BD0A4324-97C8-4C2C-B8B0-C7A07489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530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只提供房屋條件，用保存模型估計未知價格</a:t>
            </a:r>
          </a:p>
        </p:txBody>
      </p:sp>
    </p:spTree>
    <p:extLst>
      <p:ext uri="{BB962C8B-B14F-4D97-AF65-F5344CB8AC3E}">
        <p14:creationId xmlns:p14="http://schemas.microsoft.com/office/powerpoint/2010/main" val="2056873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BBF8AB-E699-4583-BB0C-9DCAFF6C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平均絕對誤差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4C43B0-599C-40D4-92E2-C1AE2832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574232B-A648-4290-9141-2EF5A3A8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71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MAE = 每筆「差多少錢」的平均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66975"/>
          <a:ext xmlns:a="http://schemas.openxmlformats.org/drawingml/2006/main" cx="1083945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847975"/>
                <a:gridCol w="2847975"/>
                <a:gridCol w="2857500"/>
              </a:tblGrid>
              <a:tr h="8191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真實總價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預測總價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差額絕對值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8191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 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1,100 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B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 萬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950 萬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669390E-4FDF-4BEC-8238-4D5B229D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（100 萬 + 50 萬）÷ 2 = 75 萬元，越低越好</a:t>
            </a:r>
          </a:p>
        </p:txBody>
      </p:sp>
    </p:spTree>
    <p:extLst>
      <p:ext uri="{BB962C8B-B14F-4D97-AF65-F5344CB8AC3E}">
        <p14:creationId xmlns:p14="http://schemas.microsoft.com/office/powerpoint/2010/main" val="15851757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0B01E2-955B-4E3D-B4F9-C4C35852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四份資料的用途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61D7B7-4752-4B98-9CE9-B6999962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394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1952625"/>
                <a:gridCol w="2076450"/>
                <a:gridCol w="4762500"/>
              </a:tblGrid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原始列數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已知總價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實際用途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學習與歷史回測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11,994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最終全量訓練時併入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全部產生價格預測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sample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格式示例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提供欄名和編號順序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0F6640A-EF53-4383-A073-C0C10838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Kaggle 將 test 約分成 Public 30% 與 Private 70%</a:t>
            </a:r>
          </a:p>
        </p:txBody>
      </p:sp>
    </p:spTree>
    <p:extLst>
      <p:ext uri="{BB962C8B-B14F-4D97-AF65-F5344CB8AC3E}">
        <p14:creationId xmlns:p14="http://schemas.microsoft.com/office/powerpoint/2010/main" val="11148162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F41830-84BC-4452-8BFA-02E9EA6D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完整工作流程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BB70B7-879C-4E28-8DFA-670B7B7F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2BA0A0B-0CD5-4093-B781-5E8ACF69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9946CDD-B784-4792-88B7-CEB08597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6478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資料整理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92708B1-C69B-4294-97DC-1CF22820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67640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清理格式、去重、轉換特徵，先把資料對齊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DA654AA-6905-4CAD-9E9E-3DC6B6B6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832C366-52DB-44D2-AC09-BAFD837A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0985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模型學習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2C3FD6F-C672-4A92-8A8A-9B4746D4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3842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用較早交易學習房屋條件與價格的關係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CCE89D7-0CFC-4774-8748-2DFA34A5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C07CD8A-F811-4637-89F5-065BE1D6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7187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歷史回測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C0C5CD50-5FF9-4BF5-BBA2-95910DA2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0045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預測較晚交易，檢查面對新資料的誤差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ED4445C2-BED3-4E37-8F8E-F57C34BD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4920FF54-2527-426B-B569-887BEFFC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53390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最終交付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BB7E15C5-AD6B-48A8-B752-3E3F9FA0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6247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確認方法後全量訓練，再推論並核對CSV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2945BC8-46A6-4A56-8849-501C2558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每一步都保留程式與結果，讓資料、模型與提交能互相核對</a:t>
            </a:r>
          </a:p>
        </p:txBody>
      </p:sp>
    </p:spTree>
    <p:extLst>
      <p:ext uri="{BB962C8B-B14F-4D97-AF65-F5344CB8AC3E}">
        <p14:creationId xmlns:p14="http://schemas.microsoft.com/office/powerpoint/2010/main" val="260753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966873-598F-4230-8FD1-BED44995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資料清理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6DF568-9536-4827-AB3E-308D000E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70485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1809750"/>
              </a:tblGrid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整理動作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保留列數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 train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3 列英文表頭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455,784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529 列完全重複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455,255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 11,994 筆 valid，再去重 28 筆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467,221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9A07FE5-01D4-4C51-AFAF-46A1A41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295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467,221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3E39960-61A2-4729-A444-E466AA34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31718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最終有標籤交易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803DDA0-C596-4EED-8387-3838928A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276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去重比對整列</a:t>
            </a:r>
          </a:p>
          <a:p xmlns:a="http://schemas.openxmlformats.org/drawingml/2006/main">
            <a:pPr algn="l">
              <a:def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包含價格、排除編號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EE18722-9CC3-4C0E-8E4A-096E77D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修正格式與重複資訊，test 的 47,073 筆全數保留</a:t>
            </a:r>
          </a:p>
        </p:txBody>
      </p:sp>
    </p:spTree>
    <p:extLst>
      <p:ext uri="{BB962C8B-B14F-4D97-AF65-F5344CB8AC3E}">
        <p14:creationId xmlns:p14="http://schemas.microsoft.com/office/powerpoint/2010/main" val="531611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D70DC2-1E36-45A4-9ED6-27CB332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特徵工程與欄位取捨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FADEEF-614D-4FB9-AC38-8ADFB82B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3945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4314825"/>
                <a:gridCol w="3333750"/>
              </a:tblGrid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原始資料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交給模型的特徵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民國日期、中文樓層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交易時點、樓層數值與旗標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保留時間與樓層意義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土地、建物、車位面積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面積與比例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描述交易的規模與組成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地址、道路、建案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區域類別與粗略地理資訊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描述區位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編號、總價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編號對齊，總價作學習答案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不把這兩欄當輸入特徵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3896311-5329-4BA5-95F2-A703C2FD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單價 CatBoost 使用 95 欄，其中 23 欄是類別；其他模型另有編碼</a:t>
            </a:r>
          </a:p>
        </p:txBody>
      </p:sp>
    </p:spTree>
    <p:extLst>
      <p:ext uri="{BB962C8B-B14F-4D97-AF65-F5344CB8AC3E}">
        <p14:creationId xmlns:p14="http://schemas.microsoft.com/office/powerpoint/2010/main" val="6561316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26B300-70F2-40EF-A4AD-5D6AF2F4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時間回測與過擬合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47C02C-52EC-43B0-8141-D3421AE3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C48336C-73FD-4DDA-B671-B97AEC5E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先學過去，再預測後一年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609850"/>
          <a:ext xmlns:a="http://schemas.openxmlformats.org/drawingml/2006/main" cx="1083945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5219700"/>
              </a:tblGrid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回測窗口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學習：截至這天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評分：接下來一年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較早窗口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2021-08-11 至 2022-08-10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中間窗口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2022-08-10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2022-08-11 至 2023-08-10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較新窗口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2023-08-11 至 2024-08-10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F90F68D-FB26-44F7-B628-2037648C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每個窗口都只用當期學習資料，重建模型、編碼與價格參考</a:t>
            </a:r>
          </a:p>
        </p:txBody>
      </p:sp>
    </p:spTree>
    <p:extLst>
      <p:ext uri="{BB962C8B-B14F-4D97-AF65-F5344CB8AC3E}">
        <p14:creationId xmlns:p14="http://schemas.microsoft.com/office/powerpoint/2010/main" val="315830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5C9182-DC47-4532-A8D6-D91E45A3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樹模型與神經網路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03DE1D-311B-43C9-B165-B6138A42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1A7F3AE-DA14-43DA-B172-9F016E85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樹模型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2D31E15-B306-4610-A100-A2D5ED5E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002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依資料條件逐步分群，再估計價格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例如同區、面積、樓層共同影響估價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5F19878-6149-497F-9A31-EF5E172F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76550"/>
            <a:ext cx="7019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CatBoost 與 LightGBM 會讓多棵樹逐步修正誤差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56CEC8D-5298-4D35-A793-DF99B361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表格神經網路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78C539B-B51C-4646-917E-22FD56FD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386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把數值和類別轉成可學習的表示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再透過多層計算估計價格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EA63B23-1F3A-470B-AC50-731A64FB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使用多種模型的目的是嘗試不同估計方式，效果仍要靠回測</a:t>
            </a:r>
          </a:p>
        </p:txBody>
      </p:sp>
    </p:spTree>
    <p:extLst>
      <p:ext uri="{BB962C8B-B14F-4D97-AF65-F5344CB8AC3E}">
        <p14:creationId xmlns:p14="http://schemas.microsoft.com/office/powerpoint/2010/main" val="20273939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2ADB08-EE7B-4A75-8B26-3162578E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總價、單價與對數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C33131-DE79-4E3C-8A92-57AECC77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F3BECF0-5425-408E-8A03-30FE2B2C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總價 = 單價 × 面積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466975"/>
          <a:ext xmlns:a="http://schemas.openxmlformats.org/drawingml/2006/main" cx="108394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05225"/>
                <a:gridCol w="3705225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單價估錯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造成的總價誤差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平方公尺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平方公尺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萬元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3CAC6C7-7D39-4148-BEB3-502C90C0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面積權重讓單價模型更貼近「總共差多少錢」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1520395-DF6C-45F6-8D30-6B464DA1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另一種表示使用 log 壓縮價格尺度，最後都還原成總價元</a:t>
            </a:r>
          </a:p>
        </p:txBody>
      </p:sp>
    </p:spTree>
    <p:extLst>
      <p:ext uri="{BB962C8B-B14F-4D97-AF65-F5344CB8AC3E}">
        <p14:creationId xmlns:p14="http://schemas.microsoft.com/office/powerpoint/2010/main" val="7398214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5DF6FB-6298-4094-9B0B-5CF5C559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近期成交權重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31FBB7-F15B-4BA4-A4B6-17089337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2BDBB33-01B2-4B76-A30E-6BA7C61F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3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相對日期權重，未正規化的示意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152650"/>
          <a:ext xmlns:a="http://schemas.openxmlformats.org/drawingml/2006/main" cx="10668000" cy="2962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c82470446a4c8b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5B084E8-DFB6-4F85-AEEC-D7FF1C40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365 日半衰期：較近的成交在訓練中占較大比重</a:t>
            </a:r>
          </a:p>
        </p:txBody>
      </p:sp>
    </p:spTree>
    <p:extLst>
      <p:ext uri="{BB962C8B-B14F-4D97-AF65-F5344CB8AC3E}">
        <p14:creationId xmlns:p14="http://schemas.microsoft.com/office/powerpoint/2010/main" val="12376940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E684B4-F2F2-4B1F-9C10-9FA8A0DA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價格先驗與分組學習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75997D-D602-4865-A2E6-8E380255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3D33B34-CA21-45F2-BA93-121DDC43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先驗 = 從訓練成交整理出的參考單價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DF2AEF2-0A6F-41BF-A082-39829F33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按建案分成 5 組，每組包含多個建案；以第 1 組為例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3162300"/>
          <a:ext xmlns:a="http://schemas.openxmlformats.org/drawingml/2006/main" cx="1083945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2162175"/>
                <a:gridCol w="2162175"/>
                <a:gridCol w="2162175"/>
                <a:gridCol w="2190750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2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3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4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待建立先驗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72EB92B-A989-4D3F-BB65-58B1AE53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39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五組輪流排除自身建案；這是分組 OOF，不是時間切分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220885E-C13D-4D9A-B992-4ABD044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39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新交易推論：使用當期全部訓練資料建立的保存先驗</a:t>
            </a:r>
          </a:p>
        </p:txBody>
      </p:sp>
    </p:spTree>
    <p:extLst>
      <p:ext uri="{BB962C8B-B14F-4D97-AF65-F5344CB8AC3E}">
        <p14:creationId xmlns:p14="http://schemas.microsoft.com/office/powerpoint/2010/main" val="19411684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1226F1-5BA2-4E4C-861F-154B464C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六個模型與三條分支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689D2A-153C-41E5-B1D4-15194547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D1ED299-ADD7-4F2A-8EBB-2C23A245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10753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所有預測先換回總價元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124075"/>
          <a:ext xmlns:a="http://schemas.openxmlformats.org/drawingml/2006/main" cx="1083945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572000"/>
                <a:gridCol w="3848100"/>
              </a:tblGrid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分支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主要部分：占 75%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共同加入：占 25%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單價分支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神經網路分支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 NN、先驗 NN 先平均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對數分支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總價、log CatBoost 先平均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238DCFD-13EE-4511-9A54-261F44F3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1080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3 個 CatBoost + 1 個 LightGBM + 2 個 NN = 6 個模型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8FED291-92C0-42B9-A5F7-2AB169B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80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教學假設（萬元）：1,000×75% + 1,200×25% = 1,050</a:t>
            </a:r>
          </a:p>
        </p:txBody>
      </p:sp>
    </p:spTree>
    <p:extLst>
      <p:ext uri="{BB962C8B-B14F-4D97-AF65-F5344CB8AC3E}">
        <p14:creationId xmlns:p14="http://schemas.microsoft.com/office/powerpoint/2010/main" val="561439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258D96-90CF-4593-8A80-4B66EEE2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成交參考與空間修正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BAD3F7-4DF6-4056-AA21-590ADD6B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5FA2800-9E76-4EC5-A216-063EDE75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939E291-D13A-4BF1-A6A7-703555D4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430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成交參考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CC52E45-6489-43A8-A325-FADC86E2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47900"/>
            <a:ext cx="933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同建案、同地址、同道路的已知成交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05A6091-FA2E-4B87-B349-7B2D7C85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57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再比較物件條件與時間趨勢，結合原估價及參考價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37B7771-348E-4E70-B1BE-5EB2F13F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6F11E47-FB0F-4EBD-8174-DCA41205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242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空間修正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901C7C3-C1E5-467A-ABF5-14D49005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815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參考支持較弱時才補充附近資訊，支持不足就回退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3124A1B4-D96B-4E90-A444-4688241F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每條分支各自修正，保留三個總價，下一步才取中位數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07F0877F-C090-4F02-B371-132632A4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價格只來自課程已知標籤；外部道路資料不提供成交答案</a:t>
            </a:r>
          </a:p>
        </p:txBody>
      </p:sp>
    </p:spTree>
    <p:extLst>
      <p:ext uri="{BB962C8B-B14F-4D97-AF65-F5344CB8AC3E}">
        <p14:creationId xmlns:p14="http://schemas.microsoft.com/office/powerpoint/2010/main" val="2139540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109510-A5F8-4DB4-8EF1-290735DE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逐筆取中位數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D45F8CB-0902-4012-A336-AF4E5181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47C97A7-BF96-4BBE-ADA5-9B9207E8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同一間房子的三個修正後估價，單位：萬元（教學假設）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66950"/>
          <a:ext xmlns:a="http://schemas.openxmlformats.org/drawingml/2006/main" cx="106680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77008e931e41a1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81345E1-D620-42A1-8443-316D1A9A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排序後取中間值 1,020 萬元，降低單一極端估價的影響</a:t>
            </a:r>
          </a:p>
        </p:txBody>
      </p:sp>
    </p:spTree>
    <p:extLst>
      <p:ext uri="{BB962C8B-B14F-4D97-AF65-F5344CB8AC3E}">
        <p14:creationId xmlns:p14="http://schemas.microsoft.com/office/powerpoint/2010/main" val="4716544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84C7B1-E60F-446A-A4BD-4017E471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三期時間回測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610C3A-B860-4318-A4F5-A70F7544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E1317B2-131D-4973-8F28-D7306BC8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MAE，單位：萬元，越低越好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00275"/>
          <a:ext xmlns:a="http://schemas.openxmlformats.org/drawingml/2006/main" cx="106680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1d483596984f9e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C56FE76-CBDF-42FC-BF3D-E512A34C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三個年度是不同評分集合，不能把下降解讀成同一批資料持續進步</a:t>
            </a:r>
          </a:p>
        </p:txBody>
      </p:sp>
    </p:spTree>
    <p:extLst>
      <p:ext uri="{BB962C8B-B14F-4D97-AF65-F5344CB8AC3E}">
        <p14:creationId xmlns:p14="http://schemas.microsoft.com/office/powerpoint/2010/main" val="16226336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89542D-B114-472E-A80F-6A9C1619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Kaggle 公開成績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85350E-2597-4DB0-9B24-CE1C4258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019AABC-1F73-40DC-9896-2D268969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Public 平均絕對誤差（MAE）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7250BB7-A919-40CF-AB88-5F2EC9A6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6572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199.86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FAF801F-7C91-4F9B-B01A-5E094E31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38525"/>
            <a:ext cx="276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0449A46-C5BC-4B3B-A244-251ECE3A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4019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公開 test 約 30%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A0A34D3-B722-412E-9EDA-CEE9CEAF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90875"/>
            <a:ext cx="39909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反映平均差距</a:t>
            </a:r>
          </a:p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不是每筆誤差上限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DE29283-D472-4E7A-A705-44B3E013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24425"/>
            <a:ext cx="10772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完整分數：1,998,568.5706 元，依使用者提供的 Kaggle 截圖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BD7889E-621C-4CF2-90A1-55E4DB3A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0250"/>
            <a:ext cx="1064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其餘約 70% 是 Private，目前分數未知</a:t>
            </a:r>
          </a:p>
        </p:txBody>
      </p:sp>
    </p:spTree>
    <p:extLst>
      <p:ext uri="{BB962C8B-B14F-4D97-AF65-F5344CB8AC3E}">
        <p14:creationId xmlns:p14="http://schemas.microsoft.com/office/powerpoint/2010/main" val="646566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91E7D4-ADF4-4B27-9F84-A11FB72B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限制與防過擬合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5CE707-A5B7-4147-9FBB-037DC8A6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7BDAFE0-496A-47F0-9713-BB2F30FD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驗證重複使用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079D3BE-67C4-4E38-A262-AB4948FB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90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研究多次看過同一批歷史窗口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選擇方法時仍可能逐漸貼近那些資料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4507A03-0180-4CB2-8BFC-26D5AE01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整體平均的盲點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C67185F-5527-4EAC-BBB7-89E287E7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7182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某些高價群或新建案仍可能更差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中位數也無法消除三條分支共同的偏差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17CBEBF-AF35-4DE7-A6DB-A2AEB0D4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地理資訊的精度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BBADFD4-78A6-424B-A4CA-1175C205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529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各年度使用對應的非價格道路快照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道路代表點無法等同精確的住宅位置</a:t>
            </a:r>
          </a:p>
        </p:txBody>
      </p:sp>
    </p:spTree>
    <p:extLst>
      <p:ext uri="{BB962C8B-B14F-4D97-AF65-F5344CB8AC3E}">
        <p14:creationId xmlns:p14="http://schemas.microsoft.com/office/powerpoint/2010/main" val="14693144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AAF2A1-07DB-475A-B717-C126619B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最終訓練與程式重現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32F927-8CD6-45B8-B0C8-FA48A774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6BC6EA6-1C4D-4AD5-81A6-0154406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83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467,221 筆有標籤資料完成最終學習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18C0082-45F9-40C1-A084-060B03A1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47,073 筆 test 全部保留並輸出「編號、總價元」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33ADF49-0423-419F-A2C5-DBB89E49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程式入口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5ECC380-7175-428F-A720-79F45F9A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95700"/>
            <a:ext cx="804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259CB"/>
                </a:solidFill>
                <a:latin typeface="Consolas"/>
                <a:ea typeface="Consolas"/>
                <a:cs typeface="Consolas"/>
              </a:defRPr>
            </a:pPr>
            <a:r>
              <a:rPr sz="2700" b="0">
                <a:solidFill>
                  <a:srgbClr val="2259CB"/>
                </a:solidFill>
                <a:latin typeface="Consolas"/>
                <a:ea typeface="Consolas"/>
                <a:cs typeface="Consolas"/>
              </a:rPr>
              <a:t>src/predict_v22.py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340F84D-CA0B-4BA5-82C8-70870D16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839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保存模型加原始 test 重新推論，47,073 筆及 CSV 完全一致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6ADECA2-C3F5-49FB-9C7D-15EC62CF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D4B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D4B2E"/>
                </a:solidFill>
                <a:latin typeface="Microsoft JhengHei"/>
                <a:ea typeface="Microsoft JhengHei"/>
                <a:cs typeface="Microsoft JhengHei"/>
              </a:rPr>
              <a:t>已驗證的是保存模型推論；全新環境安裝與從零重訓尚未驗證</a:t>
            </a:r>
          </a:p>
        </p:txBody>
      </p:sp>
    </p:spTree>
    <p:extLst>
      <p:ext uri="{BB962C8B-B14F-4D97-AF65-F5344CB8AC3E}">
        <p14:creationId xmlns:p14="http://schemas.microsoft.com/office/powerpoint/2010/main" val="14381340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227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8F2D7F-ED39-4F10-AC7E-09A783FB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086690-6F15-4C5C-9B65-DC5AF4E8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D715BCB-F9B1-4A63-9BDE-1594C84D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用歷史交易學習房價規律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07329AF-F2A0-46FA-A0D2-77356DBD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rPr>
              <a:t>清理資料、設計特徵，再用時間回測檢查誤差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313A185-307F-46DA-8EEC-DA0E0882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rPr>
              <a:t>六模型形成三分支，修正後逐筆取中位數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362D126-7F65-4C27-B9CB-FA3338B5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39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Public MAE 約 199.86 萬元，Private 分數仍未知</a:t>
            </a:r>
          </a:p>
        </p:txBody>
      </p:sp>
    </p:spTree>
    <p:extLst>
      <p:ext uri="{BB962C8B-B14F-4D97-AF65-F5344CB8AC3E}">
        <p14:creationId xmlns:p14="http://schemas.microsoft.com/office/powerpoint/2010/main" val="8594955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BFF5BE-1A11-4988-ACF0-C1EDCC57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附錄：精確計算公式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9A5C55-1A43-4A5C-A46D-6A45E23C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63973A6-0705-4DF0-84D5-67F2A84E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所有模型預測先還原成總價元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4F3FDA0-6DF2-4965-9A9A-88A47783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820400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B_unit = .75*C_unit + .25*L_unit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B_nn   = .75*(.5*N_area + .5*N_prior) + .25*L_unit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B_log  = .75*(.5*C_raw  + .5*C_log)   + .25*L_unit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U = S(B_unit, R(B_unit))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N = S(B_nn,   R(B_nn))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H = S(B_log,  R(B_log))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prediction = median(N, H, U)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647AE89-60D0-4518-99A9-3D260830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R 代表成交參考與時間趨勢，S 代表固定空間修正</a:t>
            </a:r>
          </a:p>
        </p:txBody>
      </p:sp>
    </p:spTree>
    <p:extLst>
      <p:ext uri="{BB962C8B-B14F-4D97-AF65-F5344CB8AC3E}">
        <p14:creationId xmlns:p14="http://schemas.microsoft.com/office/powerpoint/2010/main" val="16445980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B18379-377F-4ED7-AAAE-75B98D8A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附錄：參數與程式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CE55AE-45D2-48C4-BD84-3A5970A0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743075"/>
          <a:ext xmlns:a="http://schemas.openxmlformats.org/drawingml/2006/main" cx="1083945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4650"/>
                <a:gridCol w="7924800"/>
              </a:tblGrid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保存設定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MAE，2,999 棵樹，深度 8，學習率 0.065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單價目標與權重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目標 y / (A × 10,000)，權重 A / 100 × 日期權重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有效面積 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正且有限：先建物面積，再車位面積，否則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v22 推論入口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deliverables/v22_github/src/predict_v22.py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主要訓練來源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src/round79_recency_unit.py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15A9C34-D111-4A4D-8F31-C92DD6D9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精確環境、依賴與完整指令見隨附報告及 GitHub 重現文件</a:t>
            </a:r>
          </a:p>
        </p:txBody>
      </p:sp>
    </p:spTree>
    <p:extLst>
      <p:ext uri="{BB962C8B-B14F-4D97-AF65-F5344CB8AC3E}">
        <p14:creationId xmlns:p14="http://schemas.microsoft.com/office/powerpoint/2010/main" val="8485096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7753F5-C900-4ECE-9ECE-C8F495C8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附錄：常見名詞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744AEB-D66F-4A65-806B-8BBD8C0E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85925"/>
          <a:ext xmlns:a="http://schemas.openxmlformats.org/drawingml/2006/main" cx="108394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67025"/>
                <a:gridCol w="7972425"/>
              </a:tblGrid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名詞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白話意思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特徵與標籤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特徵是已知房屋條件，標籤是學習時的成交價答案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訓練與推論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訓練找規律，推論用保存的規律估計新交易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過擬合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過度貼近看過的資料，遇到新資料誤差可能變大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某筆資料的誤差，在學習目標中占多少比重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先驗與 OOF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先建立參考價，並用其他組資料建立訓練特徵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集成與中位數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集成結合多個估計，中位數是排序後的中間值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373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2026-10-01T02:11:37.2070000Z</dcterms:created>
  <dcterms:modified xsi:type="dcterms:W3CDTF">2026-10-01T02:11:37.2070000Z</dcterms:modified>
</coreProperties>
</file>