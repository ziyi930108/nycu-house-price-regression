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4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c554cd123948e6" /><Relationship Type="http://schemas.openxmlformats.org/officeDocument/2006/relationships/extended-properties" Target="/docProps/app.xml" Id="R90b15e04ca624d4f" /><Relationship Type="http://schemas.openxmlformats.org/officeDocument/2006/relationships/officeDocument" Target="/ppt/presentation.xml" Id="R661d93b8654247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19f62c7589405b"/>
  </p:sldMasterIdLst>
  <p:notesMasterIdLst>
    <p:notesMasterId xmlns:r="http://schemas.openxmlformats.org/officeDocument/2006/relationships" r:id="R6b2b89c422374256"/>
  </p:notesMasterIdLst>
  <p:sldIdLst>
    <p:sldId xmlns:r="http://schemas.openxmlformats.org/officeDocument/2006/relationships" id="256" r:id="R1ab370f792754673"/>
    <p:sldId xmlns:r="http://schemas.openxmlformats.org/officeDocument/2006/relationships" id="257" r:id="R9d706f7c82a24d2b"/>
    <p:sldId xmlns:r="http://schemas.openxmlformats.org/officeDocument/2006/relationships" id="258" r:id="R2cf66981bad64109"/>
    <p:sldId xmlns:r="http://schemas.openxmlformats.org/officeDocument/2006/relationships" id="259" r:id="R93aba89e277944b5"/>
    <p:sldId xmlns:r="http://schemas.openxmlformats.org/officeDocument/2006/relationships" id="260" r:id="R1269ccf85fb64735"/>
    <p:sldId xmlns:r="http://schemas.openxmlformats.org/officeDocument/2006/relationships" id="261" r:id="Rb7a5314c1fd54e68"/>
    <p:sldId xmlns:r="http://schemas.openxmlformats.org/officeDocument/2006/relationships" id="262" r:id="Ra26b705811fb4fee"/>
    <p:sldId xmlns:r="http://schemas.openxmlformats.org/officeDocument/2006/relationships" id="263" r:id="R6b7d623f7c70456b"/>
    <p:sldId xmlns:r="http://schemas.openxmlformats.org/officeDocument/2006/relationships" id="264" r:id="Rd114370bb11c4cde"/>
    <p:sldId xmlns:r="http://schemas.openxmlformats.org/officeDocument/2006/relationships" id="265" r:id="Rd32f1f7b7a1c463f"/>
    <p:sldId xmlns:r="http://schemas.openxmlformats.org/officeDocument/2006/relationships" id="266" r:id="R5dc1b8b4c9804211"/>
    <p:sldId xmlns:r="http://schemas.openxmlformats.org/officeDocument/2006/relationships" id="267" r:id="Rb5a9e1874d0f4edc"/>
    <p:sldId xmlns:r="http://schemas.openxmlformats.org/officeDocument/2006/relationships" id="268" r:id="R0b4e2d195f014af8"/>
    <p:sldId xmlns:r="http://schemas.openxmlformats.org/officeDocument/2006/relationships" id="269" r:id="Ra60032faf73e4994"/>
    <p:sldId xmlns:r="http://schemas.openxmlformats.org/officeDocument/2006/relationships" id="270" r:id="R83d5956f018c4873"/>
    <p:sldId xmlns:r="http://schemas.openxmlformats.org/officeDocument/2006/relationships" id="271" r:id="R6563d8f93af54a70"/>
    <p:sldId xmlns:r="http://schemas.openxmlformats.org/officeDocument/2006/relationships" id="272" r:id="Rb947ed69a99349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43bc473ebd4e5a" /><Relationship Type="http://schemas.openxmlformats.org/officeDocument/2006/relationships/slideMaster" Target="/ppt/slideMasters/slideMaster1.xml" Id="R0019f62c7589405b" /><Relationship Type="http://schemas.openxmlformats.org/officeDocument/2006/relationships/notesMaster" Target="/ppt/notesMasters/notesMaster1.xml" Id="R6b2b89c422374256" /><Relationship Type="http://schemas.openxmlformats.org/officeDocument/2006/relationships/presProps" Target="/ppt/presProps.xml" Id="R4c234a061ee54f7b" /><Relationship Type="http://schemas.openxmlformats.org/officeDocument/2006/relationships/tableStyles" Target="/ppt/tableStyles.xml" Id="R766a9985083b4e04" /><Relationship Type="http://schemas.openxmlformats.org/officeDocument/2006/relationships/slide" Target="/ppt/slides/slide1.xml" Id="R1ab370f792754673" /><Relationship Type="http://schemas.openxmlformats.org/officeDocument/2006/relationships/slide" Target="/ppt/slides/slide2.xml" Id="R9d706f7c82a24d2b" /><Relationship Type="http://schemas.openxmlformats.org/officeDocument/2006/relationships/slide" Target="/ppt/slides/slide3.xml" Id="R2cf66981bad64109" /><Relationship Type="http://schemas.openxmlformats.org/officeDocument/2006/relationships/slide" Target="/ppt/slides/slide4.xml" Id="R93aba89e277944b5" /><Relationship Type="http://schemas.openxmlformats.org/officeDocument/2006/relationships/slide" Target="/ppt/slides/slide5.xml" Id="R1269ccf85fb64735" /><Relationship Type="http://schemas.openxmlformats.org/officeDocument/2006/relationships/slide" Target="/ppt/slides/slide6.xml" Id="Rb7a5314c1fd54e68" /><Relationship Type="http://schemas.openxmlformats.org/officeDocument/2006/relationships/slide" Target="/ppt/slides/slide7.xml" Id="Ra26b705811fb4fee" /><Relationship Type="http://schemas.openxmlformats.org/officeDocument/2006/relationships/slide" Target="/ppt/slides/slide8.xml" Id="R6b7d623f7c70456b" /><Relationship Type="http://schemas.openxmlformats.org/officeDocument/2006/relationships/slide" Target="/ppt/slides/slide9.xml" Id="Rd114370bb11c4cde" /><Relationship Type="http://schemas.openxmlformats.org/officeDocument/2006/relationships/slide" Target="/ppt/slides/slide10.xml" Id="Rd32f1f7b7a1c463f" /><Relationship Type="http://schemas.openxmlformats.org/officeDocument/2006/relationships/slide" Target="/ppt/slides/slide11.xml" Id="R5dc1b8b4c9804211" /><Relationship Type="http://schemas.openxmlformats.org/officeDocument/2006/relationships/slide" Target="/ppt/slides/slide12.xml" Id="Rb5a9e1874d0f4edc" /><Relationship Type="http://schemas.openxmlformats.org/officeDocument/2006/relationships/slide" Target="/ppt/slides/slide13.xml" Id="R0b4e2d195f014af8" /><Relationship Type="http://schemas.openxmlformats.org/officeDocument/2006/relationships/slide" Target="/ppt/slides/slide14.xml" Id="Ra60032faf73e4994" /><Relationship Type="http://schemas.openxmlformats.org/officeDocument/2006/relationships/slide" Target="/ppt/slides/slide15.xml" Id="R83d5956f018c4873" /><Relationship Type="http://schemas.openxmlformats.org/officeDocument/2006/relationships/slide" Target="/ppt/slides/slide16.xml" Id="R6563d8f93af54a70" /><Relationship Type="http://schemas.openxmlformats.org/officeDocument/2006/relationships/slide" Target="/ppt/slides/slide17.xml" Id="Rb947ed69a99349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d7d804850d4b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d0468f9f2b45d5" /><Relationship Type="http://schemas.openxmlformats.org/officeDocument/2006/relationships/notesMaster" Target="/ppt/notesMasters/notesMaster1.xml" Id="Rb2eb3f7b94f34d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25c4ea84a7474a" /><Relationship Type="http://schemas.openxmlformats.org/officeDocument/2006/relationships/notesMaster" Target="/ppt/notesMasters/notesMaster1.xml" Id="R8d32f41fa9824c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7c8d2680bd4b5f" /><Relationship Type="http://schemas.openxmlformats.org/officeDocument/2006/relationships/notesMaster" Target="/ppt/notesMasters/notesMaster1.xml" Id="R11faa61d99a742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8e5773efc54f82" /><Relationship Type="http://schemas.openxmlformats.org/officeDocument/2006/relationships/notesMaster" Target="/ppt/notesMasters/notesMaster1.xml" Id="R5b062d53913c41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5d8ae6fab1454e" /><Relationship Type="http://schemas.openxmlformats.org/officeDocument/2006/relationships/notesMaster" Target="/ppt/notesMasters/notesMaster1.xml" Id="Rc4cdb13bc516444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b1888044cb8474a" /><Relationship Type="http://schemas.openxmlformats.org/officeDocument/2006/relationships/notesMaster" Target="/ppt/notesMasters/notesMaster1.xml" Id="R914fa08fecbf4f5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3f9bd8f5404128" /><Relationship Type="http://schemas.openxmlformats.org/officeDocument/2006/relationships/notesMaster" Target="/ppt/notesMasters/notesMaster1.xml" Id="R41739f379b064c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9009030728413a" /><Relationship Type="http://schemas.openxmlformats.org/officeDocument/2006/relationships/notesMaster" Target="/ppt/notesMasters/notesMaster1.xml" Id="Refeec250863748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f9062f72a74e8e" /><Relationship Type="http://schemas.openxmlformats.org/officeDocument/2006/relationships/notesMaster" Target="/ppt/notesMasters/notesMaster1.xml" Id="R4bc3fbdc1d4d45f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9a99abeb08e4587" /><Relationship Type="http://schemas.openxmlformats.org/officeDocument/2006/relationships/notesMaster" Target="/ppt/notesMasters/notesMaster1.xml" Id="Rd81e79cae0054ca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1248660dc284b8b" /><Relationship Type="http://schemas.openxmlformats.org/officeDocument/2006/relationships/notesMaster" Target="/ppt/notesMasters/notesMaster1.xml" Id="R2374baa159d14c4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e4f24806da4e59" /><Relationship Type="http://schemas.openxmlformats.org/officeDocument/2006/relationships/notesMaster" Target="/ppt/notesMasters/notesMaster1.xml" Id="R5a0634447e3f4b3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922f042827d4752" /><Relationship Type="http://schemas.openxmlformats.org/officeDocument/2006/relationships/notesMaster" Target="/ppt/notesMasters/notesMaster1.xml" Id="Rbac6d24bd0b7489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6dccf0486a94208" /><Relationship Type="http://schemas.openxmlformats.org/officeDocument/2006/relationships/notesMaster" Target="/ppt/notesMasters/notesMaster1.xml" Id="R41344886c0624fc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1828e84438d4833" /><Relationship Type="http://schemas.openxmlformats.org/officeDocument/2006/relationships/notesMaster" Target="/ppt/notesMasters/notesMaster1.xml" Id="Ra2f86a77024942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6844bbb29a64853" /><Relationship Type="http://schemas.openxmlformats.org/officeDocument/2006/relationships/notesMaster" Target="/ppt/notesMasters/notesMaster1.xml" Id="R5f4483e7e96a4ca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57cae064934802" /><Relationship Type="http://schemas.openxmlformats.org/officeDocument/2006/relationships/notesMaster" Target="/ppt/notesMasters/notesMaster1.xml" Id="Rda5c40ad918b44b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大家好，我是廖子頤。這個挑戰要利用交易資料中的地點、面積、樓層與日期，預測房屋成交總價。部分資料附有答案，另一部分需要我們估價。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今天照製作順序，說明資料如何整理、模型怎麼學習、不同估價怎麼組合，以及如何檢查誤差。每一步都會交代實際操作與原因。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製作流程分成四章。資料準備先辨認條件和答案，觀察城市樣本，整理欄位並切開時間。模型訓練說明價格目標、面積、日期與參考單價。預測整合把不同方法的估價修正，合成一筆總價。最後用訓練與驗證曲線檢查學習過程，再總結資料處理、模型學習與預測整合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四章依實際製作流程安排。第16頁為單一網路訓練／驗證診斷，第17頁回顧資料處理、模型與預測整合。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這張方塊圖對照程式的實際工作。先讀取交易表，移除混入表頭與完全重複紀錄；接著逐欄解析、建立特徵，再依日期分出訓練和保留交易。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訓練部分建立填補、編碼、價格參考及模型狀態，保留交易只套用保存規則。每個模型先換回總價，組成三條分支，各自做成交和空間修正，再取中位數。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有真價的保留交易用來評分，未知交易依指定順序輸出。原全量階段只新訓練一支參考單價網路，其餘五模型沿用保存預測。各時間切點都要重建當期規則，避免把未來答案帶回學習。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程式方塊圖對應實際函式，區分當期fit狀態與保留交易套用。原全量階段只新增1NN訓練、其餘沿用保存向量。後續另做既有與全新套件環境的六模型真推論，保存預測只在推論完成後拿來核對，沒有當成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src/prepare_data.py</a:t>
            </a:r>
          </a:p>
          <a:p xmlns:a="http://schemas.openxmlformats.org/drawingml/2006/main">
            <a:r>
              <a:t>- src/model_common.py</a:t>
            </a:r>
          </a:p>
          <a:p xmlns:a="http://schemas.openxmlformats.org/drawingml/2006/main">
            <a:r>
              <a:t>- src/house_features.py</a:t>
            </a:r>
          </a:p>
          <a:p xmlns:a="http://schemas.openxmlformats.org/drawingml/2006/main">
            <a:r>
              <a:t>- src/round107_weighted_smooth_train.py</a:t>
            </a:r>
          </a:p>
          <a:p xmlns:a="http://schemas.openxmlformats.org/drawingml/2006/main">
            <a:r>
              <a:t>- src/round107_final_candidate.py</a:t>
            </a:r>
          </a:p>
          <a:p xmlns:a="http://schemas.openxmlformats.org/drawingml/2006/main">
            <a:r>
              <a:t>- src/round107_full_release.py</a:t>
            </a:r>
          </a:p>
          <a:p xmlns:a="http://schemas.openxmlformats.org/drawingml/2006/main">
            <a:r>
              <a:t>- reproducibility_receipt.json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第一步分清條件和答案。地點、面積、樓層、建物類型與日期，都是估價時可用的條件，叫特徵。已知成交總價是標籤。預測連續金額，叫回歸。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我把條件放成輸入表，成交總價另外保存。訓練時先估價，和答案比較，再依差距調整規則；完成後保存規則，新交易只輸入條件，產生估價，這叫推論。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相同面積的房屋，也會因地點或成交時間不同而有不同價格，所以需要共同考慮多個條件。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先決定怎麼比較估價。平均絕對誤差，縮寫ＭＡＥ，是每筆預測減真價後取絕對值，再求平均，單位為新臺幣元。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這裡是假例。兩間房真價都是一千萬，分別估一千一百萬與九百五十萬，誤差是一百萬和五十萬。相加除以兩筆，ＭＡＥ為七十五萬元。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高估和低估不會抵銷，數值越低越好。但這不是答對率，也不代表每間都差七十五萬。比較方法必須用同一批交易與同一金額單位。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這頁先看我們手上的交易資料長什麼樣子。統計來自課程訓練表，清除混入的表頭與完全重複紀錄後，共四十五萬五千二百五十五筆，涵蓋二〇〇八年六月到二〇二四年八月。圖上挑六個城市展示。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邊是成交總價中位數，也就是把交易按價格排序後，取中間位置的代表值。例如臺北市是兩千九百四十五萬元，新北市是一千四百八十萬元。這裡比較的是整間房的總價，兩地的房屋面積、型態及成交年代可能不同，因此差距也包含這些條件的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邊則是同一批樣本的交易筆數。新北市約十萬筆，新竹市不到一萬筆，表示模型接觸到的案例並不平均。這提醒我們，整體平均誤差容易受到樣本多的地區影響，檢查結果時還要分城市看，樣本少的地區則要更謹慎解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這些是模型凍結後補做的資料描述，沒有拿來調整提交價格，也不能直接代表現在市場行情。接下來回到實際處理流程，先把日期、樓層和地址等原始文字整理成模型能使用的欄位。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圖表資料保持原數值。完整清理後課程train455,255筆，期間2008-06-26至2024-08-10，非任一時間切點的fit子集。六城市總價中位數為2945／1480／1280／1161／1375／1050萬元，右表同範圍的交易筆數；不是單價或平均數。描述統計於模型凍結後補做，不是事前選型依據。樣本少不能直接推論模型較差；城市總價差異混合面積、用途與年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source/city_statistics.json</a:t>
            </a:r>
          </a:p>
          <a:p xmlns:a="http://schemas.openxmlformats.org/drawingml/2006/main">
            <a:r>
              <a:t>- source/analysis.json</a:t>
            </a:r>
          </a:p>
          <a:p xmlns:a="http://schemas.openxmlformats.org/drawingml/2006/main">
            <a:r>
              <a:t>- src/course_gap_analysis_20261012.py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接著逐欄整理原始文字。數值去除逗號後轉成數字；日期辨認民國年月日，年份加一千九百一十一轉西元，再拆出年月季。樓層辨認中文數字與地下標記，例如十二層變成十二、地下二層變成負二，另保留地下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把台字統一成臺字，依縣市、區鄉鎮市、路街與段的名稱結尾拆欄。假地址臺北市大安區和平東路一段一百號，可分成臺北市、大安區、和平東路和一段。交易筆棟數則依土地、建物、車位標籤擷取數字，例如土地一建物一車位零，變成三個數值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訓練資料先排除混入的英文表頭與完全重複紀錄，待預測資料仍保留完整列。空白或解析失敗另留標記，不假裝已知。這一步統一格式，下一步才決定模型輸入。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src/prepare_data.py</a:t>
            </a:r>
          </a:p>
          <a:p xmlns:a="http://schemas.openxmlformats.org/drawingml/2006/main">
            <a:r>
              <a:t>- src/model_common.py</a:t>
            </a:r>
          </a:p>
          <a:p xmlns:a="http://schemas.openxmlformats.org/drawingml/2006/main">
            <a:r>
              <a:t>- src/house_features.py</a:t>
            </a:r>
          </a:p>
          <a:p xmlns:a="http://schemas.openxmlformats.org/drawingml/2006/main">
            <a:r>
              <a:t>- src/round3_features.py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我選擇估價當下可取得的欄位。面積、樓層、地點、日期描述條件；總價另存答案，不能混進輸入。編號只用來對齊輸出，不能當價格線索。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完整備註可能含價格，只留有限條件標記。解約可能是事後資訊，也排除。建築完成年月不可用，不能硬算屋齡；管理組織沒有變化，無法區分房屋。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基礎特徵有八十七欄，部分模型加入八欄非價格道路資訊，共九十五欄，其中二十三欄是類別。道路代表點只是粗略位置。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留缺失旗標。類別建立代碼表，再學數字表示，代碼大小沒有等級意義。填補值、尺度和代碼只從當期訓練建立，驗證與新交易沿用。樹模型依各自設定處理數值與類別，不能說所有模型共用同一套編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src/house_features.py</a:t>
            </a:r>
          </a:p>
          <a:p xmlns:a="http://schemas.openxmlformats.org/drawingml/2006/main">
            <a:r>
              <a:t>- src/round6_geo.py</a:t>
            </a:r>
          </a:p>
          <a:p xmlns:a="http://schemas.openxmlformats.org/drawingml/2006/main">
            <a:r>
              <a:t>- data_external/geography/ATTRIBUTION.md</a:t>
            </a:r>
          </a:p>
          <a:p xmlns:a="http://schemas.openxmlformats.org/drawingml/2006/main">
            <a:r>
              <a:t>- src/round47_nn_encode.py</a:t>
            </a:r>
          </a:p>
          <a:p xmlns:a="http://schemas.openxmlformats.org/drawingml/2006/main">
            <a:r>
              <a:t>- src/round54_numeric_encode.py</a:t>
            </a:r>
          </a:p>
          <a:p xmlns:a="http://schemas.openxmlformats.org/drawingml/2006/main">
            <a:r>
              <a:t>- src/train_lightgbm.py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有答案的交易依日期切開，較早部分學習，後一年保留檢查。保留交易雖有真價，先預測完成才評分。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房價隨時間變動，隨機混合年份未必反映用過去估未來。因此使用三個八月起點和一個二月起點，日期如表格所示。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每個起點重建當期模型、填補、編碼及價格參考，只使用訓練截止以前的交易，不能拿後期模型回測。這些窗口已反覆用於開發且彼此重疊，不能當成四次獨立的新考試。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outputs/round107/results.json</a:t>
            </a:r>
          </a:p>
          <a:p xmlns:a="http://schemas.openxmlformats.org/drawingml/2006/main">
            <a:r>
              <a:t>- reports/round107_108_report.md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先介紹兩個樹模型。決策樹依面積、地點等條件將交易分組，多棵樹依序學習，逐步修正前面的估價誤差，稱為梯度提升。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CatBoost內建類別資料處理，本案用來學單價、總價與對數總價。LightGBM把數值分成區間，加快尋找切分條件，並優先細分能降低訓練誤差的葉節點。本案用它學單價。方法不同是否互補，仍要看時間驗證。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接著設定價格目標。單價模型把已知總價除有效面積，得到訓練答案；新交易估出單價後，再乘面積。例如每平方公尺二十萬、面積五十平方公尺，就是一千萬。未知總價沒有拿來建立輸入。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直接總價模型學總價；對數模型先壓縮金額尺度，預測後還原。參考單價網路學調整倍率，參考單價乘面積與倍率，得到總價。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共同步驟是輸入、預測、計算損失與更新模型，各自使用原設定，不能說六模型都用同一損失。參考網路每批兩千零四十八筆、固定三十輪。驗證時固定參數，所有輸出先換回總價元，才融合與評分。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解釋梯度提升的共同原理，再介紹CatBoost類別處理及LightGBM分箱／葉節點細分。CatBoost在本案建立單價、總價、對數總價，LightGBM建立單價模型；建樹方法不同不代表一定互補。價格目標與演算法分開，單價預測後乘有效面積、對數需反向還原、參考網路直接輸出正倍率，不能重複乘面積。模型原生訓練損失不同；融合與最後評分才統一為總價元。參考網路使用日期加權SmoothL1，而非宣稱全部模型共同最小化總價MA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src/round19_unit_geo.py</a:t>
            </a:r>
          </a:p>
          <a:p xmlns:a="http://schemas.openxmlformats.org/drawingml/2006/main">
            <a:r>
              <a:t>- src/train_lightgbm.py</a:t>
            </a:r>
          </a:p>
          <a:p xmlns:a="http://schemas.openxmlformats.org/drawingml/2006/main">
            <a:r>
              <a:t>- src/round48_nn_train.py</a:t>
            </a:r>
          </a:p>
          <a:p xmlns:a="http://schemas.openxmlformats.org/drawingml/2006/main">
            <a:r>
              <a:t>- src/round47_nn_train.py</a:t>
            </a:r>
          </a:p>
          <a:p xmlns:a="http://schemas.openxmlformats.org/drawingml/2006/main">
            <a:r>
              <a:t>- src/round107_weighted_smooth_train.py</a:t>
            </a:r>
          </a:p>
          <a:p xmlns:a="http://schemas.openxmlformats.org/drawingml/2006/main">
            <a:r>
              <a:t>- src/round12_log_geo.py</a:t>
            </a:r>
          </a:p>
          <a:p xmlns:a="http://schemas.openxmlformats.org/drawingml/2006/main">
            <a:r>
              <a:t>- 最新正式報告第4.1節及附錄[10][11]：CatBoost與LightGBM官方來源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學單價還要考慮面積。這是假例：五十和一百平方公尺的房屋，單價同樣估錯一萬元，總價卻分別差五十萬和一百萬。把單價誤差看得一樣重，就沒有對齊比賽的總價誤差，所以相關模型加入面積權重。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有效面積優先用建物面積，不可用則用車位面積，再不行才用一，避免無法相除，並不表示真的一平方公尺。單價乘回面積、對數反向轉換後，才可組合；已是總價就不能再乘一次。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src/round19_unit_geo.py</a:t>
            </a:r>
          </a:p>
          <a:p xmlns:a="http://schemas.openxmlformats.org/drawingml/2006/main">
            <a:r>
              <a:t>- src/round12_log_geo.py</a:t>
            </a:r>
          </a:p>
          <a:p xmlns:a="http://schemas.openxmlformats.org/drawingml/2006/main">
            <a:r>
              <a:t>- src/round79_recency_unit.py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房價會隨日期改變，所以讓近期交易對學習有較大影響，這個影響程度叫權重，乘在每筆訓練損失上。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圖中是正規化前的比例。最新有效日期設為一，早三百六十五天是零點五，早七百三十天是零點二五，每早一年降為一半，稱三百六十五天半衰期。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它改變學習影響，沒有改成交價，也沒有刪舊交易。單價樹另搭配面積權重，參考單價網路採日期加權損失，其餘模型保留原設定。建立參考單價時也使用日期權重，但用途不同。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接續上一頁的面積誤差，再交代日期加權的動機，定義權重後才讀圖。一年是365天，1、0.5、0.25是正規化前原始相對比例。實際有效日期權重除以有效參考列權重平均值，無效日期給1；相對於每次reference資料中的最新有效日期計算，OOF補集各自建立anchor。日期權重在NN訓練時乘loss，在下一頁先驗建立時用於加權中位數，屬兩個不同作用。單價樹另有面積權重，不宣稱六模型都共用同一權重，也不保證加權一定改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src/round79_recency_unit.py</a:t>
            </a:r>
          </a:p>
          <a:p xmlns:a="http://schemas.openxmlformats.org/drawingml/2006/main">
            <a:r>
              <a:t>- src/round60_recency_price_prior.py</a:t>
            </a:r>
          </a:p>
          <a:p xmlns:a="http://schemas.openxmlformats.org/drawingml/2006/main">
            <a:r>
              <a:t>- src/round63_recency_weighted_prior_train.py</a:t>
            </a:r>
          </a:p>
          <a:p xmlns:a="http://schemas.openxmlformats.org/drawingml/2006/main">
            <a:r>
              <a:t>- src/round107_weighted_smooth_train.py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我用當期訓練交易，按城市、行政區、交易與建物類型建立參考單價，叫分組先驗。取加權中位單價，近期交易影響較大；同類不足三十筆，就逐層放寬條件。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假例中，二十萬元每平方公尺乘五十平方公尺，起點是一千萬；網路依條件學到倍率一點一，就得到一千一百萬。倍率由模型學習，不是逐筆指定。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訓練用參考價按建案分五組，同建案在同組，每組只參考另外四組，排除自己整組的答案。這是建案隔離，不是依年份分五段。預測新交易時，查當期完整訓練建立的參考表，不使用新交易真價。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畫面先展示參考單價及具體金額，再分開說明查表分類與訓練時隔開答案，避免把兩種分組混為一談。先驗精確查詢依序為城市＋行政區＋交易類型＋建物類型，城市＋交易類型＋建物類型，交易類型＋建物類型，交易類型，最後全域。前四層至少30筆原始reference交易；採365天日期加權中位單價，全域不受30筆門檻限制。建案不是先驗查表key，是OOF隔離分組；同組與同折的全部標籤均排除，訓練每列先驗可用同一fit範圍內較晚交易，故不是時間OOF。各時間切點的query標籤不參與先驗；query查完整當期fit。正倍率由Softplus直接輸出，並非log倍率再exp；總價＝參考單價×有效面積×倍率。NN固定30輪，日期加權SmoothL1轉折為10萬元，參考價加權中位數與NN損失加權是不同步驟。例子20萬元/m²、50m²、1.1及1100萬元皆為教學假設，未當成實際評分或真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src/round52_price_prior.py</a:t>
            </a:r>
          </a:p>
          <a:p xmlns:a="http://schemas.openxmlformats.org/drawingml/2006/main">
            <a:r>
              <a:t>- src/round60_recency_price_prior.py</a:t>
            </a:r>
          </a:p>
          <a:p xmlns:a="http://schemas.openxmlformats.org/drawingml/2006/main">
            <a:r>
              <a:t>- src/round47_nn_train.py</a:t>
            </a:r>
          </a:p>
          <a:p xmlns:a="http://schemas.openxmlformats.org/drawingml/2006/main">
            <a:r>
              <a:t>- src/round107_weighted_smooth_train.py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每個模型先換回總價，再組成三支。第一支以單價ＣａｔＢｏｏｓｔ為主，第二支平均兩個網路，第三支平均直接總價和對數模型。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每支再加入同一個ＬｉｇｈｔＧＢＭ，主要部分占七成五，共同部分占兩成五。四個樹模型加兩個網路，形成三個初估。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假例一千萬乘零點七五，加一千兩百萬乘零點二五，得到一千零五十萬，是加權平均。先核對交易順序與單位；比例沒有證明最佳，三支共用模型，也不是完全獨立。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src/round107_final_candidate.py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上一頁的三條分支各自產生初估，接著參考當期訓練中的相似成交，再用粗略道路位置附近、條件相容的交易修正。參考不足時依既有規則回退，所有價格參考都只來自當期訓練。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同一筆交易，把三支修正後價格排序，取中間值。這裡是假例：一千萬、一千一百萬、一千六百萬，最後得到一千一百萬。如果第三支的估價再升高，中間值仍是一千一百萬，所以比較不容易受到單一路線極端估值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不過，中位數也可能擋掉正確的高估價；三路共同高估或低估，仍會留下誤差，不能保證每一筆都更準。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最後只取整一次，依原編號順序輸出四萬七千零七十三筆總價。到這裡就完成一筆交易的估價流程，接著用保留交易檢查學習情形。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空間修正同時讀取初估與成交修正結果，不能誤寫成只讀R的串接。三路取中位數後最後取整一次，交易與單位需對齊。後續同機六模型重載推論與保存向量一致；六模型乾淨環境從頭重訓與跨機驗證仍未完成。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  <a:p xmlns:a="http://schemas.openxmlformats.org/drawingml/2006/main">
            <a:r>
              <a:t>- src/round107_final_candidate.py</a:t>
            </a:r>
          </a:p>
          <a:p xmlns:a="http://schemas.openxmlformats.org/drawingml/2006/main">
            <a:r>
              <a:t>- reproducibility_receipt.json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先看單一網路的學習過程。較早三十二萬一千五百五十筆訓練到二〇二三年八月十日；後一年十三萬三千六百九十七筆保留驗證，日期是二〇二三年八月十一日至二〇二四年八月十日。兩批都從有答案的訓練資料切出，不是課程驗證或未知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橫軸是輪數，縱軸是未加權總價ＭＡＥ。藍線評訓練交易，橘線評後一年，兩線不是同一群。學習使用日期加權損失，評圖統一成不加權總價誤差。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這是按固定配方另跑一支參考單價網路。三十輪模型全封存後才讀驗證答案，逐輪重載、關閉隨機丟棄評分，沒有看最低點挑輪。它不是原提交當時的軌跡，也不是完整融合曲線。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橘線後段波動趨平，不能證明沒有過擬合，時間組成與先驗建立方式也會影響落差。輪數是學習次數，不等於模型容量或ＶＣ維度。看完這個訓練診斷，最後回顧整份作業的主要方法。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reports/v25_training_curve_plan_20261010.md</a:t>
            </a:r>
          </a:p>
          <a:p xmlns:a="http://schemas.openxmlformats.org/drawingml/2006/main">
            <a:r>
              <a:t>- outputs/v25_training_curve_20261010/curve.json</a:t>
            </a:r>
          </a:p>
          <a:p xmlns:a="http://schemas.openxmlformats.org/drawingml/2006/main">
            <a:r>
              <a:t>- src/v25_training_curve_20261010.py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主講正文</a:t>
            </a:r>
          </a:p>
          <a:p xmlns:a="http://schemas.openxmlformats.org/drawingml/2006/main">
            <a:r>
              <a:t>最後整理這次房價預測的做法。我先把房屋條件整理成模型可用的欄位，注意面積和金額單位，再用較早的交易建立規則，以後一年的交易檢查估價。模型分別學習單價、總價與價格調整倍率，統一換回總價，再組成三路。經過成交與空間修正後，逐筆取中位數，減少單一路徑極端估價的影響。這份作業的重點，是把資料整理、不同價格目標與預測整合接成完整流程。我的報告到這裡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回顧已完成的資料處理、不同價格目標與三路整合流程，最後致謝。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- reports/v25_method_and_code_20261010.md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57532ef40488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e06e55af884dc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d1282eb0644e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cbddf8e18e42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9ffdbd52734dc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3c651f9fd44e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D6F40AD-B047-429D-BB85-5A370D3D6E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ADDD277-0CDC-4A39-B3C1-C4A98FF326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E93D1D-D629-4833-95E9-5E67F40291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A033AE-64A8-4964-A600-C09BD459D1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0D290E-74A8-46E0-BB0A-39D9FA4CB9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5D190EA-A647-4961-A1BA-414C6B142E0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7BDAE3B-85AC-4E4B-929F-1ACF89CA55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EDC12FD-4800-4FFA-998B-8E9F8ADE1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02F6DC-BBE5-40C5-868D-63D25AFE56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7F3092F-43A3-4742-BB0B-C07FF13BAE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31eea9dc891442f" /><Relationship Type="http://schemas.openxmlformats.org/officeDocument/2006/relationships/slideLayout" Target="/ppt/slideLayouts/slideLayout1.xml" Id="Rdedf7eb15d384eae" /><Relationship Type="http://schemas.openxmlformats.org/officeDocument/2006/relationships/slideLayout" Target="/ppt/slideLayouts/slideLayout2.xml" Id="R8450c260b9f9465d" /><Relationship Type="http://schemas.openxmlformats.org/officeDocument/2006/relationships/slideLayout" Target="/ppt/slideLayouts/slideLayout3.xml" Id="Ra25bf8f228c04d1a" /><Relationship Type="http://schemas.openxmlformats.org/officeDocument/2006/relationships/slideLayout" Target="/ppt/slideLayouts/slideLayout4.xml" Id="R5b5bc4629e304bc6" /><Relationship Type="http://schemas.openxmlformats.org/officeDocument/2006/relationships/slideLayout" Target="/ppt/slideLayouts/slideLayout5.xml" Id="R581604e9ca2a4632" /><Relationship Type="http://schemas.openxmlformats.org/officeDocument/2006/relationships/slideLayout" Target="/ppt/slideLayouts/slideLayout6.xml" Id="Rc89eda3b2d8049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df7eb15d384eae"/>
    <p:sldLayoutId xmlns:r="http://schemas.openxmlformats.org/officeDocument/2006/relationships" id="2147483650" r:id="R8450c260b9f9465d"/>
    <p:sldLayoutId xmlns:r="http://schemas.openxmlformats.org/officeDocument/2006/relationships" id="2147483651" r:id="Ra25bf8f228c04d1a"/>
    <p:sldLayoutId xmlns:r="http://schemas.openxmlformats.org/officeDocument/2006/relationships" id="2147483652" r:id="R5b5bc4629e304bc6"/>
    <p:sldLayoutId xmlns:r="http://schemas.openxmlformats.org/officeDocument/2006/relationships" id="2147483653" r:id="R581604e9ca2a4632"/>
    <p:sldLayoutId xmlns:r="http://schemas.openxmlformats.org/officeDocument/2006/relationships" id="2147483654" r:id="Rc89eda3b2d8049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0aa932d019431d" /><Relationship Type="http://schemas.openxmlformats.org/officeDocument/2006/relationships/notesSlide" Target="/ppt/notesSlides/notesSlide1.xml" Id="Rf08645724cec41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e27fa3c6574331" /><Relationship Type="http://schemas.openxmlformats.org/officeDocument/2006/relationships/notesSlide" Target="/ppt/notesSlides/notesSlide2.xml" Id="R5876e9fd1f954b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ec4ee6aefa4a80" /><Relationship Type="http://schemas.openxmlformats.org/officeDocument/2006/relationships/notesSlide" Target="/ppt/notesSlides/notesSlide3.xml" Id="R3293a8aac34047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0e9790d5284139" /><Relationship Type="http://schemas.openxmlformats.org/officeDocument/2006/relationships/image" Target="/ppt/media/image.png" Id="Radfdf0f5e0ec4a7b" /><Relationship Type="http://schemas.openxmlformats.org/officeDocument/2006/relationships/notesSlide" Target="/ppt/notesSlides/notesSlide4.xml" Id="Rd37aacaee4884d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91516ee2ba453c" /><Relationship Type="http://schemas.openxmlformats.org/officeDocument/2006/relationships/notesSlide" Target="/ppt/notesSlides/notesSlide5.xml" Id="R2ffbd0aaf4c04e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cdc774b8d64903" /><Relationship Type="http://schemas.openxmlformats.org/officeDocument/2006/relationships/chart" Target="/ppt/slides/charts/chart1.xml" Id="R4fb7f0d54bcc4ca5" /><Relationship Type="http://schemas.openxmlformats.org/officeDocument/2006/relationships/notesSlide" Target="/ppt/notesSlides/notesSlide6.xml" Id="Rbc3c66ecb7cb49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58dae4596041ba" /><Relationship Type="http://schemas.openxmlformats.org/officeDocument/2006/relationships/notesSlide" Target="/ppt/notesSlides/notesSlide7.xml" Id="R71f8ec6890c843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8f48e9f628477a" /><Relationship Type="http://schemas.openxmlformats.org/officeDocument/2006/relationships/notesSlide" Target="/ppt/notesSlides/notesSlide8.xml" Id="R1069d092312b41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d5e40133d34882" /><Relationship Type="http://schemas.openxmlformats.org/officeDocument/2006/relationships/notesSlide" Target="/ppt/notesSlides/notesSlide9.xml" Id="R76347434b6844b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ba37a36c4b4ce1" /><Relationship Type="http://schemas.openxmlformats.org/officeDocument/2006/relationships/notesSlide" Target="/ppt/notesSlides/notesSlide10.xml" Id="R56913bb2b6404dc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7111a6a75b450d" /><Relationship Type="http://schemas.openxmlformats.org/officeDocument/2006/relationships/chart" Target="/ppt/slides/charts/chart2.xml" Id="Rcf5c0a37ffb94b57" /><Relationship Type="http://schemas.openxmlformats.org/officeDocument/2006/relationships/notesSlide" Target="/ppt/notesSlides/notesSlide11.xml" Id="R4b6cc0cb06a4451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3aa6a56f2b457e" /><Relationship Type="http://schemas.openxmlformats.org/officeDocument/2006/relationships/chart" Target="/ppt/slides/charts/chart3.xml" Id="R0fe000abde8f43d7" /><Relationship Type="http://schemas.openxmlformats.org/officeDocument/2006/relationships/notesSlide" Target="/ppt/notesSlides/notesSlide12.xml" Id="R8540e5bf349a49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fc12f408942bd" /><Relationship Type="http://schemas.openxmlformats.org/officeDocument/2006/relationships/notesSlide" Target="/ppt/notesSlides/notesSlide13.xml" Id="Ra2600bcce74d402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e5c06ca0874b6c" /><Relationship Type="http://schemas.openxmlformats.org/officeDocument/2006/relationships/notesSlide" Target="/ppt/notesSlides/notesSlide14.xml" Id="Rd54c51f2e5ff4b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415b7bcff48db" /><Relationship Type="http://schemas.openxmlformats.org/officeDocument/2006/relationships/notesSlide" Target="/ppt/notesSlides/notesSlide15.xml" Id="Rd7f726abe41241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0f10c226d4ce1" /><Relationship Type="http://schemas.openxmlformats.org/officeDocument/2006/relationships/chart" Target="/ppt/slides/charts/chart4.xml" Id="R52e5db867c3149df" /><Relationship Type="http://schemas.openxmlformats.org/officeDocument/2006/relationships/notesSlide" Target="/ppt/notesSlides/notesSlide16.xml" Id="Re05600802c004ab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151d200fda44db" /><Relationship Type="http://schemas.openxmlformats.org/officeDocument/2006/relationships/notesSlide" Target="/ppt/notesSlides/notesSlide17.xml" Id="R2f4ea1116d5b44f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Data'!$A$2:$A$7</c:f>
              <c:strCache>
                <c:ptCount val="6"/>
                <c:pt idx="0">
                  <c:v>臺北市</c:v>
                </c:pt>
                <c:pt idx="1">
                  <c:v>新北市</c:v>
                </c:pt>
                <c:pt idx="2">
                  <c:v>臺中市</c:v>
                </c:pt>
                <c:pt idx="3">
                  <c:v>桃園市</c:v>
                </c:pt>
                <c:pt idx="4">
                  <c:v>新竹市</c:v>
                </c:pt>
                <c:pt idx="5">
                  <c:v>高雄市</c:v>
                </c:pt>
              </c:strCache>
            </c:strRef>
          </c:cat>
          <c:val>
            <c:numRef>
              <c:f>'Chart Data'!$B$2:$B$7</c:f>
              <c:numCache>
                <c:formatCode>0</c:formatCode>
                <c:ptCount val="6"/>
                <c:pt idx="0">
                  <c:v>2945</c:v>
                </c:pt>
                <c:pt idx="1">
                  <c:v>1480</c:v>
                </c:pt>
                <c:pt idx="2">
                  <c:v>1280</c:v>
                </c:pt>
                <c:pt idx="3">
                  <c:v>1161</c:v>
                </c:pt>
                <c:pt idx="4">
                  <c:v>1375</c:v>
                </c:pt>
                <c:pt idx="5">
                  <c:v>1050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35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858CCBD-B309-4AE4-AA5C-64909159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1CB3AA-5C26-4422-95C6-2E5C09374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A58751E-1573-43F5-85D9-3CE95CC4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6465569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DAAF2F-10AC-4F03-8637-069D77AD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簡報大綱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71F24C-B3A1-4CDA-AE74-D40C93B2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B3B3630-E3B0-42B5-9254-282195488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從資料整理到估價檢查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44B58F3-9F15-47E8-9AA0-390FE7E0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0502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792B96A-3B99-4CD2-967E-A85E73CF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10502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資料準備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8F3661-AA0A-4E2C-B330-C408FD2A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14312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程式流程、城市樣本、欄位與時間切分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16C5828-6BD6-4189-A36A-EF62878B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99814686-9FC6-4367-9F18-960672C9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067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模型訓練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03B88CF-8E0B-4C4A-AD8A-7D036C5A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10515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價格目標、面積、日期與參考單價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94941DD7-8D9E-4E52-8996-10740442C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29075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12079726-6812-421B-ADAC-E0E36095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290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預測整合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133FABE-6878-4A9E-B967-636940DF1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067175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組合不同模型，修正後取中位數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D4A7BA50-7F83-4CFA-9D93-B9D3E5591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A4C27393-828B-44E3-81E6-DC4920B6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99110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驗證與總結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D42CB712-0133-44E3-BB8E-E7A5C83D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29200"/>
            <a:ext cx="604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學習曲線與方法總結</a:t>
            </a:r>
          </a:p>
        </p:txBody>
      </p:sp>
    </p:spTree>
    <p:extLst>
      <p:ext uri="{BB962C8B-B14F-4D97-AF65-F5344CB8AC3E}">
        <p14:creationId xmlns:p14="http://schemas.microsoft.com/office/powerpoint/2010/main" val="6358973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AF7DF3-011F-47E7-A777-F0C2B4A34CE2}"/>
              </a:ext>
            </a:extLst>
          </p:cNvPr>
          <p:cNvCxnSpPr>
            <a:stCxn xmlns:a="http://schemas.openxmlformats.org/drawingml/2006/main" id="16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400050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BD2CF-0D3D-44FF-90B4-B1B75C680B82}"/>
              </a:ext>
            </a:extLst>
          </p:cNvPr>
          <p:cNvCxnSpPr>
            <a:stCxn xmlns:a="http://schemas.openxmlformats.org/drawingml/2006/main" id="13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7715250" y="45434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675153-A32E-49E4-9053-F5912223E25A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810750" y="3105150"/>
            <a:ext cx="0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28A14C-0F1E-4D4C-B4D7-595BDAF8FAA2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71525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1D534-B4E1-49DA-B5D0-515C51299F6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00500" y="24288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76E68"/>
            </a:solidFill>
            <a:prstDash val="solid"/>
            <a:tailEnd type="arrow" w="med" len="med"/>
          </a:ln>
        </p:spPr>
      </p:cxnSp>
      <p:sp>
        <p:nvSpPr>
          <p:cNvPr id="2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18F132-4BEF-4861-943E-28E29E3F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資料到答案的程式方塊圖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3D56BDD-028B-425E-8974-DD385E56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34296CAA-3750-489B-8673-3A53EC97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71AF3882-B517-4D26-A5AF-D438744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0B247C6-F4AB-459D-B6A4-17B73F82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  讀取與清理</a:t>
            </a:r>
          </a:p>
        </p:txBody>
      </p:sp>
      <p:sp>
        <p:nvSpPr>
          <p:cNvPr id="7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7E891964-5BFB-4D19-B5FD-26AD5714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66AA839-3738-44CD-A3DA-5AB72E30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  欄位解析</a:t>
            </a:r>
          </a:p>
        </p:txBody>
      </p:sp>
      <p:sp>
        <p:nvSpPr>
          <p:cNvPr id="10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9F998C89-6890-4D6C-9099-27EEF9D0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5260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A836B2D9-2782-4E84-A465-33CDA756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  依日期切分</a:t>
            </a:r>
          </a:p>
        </p:txBody>
      </p:sp>
      <p:sp>
        <p:nvSpPr>
          <p:cNvPr id="13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D6A5AE15-469C-4119-9848-D8F5B3B3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B7C15FF7-55F7-4D1F-91CE-E3E4DB62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  當期模型與規則</a:t>
            </a:r>
          </a:p>
        </p:txBody>
      </p:sp>
      <p:sp>
        <p:nvSpPr>
          <p:cNvPr id="16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87C1742C-FBEF-4781-8870-E496194F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21E7AFA5-3126-4AA5-B0B1-E8D01FAA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05  三分支與修正</a:t>
            </a:r>
          </a:p>
        </p:txBody>
      </p:sp>
      <p:sp>
        <p:nvSpPr>
          <p:cNvPr id="19" name="program-flow-block">
            <a:extLst xmlns:a="http://schemas.openxmlformats.org/drawingml/2006/main">
              <a:ext uri="{FF2B5EF4-FFF2-40B4-BE49-F238E27FC236}">
                <a16:creationId xmlns:a16="http://schemas.microsoft.com/office/drawing/2014/main" id="{C924EF57-FEFA-4358-AFA4-5C5CD99B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3238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CFA"/>
          </a:solidFill>
          <a:ln xmlns:a="http://schemas.openxmlformats.org/drawingml/2006/main" w="14288">
            <a:solidFill>
              <a:srgbClr val="276E68"/>
            </a:solidFill>
            <a:prstDash val="solid"/>
          </a:ln>
        </p:spPr>
      </p:sp>
      <p:sp>
        <p:nvSpPr>
          <p:cNvPr id="20" name="body">
            <a:extLst xmlns:a="http://schemas.openxmlformats.org/drawingml/2006/main">
              <a:ext uri="{FF2B5EF4-FFF2-40B4-BE49-F238E27FC236}">
                <a16:creationId xmlns:a16="http://schemas.microsoft.com/office/drawing/2014/main" id="{59E63CEF-C14E-4EA7-B61A-BE254FF8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2933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06  評分或輸出</a:t>
            </a:r>
          </a:p>
        </p:txBody>
      </p:sp>
    </p:spTree>
    <p:extLst>
      <p:ext uri="{BB962C8B-B14F-4D97-AF65-F5344CB8AC3E}">
        <p14:creationId xmlns:p14="http://schemas.microsoft.com/office/powerpoint/2010/main" val="15419516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2B1B99-3EAF-45F9-8C17-3EBDDAF7D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21EDA5-2887-43E9-AFCD-6B1109CC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BF3031DC-1495-414D-B8AB-88CF2DAB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C5B764B-9543-4584-849A-BBC8A866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8E329B8-4D70-419C-9193-F053256C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956DE3B-3CC0-4D4B-A475-EC4A2749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3A4C1E5-0913-4F1E-A89B-7799083E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CEF88CE-FE21-4E38-A725-443FAA53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4B4946-F0A9-4E9C-8C64-3DD983780E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fdf0f5e0ec4a7b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277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978C9C-2217-44D7-8540-068E241C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AE9BFD2-4E3D-4084-B455-21A2EB55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CD0C1A2-43B7-4EA5-AAD2-D6260B8D2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8834CE-70E0-48C7-A10A-CC84F711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29F31-D3C2-410E-8010-ACD6C0977E30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A645AD0-F3F0-46BE-966F-CA093A03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CBDD0C5-B477-43E1-87B9-E5FF8299F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484C59A-B745-4FC5-ADA6-37CC6A9F8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59D51269-4F8D-4FCD-BEAB-86240928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</p:spTree>
    <p:extLst>
      <p:ext uri="{BB962C8B-B14F-4D97-AF65-F5344CB8AC3E}">
        <p14:creationId xmlns:p14="http://schemas.microsoft.com/office/powerpoint/2010/main" val="17272663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5144AE-3935-45C6-A581-8E621D64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各城市的價格與樣本數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ED87961-E6FE-40EB-A655-C7DAAAEC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D8FB7CD-A823-4C43-A601-226B0D973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62FB4740-594F-4E10-9DFA-2622AEB2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清理後課程train：455,255筆，圖表節選6個城市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1042DA34-540A-4E4B-B437-2B8C3B487910}"/>
              </a:ext>
            </a:extLst>
          </p:cNvPr>
          <p:cNvGraphicFramePr/>
          <p:nvPr/>
        </p:nvGraphicFramePr>
        <p:xfrm>
          <a:off xmlns:a="http://schemas.openxmlformats.org/drawingml/2006/main" x="762000" y="2038350"/>
          <a:ext xmlns:a="http://schemas.openxmlformats.org/drawingml/2006/main" cx="7096125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b7f0d54bcc4ca5"/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C4C259D-B666-49FC-8DAE-685726D7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7096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各城市成交總價的中位數（萬元）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ADCFF8-783D-4336-A0FB-69E8ADC92508}"/>
              </a:ext>
            </a:extLst>
          </p:cNvPr>
          <p:cNvGraphicFramePr/>
          <p:nvPr/>
        </p:nvGraphicFramePr>
        <p:xfrm>
          <a:off xmlns:a="http://schemas.openxmlformats.org/drawingml/2006/main" x="8286750" y="2152650"/>
          <a:ext xmlns:a="http://schemas.openxmlformats.org/drawingml/2006/main" cx="314325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71625"/>
                <a:gridCol w="1571625"/>
              </a:tblGrid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城市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20,023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新北市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102,060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臺中市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83,686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桃園市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83,774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新竹市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9,493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4667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高雄市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>
                        <a:buNone/>
                      </a:pPr>
                      <a:r>
                        <a:rPr sz="17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40,980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99548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BC561B-5EF8-482C-9E80-B19BFC9D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46ED5CA-BD7F-4307-AAC6-DDD4495E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DF07B0A-C2EA-4AF1-8361-C512063B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36E237-68C6-40DE-8F9F-24A17A5AF27D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149689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23F5B45-00CA-4F47-BF61-ED342328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CF28976-2FC0-4293-B46B-68EBDBA5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EA2A9F5-D8D5-4572-B1AC-BE794A94A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8308168-0FBE-41F1-AFDB-6C25668BE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E4FB55-4B95-4FD1-BB61-5153550683D6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37489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2C386D-4E67-4C1D-BCA6-51718803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6D1CA16-D36A-4862-85E0-F243F4AC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8A8D4C9F-93C0-45C7-A065-983B2328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 資料準備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F6D68-0C15-43AD-916C-C9FBBC193112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36666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263C92-40ED-44EB-B803-073165ADE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模型方法與價格目標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915EA8-881B-4F3B-96F1-4B7F1F4E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6B77665-03B2-4582-BF02-073AC9D2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07659E-5664-42D9-B633-A70CC99B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單價樹模型：訓練答案＝已知總價 ÷ 有效面積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CB1025-56B2-4546-A26D-39E49FE0AC6B}"/>
              </a:ext>
            </a:extLst>
          </p:cNvPr>
          <p:cNvGraphicFramePr/>
          <p:nvPr/>
        </p:nvGraphicFramePr>
        <p:xfrm>
          <a:off xmlns:a="http://schemas.openxmlformats.org/drawingml/2006/main" x="762000" y="1885950"/>
          <a:ext xmlns:a="http://schemas.openxmlformats.org/drawingml/2006/main" cx="10668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05250"/>
                <a:gridCol w="2857500"/>
                <a:gridCol w="3905250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模型路線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先預測什麼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總價如何產生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單價樹模型、面積網路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每平方公尺單價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預測單價 × 有效面積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直接換回總價元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對數總價樹模型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取對數後的總價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將預測值還原為總價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相對參考價的倍率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× 有效面積 × 倍率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1986DD8-1866-4EA2-AE96-517A1F51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CatBoost：逐步加樹修正誤差，內建類別處理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2E688CA-C321-4659-A19E-8918CD88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LightGBM：數值分箱，優先細分能降低誤差的葉節點</a:t>
            </a:r>
          </a:p>
        </p:txBody>
      </p:sp>
    </p:spTree>
    <p:extLst>
      <p:ext uri="{BB962C8B-B14F-4D97-AF65-F5344CB8AC3E}">
        <p14:creationId xmlns:p14="http://schemas.microsoft.com/office/powerpoint/2010/main" val="1200029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26D012-6FB2-4ED4-BDD1-DEF5E273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5975E65-E3BB-4290-A2CF-185041E2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7932988E-8BFD-49A4-B0EA-062092A6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D62B1287-7629-426E-8E63-80D87BCE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ECC1926-BAC1-4C3D-B176-188F5A6C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36A4894-60B7-409C-8D5E-19659813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9D3FAA9-BB25-4115-8B0A-53D705BA3A08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5c0a37ffb94b57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389A2B6-FAD4-449D-8D0D-AE001BB5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</p:spTree>
    <p:extLst>
      <p:ext uri="{BB962C8B-B14F-4D97-AF65-F5344CB8AC3E}">
        <p14:creationId xmlns:p14="http://schemas.microsoft.com/office/powerpoint/2010/main" val="13981715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B1B0D76-909B-4561-B5EA-04C4E51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新舊交易的學習影響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04EE246-BE80-404F-AAAF-0D70331E5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2D8BD25-D2C5-4B8C-898B-5F78C8A68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1A8169A-2843-48C1-ABDC-B33CC71E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房價會隨時間改變，因此讓近期成交有較大影響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7ECB1A8-5697-499B-AFA1-90D1A056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權重：一筆交易對模型學習的影響程度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33007627-6EF6-44A6-B18B-5A6330576AC0}"/>
              </a:ext>
            </a:extLst>
          </p:cNvPr>
          <p:cNvGraphicFramePr/>
          <p:nvPr/>
        </p:nvGraphicFramePr>
        <p:xfrm>
          <a:off xmlns:a="http://schemas.openxmlformats.org/drawingml/2006/main" x="762000" y="2381250"/>
          <a:ext xmlns:a="http://schemas.openxmlformats.org/drawingml/2006/main" cx="70485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e000abde8f43d7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933EBC6-F0BE-4FC7-8688-3E15175A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5287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每早一年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影響降為一半</a:t>
            </a:r>
          </a:p>
        </p:txBody>
      </p:sp>
    </p:spTree>
    <p:extLst>
      <p:ext uri="{BB962C8B-B14F-4D97-AF65-F5344CB8AC3E}">
        <p14:creationId xmlns:p14="http://schemas.microsoft.com/office/powerpoint/2010/main" val="60225278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8D1C474-0F43-4DC0-BE78-F4799F86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相似交易提供參考單價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E492FE-96E4-48F9-957F-7603A6DB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557CAF62-21D9-4CC5-B956-96905DE3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 模型訓練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19B5AA9-42BF-40CC-B88E-A1EB93873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57325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用同類交易的中位單價作參考，近期交易影響較大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6F357D5-FDD5-4C7F-B10E-78D9AA23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教學假例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6ED182D-F388-420A-B295-FA937DBD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2619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20萬/m²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C317185-DBC8-408C-88AA-72E0186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71462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× 50m²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1AC47AB-4C22-4D11-AFFC-55BB60DD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14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× 1.1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28E2A5A-5FD4-49DF-9AD1-71028AA8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146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＝1,100萬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6BC64C1-CE31-48CC-BA02-F8E6C080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619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11980ABB-3216-4B9D-B0D1-D5DD52A9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48050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有效面積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613C70C7-78B8-4ED1-AE3F-E8679352A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模型學到的倍率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13A4CE63-CB47-4BA6-BFC8-4DEE7946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4805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預測總價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062B07E2-E05A-4B18-87FD-D7521EFE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參考價的分類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833761B7-5A07-4733-8B64-0F2C60E1A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43475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依地區、交易及建物類型整理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同類不足30筆，就逐層放寬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233FF17C-E1DA-400D-A506-ABF67DCD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291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訓練時隔開答案</a:t>
            </a:r>
          </a:p>
        </p:txBody>
      </p:sp>
      <p:sp>
        <p:nvSpPr>
          <p:cNvPr id="17" name="body">
            <a:extLst xmlns:a="http://schemas.openxmlformats.org/drawingml/2006/main">
              <a:ext uri="{FF2B5EF4-FFF2-40B4-BE49-F238E27FC236}">
                <a16:creationId xmlns:a16="http://schemas.microsoft.com/office/drawing/2014/main" id="{7E856546-0507-41B9-955C-A1615B22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43475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同建案放同組，分成5組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每組只參考其他4組的交易</a:t>
            </a:r>
          </a:p>
        </p:txBody>
      </p:sp>
    </p:spTree>
    <p:extLst>
      <p:ext uri="{BB962C8B-B14F-4D97-AF65-F5344CB8AC3E}">
        <p14:creationId xmlns:p14="http://schemas.microsoft.com/office/powerpoint/2010/main" val="17312927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E04C69-A4B2-4863-B0BB-3E23830E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1664D8D-67ED-4DCF-BA80-77AAE382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68CAC9A-6706-4521-A7B6-141EEEF7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B6E3E3F-251C-460C-996B-ECD8E387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9061D3-91C2-4C1F-A6B1-510717DDC03E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81274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744B949-4C19-497E-BC2A-1943BEEE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三路估價取中位數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58CB6E9-0CA3-480A-A1FE-CEE21559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D013E9AD-E057-4DB2-8481-67F27C8F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 預測整合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61651CE-D8A2-4740-B784-A884FD16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三路先完成成交與空間修正，再取中位數（以下為假例）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0AD124A-2635-4F81-8684-E5B65CB8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單價分支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D26FD02-D7F3-4F89-8E61-643DB50C9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9EF8E22B-3DB0-4924-9EDD-FAEE1FD2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038422B-3357-4B1D-BCF0-49F9E5D4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網路分支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A1D63AD9-0807-44A3-ABA4-39FE1767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BBA30AB6-9349-44E4-B614-CF78E985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B4C6DE05-AA06-4C92-BFF9-70E36F48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總價／對數分支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6880A578-DD6F-44E8-A188-6E4687017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71D25734-6090-4BC3-872F-ECDC89E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</p:spTree>
    <p:extLst>
      <p:ext uri="{BB962C8B-B14F-4D97-AF65-F5344CB8AC3E}">
        <p14:creationId xmlns:p14="http://schemas.microsoft.com/office/powerpoint/2010/main" val="32548422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BCDE0B-E070-4F80-9275-87BB2A4A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6543480-9476-4DD6-B347-31C578B0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B7F6FD1-64A9-46E6-A9D3-B5ABFBC9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驗證與總結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F93BB83-8E60-4B20-AD32-CC7E5C7AC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8DBDF38-51F3-41AA-987E-498EC690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C3D6CA0-7BF7-45FB-A603-25750434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A6158B4-981B-4DC3-BACC-6DEE5CA88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052E4C45-0020-4A6A-9F3A-E7C9EF05F4A0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2e5db867c3149df"/>
          </a:graphicData>
        </a:graphic>
      </p:graphicFrame>
    </p:spTree>
    <p:extLst>
      <p:ext uri="{BB962C8B-B14F-4D97-AF65-F5344CB8AC3E}">
        <p14:creationId xmlns:p14="http://schemas.microsoft.com/office/powerpoint/2010/main" val="121607934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50E7B28-7451-4E4B-8CC4-D689C500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63C8E9-20E5-4EBA-8CEF-B789A83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C91BB019-4F86-424E-8D85-BA403299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90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r">
              <a:buNone/>
              <a:def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 驗證與總結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C6448AF-FCE6-4414-9906-79FF01F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從房屋條件到總價估計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1FE5E7D-223D-4820-B10B-2FA540B5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資料：整理地點、面積與日期，用較早交易預測後一年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6573F1A-AB9B-4CA7-A0DB-4B401E68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方法：六模型還原總價，修正後取三路中位數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D22BA6EC-EA02-4001-BF37-46FB5A0A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19825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謝謝大家</a:t>
            </a:r>
          </a:p>
        </p:txBody>
      </p:sp>
    </p:spTree>
    <p:extLst>
      <p:ext uri="{BB962C8B-B14F-4D97-AF65-F5344CB8AC3E}">
        <p14:creationId xmlns:p14="http://schemas.microsoft.com/office/powerpoint/2010/main" val="121548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2026-10-19T12:24:49.2450000Z</dcterms:created>
  <dcterms:modified xsi:type="dcterms:W3CDTF">2026-10-19T12:24:49.2450000Z</dcterms:modified>
</coreProperties>
</file>