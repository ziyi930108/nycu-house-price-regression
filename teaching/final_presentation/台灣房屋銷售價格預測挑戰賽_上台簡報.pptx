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b1c4221fb843ea" /><Relationship Type="http://schemas.openxmlformats.org/officeDocument/2006/relationships/extended-properties" Target="/docProps/app.xml" Id="R72e26291e8fd4f50" /><Relationship Type="http://schemas.openxmlformats.org/officeDocument/2006/relationships/officeDocument" Target="/ppt/presentation.xml" Id="Rbd7f15c3cd5345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f006ecb924617"/>
  </p:sldMasterIdLst>
  <p:notesMasterIdLst>
    <p:notesMasterId xmlns:r="http://schemas.openxmlformats.org/officeDocument/2006/relationships" r:id="Rbfecc40538f743dd"/>
  </p:notesMasterIdLst>
  <p:sldIdLst>
    <p:sldId xmlns:r="http://schemas.openxmlformats.org/officeDocument/2006/relationships" id="256" r:id="Rdd409be40c044144"/>
    <p:sldId xmlns:r="http://schemas.openxmlformats.org/officeDocument/2006/relationships" id="257" r:id="R1d898716f9e44c3c"/>
    <p:sldId xmlns:r="http://schemas.openxmlformats.org/officeDocument/2006/relationships" id="258" r:id="Ra3427099f22a4a68"/>
    <p:sldId xmlns:r="http://schemas.openxmlformats.org/officeDocument/2006/relationships" id="259" r:id="Rf472bb0f99b848ea"/>
    <p:sldId xmlns:r="http://schemas.openxmlformats.org/officeDocument/2006/relationships" id="260" r:id="Rc0971ee4c00a434d"/>
    <p:sldId xmlns:r="http://schemas.openxmlformats.org/officeDocument/2006/relationships" id="261" r:id="R25491f76587142dd"/>
    <p:sldId xmlns:r="http://schemas.openxmlformats.org/officeDocument/2006/relationships" id="262" r:id="R3fdcb0c68fba4c90"/>
    <p:sldId xmlns:r="http://schemas.openxmlformats.org/officeDocument/2006/relationships" id="263" r:id="Raa640f9763fb4bbb"/>
    <p:sldId xmlns:r="http://schemas.openxmlformats.org/officeDocument/2006/relationships" id="264" r:id="R08dc736f08364992"/>
    <p:sldId xmlns:r="http://schemas.openxmlformats.org/officeDocument/2006/relationships" id="265" r:id="Ra1e13966e8e24ebe"/>
    <p:sldId xmlns:r="http://schemas.openxmlformats.org/officeDocument/2006/relationships" id="266" r:id="Rae1a7d18a51c477b"/>
    <p:sldId xmlns:r="http://schemas.openxmlformats.org/officeDocument/2006/relationships" id="267" r:id="Rce4567cb164e45c1"/>
    <p:sldId xmlns:r="http://schemas.openxmlformats.org/officeDocument/2006/relationships" id="268" r:id="Rb21fd0317fca4bfd"/>
    <p:sldId xmlns:r="http://schemas.openxmlformats.org/officeDocument/2006/relationships" id="269" r:id="R5cf005dc4bc14c42"/>
    <p:sldId xmlns:r="http://schemas.openxmlformats.org/officeDocument/2006/relationships" id="270" r:id="Rafc92b8307b14f18"/>
    <p:sldId xmlns:r="http://schemas.openxmlformats.org/officeDocument/2006/relationships" id="271" r:id="R6a89f44cbee148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5d8742e7a948aa" /><Relationship Type="http://schemas.openxmlformats.org/officeDocument/2006/relationships/slideMaster" Target="/ppt/slideMasters/slideMaster1.xml" Id="R3eef006ecb924617" /><Relationship Type="http://schemas.openxmlformats.org/officeDocument/2006/relationships/notesMaster" Target="/ppt/notesMasters/notesMaster1.xml" Id="Rbfecc40538f743dd" /><Relationship Type="http://schemas.openxmlformats.org/officeDocument/2006/relationships/presProps" Target="/ppt/presProps.xml" Id="Raa34f4e478f6473b" /><Relationship Type="http://schemas.openxmlformats.org/officeDocument/2006/relationships/tableStyles" Target="/ppt/tableStyles.xml" Id="R9c4008bec4284a12" /><Relationship Type="http://schemas.openxmlformats.org/officeDocument/2006/relationships/slide" Target="/ppt/slides/slide1.xml" Id="Rdd409be40c044144" /><Relationship Type="http://schemas.openxmlformats.org/officeDocument/2006/relationships/slide" Target="/ppt/slides/slide2.xml" Id="R1d898716f9e44c3c" /><Relationship Type="http://schemas.openxmlformats.org/officeDocument/2006/relationships/slide" Target="/ppt/slides/slide3.xml" Id="Ra3427099f22a4a68" /><Relationship Type="http://schemas.openxmlformats.org/officeDocument/2006/relationships/slide" Target="/ppt/slides/slide4.xml" Id="Rf472bb0f99b848ea" /><Relationship Type="http://schemas.openxmlformats.org/officeDocument/2006/relationships/slide" Target="/ppt/slides/slide5.xml" Id="Rc0971ee4c00a434d" /><Relationship Type="http://schemas.openxmlformats.org/officeDocument/2006/relationships/slide" Target="/ppt/slides/slide6.xml" Id="R25491f76587142dd" /><Relationship Type="http://schemas.openxmlformats.org/officeDocument/2006/relationships/slide" Target="/ppt/slides/slide7.xml" Id="R3fdcb0c68fba4c90" /><Relationship Type="http://schemas.openxmlformats.org/officeDocument/2006/relationships/slide" Target="/ppt/slides/slide8.xml" Id="Raa640f9763fb4bbb" /><Relationship Type="http://schemas.openxmlformats.org/officeDocument/2006/relationships/slide" Target="/ppt/slides/slide9.xml" Id="R08dc736f08364992" /><Relationship Type="http://schemas.openxmlformats.org/officeDocument/2006/relationships/slide" Target="/ppt/slides/slide10.xml" Id="Ra1e13966e8e24ebe" /><Relationship Type="http://schemas.openxmlformats.org/officeDocument/2006/relationships/slide" Target="/ppt/slides/slide11.xml" Id="Rae1a7d18a51c477b" /><Relationship Type="http://schemas.openxmlformats.org/officeDocument/2006/relationships/slide" Target="/ppt/slides/slide12.xml" Id="Rce4567cb164e45c1" /><Relationship Type="http://schemas.openxmlformats.org/officeDocument/2006/relationships/slide" Target="/ppt/slides/slide13.xml" Id="Rb21fd0317fca4bfd" /><Relationship Type="http://schemas.openxmlformats.org/officeDocument/2006/relationships/slide" Target="/ppt/slides/slide14.xml" Id="R5cf005dc4bc14c42" /><Relationship Type="http://schemas.openxmlformats.org/officeDocument/2006/relationships/slide" Target="/ppt/slides/slide15.xml" Id="Rafc92b8307b14f18" /><Relationship Type="http://schemas.openxmlformats.org/officeDocument/2006/relationships/slide" Target="/ppt/slides/slide16.xml" Id="R6a89f44cbee148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d9e52c0716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58b395e66d4715" /><Relationship Type="http://schemas.openxmlformats.org/officeDocument/2006/relationships/notesMaster" Target="/ppt/notesMasters/notesMaster1.xml" Id="Rf5d9240cfe1c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7af3170ee40b7" /><Relationship Type="http://schemas.openxmlformats.org/officeDocument/2006/relationships/notesMaster" Target="/ppt/notesMasters/notesMaster1.xml" Id="R83ed2ed0068b4c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2b69728118469a" /><Relationship Type="http://schemas.openxmlformats.org/officeDocument/2006/relationships/notesMaster" Target="/ppt/notesMasters/notesMaster1.xml" Id="R71d37e0c692d4f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454eef7543434f" /><Relationship Type="http://schemas.openxmlformats.org/officeDocument/2006/relationships/notesMaster" Target="/ppt/notesMasters/notesMaster1.xml" Id="R3b07e6aabace42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09c17c30e5407f" /><Relationship Type="http://schemas.openxmlformats.org/officeDocument/2006/relationships/notesMaster" Target="/ppt/notesMasters/notesMaster1.xml" Id="Rdde43bec8a07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e961c72d54e17" /><Relationship Type="http://schemas.openxmlformats.org/officeDocument/2006/relationships/notesMaster" Target="/ppt/notesMasters/notesMaster1.xml" Id="R0ad9e24efde74b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961281a8114ff7" /><Relationship Type="http://schemas.openxmlformats.org/officeDocument/2006/relationships/notesMaster" Target="/ppt/notesMasters/notesMaster1.xml" Id="R24b22d4e4f9240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952317dee4498" /><Relationship Type="http://schemas.openxmlformats.org/officeDocument/2006/relationships/notesMaster" Target="/ppt/notesMasters/notesMaster1.xml" Id="Rbdecfaa045d042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3bccf9d2d74716" /><Relationship Type="http://schemas.openxmlformats.org/officeDocument/2006/relationships/notesMaster" Target="/ppt/notesMasters/notesMaster1.xml" Id="R1d4bd083411e47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40d82cc25e45b9" /><Relationship Type="http://schemas.openxmlformats.org/officeDocument/2006/relationships/notesMaster" Target="/ppt/notesMasters/notesMaster1.xml" Id="Rcf3f61bf7e004d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6ccd33b7784bd5" /><Relationship Type="http://schemas.openxmlformats.org/officeDocument/2006/relationships/notesMaster" Target="/ppt/notesMasters/notesMaster1.xml" Id="R354b7aa196d44e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06ccfa9d06426d" /><Relationship Type="http://schemas.openxmlformats.org/officeDocument/2006/relationships/notesMaster" Target="/ppt/notesMasters/notesMaster1.xml" Id="Rd3a4d56bb3e148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60b9764f1041a8" /><Relationship Type="http://schemas.openxmlformats.org/officeDocument/2006/relationships/notesMaster" Target="/ppt/notesMasters/notesMaster1.xml" Id="R6cf4c1b777784f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f6a2419abd4117" /><Relationship Type="http://schemas.openxmlformats.org/officeDocument/2006/relationships/notesMaster" Target="/ppt/notesMasters/notesMaster1.xml" Id="R24ad9d15f7c046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03d3d52096475a" /><Relationship Type="http://schemas.openxmlformats.org/officeDocument/2006/relationships/notesMaster" Target="/ppt/notesMasters/notesMaster1.xml" Id="R6251c306d5a94d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c4f7da04ac49e0" /><Relationship Type="http://schemas.openxmlformats.org/officeDocument/2006/relationships/notesMaster" Target="/ppt/notesMasters/notesMaster1.xml" Id="R6975d3c57b634c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大家好，我是廖子頤，今天介紹台灣房屋銷售價格預測挑戰賽。我拿到的是一張交易資料表，每列代表一筆交易，裡面有面積、地點、樓層和交易日期。部分資料附有成交總價，另一部分需要我們預測。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接下來我會照製作順序說明：怎麼把原始欄位整理好，怎麼讓模型從有答案的交易學習，以及怎麼用較晚成交的交易檢查。每一步都會說明實際動作與原因，讓大家知道最後的預測是如何做出來的。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先定義一筆交易的輸入與輸出，讓零基礎聽眾知道整份報告要解決的問題。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第一步，我先區分條件和答案。地點、面積、樓層、建物類型與交易日期，是預測時可用的條件，叫作特徵。已知成交總價是答案，也叫標籤。要預測連續金額，這個任務叫回歸。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把條件放成輸入表，把成交總價另外保存。訓練時，模型先根據條件估價，和答案比較，再利用差距調整規則。完成後保存規則，遇到沒有答案的新交易，就只提供條件，產生估價。套用保存規則的動作叫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同樣面積，地區不同可能差很多。因此要從大量交易學習多個條件的共同影響，再用另一批資料檢查。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先教會訓練和推論的差異，避免將模型當成上網搜尋價格或背出固定答案。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訓練之前，我先決定怎麼檢查預測。比賽使用平均絕對誤差，英文縮寫是ＭＡＥ，單位是新臺幣元。每筆預測減掉真實總價，取絕對值，再把整批差距平均。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畫面是教學假設。兩間房的真價都是一千萬元，第一間估一千一百萬，差一百萬。第二間估九百五十萬，差五十萬。把一百萬和五十萬加起來，再除以兩筆，得到七十五萬元。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採絕對值，是因為高估和低估都是誤差，不能讓正負號抵銷。ＭＡＥ越低，代表平均相差的金額越小。它不是答對比例，也不是每間房都差七十五萬。比較方法時，必須使用同一批交易、同一個金額單位。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完整算一次比只展示公式容易理解，也能預防把MAE當成百分比或有正負號的平均誤差。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訓練資料先排除混入的英文表頭與完全重複紀錄，待預測資料的列仍完整保留。接著用程式規則，逐欄解析文字。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數值先去除逗號，再轉成可運算的數字。日期辨識民國年月日，年份加一千九百一十一轉成西元，再拆出年、月、季。樓層辨識中文數字和地下標記，例如十二層轉成十二，地下二層轉成負二，另外保留地下室或整棟標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址先把台字統一成臺字，再依縣市、區鄉鎮市、路街和段的名稱結尾，拆成不同欄位。以假地址臺北市大安區和平東路一段一百號為例，城市與行政區分別是臺北市和大安區，道路欄是和平東路，段別欄是一段。這樣就能比較不同交易的地區與道路條件。交易筆棟數則依土地、建物、車位三個標籤，擷取後面的數字。因此土地一建物一車位零，會變成三個數值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空白或解析失敗時，保留缺失或異常標記，不假裝內容已知。這一步統一格式，下一步才選擇模型輸入。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逐欄說明解析規則與產生欄位，讓聽眾能解釋實際如何整理原始文字，而不是只背轉換後數字。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欄位整理好後，我選擇模型可用的線索。面積、樓層、地點和日期描述交易條件。成交總價另存成答案，不能混進條件，否則模型會直接看到答案。編號只保留來對齊輸出，不交給模型估價。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個欄位也要檢查預測當下能不能取得。完整備註可能含價格，因此不輸入全文，只保留有限的條件標記。解約資訊可能在交易後產生，也排除。建築完成年月不可用，不能硬算屋齡；管理組織沒有變化，也不提供辨識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整理後有八十七個基礎欄位，部分模型加入八個不含價格的道路地理欄位，成為九十五欄，其中二十三欄是類別。道路代表點只提供大致位置。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數值用訓練中位數填補、調整尺度，另外保留缺失旗標，讓模型知道原始值曾經缺少，避免把填補值誤認為真正量測值。類別先建立代碼表，再學習數字表示。代碼只代表名稱，大小不代表地區或建案等級。填補值、尺度與代碼都只從當期訓練資料建立，驗證和新交易沿用同一套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以欄位用途與可取得時間說明選擇依據，區分條件、答案和輸出識別碼。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我把有答案的交易依日期切開，較早的用來學習，後一年保留檢查，叫作時間驗證。後一年雖然有真價，訓練時先不讓模型看到，預測完成後才評分。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房價會隨時間改變，隨機混合不同年份，可能無法反映用過去估未來的情況。因此設定三個八月起點，再補一個二月起點，檢查換時間界線後是否仍適用。表格左邊是訓練截止日期，右邊是接著預測的一年。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每換起點，都重新建立該期模型與資料處理規則。類別代碼、填補值、參考單價、成交及空間參考，只能用起點以前的交易。不能拿後期已學過的模型回測早期資料。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這些期間已反覆用於開發，而且彼此重疊，不能當成四次獨立的新考試。未知資料的表現仍需另外確認。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先用新舊題目教過擬合，再說明時間隔離需涵蓋所有fit狀態，並保留反覆選型限制。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這頁先說清楚：有些模型先估單價，再乘回面積；也有模型直接估總價，不能把所有預測都再乘一次面積。樹模型和神經網路是學習方法，單價或總價則是要學的答案，這是兩個不同的選擇。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樹模型訓練時，我把已知成交總價除以有效面積，得到每平方公尺單價，作為學習答案。預測新交易時，只輸入房屋條件，由模型估出單價，再乘已知面積。例如估每平方公尺二十萬元、面積五十平方公尺，總價就是一千萬元。未知交易的總價沒有拿來計算輸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直接總價模型學成交總價。對數模型先把總價取對數，壓縮金額尺度，預測後再做反向轉換。參考單價網路則先用訓練交易建立參考價，再預測調整倍率。參考單價乘面積、再乘倍率，才得到總價。倍率是一點一，就代表在參考總價上乘一點一。倍率是調整參考總價的方法，不是另外一份價格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同訓練流程是輸入條件、產生預測、依學習目標計算損失，再更新模型。單價樹模型比較單價誤差，搭配面積等權重；面積網路與參考單價網路則換回總價計算損失。對數模型比較的是對數尺度誤差，不能說每個模型都直接用總價ＭＡＥ訓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樹模型逐步增加小樹修正誤差；神經網路依損失反向更新參數。參考單價網路每批兩千零四十八筆，固定三十輪，一批更新一次，一輪包含多批。驗證時固定參數，不繼續學習。所有輸出都先換回總價元，才進行融合、修正與總價ＭＡＥ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區分學習演算法與價格表示，明示單價答案的建立及預測後乘回面積；補上參考網路預測正倍率、對數反向轉換。各模型原生訓練損失不同，融合與最終評分才統一為總價元，避免重複乘面積或誤稱所有模型直接最小化總價MA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價格目標有三種。第一種直接學成交總價。第二種把總價除以有效面積，學每平方公尺單價，預測後乘回面積。第三種將總價取對數，壓縮大金額尺度，提供另一種學習角度。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單價時還要處理面積影響。教學假設中，兩間房是五十和一百平方公尺，單價都估錯一萬元，總價卻分別差五十萬和一百萬。把兩筆單價誤差看得一樣重，就沒有對齊比賽關心的總價誤差，所以相關模型加入面積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有效面積依固定規則選取，建物面積不可用時改用車位面積，再沒有才用一，避免無法相除。對數預測要做反向轉換，單價要乘回有效面積，不能直接和總價平均。最後統一成總價元，才能組合與評分。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用同單價誤差導致不同總價誤差，解釋面積權重的必要性，並區分log原生loss與最終評估。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上一頁說明面積如何影響總價誤差，接著我處理交易日期。房價會隨時間改變，所以我讓較近期成交對學習有較大影響。這個影響程度叫權重，會乘在每筆交易的訓練損失上。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圖中是正規化前的相對比例。當期最新的有效日期設為一，早三百六十五天是零點五，早七百三十天是零點二五。每早一年，原始影響降為一半，這個設定叫三百六十五天半衰期。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權重調整的是學習影響，成交價仍維持原值，舊交易也繼續參與。單價樹模型還搭配面積權重，參考單價網路使用日期加權損失，其他模型保留各自設定。下一頁建立參考單價時，也會讓近期成交有較大的影響。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先接續上一頁的面積誤差，再交代日期加權的動機，定義權重後才讀圖。一年是365天，1、0.5、0.25是正規化前原始相對比例。實際有效日期權重除以有效參考列權重平均值，無效日期給1；相對於每次reference資料中的最新有效日期計算，OOF補集各自建立anchor。日期權重在NN訓練時乘loss，在下一頁先驗建立時用於加權中位數，屬兩個不同作用。單價樹另有面積權重，不宣稱六模型都共用同一權重，也不保證加權一定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src/round107_weighted_smooth_train.py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接著，我替房子找一個估價起點。用當期訓練交易，依城市、行政區、交易類型和建物類型分類，整理參考單價，稱為分組先驗。採用中位單價，近期交易的影響較大；同類不足三十筆就逐層放寬條件。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畫面是假設例子。參考單價每平方公尺二十萬元，面積五十平方公尺，參考總價是一千萬元。神經網路再依房屋條件學調整倍率。假設倍率是一點一，預測總價就是一千一百萬元。倍率由模型學習，不是我逐筆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右下方是防止答案回流的另一個動作。建立訓練用參考價時，依建案分成五組，同建案留在同組。每組只用其他四組建立參考價，排除自己所在整組的答案。這是按建案隔開，沒有按年份切成五段。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預測新的交易時，沿用當期完整訓練資料建立的參考表，不使用新交易的真價。模型先有參考價，再學如何調整，最後換成總價。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畫面先展示參考單價及具體金額，再分開說明查表分類與訓練時隔開答案，避免把兩種分組混為一談。先驗精確查詢依序為城市＋行政區＋交易類型＋建物類型，城市＋交易類型＋建物類型，交易類型＋建物類型，交易類型，最後全域。前四層至少30筆原始reference交易；採365天日期加權中位單價，全域不受30筆門檻限制。建案不是先驗查表key，是OOF隔離分組；同組與同折的全部標籤均排除，訓練每列先驗可用同一fit範圍內較晚交易，故不是時間OOF。各時間切點的query標籤不參與先驗；query查完整當期fit。正倍率由Softplus直接輸出，並非log倍率再exp；總價＝參考單價×有效面積×倍率。NN固定30輪，日期加權SmoothL1轉折為10萬元，參考價加權中位數與NN損失加權是不同步驟。例子20萬元/m²、50m²、1.1及1100萬元皆為教學假設，未當成實際評分或真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src/round52_price_prior.py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src/round107_weighted_smooth_train.py</a:t>
            </a:r>
          </a:p>
          <a:p xmlns:a="http://schemas.openxmlformats.org/drawingml/2006/main">
            <a:r>
              <a:t>reports/v25_method_and_code_20261010.md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較早的三十二萬一千五百五十筆交易用來訓練，日期截至二〇二三年八月十日。後面的十三萬三千六百九十七筆，是二〇二三年八月十一日至二〇二四年八月十日成交，保留驗證。兩批都從原本有答案的訓練資料切出，不是課程驗證檔或比賽測試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橫軸是輪數，一輪代表學過一遍訓練資料。縱軸是不加權的總價ＭＡＥ。藍線評估訓練交易，橘線評估沒參與學習的後一年交易。訓練用日期加權損失，曲線呈現不加權總價誤差，才能和評分單位一致。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製作時，我另外按固定配方訓練一支參考單價網路，保存三十輪模型。全部封存後才讀驗證答案，逐輪重載、關閉隨機丟棄，再計算兩批誤差。沒有用最低點選輪數；這也不是原提交模型當時的紀錄，或完整融合的曲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藍線和橘線不是同一批交易，不能只看誰高誰低就判定好壞。觀察兩線，是檢查學習是否只改善練習資料。後段驗證波動趨平，仍不能證明沒有過擬合。時間組成與先驗建立方式也影響差距。輪數只是學習次數，不等於模型容量或ＶＣ維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用明確日期和資料角色定義時間驗證，區分固定設定診斷與完整融合，避免曲線選型。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各模型先統一輸出總價元，再組成三條分支。第一路以單價ＣａｔＢｏｏｓｔ為主，第二路平均面積網路與參考單價網路，第三路平均直接總價與對數總價模型。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每路再加入同一個ＬｉｇｈｔＧＢＭ預測。主要部分占百分之七十五，共同部分占百分之二十五，全部四個樹模型、兩個神經網路，形成三個初估。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教學假設中，主要部分估一千萬，共同部分估一千兩百萬。一千萬乘零點七五，加上一千兩百萬乘零點二五，得到一千零五十萬。這是加權平均，還沒取中位數。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運算前，先核對交易順序和金額單位。固定比例沒有證明最佳，三路也共用同一模型，不能當成完全獨立的估價者。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分開解釋六模型和三分支，以同一間房的總價示例算一次75／25，再銜接後續修正。例子只說明運算，沒有證明這組比例最佳。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三路初估接著各自做成交參考與空間修正，補充同建案或附近街區的歷史差異。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先找當期訓練資料中同建案、同地址或同道路的可比成交，結合物件條件與訓練資料學到的時間趨勢，調整初估。同道路的交易時間、用途或面積可能不同，不能直接複製某筆價格。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再使用粗略道路位置附近、條件相容的歷史交易，補充參考較弱的情況。空間修正同時讀取原初估與第一步結果，依支持條件決定採用程度，資料不足就回退，避免勉強修正。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價格參考只來自當期訓練資料，道路代表點不是精確門牌。三路各自完成後，仍有三個總價，再合成一個。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補足初估、成交參考和空間修正的資料流，明說每支各自處理、修正後仍是三個價格。保留當期訓練來源、支持條件及道路精度限制。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我對每筆交易取三路中位數：把修正後總價由小到大排序，取中間那個。教學例子中，一千萬、一千一百萬和一千六百萬，得到一千一百萬元。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中位數減少單一路線極端價格的影響，但可能捨掉剛好正確的高估價。三路一起高估或低估，仍會估錯，不能保證提升準確率。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順序是各模型還原總價、各分支修正，再逐筆取中位數。已經是總價，不能再乘面積。最後才取整，輸出編號與總價兩欄，核對四萬七千零七十三筆的列數和順序。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這次最終交付只新增參考單價網路訓練，其餘五模型沿用保存的預測向量。程式和證據都有保存，但尚未驗證乾淨環境六模型全部從頭重訓。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用排序手算建立median直覺，保留它可能阻擋正確極端與無法消除共同偏差的限制。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完成流程後，我更換時間起點，重建當期模型與參考，再計算後一年的總價ＭＡＥ。表格每列是不同驗證期間，評分的是三分支修正後取中位數的完整方法。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比較時，先確認基準與目前方法使用同一批交易，再算目前方法減基準的差值。正數代表平均誤差增加，負數代表減少。最早年度是正差，中間、最近年度及二月起點是負差。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四個期間，是檢查換到不同市場是否一致，不能畫成同一批資料越練越好的曲線。差值由未取整的ＭＡＥ計算。基準的參考單價網路採日期加權絕對誤差，其他設定固定。基準沿用保存預測，沒有同期配對重訓，不能把差異全歸因於平滑損失。窗口已反覆使用，也有選型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呈現更換切點後重建與評分的檢查流程，保留不同集合與保存基準的比較限制。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將驗證交易拆組檢查。我用當期訓練資料的城市、行政區與建案名稱，建立見過的建案清單，再分成既有建案、新建案和建案缺失，各組計算ＭＡＥ。也檢查城市、月份和價格帶，避免平均掩蓋某群問題。價格帶只在有真價的離線資料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這是評估已有預測，沒有分群重新訓練。最近年度既有建案誤差增加二百一十三點一〇元，新建案減少二千八百四十一點六一元，不能宣稱每群改善。最早年度也退步，跨期一致改善的強推薦條件沒有通過。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個離線較好的方法，公開ＭＡＥ反而約兩百零八點三〇萬元，比基準差。最近年度按建案重抽樣，差值區間負三千五百九十四點九一元到正五百二十三點三五元，跨過零。它只描述既有預測的不確定性，沒有涵蓋重訓與選型偏差，也不是隱藏分數的勝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歷史窗口已反覆使用，Ｐｒｉｖａｔｅ成績仍未知，不能保證新資料一定改善。以上是製作與檢查預測的流程，謝謝大家。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補充理由</a:t>
            </a:r>
          </a:p>
          <a:p xmlns:a="http://schemas.openxmlformats.org/drawingml/2006/main">
            <a:r>
              <a:t>說明如何建立群別及逐群評分，完整保留不利對照、重抽樣界線與未知Private。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資料依據</a:t>
            </a:r>
          </a:p>
          <a:p xmlns:a="http://schemas.openxmlformats.org/drawingml/2006/main">
            <a:r>
              <a:t>課程交易資料、保存的程式與發行證據、方法與程式導覽。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9ddcb7a4c4e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df6995bac4d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ff76ca0c74c3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bbfc26f3a4f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918a1366b43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4b26c2edb4a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8D0861-CA3E-476E-B33D-8A9A514AA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2638B8-1350-4F60-B69C-A747E43287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97C9B1-316D-4D80-A741-FB2D6AC0E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2F532-454C-43E6-AD5F-1678C3144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5ECFD2-37CA-4ADE-9C6A-6513C7080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FA14BD-FDE9-454D-80F9-EDC0065A2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A35BA6-C13F-4955-B421-3CC2CABDA5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3E4FF4C-11E2-42A3-96D8-8799A9D16B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1018-0C1F-43E6-8033-F4B466486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15E836-47B9-4B40-A22F-520C7B9287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ab33803f9641d3" /><Relationship Type="http://schemas.openxmlformats.org/officeDocument/2006/relationships/slideLayout" Target="/ppt/slideLayouts/slideLayout1.xml" Id="Re7e423c56c7e41f2" /><Relationship Type="http://schemas.openxmlformats.org/officeDocument/2006/relationships/slideLayout" Target="/ppt/slideLayouts/slideLayout2.xml" Id="Rce4a9a7b29b7447c" /><Relationship Type="http://schemas.openxmlformats.org/officeDocument/2006/relationships/slideLayout" Target="/ppt/slideLayouts/slideLayout3.xml" Id="Ree3db68674d04e43" /><Relationship Type="http://schemas.openxmlformats.org/officeDocument/2006/relationships/slideLayout" Target="/ppt/slideLayouts/slideLayout4.xml" Id="R5e6bbb260a274424" /><Relationship Type="http://schemas.openxmlformats.org/officeDocument/2006/relationships/slideLayout" Target="/ppt/slideLayouts/slideLayout5.xml" Id="Rb36a12ccb8124c9d" /><Relationship Type="http://schemas.openxmlformats.org/officeDocument/2006/relationships/slideLayout" Target="/ppt/slideLayouts/slideLayout6.xml" Id="R3a73c30b2a884b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423c56c7e41f2"/>
    <p:sldLayoutId xmlns:r="http://schemas.openxmlformats.org/officeDocument/2006/relationships" id="2147483650" r:id="Rce4a9a7b29b7447c"/>
    <p:sldLayoutId xmlns:r="http://schemas.openxmlformats.org/officeDocument/2006/relationships" id="2147483651" r:id="Ree3db68674d04e43"/>
    <p:sldLayoutId xmlns:r="http://schemas.openxmlformats.org/officeDocument/2006/relationships" id="2147483652" r:id="R5e6bbb260a274424"/>
    <p:sldLayoutId xmlns:r="http://schemas.openxmlformats.org/officeDocument/2006/relationships" id="2147483653" r:id="Rb36a12ccb8124c9d"/>
    <p:sldLayoutId xmlns:r="http://schemas.openxmlformats.org/officeDocument/2006/relationships" id="2147483654" r:id="R3a73c30b2a884b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093c7c4714e78" /><Relationship Type="http://schemas.openxmlformats.org/officeDocument/2006/relationships/notesSlide" Target="/ppt/notesSlides/notesSlide1.xml" Id="R420174baf9e946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ac7f40c604020" /><Relationship Type="http://schemas.openxmlformats.org/officeDocument/2006/relationships/image" Target="/ppt/media/image.png" Id="R576471fd0c9c4cf8" /><Relationship Type="http://schemas.openxmlformats.org/officeDocument/2006/relationships/notesSlide" Target="/ppt/notesSlides/notesSlide2.xml" Id="R5739a1a46f3847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ce9ebf2c74df3" /><Relationship Type="http://schemas.openxmlformats.org/officeDocument/2006/relationships/notesSlide" Target="/ppt/notesSlides/notesSlide3.xml" Id="Raa3cdc59e9dc4d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b587e906148d1" /><Relationship Type="http://schemas.openxmlformats.org/officeDocument/2006/relationships/notesSlide" Target="/ppt/notesSlides/notesSlide4.xml" Id="Rf141a624701d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2e32361138461a" /><Relationship Type="http://schemas.openxmlformats.org/officeDocument/2006/relationships/notesSlide" Target="/ppt/notesSlides/notesSlide5.xml" Id="R4be7ab5748a046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164d2876c4f56" /><Relationship Type="http://schemas.openxmlformats.org/officeDocument/2006/relationships/notesSlide" Target="/ppt/notesSlides/notesSlide6.xml" Id="R58ec1f2799b7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b09b2307314fcd" /><Relationship Type="http://schemas.openxmlformats.org/officeDocument/2006/relationships/notesSlide" Target="/ppt/notesSlides/notesSlide7.xml" Id="R10e367dd504b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8e8660bcf4f6f" /><Relationship Type="http://schemas.openxmlformats.org/officeDocument/2006/relationships/chart" Target="/ppt/slides/charts/chart1.xml" Id="R9402b61c0b834fff" /><Relationship Type="http://schemas.openxmlformats.org/officeDocument/2006/relationships/notesSlide" Target="/ppt/notesSlides/notesSlide8.xml" Id="R2b6165d4c9a44e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62591d613443e0" /><Relationship Type="http://schemas.openxmlformats.org/officeDocument/2006/relationships/chart" Target="/ppt/slides/charts/chart2.xml" Id="Rfbf0a3a4a5224da3" /><Relationship Type="http://schemas.openxmlformats.org/officeDocument/2006/relationships/notesSlide" Target="/ppt/notesSlides/notesSlide9.xml" Id="Rb820ca1ec64b46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8b0c94dcb4ad8" /><Relationship Type="http://schemas.openxmlformats.org/officeDocument/2006/relationships/notesSlide" Target="/ppt/notesSlides/notesSlide10.xml" Id="R13c37c75f4ae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cca079c014883" /><Relationship Type="http://schemas.openxmlformats.org/officeDocument/2006/relationships/chart" Target="/ppt/slides/charts/chart3.xml" Id="R11cb724e9f8a4fd3" /><Relationship Type="http://schemas.openxmlformats.org/officeDocument/2006/relationships/notesSlide" Target="/ppt/notesSlides/notesSlide11.xml" Id="Rc25c9570c95e45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8c43093c54bef" /><Relationship Type="http://schemas.openxmlformats.org/officeDocument/2006/relationships/notesSlide" Target="/ppt/notesSlides/notesSlide12.xml" Id="Re7fc04eeb59e4d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d68b109fd4761" /><Relationship Type="http://schemas.openxmlformats.org/officeDocument/2006/relationships/notesSlide" Target="/ppt/notesSlides/notesSlide13.xml" Id="R3e1fcfe40f3344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8ac828f4a4ca9" /><Relationship Type="http://schemas.openxmlformats.org/officeDocument/2006/relationships/notesSlide" Target="/ppt/notesSlides/notesSlide14.xml" Id="R5b93c5edf8324a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4571131f64f26" /><Relationship Type="http://schemas.openxmlformats.org/officeDocument/2006/relationships/notesSlide" Target="/ppt/notesSlides/notesSlide15.xml" Id="Rb20eca7689bf46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8f6e33db64c0f" /><Relationship Type="http://schemas.openxmlformats.org/officeDocument/2006/relationships/notesSlide" Target="/ppt/notesSlides/notesSlide16.xml" Id="R9e8abfa144324b9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76E68"/>
            </a:solidFill>
          </c:spPr>
          <c:cat>
            <c:strRef>
              <c:f>'Chart Data'!$A$2:$A$3</c:f>
              <c:strCache>
                <c:ptCount val="2"/>
                <c:pt idx="0">
                  <c:v>50 m²</c:v>
                </c:pt>
                <c:pt idx="1">
                  <c:v>100 m²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50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233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276E68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solidFill>
                    <a:srgbClr val="23343A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較早訓練交易</c:v>
          </c:tx>
          <c:spPr>
            <a:ln xmlns:a="http://schemas.openxmlformats.org/drawingml/2006/main" w="33338">
              <a:solidFill>
                <a:srgbClr val="315D8A"/>
              </a:solidFill>
              <a:prstDash val="solid"/>
            </a:ln>
          </c:spPr>
          <c:marker>
            <c:symbol val="none"/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Data'!$B$2:$B$31</c:f>
              <c:numCache>
                <c:formatCode>0</c:formatCode>
                <c:ptCount val="30"/>
                <c:pt idx="0">
                  <c:v>2235313.48343883</c:v>
                </c:pt>
                <c:pt idx="1">
                  <c:v>1832261.4188805</c:v>
                </c:pt>
                <c:pt idx="2">
                  <c:v>1591415.61656558</c:v>
                </c:pt>
                <c:pt idx="3">
                  <c:v>1510153.84501852</c:v>
                </c:pt>
                <c:pt idx="4">
                  <c:v>1311856.8984844</c:v>
                </c:pt>
                <c:pt idx="5">
                  <c:v>1185182.70776998</c:v>
                </c:pt>
                <c:pt idx="6">
                  <c:v>1148706.16631189</c:v>
                </c:pt>
                <c:pt idx="7">
                  <c:v>1125197.24966036</c:v>
                </c:pt>
                <c:pt idx="8">
                  <c:v>1012946.97397296</c:v>
                </c:pt>
                <c:pt idx="9">
                  <c:v>1051593.84038778</c:v>
                </c:pt>
                <c:pt idx="10">
                  <c:v>975804.995821139</c:v>
                </c:pt>
                <c:pt idx="11">
                  <c:v>925532.316399218</c:v>
                </c:pt>
                <c:pt idx="12">
                  <c:v>857222.787359282</c:v>
                </c:pt>
                <c:pt idx="13">
                  <c:v>830988.799595044</c:v>
                </c:pt>
                <c:pt idx="14">
                  <c:v>805182.482096218</c:v>
                </c:pt>
                <c:pt idx="15">
                  <c:v>842231.268894053</c:v>
                </c:pt>
                <c:pt idx="16">
                  <c:v>784054.076659313</c:v>
                </c:pt>
                <c:pt idx="17">
                  <c:v>803667.713204716</c:v>
                </c:pt>
                <c:pt idx="18">
                  <c:v>768591.063195035</c:v>
                </c:pt>
                <c:pt idx="19">
                  <c:v>765402.656387365</c:v>
                </c:pt>
                <c:pt idx="20">
                  <c:v>751954.601149785</c:v>
                </c:pt>
                <c:pt idx="21">
                  <c:v>753961.258588071</c:v>
                </c:pt>
                <c:pt idx="22">
                  <c:v>739706.724836986</c:v>
                </c:pt>
                <c:pt idx="23">
                  <c:v>728262.765757631</c:v>
                </c:pt>
                <c:pt idx="24">
                  <c:v>723131.753773548</c:v>
                </c:pt>
                <c:pt idx="25">
                  <c:v>719029.416399214</c:v>
                </c:pt>
                <c:pt idx="26">
                  <c:v>720744.088754497</c:v>
                </c:pt>
                <c:pt idx="27">
                  <c:v>715970.247165135</c:v>
                </c:pt>
                <c:pt idx="28">
                  <c:v>714630.710990997</c:v>
                </c:pt>
                <c:pt idx="29">
                  <c:v>715006.131355397</c:v>
                </c:pt>
              </c:numCache>
            </c:numRef>
          </c:yVal>
        </c:ser>
        <c:ser>
          <c:idx val="1"/>
          <c:order val="1"/>
          <c:tx>
            <c:v>後一年交易（未參與訓練）</c:v>
          </c:tx>
          <c:spPr>
            <a:ln xmlns:a="http://schemas.openxmlformats.org/drawingml/2006/main" w="33338">
              <a:solidFill>
                <a:srgbClr val="BA6548"/>
              </a:solidFill>
              <a:prstDash val="solid"/>
            </a:ln>
          </c:spPr>
          <c:marker>
            <c:symbol val="none"/>
          </c:marker>
          <c:xVal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'Chart Data'!$D$2:$D$31</c:f>
              <c:numCache>
                <c:formatCode>0</c:formatCode>
                <c:ptCount val="30"/>
                <c:pt idx="0">
                  <c:v>1981140.43488927</c:v>
                </c:pt>
                <c:pt idx="1">
                  <c:v>1927632.08130938</c:v>
                </c:pt>
                <c:pt idx="2">
                  <c:v>1809738.66013985</c:v>
                </c:pt>
                <c:pt idx="3">
                  <c:v>1954629.43221374</c:v>
                </c:pt>
                <c:pt idx="4">
                  <c:v>1896944.67968081</c:v>
                </c:pt>
                <c:pt idx="5">
                  <c:v>1867611.84546502</c:v>
                </c:pt>
                <c:pt idx="6">
                  <c:v>1915112.65992417</c:v>
                </c:pt>
                <c:pt idx="7">
                  <c:v>1947167.40665746</c:v>
                </c:pt>
                <c:pt idx="8">
                  <c:v>1876765.10207814</c:v>
                </c:pt>
                <c:pt idx="9">
                  <c:v>1899582.89506721</c:v>
                </c:pt>
                <c:pt idx="10">
                  <c:v>1895966.16637718</c:v>
                </c:pt>
                <c:pt idx="11">
                  <c:v>1800641.35546675</c:v>
                </c:pt>
                <c:pt idx="12">
                  <c:v>1830552.36974665</c:v>
                </c:pt>
                <c:pt idx="13">
                  <c:v>1796817.8718656</c:v>
                </c:pt>
                <c:pt idx="14">
                  <c:v>1762160.26849798</c:v>
                </c:pt>
                <c:pt idx="15">
                  <c:v>1828975.62324592</c:v>
                </c:pt>
                <c:pt idx="16">
                  <c:v>1772272.1199951</c:v>
                </c:pt>
                <c:pt idx="17">
                  <c:v>1789328.48447893</c:v>
                </c:pt>
                <c:pt idx="18">
                  <c:v>1775816.05141653</c:v>
                </c:pt>
                <c:pt idx="19">
                  <c:v>1840723.68747277</c:v>
                </c:pt>
                <c:pt idx="20">
                  <c:v>1796985.67935174</c:v>
                </c:pt>
                <c:pt idx="21">
                  <c:v>1809790.24604321</c:v>
                </c:pt>
                <c:pt idx="22">
                  <c:v>1774012.67498537</c:v>
                </c:pt>
                <c:pt idx="23">
                  <c:v>1770810.76091548</c:v>
                </c:pt>
                <c:pt idx="24">
                  <c:v>1781798.94944525</c:v>
                </c:pt>
                <c:pt idx="25">
                  <c:v>1792743.54911063</c:v>
                </c:pt>
                <c:pt idx="26">
                  <c:v>1781466.20557404</c:v>
                </c:pt>
                <c:pt idx="27">
                  <c:v>1788213.30648566</c:v>
                </c:pt>
                <c:pt idx="28">
                  <c:v>1786753.33411106</c:v>
                </c:pt>
                <c:pt idx="29">
                  <c:v>1777133.9759191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5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4"/>
              </a:solidFill>
            </a:ln>
          </c:spPr>
        </c:majorGridlines>
        <c:numFmt formatCode="0.0,,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majorUnit val="500000"/>
      </c:valAx>
      <c:valAx>
        <c:axId val="48650112"/>
        <c:scaling>
          <c:orientation val="minMax"/>
          <c:max val="30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725">
                    <a:solidFill>
                      <a:srgbClr val="3A4A4E"/>
                    </a:solidFill>
                    <a:latin typeface="Microsoft JhengHei"/>
                    <a:ea typeface="Microsoft JhengHei"/>
                    <a:cs typeface="Microsoft JhengHei"/>
                  </a:rPr>
                  <a:t>訓練輪數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3A4A4E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E1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3A4A4E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7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6F5624-D4FF-428A-98EC-6A8DDC00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F2FAF8-A8DB-403C-952E-415AE0A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668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台灣房屋銷售價格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預測挑戰賽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E81860-944E-4839-B854-FCE099AC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rPr>
              <a:t>姓名：廖子頤</a:t>
            </a:r>
          </a:p>
          <a:p xmlns:a="http://schemas.openxmlformats.org/drawingml/2006/main">
            <a:pPr algn="l">
              <a:def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E5EEEB"/>
                </a:solidFill>
                <a:latin typeface="Microsoft JhengHei"/>
                <a:ea typeface="Microsoft JhengHei"/>
                <a:cs typeface="Microsoft JhengHei"/>
              </a:rPr>
              <a:t>學號：315581048</a:t>
            </a:r>
          </a:p>
        </p:txBody>
      </p:sp>
    </p:spTree>
    <p:extLst>
      <p:ext uri="{BB962C8B-B14F-4D97-AF65-F5344CB8AC3E}">
        <p14:creationId xmlns:p14="http://schemas.microsoft.com/office/powerpoint/2010/main" val="1965731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DE9426-3F3B-4FF8-9F33-FC03DA8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房屋條件與價格答案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EA72B4-6F7B-48A9-B5A4-6881079E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93E897B-A5CC-4E39-AD66-4BA43C1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24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特徵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328478C-5CCA-4F3C-B97B-2C624FB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地點、面積、樓層</a:t>
            </a:r>
          </a:p>
          <a:p xmlns:a="http://schemas.openxmlformats.org/drawingml/2006/main">
            <a:pPr algn="l">
              <a:def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建物類型、交易日期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820B07-5343-4F10-80C0-4F868AB5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24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標籤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38C55A1-D8A7-4CE9-BED2-72E8C26A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已知成交總價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FB05365-C858-4577-A556-F82B9F2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訓練：用條件和答案調整規則</a:t>
            </a:r>
          </a:p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推論：用保存的規則估計新交易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510BE-7AB5-4844-9F03-378FDBB26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471fd0c9c4cf8"/>
          <a:stretch xmlns:a="http://schemas.openxmlformats.org/drawingml/2006/main"/>
        </p:blipFill>
        <p:spPr>
          <a:xfrm xmlns:a="http://schemas.openxmlformats.org/drawingml/2006/main">
            <a:off x="7736661" y="3143250"/>
            <a:ext cx="2909928" cy="2619375"/>
          </a:xfrm>
          <a:prstGeom xmlns:a="http://schemas.openxmlformats.org/drawingml/2006/main" prst="rect">
            <a:avLst/>
          </a:prstGeom>
        </p:spPr>
      </p:pic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784BCC0-0432-4837-A4D8-C816640A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回歸預測連續金額。未知交易仍需要獨立驗證。</a:t>
            </a:r>
          </a:p>
        </p:txBody>
      </p:sp>
    </p:spTree>
    <p:extLst>
      <p:ext uri="{BB962C8B-B14F-4D97-AF65-F5344CB8AC3E}">
        <p14:creationId xmlns:p14="http://schemas.microsoft.com/office/powerpoint/2010/main" val="1176312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CA96F9-741A-4896-AE14-7361AC11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估價誤差與 MAE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BAA261-05F7-4686-B96D-E31ACD7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3528111-A70E-4DE2-8237-CC8A7B8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每筆相差金額取絕對值，再求平均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4A8E7-5248-453D-AF39-09F4EDA42F85}"/>
              </a:ext>
            </a:extLst>
          </p:cNvPr>
          <p:cNvGraphicFramePr/>
          <p:nvPr/>
        </p:nvGraphicFramePr>
        <p:xfrm>
          <a:off xmlns:a="http://schemas.openxmlformats.org/drawingml/2006/main" x="762000" y="2371725"/>
          <a:ext xmlns:a="http://schemas.openxmlformats.org/drawingml/2006/main" cx="68580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</a:tblGrid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真實總價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絕對誤差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1,100萬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7143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 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1,000萬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950萬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6BAEFD-B85C-4E69-AFA9-CAE8250D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050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MAE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E047D99-E2D4-4A1D-AA6E-C506AB2D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7652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7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75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779E114-EA53-4A09-85C0-4F51699E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B3F0990-C557-4336-9A2E-9857779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162425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（100 + 50）÷ 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0F2163F-13DC-45CB-AF48-FA3603DB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MAE 越低越好。高估和低估不會互相抵銷，也不表示每筆都相差75萬元。</a:t>
            </a:r>
          </a:p>
        </p:txBody>
      </p:sp>
    </p:spTree>
    <p:extLst>
      <p:ext uri="{BB962C8B-B14F-4D97-AF65-F5344CB8AC3E}">
        <p14:creationId xmlns:p14="http://schemas.microsoft.com/office/powerpoint/2010/main" val="1411749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63DE92-9D33-4C2F-BDC0-E0D67EA0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原始文字的處理步驟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D385A5-80E0-48A5-B6F8-5B768C92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07C4B-7F98-4C07-AFF6-5EBA73B9321E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762500"/>
                <a:gridCol w="3810000"/>
              </a:tblGrid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原始欄位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我怎麼處理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整理後的資訊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數值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去除逗號，再轉成數值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1,200.5 變成 1200.5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民國年加1911，再拆年月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112年變成2023年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中文數字轉數值，地下層記負數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十二層=12／地下二層=−2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台統一為臺，依名稱結尾拆欄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縣市／行政區／道路／段別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交易筆棟數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依土地、建物、車位擷取數字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土地1、建物1、車位0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C932CB3-399E-4915-A7E3-365CDF1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空白及解析失敗另留標記。填補與類別編碼，只從訓練資料建立規則。</a:t>
            </a:r>
          </a:p>
        </p:txBody>
      </p:sp>
    </p:spTree>
    <p:extLst>
      <p:ext uri="{BB962C8B-B14F-4D97-AF65-F5344CB8AC3E}">
        <p14:creationId xmlns:p14="http://schemas.microsoft.com/office/powerpoint/2010/main" val="569158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9A1DE-22E5-4851-9DED-7BB191BB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模型輸入欄位的選擇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21FF19-D9F1-473B-B987-9F2679B4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A09F3C5-F107-487A-AEC1-32DBB328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先確認每個欄位在估價時能否使用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8811-4665-4F64-917C-0F5AA2190832}"/>
              </a:ext>
            </a:extLst>
          </p:cNvPr>
          <p:cNvGraphicFramePr/>
          <p:nvPr/>
        </p:nvGraphicFramePr>
        <p:xfrm>
          <a:off xmlns:a="http://schemas.openxmlformats.org/drawingml/2006/main" x="762000" y="21621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333750"/>
                <a:gridCol w="3476625"/>
              </a:tblGrid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資料欄位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實際做法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選擇的原因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面積、樓層、地點、日期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整理成模型輸入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描述房屋與交易條件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成交總價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另存為訓練答案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避免答案混入輸入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保留對齊，排除訓練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識別交易，不代表價格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286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完整備註、解約等資訊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排除全文與不可用欄位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避免價格或事後資訊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58CA0BC-6313-4FD7-86F4-A2C760A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數值與類別採不同處理。所有需學習的轉換規則，只用當期訓練資料建立。</a:t>
            </a:r>
          </a:p>
        </p:txBody>
      </p:sp>
    </p:spTree>
    <p:extLst>
      <p:ext uri="{BB962C8B-B14F-4D97-AF65-F5344CB8AC3E}">
        <p14:creationId xmlns:p14="http://schemas.microsoft.com/office/powerpoint/2010/main" val="321017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C9BD47-2F11-44F0-AA8E-E8C52C3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用較早交易預測下一年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462706-FC90-4206-91B2-5E167C2E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ACC68-7811-48E6-9805-A9868FDB6745}"/>
              </a:ext>
            </a:extLst>
          </p:cNvPr>
          <p:cNvGraphicFramePr/>
          <p:nvPr/>
        </p:nvGraphicFramePr>
        <p:xfrm>
          <a:off xmlns:a="http://schemas.openxmlformats.org/drawingml/2006/main" x="762000" y="173355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858000"/>
              </a:tblGrid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訓練資料截止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後一年評分期間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6675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2023-02-10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2023-02-11 至 2024-02-10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950EB0A-582C-4F5C-BE36-80E8E6A6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各起點重建模型、編碼及價格參考。窗口已反覆使用且重疊，無法視為四次獨立盲測。</a:t>
            </a:r>
          </a:p>
        </p:txBody>
      </p:sp>
    </p:spTree>
    <p:extLst>
      <p:ext uri="{BB962C8B-B14F-4D97-AF65-F5344CB8AC3E}">
        <p14:creationId xmlns:p14="http://schemas.microsoft.com/office/powerpoint/2010/main" val="962659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79D5E-BFDD-4E62-80E0-C72DD2FD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模型的價格目標與訓練步驟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E6FACE-0E79-4845-A998-825D1EA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071D72A-A4CE-46DC-B6F4-BD6DAFE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620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單價樹模型：訓練答案＝已知總價 ÷ 有效面積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E60E7-6764-490E-8ED8-5335D58840FA}"/>
              </a:ext>
            </a:extLst>
          </p:cNvPr>
          <p:cNvGraphicFramePr/>
          <p:nvPr/>
        </p:nvGraphicFramePr>
        <p:xfrm>
          <a:off xmlns:a="http://schemas.openxmlformats.org/drawingml/2006/main" x="762000" y="1885950"/>
          <a:ext xmlns:a="http://schemas.openxmlformats.org/drawingml/2006/main" cx="106680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857500"/>
                <a:gridCol w="3905250"/>
              </a:tblGrid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模型路線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先預測什麼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總價如何產生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單價樹模型、面積網路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每平方公尺單價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預測單價 × 有效面積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直接總價樹模型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直接換回總價元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對數總價樹模型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取對數後的總價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將預測值還原為總價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1912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參考單價網路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相對參考價的倍率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參考單價 × 有效面積 × 倍率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BB79B8B-1E4E-4E2E-8A84-AF0C5C05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共同訓練：輸入條件、產生預測、依目標計算損失、更新模型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0C60E0E-CA38-4D08-9746-5E226348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樹模型：增加小樹修正誤差　神經網路：反向更新參數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62C97F-2F34-4F6D-A437-69E2E85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995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各模型先換回總價元，再進行分支融合與修正。驗證時固定參數。</a:t>
            </a:r>
          </a:p>
        </p:txBody>
      </p:sp>
    </p:spTree>
    <p:extLst>
      <p:ext uri="{BB962C8B-B14F-4D97-AF65-F5344CB8AC3E}">
        <p14:creationId xmlns:p14="http://schemas.microsoft.com/office/powerpoint/2010/main" val="3507511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0F0410-8886-4C82-8D2F-E89E6D97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面積與總價誤差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F6784D-2070-4F2B-B396-01EA0845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D57406D-48F9-4852-BBC9-600833E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49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總價 = 單價 × 有效面積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7B6AB77-8433-4C7E-A830-508DA1F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單價同樣估錯</a:t>
            </a:r>
          </a:p>
          <a:p xmlns:a="http://schemas.openxmlformats.org/drawingml/2006/main">
            <a:pPr algn="l">
              <a:def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每平方公尺1萬元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A40CD2B-188C-44B0-AAB6-9C6AFED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面積越大，總價誤差越大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46F8AAE-97E5-4044-B8C4-9ECB98BF0081}"/>
              </a:ext>
            </a:extLst>
          </p:cNvPr>
          <p:cNvGraphicFramePr/>
          <p:nvPr/>
        </p:nvGraphicFramePr>
        <p:xfrm>
          <a:off xmlns:a="http://schemas.openxmlformats.org/drawingml/2006/main" x="6048375" y="2047875"/>
          <a:ext xmlns:a="http://schemas.openxmlformats.org/drawingml/2006/main" cx="5381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02b61c0b834fff"/>
          </a:graphicData>
        </a:graphic>
      </p:graphicFrame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899E78A-8922-4F50-AD93-7B87EE52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總價誤差，單位：萬元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3495EAD-24EF-4B0D-807A-22B7C70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面積權重對齊總價差距。另保留直接總價與對數學法，最後皆還原為元。</a:t>
            </a:r>
          </a:p>
        </p:txBody>
      </p:sp>
    </p:spTree>
    <p:extLst>
      <p:ext uri="{BB962C8B-B14F-4D97-AF65-F5344CB8AC3E}">
        <p14:creationId xmlns:p14="http://schemas.microsoft.com/office/powerpoint/2010/main" val="856529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EC65ACB-7AFD-43BA-B0E4-BA2677BAE9B0}"/>
              </a:ext>
            </a:extLst>
          </p:cNvPr>
          <p:cNvGraphicFramePr/>
          <p:nvPr/>
        </p:nvGraphicFramePr>
        <p:xfrm>
          <a:off xmlns:a="http://schemas.openxmlformats.org/drawingml/2006/main" x="762000" y="2381250"/>
          <a:ext xmlns:a="http://schemas.openxmlformats.org/drawingml/2006/main" cx="7048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f0a3a4a5224da3"/>
          </a:graphicData>
        </a:graphic>
      </p:graphicFrame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7D141D-149C-4B5E-923F-F2D6C546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新舊交易的學習影響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D9728CF-10C7-4A02-B17E-F9EA3C7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669B521-4D6E-427E-AA52-8B5D87CA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房價會隨時間改變，因此讓近期成交有較大影響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DC57AB6-1D7A-4FFE-BA59-09625F4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權重：一筆交易對模型學習的影響程度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14EB66C-5800-49AF-9639-C1877CC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圖中的數字代表</a:t>
            </a:r>
          </a:p>
          <a:p xmlns:a="http://schemas.openxmlformats.org/drawingml/2006/main">
            <a:pPr algn="l">
              <a:def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相對學習影響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D66D93F-3DE4-463C-B762-F17B6E14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每早一年</a:t>
            </a:r>
          </a:p>
          <a:p xmlns:a="http://schemas.openxmlformats.org/drawingml/2006/main">
            <a:pPr algn="l">
              <a:def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影響降為一半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2CD80CC3-035C-4BE7-A08E-623E8E71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圖為正規化前的相對比例。權重乘在訓練損失上，成交價本身不變。</a:t>
            </a:r>
          </a:p>
        </p:txBody>
      </p:sp>
    </p:spTree>
    <p:extLst>
      <p:ext uri="{BB962C8B-B14F-4D97-AF65-F5344CB8AC3E}">
        <p14:creationId xmlns:p14="http://schemas.microsoft.com/office/powerpoint/2010/main" val="804671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47BFED-AB20-4DBC-A2AD-D149D77F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相似交易提供參考單價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D4827E-8BEE-4D64-A342-324F4BF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C15B2B4-E88C-49C1-89E8-814E0D2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用同類交易的中位單價作參考，近期交易影響較大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8A3FF46-0B9E-4B3D-8E7A-74E5EF8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教學假例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84E899A-5C1D-4D9F-99D0-E0FE0627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20萬/m²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7EDECAA-4FD8-48A5-802D-43C921EE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252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× 50m²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F3105CB-62A4-41F2-AF03-EBFD61F1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146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× 1.1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47A99BF-C24D-4BAB-8680-B1801380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＝1,100萬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EF9E3D2-7CE9-4EEE-BD63-50618FA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61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參考單價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139BD2E-E742-448C-B75B-E59388B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480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有效面積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2818A5E-F5E2-40BF-AD2F-561FB30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模型學到的倍率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34552A6-6B13-48FF-B4D5-8C85287D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預測總價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57602815-1BEE-454F-BB2D-2A4325F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參考價的分類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79516018-E0E2-4052-9B40-A012D25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依地區、交易及建物類型整理</a:t>
            </a:r>
          </a:p>
          <a:p xmlns:a="http://schemas.openxmlformats.org/drawingml/2006/main">
            <a: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同類不足30筆，就逐層放寬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2F4135F8-10EE-4376-A3EB-79A04276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訓練時隔開答案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F414F82D-64EC-4756-AE2B-2B65C8D3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434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同建案放同組，分成5組</a:t>
            </a:r>
          </a:p>
          <a:p xmlns:a="http://schemas.openxmlformats.org/drawingml/2006/main">
            <a:pPr algn="l">
              <a:def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每組只參考其他4組的交易</a:t>
            </a:r>
          </a:p>
        </p:txBody>
      </p:sp>
      <p:sp>
        <p:nvSpPr>
          <p:cNvPr id="17" name="body">
            <a:extLst xmlns:a="http://schemas.openxmlformats.org/drawingml/2006/main">
              <a:ext uri="{FF2B5EF4-FFF2-40B4-BE49-F238E27FC236}">
                <a16:creationId xmlns:a16="http://schemas.microsoft.com/office/drawing/2014/main" id="{801444C5-E287-4A64-A9EA-6CEE41EF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這份參考單價稱為「分組先驗」，由當期訓練交易建立。</a:t>
            </a:r>
          </a:p>
        </p:txBody>
      </p:sp>
    </p:spTree>
    <p:extLst>
      <p:ext uri="{BB962C8B-B14F-4D97-AF65-F5344CB8AC3E}">
        <p14:creationId xmlns:p14="http://schemas.microsoft.com/office/powerpoint/2010/main" val="15102142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335C65-7887-4567-A86E-39FCBDD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用後一年交易檢查訓練過程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ED10A3D-96E8-45B2-AB6F-4D91D5F9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6A44CCD-A044-43B2-9CF1-32351FF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較早交易學習：321,550筆　後一年驗證：133,697筆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296D6D6-8300-4247-BFB8-A80A2CB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訓練截至2023-08-10　驗證：2023-08-11 至 2024-08-10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2442164-2B01-4076-BC77-3DBD66FF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86050"/>
            <a:ext cx="7048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未</a:t>
            </a:r>
          </a:p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加</a:t>
            </a:r>
          </a:p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權</a:t>
            </a:r>
          </a:p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總</a:t>
            </a:r>
          </a:p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價</a:t>
            </a:r>
          </a:p>
          <a:p xmlns:a="http://schemas.openxmlformats.org/drawingml/2006/main">
            <a:pPr algn="ctr">
              <a:def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MAE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0490F76-7C52-4153-BFD4-BCCBCF0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百萬元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82401E7B-F87A-4275-84AC-082859C0C3EA}"/>
              </a:ext>
            </a:extLst>
          </p:cNvPr>
          <p:cNvGraphicFramePr/>
          <p:nvPr/>
        </p:nvGraphicFramePr>
        <p:xfrm>
          <a:off xmlns:a="http://schemas.openxmlformats.org/drawingml/2006/main" x="971550" y="2047875"/>
          <a:ext xmlns:a="http://schemas.openxmlformats.org/drawingml/2006/main" cx="10458450" cy="3686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b724e9f8a4fd3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7904805-6DF7-4518-91F1-A43FCC0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保存各輪模型後，固定參數分別計算兩批 MAE。此圖是另跑的一支網路診斷。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20AFE83-A8B4-4C38-AF7B-51FCD745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995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固定30輪，不依最低點選輪數。曲線不能證明沒有過擬合，輪數也不代表模型容量。</a:t>
            </a:r>
          </a:p>
        </p:txBody>
      </p:sp>
    </p:spTree>
    <p:extLst>
      <p:ext uri="{BB962C8B-B14F-4D97-AF65-F5344CB8AC3E}">
        <p14:creationId xmlns:p14="http://schemas.microsoft.com/office/powerpoint/2010/main" val="3598670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F7CC84-C49B-4BF9-A033-51B34571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六模型組成三條分支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39DE74-4A2B-4058-AE9F-149FC764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AE28536-2FB3-49F6-AE76-68470FBD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所有輸出先換回總價元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1F721-ADF5-4E30-8D3B-D5EFCC7A7461}"/>
              </a:ext>
            </a:extLst>
          </p:cNvPr>
          <p:cNvGraphicFramePr/>
          <p:nvPr/>
        </p:nvGraphicFramePr>
        <p:xfrm>
          <a:off xmlns:a="http://schemas.openxmlformats.org/drawingml/2006/main" x="762000" y="2247900"/>
          <a:ext xmlns:a="http://schemas.openxmlformats.org/drawingml/2006/main" cx="1066800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095875"/>
                <a:gridCol w="3429000"/>
              </a:tblGrid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 75%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共同部分 25%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NN、參考單價 NN 平均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85800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總價／對數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總價、對數 CatBoost 平均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 LightGBM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937E481-C1BD-4C3A-B0FD-95A10E01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假例：1,000萬 × 75% + 1,200萬 × 25% = 1,050萬。固定比例未證明最佳。</a:t>
            </a:r>
          </a:p>
        </p:txBody>
      </p:sp>
    </p:spTree>
    <p:extLst>
      <p:ext uri="{BB962C8B-B14F-4D97-AF65-F5344CB8AC3E}">
        <p14:creationId xmlns:p14="http://schemas.microsoft.com/office/powerpoint/2010/main" val="18184663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01698-334B-424F-A0BB-50CC3F1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E751EF-683A-4D83-8F39-B87E1D2E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7365F55-B941-420B-89BB-4817DEDE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成交參考 R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8B8F559-C187-4BF1-A896-39B0929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504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同建案、地址或道路的成交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E993838-C2F1-4122-9889-BD010239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結合物件條件</a:t>
            </a:r>
          </a:p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與當期學到的時間趨勢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A0AD9EB-ED8C-401D-926E-D8F2CB56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空間修正 S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7375E32-90B7-4FFA-99D0-D2B911F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附近且相容的交易資訊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31ECC06-1BFD-47D2-9224-FBC94017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385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同時讀取初估與 R 的結果</a:t>
            </a:r>
          </a:p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參考不足時回退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69E41CD-71D5-49CE-960F-B4C15F5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三條分支各自完成修正。價格參考只取自當期訓練資料。</a:t>
            </a:r>
          </a:p>
        </p:txBody>
      </p:sp>
    </p:spTree>
    <p:extLst>
      <p:ext uri="{BB962C8B-B14F-4D97-AF65-F5344CB8AC3E}">
        <p14:creationId xmlns:p14="http://schemas.microsoft.com/office/powerpoint/2010/main" val="20625909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ECFEF-0247-412A-8380-97A672B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逐筆取三路中位數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ACCD92-6BA1-47DC-AD80-6E075E5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D3A826-906D-4195-A20A-2D5431E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同一間房，三個修正後總價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EA53085-1228-4300-ADCD-F437EF80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分支 A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BFF80CB-59F8-4331-81EC-66EFEF71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1,000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5AB85D2-C610-48BF-BD59-0CA2672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B3FD92-2866-43BC-BC3A-09941AD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分支 B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F406F56-BC0C-4A8D-9BAB-9C3FC2BC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1,100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CC9B2A4-81A4-4D71-8534-4ADDE89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26369BC-88D0-4C8D-8C28-FE6D3914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分支 C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2A75019-FB9A-4F4F-9581-05F5D08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1,600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DDF01651-DD15-44DC-BD75-E962C54D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5AC83C41-5E27-4914-84F1-256C28AC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中間值為1,100萬元，可減少單一路線極端值的影響，仍可能共同高估或低估。</a:t>
            </a:r>
          </a:p>
        </p:txBody>
      </p:sp>
    </p:spTree>
    <p:extLst>
      <p:ext uri="{BB962C8B-B14F-4D97-AF65-F5344CB8AC3E}">
        <p14:creationId xmlns:p14="http://schemas.microsoft.com/office/powerpoint/2010/main" val="14689862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B61648-3FB6-4B64-AAAA-06635AB2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跨年度檢查同一套流程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B605F1-8DCB-41D6-8FA6-86F32D50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593D143-2110-4C20-AC4B-43DBD359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430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每個時間起點重建流程，再計算總價 MAE（元）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44D30-2B87-4A2F-A269-1307E521A527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0668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476500"/>
                <a:gridCol w="2476500"/>
                <a:gridCol w="2238375"/>
              </a:tblGrid>
              <a:tr h="6381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評分期間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基準方法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此方法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1">
                          <a:solidFill>
                            <a:srgbClr val="2334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此方法 − 基準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T w="9525">
                      <a:solidFill>
                        <a:srgbClr val="FCFCFA"/>
                      </a:solidFill>
                      <a:prstDash val="solid"/>
                    </a:lnT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EF3F0"/>
                    </a:solidFill>
                  </a:tcPr>
                </a:tc>
              </a:tr>
              <a:tr h="6381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2021–2022 八月起點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2,309,352.36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2,310,236.02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BA654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+883.66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381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2022–2023 八月起點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1,407,387.07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1,405,971.19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76E6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−1,415.88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  <a:tr h="6381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2023–2024 八月起點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4EFEB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1,383,228.41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4EFEB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1,381,702.87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4EFEB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76E6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−1,525.54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7620">
                      <a:solidFill>
                        <a:srgbClr val="E1E7E4"/>
                      </a:solidFill>
                      <a:prstDash val="solid"/>
                    </a:lnB>
                    <a:solidFill>
                      <a:srgbClr val="E4EFEB"/>
                    </a:solidFill>
                  </a:tcPr>
                </a:tc>
              </a:tr>
              <a:tr h="638175"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2023–2024 二月起點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FCFCFA"/>
                      </a:solidFill>
                      <a:prstDash val="solid"/>
                    </a:lnL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1,336,410.67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3A4A4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1,336,107.62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  <a:tc>
                  <a:txBody>
                    <a:bodyPr lIns="133350" tIns="114300" rIns="152400" bIns="9525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76E6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−303.06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FCFCFA"/>
                      </a:solidFill>
                      <a:prstDash val="solid"/>
                    </a:lnR>
                    <a:lnB w="9525">
                      <a:solidFill>
                        <a:srgbClr val="FCFCFA"/>
                      </a:solidFill>
                      <a:prstDash val="solid"/>
                    </a:lnB>
                    <a:solidFill>
                      <a:srgbClr val="FCFC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919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12FB8A-6145-4878-8C84-80B0A7D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23343A"/>
                </a:solidFill>
                <a:latin typeface="Microsoft JhengHei"/>
                <a:ea typeface="Microsoft JhengHei"/>
                <a:cs typeface="Microsoft JhengHei"/>
              </a:rPr>
              <a:t>驗證之後的分組檢查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4F4BA7-482A-4E5B-9709-42ABF3C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952A5FD-F7C3-4EF1-9185-FA026C8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01　建立分組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C9EA6CA-FEB9-41EA-A029-239F718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0975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比對當期訓練資料，標記建案是否見過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C1C2CB4-C93F-4777-8C36-4FACBB50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02　分別評分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B8E27C8-8E7B-4465-B278-049223D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09875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既有、新建案與缺失組，各自計算 MAE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EC8ECED-99B5-428A-91AA-F02E053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03　查看退步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E99D782-7161-4CAA-87C6-7C4204F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10000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檢查整體平均是否掩蓋某一群的問題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B5992F7-6D22-4B2D-9066-AF8C0B9F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76E68"/>
                </a:solidFill>
                <a:latin typeface="Microsoft JhengHei"/>
                <a:ea typeface="Microsoft JhengHei"/>
                <a:cs typeface="Microsoft JhengHei"/>
              </a:rPr>
              <a:t>04　保留反證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BF8FE56-78E9-4EAE-8CCF-B08F7DC4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0125"/>
            <a:ext cx="738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3A4A4E"/>
                </a:solidFill>
                <a:latin typeface="Microsoft JhengHei"/>
                <a:ea typeface="Microsoft JhengHei"/>
                <a:cs typeface="Microsoft JhengHei"/>
              </a:rPr>
              <a:t>一起記錄跨期退步與不利對照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95D83DA-CA2D-4E42-A960-5B3618EC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18082"/>
                </a:solidFill>
                <a:latin typeface="Microsoft JhengHei"/>
                <a:ea typeface="Microsoft JhengHei"/>
                <a:cs typeface="Microsoft JhengHei"/>
              </a:rPr>
              <a:t>實際曾出現分群退步。歷史窗口已反覆使用，Private 成績仍未知。</a:t>
            </a:r>
          </a:p>
        </p:txBody>
      </p:sp>
    </p:spTree>
    <p:extLst>
      <p:ext uri="{BB962C8B-B14F-4D97-AF65-F5344CB8AC3E}">
        <p14:creationId xmlns:p14="http://schemas.microsoft.com/office/powerpoint/2010/main" val="422520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16</ap:Slides>
  <ap:Notes>16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2026-10-12T10:37:21.1320000Z</dcterms:created>
  <dcterms:modified xsi:type="dcterms:W3CDTF">2026-10-12T10:37:21.1320000Z</dcterms:modified>
</coreProperties>
</file>