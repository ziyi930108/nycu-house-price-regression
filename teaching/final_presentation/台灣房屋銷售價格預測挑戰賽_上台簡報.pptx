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3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398bfd28e3248b5" /><Relationship Type="http://schemas.openxmlformats.org/officeDocument/2006/relationships/extended-properties" Target="/docProps/app.xml" Id="Re443b6f3f7274a42" /><Relationship Type="http://schemas.openxmlformats.org/officeDocument/2006/relationships/officeDocument" Target="/ppt/presentation.xml" Id="R1f2bb31565e848b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2e9dda7d64b4aa0"/>
  </p:sldMasterIdLst>
  <p:notesMasterIdLst>
    <p:notesMasterId xmlns:r="http://schemas.openxmlformats.org/officeDocument/2006/relationships" r:id="Rb17634fa3243466b"/>
  </p:notesMasterIdLst>
  <p:sldIdLst>
    <p:sldId xmlns:r="http://schemas.openxmlformats.org/officeDocument/2006/relationships" id="256" r:id="Rc4ddea76939c49b8"/>
    <p:sldId xmlns:r="http://schemas.openxmlformats.org/officeDocument/2006/relationships" id="257" r:id="R49f68675feef442a"/>
    <p:sldId xmlns:r="http://schemas.openxmlformats.org/officeDocument/2006/relationships" id="258" r:id="R97aa937188124b56"/>
    <p:sldId xmlns:r="http://schemas.openxmlformats.org/officeDocument/2006/relationships" id="259" r:id="Rfa10487e0bec48b6"/>
    <p:sldId xmlns:r="http://schemas.openxmlformats.org/officeDocument/2006/relationships" id="260" r:id="Raa52bdc7cab848fc"/>
    <p:sldId xmlns:r="http://schemas.openxmlformats.org/officeDocument/2006/relationships" id="261" r:id="Ra86190b597124fbb"/>
    <p:sldId xmlns:r="http://schemas.openxmlformats.org/officeDocument/2006/relationships" id="262" r:id="Ree1caacaae9d499a"/>
    <p:sldId xmlns:r="http://schemas.openxmlformats.org/officeDocument/2006/relationships" id="263" r:id="R4a6cfd19eb4e4fd8"/>
    <p:sldId xmlns:r="http://schemas.openxmlformats.org/officeDocument/2006/relationships" id="264" r:id="R0ffaf4a9a3e44889"/>
    <p:sldId xmlns:r="http://schemas.openxmlformats.org/officeDocument/2006/relationships" id="265" r:id="R6443038cec1a46be"/>
    <p:sldId xmlns:r="http://schemas.openxmlformats.org/officeDocument/2006/relationships" id="266" r:id="R111cd8052217405c"/>
    <p:sldId xmlns:r="http://schemas.openxmlformats.org/officeDocument/2006/relationships" id="267" r:id="R5819c561d76e4f8b"/>
    <p:sldId xmlns:r="http://schemas.openxmlformats.org/officeDocument/2006/relationships" id="268" r:id="Rf92110c81d564b58"/>
    <p:sldId xmlns:r="http://schemas.openxmlformats.org/officeDocument/2006/relationships" id="269" r:id="Rfdb5169e0df7453a"/>
    <p:sldId xmlns:r="http://schemas.openxmlformats.org/officeDocument/2006/relationships" id="270" r:id="R95a4b81f2d1d44c8"/>
    <p:sldId xmlns:r="http://schemas.openxmlformats.org/officeDocument/2006/relationships" id="271" r:id="Rb6e628d68d1b4440"/>
    <p:sldId xmlns:r="http://schemas.openxmlformats.org/officeDocument/2006/relationships" id="272" r:id="R2339200456f34e61"/>
    <p:sldId xmlns:r="http://schemas.openxmlformats.org/officeDocument/2006/relationships" id="273" r:id="R531dfea1160b4031"/>
    <p:sldId xmlns:r="http://schemas.openxmlformats.org/officeDocument/2006/relationships" id="274" r:id="Rcfce0a69a58743a4"/>
    <p:sldId xmlns:r="http://schemas.openxmlformats.org/officeDocument/2006/relationships" id="275" r:id="R3f9284222ad74b94"/>
    <p:sldId xmlns:r="http://schemas.openxmlformats.org/officeDocument/2006/relationships" id="276" r:id="Rbe95350ca55b4222"/>
    <p:sldId xmlns:r="http://schemas.openxmlformats.org/officeDocument/2006/relationships" id="277" r:id="R65dcc2edfb1847ad"/>
    <p:sldId xmlns:r="http://schemas.openxmlformats.org/officeDocument/2006/relationships" id="278" r:id="Rcfe70ca7c1f04b9e"/>
    <p:sldId xmlns:r="http://schemas.openxmlformats.org/officeDocument/2006/relationships" id="279" r:id="Ref752a5b72de402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c5403bb174e4d8e" /><Relationship Type="http://schemas.openxmlformats.org/officeDocument/2006/relationships/slideMaster" Target="/ppt/slideMasters/slideMaster1.xml" Id="R82e9dda7d64b4aa0" /><Relationship Type="http://schemas.openxmlformats.org/officeDocument/2006/relationships/notesMaster" Target="/ppt/notesMasters/notesMaster1.xml" Id="Rb17634fa3243466b" /><Relationship Type="http://schemas.openxmlformats.org/officeDocument/2006/relationships/presProps" Target="/ppt/presProps.xml" Id="Rc3adc4cd4e4b4aca" /><Relationship Type="http://schemas.openxmlformats.org/officeDocument/2006/relationships/tableStyles" Target="/ppt/tableStyles.xml" Id="Rf4d8d5bd021c481a" /><Relationship Type="http://schemas.openxmlformats.org/officeDocument/2006/relationships/slide" Target="/ppt/slides/slide1.xml" Id="Rc4ddea76939c49b8" /><Relationship Type="http://schemas.openxmlformats.org/officeDocument/2006/relationships/slide" Target="/ppt/slides/slide2.xml" Id="R49f68675feef442a" /><Relationship Type="http://schemas.openxmlformats.org/officeDocument/2006/relationships/slide" Target="/ppt/slides/slide3.xml" Id="R97aa937188124b56" /><Relationship Type="http://schemas.openxmlformats.org/officeDocument/2006/relationships/slide" Target="/ppt/slides/slide4.xml" Id="Rfa10487e0bec48b6" /><Relationship Type="http://schemas.openxmlformats.org/officeDocument/2006/relationships/slide" Target="/ppt/slides/slide5.xml" Id="Raa52bdc7cab848fc" /><Relationship Type="http://schemas.openxmlformats.org/officeDocument/2006/relationships/slide" Target="/ppt/slides/slide6.xml" Id="Ra86190b597124fbb" /><Relationship Type="http://schemas.openxmlformats.org/officeDocument/2006/relationships/slide" Target="/ppt/slides/slide7.xml" Id="Ree1caacaae9d499a" /><Relationship Type="http://schemas.openxmlformats.org/officeDocument/2006/relationships/slide" Target="/ppt/slides/slide8.xml" Id="R4a6cfd19eb4e4fd8" /><Relationship Type="http://schemas.openxmlformats.org/officeDocument/2006/relationships/slide" Target="/ppt/slides/slide9.xml" Id="R0ffaf4a9a3e44889" /><Relationship Type="http://schemas.openxmlformats.org/officeDocument/2006/relationships/slide" Target="/ppt/slides/slide10.xml" Id="R6443038cec1a46be" /><Relationship Type="http://schemas.openxmlformats.org/officeDocument/2006/relationships/slide" Target="/ppt/slides/slide11.xml" Id="R111cd8052217405c" /><Relationship Type="http://schemas.openxmlformats.org/officeDocument/2006/relationships/slide" Target="/ppt/slides/slide12.xml" Id="R5819c561d76e4f8b" /><Relationship Type="http://schemas.openxmlformats.org/officeDocument/2006/relationships/slide" Target="/ppt/slides/slide13.xml" Id="Rf92110c81d564b58" /><Relationship Type="http://schemas.openxmlformats.org/officeDocument/2006/relationships/slide" Target="/ppt/slides/slide14.xml" Id="Rfdb5169e0df7453a" /><Relationship Type="http://schemas.openxmlformats.org/officeDocument/2006/relationships/slide" Target="/ppt/slides/slide15.xml" Id="R95a4b81f2d1d44c8" /><Relationship Type="http://schemas.openxmlformats.org/officeDocument/2006/relationships/slide" Target="/ppt/slides/slide16.xml" Id="Rb6e628d68d1b4440" /><Relationship Type="http://schemas.openxmlformats.org/officeDocument/2006/relationships/slide" Target="/ppt/slides/slide17.xml" Id="R2339200456f34e61" /><Relationship Type="http://schemas.openxmlformats.org/officeDocument/2006/relationships/slide" Target="/ppt/slides/slide18.xml" Id="R531dfea1160b4031" /><Relationship Type="http://schemas.openxmlformats.org/officeDocument/2006/relationships/slide" Target="/ppt/slides/slide19.xml" Id="Rcfce0a69a58743a4" /><Relationship Type="http://schemas.openxmlformats.org/officeDocument/2006/relationships/slide" Target="/ppt/slides/slide20.xml" Id="R3f9284222ad74b94" /><Relationship Type="http://schemas.openxmlformats.org/officeDocument/2006/relationships/slide" Target="/ppt/slides/slide21.xml" Id="Rbe95350ca55b4222" /><Relationship Type="http://schemas.openxmlformats.org/officeDocument/2006/relationships/slide" Target="/ppt/slides/slide22.xml" Id="R65dcc2edfb1847ad" /><Relationship Type="http://schemas.openxmlformats.org/officeDocument/2006/relationships/slide" Target="/ppt/slides/slide23.xml" Id="Rcfe70ca7c1f04b9e" /><Relationship Type="http://schemas.openxmlformats.org/officeDocument/2006/relationships/slide" Target="/ppt/slides/slide24.xml" Id="Ref752a5b72de40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ee7b86e2a4b434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133e13fb9634498" /><Relationship Type="http://schemas.openxmlformats.org/officeDocument/2006/relationships/notesMaster" Target="/ppt/notesMasters/notesMaster1.xml" Id="Rcf12c75495684f3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7d79df8929b428e" /><Relationship Type="http://schemas.openxmlformats.org/officeDocument/2006/relationships/notesMaster" Target="/ppt/notesMasters/notesMaster1.xml" Id="R789f242c64ef44d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6b4e42c8e6c4f3d" /><Relationship Type="http://schemas.openxmlformats.org/officeDocument/2006/relationships/notesMaster" Target="/ppt/notesMasters/notesMaster1.xml" Id="Rea4a6ae5dde9470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96252c4117f4269" /><Relationship Type="http://schemas.openxmlformats.org/officeDocument/2006/relationships/notesMaster" Target="/ppt/notesMasters/notesMaster1.xml" Id="R76ec468b80b745b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062fdb8ba6c4ca8" /><Relationship Type="http://schemas.openxmlformats.org/officeDocument/2006/relationships/notesMaster" Target="/ppt/notesMasters/notesMaster1.xml" Id="R41f847add110477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5d7066d3137450b" /><Relationship Type="http://schemas.openxmlformats.org/officeDocument/2006/relationships/notesMaster" Target="/ppt/notesMasters/notesMaster1.xml" Id="R6ced807ebccd478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00e2a74662541aa" /><Relationship Type="http://schemas.openxmlformats.org/officeDocument/2006/relationships/notesMaster" Target="/ppt/notesMasters/notesMaster1.xml" Id="Rea75439d6a9c48a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4ff3f2194504d09" /><Relationship Type="http://schemas.openxmlformats.org/officeDocument/2006/relationships/notesMaster" Target="/ppt/notesMasters/notesMaster1.xml" Id="R6b2bdd7077fe4b0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5ca0ff183cd4512" /><Relationship Type="http://schemas.openxmlformats.org/officeDocument/2006/relationships/notesMaster" Target="/ppt/notesMasters/notesMaster1.xml" Id="Rdde703a2bae3468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7f451b0a5654822" /><Relationship Type="http://schemas.openxmlformats.org/officeDocument/2006/relationships/notesMaster" Target="/ppt/notesMasters/notesMaster1.xml" Id="R71e842891b4a4c7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0c550b3aa8c4272" /><Relationship Type="http://schemas.openxmlformats.org/officeDocument/2006/relationships/notesMaster" Target="/ppt/notesMasters/notesMaster1.xml" Id="Rf653ee6086a94ba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2f8402d209a4879" /><Relationship Type="http://schemas.openxmlformats.org/officeDocument/2006/relationships/notesMaster" Target="/ppt/notesMasters/notesMaster1.xml" Id="Rd41436a39566453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5986b8c6b7b4e0c" /><Relationship Type="http://schemas.openxmlformats.org/officeDocument/2006/relationships/notesMaster" Target="/ppt/notesMasters/notesMaster1.xml" Id="R56a053429c134e9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72a40ff470641fa" /><Relationship Type="http://schemas.openxmlformats.org/officeDocument/2006/relationships/notesMaster" Target="/ppt/notesMasters/notesMaster1.xml" Id="Rd9f092aa2a384c7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d69a647d1004cdc" /><Relationship Type="http://schemas.openxmlformats.org/officeDocument/2006/relationships/notesMaster" Target="/ppt/notesMasters/notesMaster1.xml" Id="R4f3a429ecbe54b4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c250d5e501840dd" /><Relationship Type="http://schemas.openxmlformats.org/officeDocument/2006/relationships/notesMaster" Target="/ppt/notesMasters/notesMaster1.xml" Id="R94c09e9345a14cd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2245663213b4c28" /><Relationship Type="http://schemas.openxmlformats.org/officeDocument/2006/relationships/notesMaster" Target="/ppt/notesMasters/notesMaster1.xml" Id="R82d448f64b7a4f1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df3353cf0d2455e" /><Relationship Type="http://schemas.openxmlformats.org/officeDocument/2006/relationships/notesMaster" Target="/ppt/notesMasters/notesMaster1.xml" Id="Ra85bf1f904044e0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97ec4e194a3404c" /><Relationship Type="http://schemas.openxmlformats.org/officeDocument/2006/relationships/notesMaster" Target="/ppt/notesMasters/notesMaster1.xml" Id="R96a292dc3999436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807049758184dd7" /><Relationship Type="http://schemas.openxmlformats.org/officeDocument/2006/relationships/notesMaster" Target="/ppt/notesMasters/notesMaster1.xml" Id="R18a8295518584d1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76d6d8385d64b36" /><Relationship Type="http://schemas.openxmlformats.org/officeDocument/2006/relationships/notesMaster" Target="/ppt/notesMasters/notesMaster1.xml" Id="Rfe0c4f4cba02475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37fbe71aa774ef9" /><Relationship Type="http://schemas.openxmlformats.org/officeDocument/2006/relationships/notesMaster" Target="/ppt/notesMasters/notesMaster1.xml" Id="R3446ea07a0b3446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5de9bd837d9431f" /><Relationship Type="http://schemas.openxmlformats.org/officeDocument/2006/relationships/notesMaster" Target="/ppt/notesMasters/notesMaster1.xml" Id="Rbff5370c6f0142e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e4885c897364685" /><Relationship Type="http://schemas.openxmlformats.org/officeDocument/2006/relationships/notesMaster" Target="/ppt/notesMasters/notesMaster1.xml" Id="R9904320a2da045a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大家好，我是廖子頤，今天介紹台灣房屋銷售價格預測挑戰賽。想像我們拿到一筆交易，知道面積、地點和成交日期，卻不知道總價。這份專題要做的，就是利用以前有答案的成交資料，估計新交易的價格。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我會先說明怎麼判斷估價好不好，再介紹資料清理、文字轉換與模型學習，最後看完整方法的驗證結果和限制。每一步都會說明理由，讓沒有機器學習背景的人，也能跟著一筆交易理解整個流程。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先定義一筆交易的輸入與輸出，讓零基礎聽眾知道整份報告要解決的問題。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課程交易資料、保存的程式與發行證據、方法與程式導覽。完整來源對照另存交付核對紀錄。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預測連續的金額叫回歸。機器學習就是讓電腦從題目與答案找估價規則。面積、樓層、地點等條件叫特徵，已知總價叫標籤。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模型先估價格，和答案比較差距，再調整規則。反覆練習後保存模型，遇到未知交易時，只看條件估價。學規則叫訓練，套用保存規則叫推論。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房價同時受區位、面積和建物型態影響，很難用一條人工公式處理，所以讓模型從成交資料學習。但練習表現好還不夠，必須用沒參與學習的交易檢查。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先教會訓練和推論的差異，避免將模型當成上網搜尋價格或背出固定答案。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課程交易資料、保存的程式與發行證據、方法與程式導覽。完整來源對照另存交付核對紀錄。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怎麼知道估得好不好？比賽看平均絕對誤差，英文叫ＭＡＥ。我們算一個教學例子：兩間房的真價都是一千萬元，第一間估一千一百萬，多估一百萬。第二間估九百五十萬，少估五十萬。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只看差距大小，把一百萬和五十萬加起來，除以兩筆，得到七十五萬元。為什麼取絕對值？因為多估和少估都是誤差，不能互相抵銷。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分數越低，這批交易的平均金額差距越小。七十五萬元不是答對的百分比，也不是每筆都差七十五萬。後面讀分數，都要先看是哪一批交易，再看平均差多少錢。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完整算一次比只展示公式容易理解，也能預防把MAE當成百分比或有正負號的平均誤差。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課程交易資料、保存的程式與發行證據、方法與程式導覽。完整來源對照另存交付核對紀錄。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四份資料用途不同。訓練檔約四十五萬六千列，有房屋條件與價格答案。驗證檔約一萬二千列，也有答案，最後完整訓練時才加入。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測試檔四萬七千零七十三筆，沒有價格答案，要全部估出來。提交範本只規定欄位與編號順序，示範價格不能拿來學。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平台把測試檔約三成用於公開分數，叫Public，其餘約七成算隱藏分數，叫Private。三比七分的是測試檔，和有答案的驗證檔用途不同。隱藏部分的答案仍不知道。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以資料用途取代只念檔名，明確區分課程valid與平台test分割。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課程交易資料、保存的程式與發行證據、方法與程式導覽。完整來源對照另存交付核對紀錄。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資料整理先處理兩個明確問題。原始訓練檔混入三列英文欄名，程式同時確認編號欄是英文的序號，總價欄是英文的總價名稱，才把它辨識為表頭。不是看到英文就刪。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再比較除了編號以外的全部原始欄位，成交總價也要一起比較。全部相同才算完全重複，只留第一次，共移除五百二十九列。相同建案或面積並不夠，日期或價格不同仍可能是另一筆交易。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最後合併有答案的驗證檔，再移除二十八筆跨檔重複，得到四十六萬七千二百二十一筆。這樣避免同一紀錄反覆影響模型。測試檔則完整保留。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先呈現整體順序，讓後面的技術各自有位置，並說明資料正確、評分和交付檢查的不同用途。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課程交易資料、保存的程式與發行證據、方法與程式導覽。完整來源對照另存交付核對紀錄。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格式一致，模型才知道哪些內容可以比較。數字先去除逗號，轉成可運算的數值。民國一百一十二年八月十一日，換成西元二〇二三年八月十一日，再拆出年、月和季等時間線索。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樓層把十二層解析成十二，地下二層解析成負二，另保留地下室或整棟標記。地址將台字統一成臺字，再拆縣市、行政區與道路。交易筆棟數拆成土地、建物、車位數量。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空白和無法解析的內容，保留缺失或異常標記。需要從資料估計的填補值、尺度和類別編碼，只由訓練資料建立，再沿用到驗證與測試，避免後面的資料影響學習規則。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用具體刪除對象說明清理的目的，保留完整去重定義與test全量責任。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課程交易資料、保存的程式與發行證據、方法與程式導覽。完整來源對照另存交付核對紀錄。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整理房屋線索叫特徵工程。模型要看的是交易條件，例如面積、用途、樓層、區位和時間。答案則是成交總價，必須另外保存，不能放進輸入。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欄位不是越多越好。編號只用來對齊答案。完整備註可能含價格文字，解約資訊可能在交易後才產生，所以不直接輸入。備註只保留有限的條件標記。建築完成年月不可用，不能硬算屋齡，管理組織全相同也排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基礎特徵共有八十七欄，部分模型再加入八欄不含價格的道路地理資訊，共九十五欄，其中二十三欄是類別。道路代表點只提供大致位置，不等於精確門牌。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介紹特徵的含義和實際轉換，並解釋不可用、無變化、可能洩漏欄位為何不納入。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課程交易資料、保存的程式與發行證據、方法與程式導覽。完整來源對照另存交付核對紀錄。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房價會隨時間改變，因此採時間回測。每個起點只用那天以前的交易學習，再預測後面一年的價格。主要檢查三個八月起點，另外補一個二月起點，看結果是否只適合某個日期。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這個界線不只管模型。文字編碼、參考單價、成交參考和空間狀態，凡是從資料建立的部分，都要用當期訓練資料重建。不能拿後期模型回頭測較早市場，否則後面的資訊可能流入，形成資料洩漏。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這些期間已反覆用來研究，而且彼此有重疊。它們能檢查歷史穩定性，卻不是四次獨立盲測。後面看到三期改善，也不能把它當成隱藏分數的勝率。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先用新舊題目教過擬合，再說明時間隔離需涵蓋所有fit狀態，並保留反覆選型限制。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課程交易資料、保存的程式與發行證據、方法與程式導覽。完整來源對照另存交付核對紀錄。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這次使用兩類模型。樹模型依條件逐步判斷，例如面積在哪個範圍、房子在哪個地區。條件門檻由資料學習，許多小樹再逐步修正誤差。工具叫CatBoost和LightGBM。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神經網路則把數值與分類資訊轉成可學習的數字表示，經過多層計算，學習不同條件一起出現時價格怎麼變。建案的數字表示也會隨訓練調整，不是人工指定等級。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兩種學法有機會互補，但模型更多不保證更準，必須看完整組合的驗證結果。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用條件判斷和數字表示教模型直覺，避免只念模型名稱、架構和參數。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課程交易資料、保存的程式與發行證據、方法與程式導覽。完整來源對照另存交付核對紀錄。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價格有三種學法：直接學總價。或總價除以有效面積，先學每平方公尺單價，估完再乘回面積。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單價為什麼加面積權重？假設兩間房分別五十和一百平方公尺，單價都估錯一萬元，總價就錯五十萬和一百萬。如果把兩個單價誤差看得一樣重，就沒反映比賽關心的總價差距。因此面積越大，單價誤差在學習中的分量越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有效面積依固定規則選取：建物面積不可用時改用車位面積，再沒有才用一。第三種是對數，把大金額壓縮，提供另一個學習角度。訓練看的是對數尺度誤差。最後都要換回總價元，才能組合和評分。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用同單價誤差導致不同總價誤差，解釋面積權重的必要性，並區分log原生loss與最終評估。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課程交易資料、保存的程式與發行證據、方法與程式導覽。完整來源對照另存交付核對紀錄。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近期成交可能更接近目前市場，所以特定模型讓近期資料對學習有較大影響，這個影響大小叫權重。它改變的是誤差有多重要，不是直接修改房價。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先看比例：最近成交算一，一年前零點五，兩年前零點二五。每過三百六十五天，較早交易的相對權重減半，叫半衰期。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合法日期再除以權重平均值，統一尺度，無效日期給一。單價樹模型另乘面積權重，先驗神經網路也使用保存的日期權重，其餘模型各有設定。不能說全部模型都加同一套權重。舊資料仍參與學習，只是單筆誤差的影響不同，效果還要用後面的交易檢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說清楚權重作用於訓練誤差，不是修改房價，並呈現半衰期示意與實際正規化差別。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課程交易資料、保存的程式與發行證據、方法與程式導覽。完整來源對照另存交付核對紀錄。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參考單價，也叫價格先驗，是先整理這類地點與房屋大約多少錢一平方公尺，再讓神經網路學調整倍率。查表依據是地區、交易類型和建物類型，資料不足就逐層放寬，最後用整體參考。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案用來分組，不是這張先驗表的查詢鍵。訓練交易按建案分五組，每組只用其他四組建立自己的參考價，避免把本建案的答案放回自己的線索。這叫分組折外處理，但它不是按日期分折。新的待預測交易，則使用當期全部訓練資料建立參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這支網路採日期加權的平滑絕對損失，差距在十萬元內時調整較平順。固定訓練三十輪，不依驗證最低點挑輪數。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用答案混入參考基準的具體風險解釋OOF，明確保留按建案而非時間分組的限制。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課程交易資料、保存的程式與發行證據、方法與程式導覽。完整來源對照另存交付核對紀錄。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所有模型先換回總價元。第一路以單價CatBoost為主，第二路先平均兩個神經網路，第三路先平均直接總價與對數總價兩個樹模型。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每一路再加入同一個LightGBM的總價預測，主要部分占七成五，共同模型占兩成五。合起來共四個樹模型、兩個神經網路。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教學假設中，主要部分估一千萬，共同模型估一千兩百萬，加權後就是一千零五十萬。這只是初估，還要分別修正，再取中位數。固定比例沒有證明最佳，三路共用一個模型，也不是完全獨立的估價者。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分開解釋六模型和三分支，以同一間房的總價示例算一次75／25，再銜接後續修正。例子只說明運算，沒有證明這組比例最佳。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課程交易資料、保存的程式與發行證據、方法與程式導覽。完整來源對照另存交付核對紀錄。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三條分支各自做兩步修正，補充模型整體關係沒掌握的建案或街區差異。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第一步，找訓練資料裡同建案、同地址或同道路的可比成交，配合訓練資料估出的時間趨勢，調整初估。第二步，成交參考較弱時，用粗略道路位置附近的歷史資訊補充，並檢查城市、建物型態和用途是否相容。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步叫空間修正，同時讀原本初估和第一步的修正結果，依支持條件決定採用多少，資訊不足就回退。價格參考只使用當期訓練資料。道路位置也不等於門牌。三支各自完成後，仍有三個總價，下一步才合成一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補足初估、成交參考和空間修正的資料流，明說每支各自處理、修正後仍是三個價格。保留當期訓練來源、支持條件及道路精度限制。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課程交易資料、保存的程式與發行證據、方法與程式導覽。完整來源對照另存交付核對紀錄。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三個總價由小到大排序，取中間那個，叫中位數。教學例子中，三支修正後估一千萬、一千一百萬和一千六百萬元，就採用一千一百萬元。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平均容易被單一極端值往上拉，中位數能減少這種影響。但如果高估價剛好正確，中位數也可能捨掉有用資訊。三條一起低估時，取中間仍會低估。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所以它沒有每次更好的保證。順序是先換回總價，各支完成成交與空間修正，最後才取中位數。此時已是總價，不能再乘一次面積。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用排序手算建立median直覺，保留它可能阻擋正確極端與無法消除共同偏差的限制。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課程交易資料、保存的程式與發行證據、方法與程式導覽。完整來源對照另存交付核對紀錄。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這張表評分的是完整三分支中位數方法。比較基準的參考單價網路使用日期加權絕對誤差，此方法改用日期加權平滑損失，其餘設定固定。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最早年度比基準多錯約八百八十四元，中間年度少錯約一千四百一十六元，最近年度少錯約一千五百二十六元。額外二月起點也少錯約三百零三元。負差表示改善，正差表示退步。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列是不同市場與交易組成，不能把四個分數畫成同一模型越練越好的曲線。改善幅度都很小，而且基準使用保存預測，沒有同期配對重訓，所以還不能把差異全歸因於損失函數。接著還要看分群和不支持這個方法的證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如實呈現三期數值與不同集合口徑，不把跨年度差異說成同一批資料上的進步。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課程交易資料、保存的程式與發行證據、方法與程式導覽。完整來源對照另存交付核對紀錄。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最近年度整體平均稍微變好，不代表所有交易都變好。既有建案的平均誤差增加約兩百一十三元，新建案則減少約兩千八百四十二元。最早年度也退步，因此原本要求跨期一致改善的強推薦條件沒有通過。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另一個對照方法更提醒我們：它的主要離線窗口整體較好，公開分數卻是兩百零八點三〇萬元，比基準更差。歷史表現較好，不能直接推出未知資料也較好。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最近年度按建案重抽樣的差值區間，從改善約三千五百九十五元，到退步約五百二十三元，跨過零。這只衡量既有預測的不確定性，沒有包含重新訓練和選型偏差，更不是隱藏分數的勝率。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將平台數字翻譯成生活可理解的平均金額差，清楚區分Public證據與未知Private。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課程交易資料、保存的程式與發行證據、方法與程式導覽。完整來源對照另存交付核對紀錄。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目前方法的公開平均絕對誤差約一百九十九點五八萬元。精確值是畫面上的一百九十九萬五千八百三十六點二一三六元，來自提交者文字回報，沒有新截圖。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相對基準少約兩千七百三十二元，約降低百分之零點一三七，屬於小幅變化。公開部分只涵蓋約三成測試交易，其餘七成的隱藏分數仍然未知。公開與歷史驗證用的是不同交易，不能直接比較兩邊誰比較低。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窗口反覆使用、單一亂數種子和粗略道路位置，都限制我們能下的結論。多模型和中位數也可能一起估錯。因此這份專題保留不利證據，將目前成果理解為有限的改善，沒有宣稱未來一定更準。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以已知反證、地理精度與分支共同偏誤說明限制，不宣稱流程保證泛化。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課程交易資料、保存的程式與發行證據、方法與程式導覽。完整來源對照另存交付核對紀錄。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這張是固定設定另跑一次的單一神經網路診斷，不是原提交模型當時的軌跡，也不是完整融合。用二〇二三年八月以前資料訓練，後一年交易驗證。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藍線是訓練誤差，橘線是時間驗證誤差，越低越好。每輪關閉隨機丟棄，用完整資料計算不加權總價誤差。最後一輪約七十一點五與一百七十七點七一萬元，驗證後段波動趨平，仍不能證明沒有過擬合。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完成三十輪並封存後才讀驗證答案，沒有依最低點挑輪數。模型大小全程固定，輪數不是模型容量或ＶＣ維度。訓練先驗來自其他建案組，驗證先驗來自全部訓練資料，兩線差距也受到這個差異與時間組成影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先封存固定輪數，再讀驗證標籤，觀察學習過程但不以曲線選 epoch。原生 NN 診斷與完整中位數年度回測分開。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課程交易資料、保存的程式與發行證據、方法與程式導覽。完整來源對照另存交付核對紀錄。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方法確認後，最終使用四十六萬七千二百二十一筆有答案資料，只新增一次參考單價神經網路訓練。其餘五個模型沿用保存的預測向量，沒有宣稱全部重新訓練或重新原生推論。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替換新的網路分量後，完成分支修正與中位數，最後才取整，輸出四萬七千零七十三筆。兩欄是編號與總價元，必須核對列數、順序、整數和檔案雜湊，避免預測對到錯誤房屋。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新網路已重新載入，全部待預測輸出核對一致。程式、模型與發行證據都保存，能追查這次價格如何形成。但乾淨環境從原始資料完成六模型全部重訓與推論，仍未驗證。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明確區分最終fit、保存模型推論及從零重訓，交代真實完成範圍與可追查程式入口。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課程交易資料、保存的程式與發行證據、方法與程式導覽。完整來源對照另存交付核對紀錄。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回到最初問題，只有房屋條件怎麼估總價？先排除混入表頭與完全重複，把數字、日期、樓層和地址整理成一致線索。從以前有答案的交易學習，再用較晚交易檢查誤差。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不同模型分別學總價、單價與對數。面積權重對齊總價差距，日期權重提高近期成交影響，參考單價網路使用平滑損失。六模型形成三分支，各自修正後逐筆取中位數。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完整方法的歷史改善很小，也有退步與反例。公開平均誤差約一百九十九點五八萬元，隱藏分數仍未知。以上是這次資料整理、模型設計與驗證的完整流程，謝謝大家。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回扣任務、方法和證據邊界，用觀眾已學會的概念收束，不引入內部版本競賽。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課程交易資料、保存的程式與發行證據、方法與程式導覽。完整來源對照另存交付核對紀錄。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供問答核對。所有模型符號都代表已換回新臺幣元的總價。兩個神經網路先平均，直接總價和對數總價模型也先平均。每路主要部分占四分之三，共同的單價樹模型占四分之一。各路先做成交參考，再把原初估和成交修正結果一起交給空間修正。最後每筆交易取三路中位數，不再乘面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保留精確係數供技術提問，但不要求主講聽眾記住全部符號。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課程交易資料、保存的程式與發行證據、方法與程式導覽。完整來源對照另存交付核對紀錄。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提供參數核對。參考單價網路有三個隱藏層，固定三十輪，種子四十二，採日期加權平滑損失，十萬元為轉折。基準只改用日期加權絕對誤差，但本次沒有同期配對重訓基準，因此不能完全分離損失效果和訓練變異。其他模型仍使用各自的設定，沒有把六模型全改成同一種損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提供可查的實作入口與主要設定，讓參數離開主講並保留研究可追溯性。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課程交易資料、保存的程式與發行證據、方法與程式導覽。完整來源對照另存交付核對紀錄。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特徵是房屋條件，標籤是已知總價。訓練利用有答案的資料調整規則，推論則套用保存規則。先驗是訓練成交整理出的參考基準。分組折外處理，讓某組只使用其他組的標籤建立參考。中位數是排序後的中間值。過擬合表示太貼合練習資料的細節，換成新交易可能失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讓零基礎聽眾能從動作找回概念，供閱讀與問答查詞。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課程交易資料、保存的程式與發行證據、方法與程式導覽。完整來源對照另存交付核對紀錄。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308bd31c1a427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626180d3654c9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d50236bcea459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292c99c9d24ad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3bd88dfff4435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d824ded977462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463182A-7534-4490-847F-79B70A53D7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9669833-A016-4C9E-B869-48D02DF00F2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4E8BDD0-CBDC-413F-A086-E222D44B8C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DA7801E-3D55-4B14-BE44-B0C014FA9C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19C148C-F026-4C3F-B93A-F2E657C031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C7442D0-83D6-4718-AE55-6276CACA2B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FF91FB7-3826-4109-9E0D-982273BC73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6378DD6-C7F3-4052-B8B3-E16686D0153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C6655F2-A990-4FE3-82F1-2A3B016C75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FD016ED-4548-46DE-B826-2DC2368A816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20c7c0e73a447b" /><Relationship Type="http://schemas.openxmlformats.org/officeDocument/2006/relationships/slideLayout" Target="/ppt/slideLayouts/slideLayout1.xml" Id="R871657ad12734324" /><Relationship Type="http://schemas.openxmlformats.org/officeDocument/2006/relationships/slideLayout" Target="/ppt/slideLayouts/slideLayout2.xml" Id="R3f8524069f6b4e93" /><Relationship Type="http://schemas.openxmlformats.org/officeDocument/2006/relationships/slideLayout" Target="/ppt/slideLayouts/slideLayout3.xml" Id="Ra9dbde17cddc4c09" /><Relationship Type="http://schemas.openxmlformats.org/officeDocument/2006/relationships/slideLayout" Target="/ppt/slideLayouts/slideLayout4.xml" Id="R01f44468e36a46b0" /><Relationship Type="http://schemas.openxmlformats.org/officeDocument/2006/relationships/slideLayout" Target="/ppt/slideLayouts/slideLayout5.xml" Id="R5287949df7224bd8" /><Relationship Type="http://schemas.openxmlformats.org/officeDocument/2006/relationships/slideLayout" Target="/ppt/slideLayouts/slideLayout6.xml" Id="R96e4e603b8404ce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1657ad12734324"/>
    <p:sldLayoutId xmlns:r="http://schemas.openxmlformats.org/officeDocument/2006/relationships" id="2147483650" r:id="R3f8524069f6b4e93"/>
    <p:sldLayoutId xmlns:r="http://schemas.openxmlformats.org/officeDocument/2006/relationships" id="2147483651" r:id="Ra9dbde17cddc4c09"/>
    <p:sldLayoutId xmlns:r="http://schemas.openxmlformats.org/officeDocument/2006/relationships" id="2147483652" r:id="R01f44468e36a46b0"/>
    <p:sldLayoutId xmlns:r="http://schemas.openxmlformats.org/officeDocument/2006/relationships" id="2147483653" r:id="R5287949df7224bd8"/>
    <p:sldLayoutId xmlns:r="http://schemas.openxmlformats.org/officeDocument/2006/relationships" id="2147483654" r:id="R96e4e603b8404ce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0a95c312d647b1" /><Relationship Type="http://schemas.openxmlformats.org/officeDocument/2006/relationships/notesSlide" Target="/ppt/notesSlides/notesSlide1.xml" Id="R740f9815ec5a4e1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f2143314a5436f" /><Relationship Type="http://schemas.openxmlformats.org/officeDocument/2006/relationships/notesSlide" Target="/ppt/notesSlides/notesSlide2.xml" Id="R0a53843da009467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0ea65bc5254942" /><Relationship Type="http://schemas.openxmlformats.org/officeDocument/2006/relationships/notesSlide" Target="/ppt/notesSlides/notesSlide3.xml" Id="R75e914d86fa0498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eba355486e4426" /><Relationship Type="http://schemas.openxmlformats.org/officeDocument/2006/relationships/notesSlide" Target="/ppt/notesSlides/notesSlide4.xml" Id="Ra72fc24e4eee45b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10b671ef7747be" /><Relationship Type="http://schemas.openxmlformats.org/officeDocument/2006/relationships/notesSlide" Target="/ppt/notesSlides/notesSlide5.xml" Id="R4418e962b86a4e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7704786e204e8a" /><Relationship Type="http://schemas.openxmlformats.org/officeDocument/2006/relationships/notesSlide" Target="/ppt/notesSlides/notesSlide6.xml" Id="R2607f732a97b4a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97cc1984f749ab" /><Relationship Type="http://schemas.openxmlformats.org/officeDocument/2006/relationships/notesSlide" Target="/ppt/notesSlides/notesSlide7.xml" Id="R53625f1d591b4a9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e325eddcc142a6" /><Relationship Type="http://schemas.openxmlformats.org/officeDocument/2006/relationships/notesSlide" Target="/ppt/notesSlides/notesSlide8.xml" Id="Rd94e47a8bb214e2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fbe112e2f643c3" /><Relationship Type="http://schemas.openxmlformats.org/officeDocument/2006/relationships/notesSlide" Target="/ppt/notesSlides/notesSlide9.xml" Id="Rac12740dd06b453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ce02dc67be4a97" /><Relationship Type="http://schemas.openxmlformats.org/officeDocument/2006/relationships/notesSlide" Target="/ppt/notesSlides/notesSlide10.xml" Id="R6d7dc296264c4ef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839486b022437e" /><Relationship Type="http://schemas.openxmlformats.org/officeDocument/2006/relationships/chart" Target="/ppt/slides/charts/chart1.xml" Id="Ra70d5e3b9b204027" /><Relationship Type="http://schemas.openxmlformats.org/officeDocument/2006/relationships/notesSlide" Target="/ppt/notesSlides/notesSlide11.xml" Id="R8364c0e697d7464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9a33c779f74eb1" /><Relationship Type="http://schemas.openxmlformats.org/officeDocument/2006/relationships/notesSlide" Target="/ppt/notesSlides/notesSlide12.xml" Id="R07cce05138e24df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6f45cf2d464cb8" /><Relationship Type="http://schemas.openxmlformats.org/officeDocument/2006/relationships/notesSlide" Target="/ppt/notesSlides/notesSlide13.xml" Id="Rb4ca516f95de414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a75daf9a1641eb" /><Relationship Type="http://schemas.openxmlformats.org/officeDocument/2006/relationships/notesSlide" Target="/ppt/notesSlides/notesSlide14.xml" Id="Rd8c4471c3f9b4a8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dbdd6a075b4349" /><Relationship Type="http://schemas.openxmlformats.org/officeDocument/2006/relationships/chart" Target="/ppt/slides/charts/chart2.xml" Id="Rdce6ae17a48d4261" /><Relationship Type="http://schemas.openxmlformats.org/officeDocument/2006/relationships/notesSlide" Target="/ppt/notesSlides/notesSlide15.xml" Id="R27f0761c792f47a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840a3707e04989" /><Relationship Type="http://schemas.openxmlformats.org/officeDocument/2006/relationships/notesSlide" Target="/ppt/notesSlides/notesSlide16.xml" Id="Rd69b58ee8eb8451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6e5e7216544d60" /><Relationship Type="http://schemas.openxmlformats.org/officeDocument/2006/relationships/notesSlide" Target="/ppt/notesSlides/notesSlide17.xml" Id="Rcc257498b9454da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c80782cf9644ec" /><Relationship Type="http://schemas.openxmlformats.org/officeDocument/2006/relationships/notesSlide" Target="/ppt/notesSlides/notesSlide18.xml" Id="Rff33c326680e40e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bed467359240a7" /><Relationship Type="http://schemas.openxmlformats.org/officeDocument/2006/relationships/chart" Target="/ppt/slides/charts/chart3.xml" Id="Rd19d9f6791e5422b" /><Relationship Type="http://schemas.openxmlformats.org/officeDocument/2006/relationships/notesSlide" Target="/ppt/notesSlides/notesSlide19.xml" Id="Rb9612464acf94e6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044b3f24614a9b" /><Relationship Type="http://schemas.openxmlformats.org/officeDocument/2006/relationships/notesSlide" Target="/ppt/notesSlides/notesSlide20.xml" Id="R489910b7f1f14ad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c2afaa0e414449" /><Relationship Type="http://schemas.openxmlformats.org/officeDocument/2006/relationships/notesSlide" Target="/ppt/notesSlides/notesSlide21.xml" Id="Rba6599858baa4d7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80e6e7a09f46c9" /><Relationship Type="http://schemas.openxmlformats.org/officeDocument/2006/relationships/notesSlide" Target="/ppt/notesSlides/notesSlide22.xml" Id="R0ec43c6182f3443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a62e1e59c14051" /><Relationship Type="http://schemas.openxmlformats.org/officeDocument/2006/relationships/notesSlide" Target="/ppt/notesSlides/notesSlide23.xml" Id="R5696801ef46a4af6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67c27a877540fd" /><Relationship Type="http://schemas.openxmlformats.org/officeDocument/2006/relationships/notesSlide" Target="/ppt/notesSlides/notesSlide24.xml" Id="R8b7f51b8700e42b5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259B6"/>
            </a:solidFill>
          </c:spPr>
          <c:cat>
            <c:strRef>
              <c:f>'Chart Data'!$A$2:$A$4</c:f>
              <c:strCache>
                <c:ptCount val="3"/>
                <c:pt idx="0">
                  <c:v>最新日期</c:v>
                </c:pt>
                <c:pt idx="1">
                  <c:v>早一年</c:v>
                </c:pt>
                <c:pt idx="2">
                  <c:v>早兩年</c:v>
                </c:pt>
              </c:strCache>
            </c:strRef>
          </c:cat>
          <c:val>
            <c:numRef>
              <c:f>'Chart Data'!$B$2:$B$4</c:f>
              <c:numCache>
                <c:formatCode>0.00</c:formatCode>
                <c:ptCount val="3"/>
                <c:pt idx="0">
                  <c:v>1</c:v>
                </c:pt>
                <c:pt idx="1">
                  <c:v>0.5</c:v>
                </c:pt>
                <c:pt idx="2">
                  <c:v>0.25</c:v>
                </c:pt>
              </c:numCache>
            </c:numRef>
          </c:val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400">
                  <a:solidFill>
                    <a:srgbClr val="172C45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3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E1E9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1.1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1E9"/>
              </a:solidFill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259B6"/>
            </a:solidFill>
          </c:spPr>
          <c:dPt>
            <c:idx val="1"/>
            <c:invertIfNegative val="0"/>
            <c:spPr>
              <a:solidFill xmlns:a="http://schemas.openxmlformats.org/drawingml/2006/main">
                <a:srgbClr val="BC5B2E"/>
              </a:solidFill>
            </c:spPr>
          </c:dPt>
          <c:cat>
            <c:strRef>
              <c:f>'Chart Data'!$A$2:$A$4</c:f>
              <c:strCache>
                <c:ptCount val="3"/>
                <c:pt idx="0">
                  <c:v>分支 A</c:v>
                </c:pt>
                <c:pt idx="1">
                  <c:v>分支 B</c:v>
                </c:pt>
                <c:pt idx="2">
                  <c:v>分支 C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1000</c:v>
                </c:pt>
                <c:pt idx="1">
                  <c:v>1100</c:v>
                </c:pt>
                <c:pt idx="2">
                  <c:v>1600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400">
                  <a:solidFill>
                    <a:srgbClr val="172C45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3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E1E9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2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1E9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varyColors val="0"/>
        <c:ser>
          <c:idx val="0"/>
          <c:order val="0"/>
          <c:tx>
            <c:v>訓練資料</c:v>
          </c:tx>
          <c:spPr>
            <a:ln xmlns:a="http://schemas.openxmlformats.org/drawingml/2006/main" w="38100">
              <a:solidFill>
                <a:srgbClr val="2259B6"/>
              </a:solidFill>
              <a:prstDash val="solid"/>
            </a:ln>
          </c:spPr>
          <c:marker>
            <c:symbol val="none"/>
          </c:marker>
          <c:xVal>
            <c:numRef>
              <c:f>'Chart Data'!$A$2:$A$31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numCache>
            </c:numRef>
          </c:xVal>
          <c:yVal>
            <c:numRef>
              <c:f>'Chart Data'!$B$2:$B$31</c:f>
              <c:numCache>
                <c:formatCode>0</c:formatCode>
                <c:ptCount val="30"/>
                <c:pt idx="0">
                  <c:v>2235313.48343883</c:v>
                </c:pt>
                <c:pt idx="1">
                  <c:v>1832261.4188805</c:v>
                </c:pt>
                <c:pt idx="2">
                  <c:v>1591415.61656558</c:v>
                </c:pt>
                <c:pt idx="3">
                  <c:v>1510153.84501852</c:v>
                </c:pt>
                <c:pt idx="4">
                  <c:v>1311856.8984844</c:v>
                </c:pt>
                <c:pt idx="5">
                  <c:v>1185182.70776998</c:v>
                </c:pt>
                <c:pt idx="6">
                  <c:v>1148706.16631189</c:v>
                </c:pt>
                <c:pt idx="7">
                  <c:v>1125197.24966036</c:v>
                </c:pt>
                <c:pt idx="8">
                  <c:v>1012946.97397296</c:v>
                </c:pt>
                <c:pt idx="9">
                  <c:v>1051593.84038778</c:v>
                </c:pt>
                <c:pt idx="10">
                  <c:v>975804.995821139</c:v>
                </c:pt>
                <c:pt idx="11">
                  <c:v>925532.316399218</c:v>
                </c:pt>
                <c:pt idx="12">
                  <c:v>857222.787359282</c:v>
                </c:pt>
                <c:pt idx="13">
                  <c:v>830988.799595044</c:v>
                </c:pt>
                <c:pt idx="14">
                  <c:v>805182.482096218</c:v>
                </c:pt>
                <c:pt idx="15">
                  <c:v>842231.268894053</c:v>
                </c:pt>
                <c:pt idx="16">
                  <c:v>784054.076659313</c:v>
                </c:pt>
                <c:pt idx="17">
                  <c:v>803667.713204716</c:v>
                </c:pt>
                <c:pt idx="18">
                  <c:v>768591.063195035</c:v>
                </c:pt>
                <c:pt idx="19">
                  <c:v>765402.656387365</c:v>
                </c:pt>
                <c:pt idx="20">
                  <c:v>751954.601149785</c:v>
                </c:pt>
                <c:pt idx="21">
                  <c:v>753961.258588071</c:v>
                </c:pt>
                <c:pt idx="22">
                  <c:v>739706.724836986</c:v>
                </c:pt>
                <c:pt idx="23">
                  <c:v>728262.765757631</c:v>
                </c:pt>
                <c:pt idx="24">
                  <c:v>723131.753773548</c:v>
                </c:pt>
                <c:pt idx="25">
                  <c:v>719029.416399214</c:v>
                </c:pt>
                <c:pt idx="26">
                  <c:v>720744.088754497</c:v>
                </c:pt>
                <c:pt idx="27">
                  <c:v>715970.247165135</c:v>
                </c:pt>
                <c:pt idx="28">
                  <c:v>714630.710990997</c:v>
                </c:pt>
                <c:pt idx="29">
                  <c:v>715006.131355397</c:v>
                </c:pt>
              </c:numCache>
            </c:numRef>
          </c:yVal>
        </c:ser>
        <c:ser>
          <c:idx val="1"/>
          <c:order val="1"/>
          <c:tx>
            <c:v>時間驗證</c:v>
          </c:tx>
          <c:spPr>
            <a:ln xmlns:a="http://schemas.openxmlformats.org/drawingml/2006/main" w="38100">
              <a:solidFill>
                <a:srgbClr val="BC5B2E"/>
              </a:solidFill>
              <a:prstDash val="solid"/>
            </a:ln>
          </c:spPr>
          <c:marker>
            <c:symbol val="none"/>
          </c:marker>
          <c:xVal>
            <c:numRef>
              <c:f>'Chart Data'!$C$2:$C$31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numCache>
            </c:numRef>
          </c:xVal>
          <c:yVal>
            <c:numRef>
              <c:f>'Chart Data'!$D$2:$D$31</c:f>
              <c:numCache>
                <c:formatCode>0</c:formatCode>
                <c:ptCount val="30"/>
                <c:pt idx="0">
                  <c:v>1981140.43488927</c:v>
                </c:pt>
                <c:pt idx="1">
                  <c:v>1927632.08130938</c:v>
                </c:pt>
                <c:pt idx="2">
                  <c:v>1809738.66013985</c:v>
                </c:pt>
                <c:pt idx="3">
                  <c:v>1954629.43221374</c:v>
                </c:pt>
                <c:pt idx="4">
                  <c:v>1896944.67968081</c:v>
                </c:pt>
                <c:pt idx="5">
                  <c:v>1867611.84546502</c:v>
                </c:pt>
                <c:pt idx="6">
                  <c:v>1915112.65992417</c:v>
                </c:pt>
                <c:pt idx="7">
                  <c:v>1947167.40665746</c:v>
                </c:pt>
                <c:pt idx="8">
                  <c:v>1876765.10207814</c:v>
                </c:pt>
                <c:pt idx="9">
                  <c:v>1899582.89506721</c:v>
                </c:pt>
                <c:pt idx="10">
                  <c:v>1895966.16637718</c:v>
                </c:pt>
                <c:pt idx="11">
                  <c:v>1800641.35546675</c:v>
                </c:pt>
                <c:pt idx="12">
                  <c:v>1830552.36974665</c:v>
                </c:pt>
                <c:pt idx="13">
                  <c:v>1796817.8718656</c:v>
                </c:pt>
                <c:pt idx="14">
                  <c:v>1762160.26849798</c:v>
                </c:pt>
                <c:pt idx="15">
                  <c:v>1828975.62324592</c:v>
                </c:pt>
                <c:pt idx="16">
                  <c:v>1772272.1199951</c:v>
                </c:pt>
                <c:pt idx="17">
                  <c:v>1789328.48447893</c:v>
                </c:pt>
                <c:pt idx="18">
                  <c:v>1775816.05141653</c:v>
                </c:pt>
                <c:pt idx="19">
                  <c:v>1840723.68747277</c:v>
                </c:pt>
                <c:pt idx="20">
                  <c:v>1796985.67935174</c:v>
                </c:pt>
                <c:pt idx="21">
                  <c:v>1809790.24604321</c:v>
                </c:pt>
                <c:pt idx="22">
                  <c:v>1774012.67498537</c:v>
                </c:pt>
                <c:pt idx="23">
                  <c:v>1770810.76091548</c:v>
                </c:pt>
                <c:pt idx="24">
                  <c:v>1781798.94944525</c:v>
                </c:pt>
                <c:pt idx="25">
                  <c:v>1792743.54911063</c:v>
                </c:pt>
                <c:pt idx="26">
                  <c:v>1781466.20557404</c:v>
                </c:pt>
                <c:pt idx="27">
                  <c:v>1788213.30648566</c:v>
                </c:pt>
                <c:pt idx="28">
                  <c:v>1786753.33411106</c:v>
                </c:pt>
                <c:pt idx="29">
                  <c:v>1777133.9759191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icrosoft JhengHei"/>
                  <a:ea typeface="Microsoft JhengHei"/>
                  <a:cs typeface="Microsoft Jheng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50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1E9"/>
              </a:solidFill>
            </a:ln>
          </c:spPr>
        </c:majorGridlines>
        <c:numFmt formatCode="0.0,,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majorUnit val="500000"/>
      </c:valAx>
      <c:valAx>
        <c:axId val="48650112"/>
        <c:scaling>
          <c:orientation val="minMax"/>
          <c:max val="30"/>
          <c:min val="1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950">
                    <a:solidFill>
                      <a:srgbClr val="33485F"/>
                    </a:solidFill>
                    <a:latin typeface="Microsoft JhengHei"/>
                    <a:ea typeface="Microsoft JhengHei"/>
                    <a:cs typeface="Microsoft JhengHei"/>
                  </a:rPr>
                  <a:t>訓練輪數 Epoch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950">
                  <a:solidFill>
                    <a:srgbClr val="33485F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9E1E9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  <c:majorUnit val="5"/>
      </c:valAx>
      <c:spPr>
        <a:noFill xmlns:a="http://schemas.openxmlformats.org/drawingml/2006/main"/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100">
              <a:solidFill>
                <a:srgbClr val="33485F"/>
              </a:solidFill>
              <a:latin typeface="Microsoft JhengHei"/>
              <a:ea typeface="Microsoft JhengHei"/>
              <a:cs typeface="Microsoft JhengHei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DCD624A-3DD2-4BE0-BE5E-5FE189ED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133475"/>
            <a:ext cx="108013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2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2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2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rPr>
              <a:t>台灣房屋銷售價格</a:t>
            </a:r>
          </a:p>
          <a:p xmlns:a="http://schemas.openxmlformats.org/drawingml/2006/main">
            <a:pPr algn="l">
              <a:defRPr sz="52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2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rPr>
              <a:t>預測挑戰賽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6568A03-7EF7-4EF2-940A-36D5A168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09975"/>
            <a:ext cx="10572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850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利用歷史成交資料，估計新交易總價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B71D449C-5A8C-403E-88E8-89D89535C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10191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姓名：廖子頤</a:t>
            </a:r>
          </a:p>
          <a:p xmlns:a="http://schemas.openxmlformats.org/drawingml/2006/main">
            <a: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學號：315581048</a:t>
            </a:r>
          </a:p>
        </p:txBody>
      </p:sp>
    </p:spTree>
    <p:extLst>
      <p:ext uri="{BB962C8B-B14F-4D97-AF65-F5344CB8AC3E}">
        <p14:creationId xmlns:p14="http://schemas.microsoft.com/office/powerpoint/2010/main" val="20604558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2197761-D9E4-4A75-90D9-61D97A21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rPr>
              <a:t>回歸與模型學習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DC32373-945B-4E31-9DC1-57F6808C6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246EBE36-3896-4E51-B4B1-9B975C82E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47825"/>
            <a:ext cx="295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特徵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10F05C54-920F-42CC-B86A-51D54DD5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647825"/>
            <a:ext cx="75723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地點、面積、樓層、交易日期</a:t>
            </a:r>
          </a:p>
          <a:p xmlns:a="http://schemas.openxmlformats.org/drawingml/2006/main">
            <a: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模型估價時能看到的房屋條件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44B6445A-E099-491C-907F-7FA924196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33725"/>
            <a:ext cx="295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標籤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8E5430F6-FEDA-4522-AE57-540E6C012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133725"/>
            <a:ext cx="75723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已知成交總價</a:t>
            </a:r>
          </a:p>
          <a:p xmlns:a="http://schemas.openxmlformats.org/drawingml/2006/main">
            <a: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訓練時用來比較的答案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CEC07AB6-462E-4209-BDA2-D101B14A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48350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訓練用已知答案調整規則，推論用保存規則估計新交易</a:t>
            </a:r>
          </a:p>
        </p:txBody>
      </p:sp>
    </p:spTree>
    <p:extLst>
      <p:ext uri="{BB962C8B-B14F-4D97-AF65-F5344CB8AC3E}">
        <p14:creationId xmlns:p14="http://schemas.microsoft.com/office/powerpoint/2010/main" val="198281885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07CA0BD-A279-413D-A54E-D3B7ABB6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rPr>
              <a:t>平均絕對誤差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406A202-057B-40D7-B270-1D793D3D4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68BACA11-4AFE-460C-A4CE-EC61053EE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76375"/>
            <a:ext cx="108775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MAE = 每筆相差金額的平均，越低越好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6D84AC-5304-4234-9B6F-5321AE34B569}"/>
              </a:ext>
            </a:extLst>
          </p:cNvPr>
          <p:cNvGraphicFramePr/>
          <p:nvPr/>
        </p:nvGraphicFramePr>
        <p:xfrm>
          <a:off xmlns:a="http://schemas.openxmlformats.org/drawingml/2006/main" x="628650" y="2495550"/>
          <a:ext xmlns:a="http://schemas.openxmlformats.org/drawingml/2006/main" cx="10896600" cy="23907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2857500"/>
                <a:gridCol w="2857500"/>
                <a:gridCol w="2895600"/>
              </a:tblGrid>
              <a:tr h="79692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教學假設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真實總價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預測總價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相差金額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</a:tr>
              <a:tr h="79692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 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1,000 萬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1,100 萬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100 萬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9692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 B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1,000 萬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950 萬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50 萬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6D4282C9-AAD9-43B7-9059-82F30DB04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48350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（100 萬 + 50 萬）÷ 2 = 75 萬元</a:t>
            </a:r>
          </a:p>
        </p:txBody>
      </p:sp>
    </p:spTree>
    <p:extLst>
      <p:ext uri="{BB962C8B-B14F-4D97-AF65-F5344CB8AC3E}">
        <p14:creationId xmlns:p14="http://schemas.microsoft.com/office/powerpoint/2010/main" val="13076263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88BAEC3-AB28-4AA7-A072-AD29707F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rPr>
              <a:t>四份資料的用途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4881911-F88E-4DC0-804C-340AB0D9B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A3F298-E797-4D7A-A43F-1A60DD0C156D}"/>
              </a:ext>
            </a:extLst>
          </p:cNvPr>
          <p:cNvGraphicFramePr/>
          <p:nvPr/>
        </p:nvGraphicFramePr>
        <p:xfrm>
          <a:off xmlns:a="http://schemas.openxmlformats.org/drawingml/2006/main" x="628650" y="1628775"/>
          <a:ext xmlns:a="http://schemas.openxmlformats.org/drawingml/2006/main" cx="10896600" cy="36099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52625"/>
                <a:gridCol w="2000250"/>
                <a:gridCol w="2238375"/>
                <a:gridCol w="4705350"/>
              </a:tblGrid>
              <a:tr h="72199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原始列數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有價格答案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用途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</a:tr>
              <a:tr h="72199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train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455,787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學習與歷史回測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2199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valid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11,994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最終訓練時合併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</a:tr>
              <a:tr h="72199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test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47,073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每筆都要估價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2199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sample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47,073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僅格式示例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提供編號與欄位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3D13DCDF-E979-481B-839F-2D4D2865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48350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Public 約占 test 30%，Private 約占 70%，和 valid 用途不同</a:t>
            </a:r>
          </a:p>
        </p:txBody>
      </p:sp>
    </p:spTree>
    <p:extLst>
      <p:ext uri="{BB962C8B-B14F-4D97-AF65-F5344CB8AC3E}">
        <p14:creationId xmlns:p14="http://schemas.microsoft.com/office/powerpoint/2010/main" val="17683787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D4A37BA-8FFE-4F6B-A3C4-45CDD7BCE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rPr>
              <a:t>表頭排除與完全去重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C409DAF-C01B-4DB6-A371-5018D6633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81C157-CDB6-4E6D-AFAA-6337162221C7}"/>
              </a:ext>
            </a:extLst>
          </p:cNvPr>
          <p:cNvGraphicFramePr/>
          <p:nvPr/>
        </p:nvGraphicFramePr>
        <p:xfrm>
          <a:off xmlns:a="http://schemas.openxmlformats.org/drawingml/2006/main" x="628650" y="1562100"/>
          <a:ext xmlns:a="http://schemas.openxmlformats.org/drawingml/2006/main" cx="108966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943850"/>
                <a:gridCol w="2952750"/>
              </a:tblGrid>
              <a:tr h="68580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整理步驟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保留列數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</a:tr>
              <a:tr h="68580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原始訓練資料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455,787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移除 3 列混入表頭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455,784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</a:tr>
              <a:tr h="68580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移除 529 列完全重複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455,255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加入 valid，再排除 28 列跨檔重複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467,221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104DA7DE-D704-4056-B159-1B1C62AF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29225"/>
            <a:ext cx="10877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表頭核對：serial number 與 total price NTD 同時符合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03B04743-006F-4BC2-93DE-96F757237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48350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去重比較全部原始欄位，包含總價、排除編號</a:t>
            </a:r>
          </a:p>
        </p:txBody>
      </p:sp>
    </p:spTree>
    <p:extLst>
      <p:ext uri="{BB962C8B-B14F-4D97-AF65-F5344CB8AC3E}">
        <p14:creationId xmlns:p14="http://schemas.microsoft.com/office/powerpoint/2010/main" val="7301678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3ECB78A-9CB0-498E-BE09-B4E6032D4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rPr>
              <a:t>文字轉成一致的資料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81BB97A-AA17-411C-A362-6254210A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A196C7-0FC4-45BE-B2BE-02CAEC91B9BB}"/>
              </a:ext>
            </a:extLst>
          </p:cNvPr>
          <p:cNvGraphicFramePr/>
          <p:nvPr/>
        </p:nvGraphicFramePr>
        <p:xfrm>
          <a:off xmlns:a="http://schemas.openxmlformats.org/drawingml/2006/main" x="628650" y="1543050"/>
          <a:ext xmlns:a="http://schemas.openxmlformats.org/drawingml/2006/main" cx="10896600" cy="35909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238625"/>
                <a:gridCol w="6657975"/>
              </a:tblGrid>
              <a:tr h="71818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原始內容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實際轉換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</a:tr>
              <a:tr h="71818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 1,200.5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移除逗號，轉成數值 1200.5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1818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112年8月11日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2023-08-11，再拆年、月、季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</a:tr>
              <a:tr h="71818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十二層／地下二層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12／−2，另保留地下室等標記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1818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地址、交易筆棟數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拆地區道路、土地建物車位數量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92388B2A-BE03-451C-B1BD-B9FEF2F0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48350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保留缺失標記；需要學習的填補、尺度與編碼只從訓練資料建立</a:t>
            </a:r>
          </a:p>
        </p:txBody>
      </p:sp>
    </p:spTree>
    <p:extLst>
      <p:ext uri="{BB962C8B-B14F-4D97-AF65-F5344CB8AC3E}">
        <p14:creationId xmlns:p14="http://schemas.microsoft.com/office/powerpoint/2010/main" val="160069484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4FCF034-7AA6-4A76-88B6-C2A2D44A1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rPr>
              <a:t>輸入欄位與價格答案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06B3326-06A2-4577-9165-6A4196FB4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DD642A8D-EA30-466D-932E-5BB97B763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81150"/>
            <a:ext cx="295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保留的線索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F53D9AC1-3DD8-454E-87B8-F8782F4B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581150"/>
            <a:ext cx="75723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面積、用途、樓層、地區、交易時間</a:t>
            </a:r>
          </a:p>
          <a:p xmlns:a="http://schemas.openxmlformats.org/drawingml/2006/main">
            <a: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部分模型補充不含價格的道路位置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A67497B2-6268-496E-9F72-4D5E33C3B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48025"/>
            <a:ext cx="295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排除的欄位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9AE5C70F-5870-4DFB-8DE8-4C8E49FA9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248025"/>
            <a:ext cx="75723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編號與總價不當特徵</a:t>
            </a:r>
          </a:p>
          <a:p xmlns:a="http://schemas.openxmlformats.org/drawingml/2006/main">
            <a: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完整備註、解約情形、不可用或常數欄位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B3FF24C5-DA69-4F09-8139-AB94189EE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48350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87 欄基礎特徵 + 8 欄地理資訊 = 95 欄，其中 23 欄為類別</a:t>
            </a:r>
          </a:p>
        </p:txBody>
      </p:sp>
    </p:spTree>
    <p:extLst>
      <p:ext uri="{BB962C8B-B14F-4D97-AF65-F5344CB8AC3E}">
        <p14:creationId xmlns:p14="http://schemas.microsoft.com/office/powerpoint/2010/main" val="105901173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079C37B-CEB1-4E4A-B4B5-2840C62D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rPr>
              <a:t>用較早交易預測下一年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17F4C74-2821-486B-865E-0E13424B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7B04F504-D71A-42C5-B1A1-0B60DE41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24000"/>
            <a:ext cx="10896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每個時間起點各自建立完整方法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147B0A-BC52-43EC-BF8D-EFD4FA4A4C1D}"/>
              </a:ext>
            </a:extLst>
          </p:cNvPr>
          <p:cNvGraphicFramePr/>
          <p:nvPr/>
        </p:nvGraphicFramePr>
        <p:xfrm>
          <a:off xmlns:a="http://schemas.openxmlformats.org/drawingml/2006/main" x="628650" y="2438400"/>
          <a:ext xmlns:a="http://schemas.openxmlformats.org/drawingml/2006/main" cx="10896600" cy="2800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19600"/>
                <a:gridCol w="6477000"/>
              </a:tblGrid>
              <a:tr h="56007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學習資料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評分交易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</a:tr>
              <a:tr h="56007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截至 2021-08-10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2021-08-11 至 2022-08-10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截至 2022-08-10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2022-08-11 至 2023-08-10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</a:tr>
              <a:tr h="56007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截至 2023-08-10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2023-08-11 至 2024-08-10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截至 2023-02-10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2023-02-11 至 2024-02-10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FF7174D7-3AA0-4D4F-ACAC-21C6D4A5C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48350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模型、編碼、先驗與價格參考，都只使用當期學習資料</a:t>
            </a:r>
          </a:p>
        </p:txBody>
      </p:sp>
    </p:spTree>
    <p:extLst>
      <p:ext uri="{BB962C8B-B14F-4D97-AF65-F5344CB8AC3E}">
        <p14:creationId xmlns:p14="http://schemas.microsoft.com/office/powerpoint/2010/main" val="184297500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85FF483-F8BB-42D8-8E6A-CAA72D90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rPr>
              <a:t>樹模型與神經網路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9E659C1-644A-4826-92D3-EFF6698A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E0607C98-7F4B-45D1-BBF6-07FB741E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47825"/>
            <a:ext cx="295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樹模型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78360E60-067A-4BE7-9D42-9BB7F49F8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647825"/>
            <a:ext cx="75723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由資料學習條件與門檻</a:t>
            </a:r>
          </a:p>
          <a:p xmlns:a="http://schemas.openxmlformats.org/drawingml/2006/main">
            <a: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許多小樹逐步修正誤差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52F014A1-5534-4FE3-BED7-939339DA1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905125"/>
            <a:ext cx="752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CatBoost、LightGBM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84ACDEC1-D928-4FDF-B098-8B99D8823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295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神經網路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E966B944-EBB2-4E16-B4C3-5A35A1A9C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952875"/>
            <a:ext cx="75723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數值與類別轉成可學習的表示</a:t>
            </a:r>
          </a:p>
          <a:p xmlns:a="http://schemas.openxmlformats.org/drawingml/2006/main">
            <a: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經多層計算，學習條件如何一起影響價格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71831D3C-8F46-4170-B0A8-A3FDCB33A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48350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不同學法有機會互補，是否有效仍要看完整回測</a:t>
            </a:r>
          </a:p>
        </p:txBody>
      </p:sp>
    </p:spTree>
    <p:extLst>
      <p:ext uri="{BB962C8B-B14F-4D97-AF65-F5344CB8AC3E}">
        <p14:creationId xmlns:p14="http://schemas.microsoft.com/office/powerpoint/2010/main" val="1147971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7DA98C3-FEB0-4FA3-AAEF-02DE2B4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rPr>
              <a:t>總價、單價與對數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7FC8EE9-125E-4AFD-B3DD-0D290342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3B9B5E44-D90D-473E-A46B-96350CE47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85900"/>
            <a:ext cx="10896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9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總價 = 單價 × 有效面積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DA988-9179-4AFF-8E52-3E0E36B014BC}"/>
              </a:ext>
            </a:extLst>
          </p:cNvPr>
          <p:cNvGraphicFramePr/>
          <p:nvPr/>
        </p:nvGraphicFramePr>
        <p:xfrm>
          <a:off xmlns:a="http://schemas.openxmlformats.org/drawingml/2006/main" x="628650" y="2571750"/>
          <a:ext xmlns:a="http://schemas.openxmlformats.org/drawingml/2006/main" cx="10896600" cy="2238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4229100"/>
                <a:gridCol w="3333750"/>
              </a:tblGrid>
              <a:tr h="74612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教學假設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單價估錯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總價誤差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</a:tr>
              <a:tr h="74612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50 平方公尺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每平方公尺 1 萬元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50 萬元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4612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100 平方公尺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每平方公尺 1 萬元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100 萬元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9DE35DCF-6A92-4C7F-9BAC-7BA26CFB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238750"/>
            <a:ext cx="108394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面積權重讓單價誤差對齊總價差距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7045E341-47B0-4561-A17F-6EA17A422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62650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另外保留直接總價與對數總價學法，最後都換回元</a:t>
            </a:r>
          </a:p>
        </p:txBody>
      </p:sp>
    </p:spTree>
    <p:extLst>
      <p:ext uri="{BB962C8B-B14F-4D97-AF65-F5344CB8AC3E}">
        <p14:creationId xmlns:p14="http://schemas.microsoft.com/office/powerpoint/2010/main" val="82147346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719F73A-B945-45D7-A003-E78D55A50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rPr>
              <a:t>近期成交權重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5C94C19-A8C5-4269-B257-827766D14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C9922D4D-6A57-46F8-B2A7-7AA6EB14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0896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相對日期權重示意，尚未正規化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F62071D1-BD45-4246-950D-9A11C8E9C188}"/>
              </a:ext>
            </a:extLst>
          </p:cNvPr>
          <p:cNvGraphicFramePr/>
          <p:nvPr/>
        </p:nvGraphicFramePr>
        <p:xfrm>
          <a:off xmlns:a="http://schemas.openxmlformats.org/drawingml/2006/main" x="685800" y="2266950"/>
          <a:ext xmlns:a="http://schemas.openxmlformats.org/drawingml/2006/main" cx="10839450" cy="28194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70d5e3b9b204027"/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97AD77CC-4B50-4B19-A7A2-72FB4261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48350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365 日半衰期：改變學習時的影響大小，價格本身不乘權重</a:t>
            </a:r>
          </a:p>
        </p:txBody>
      </p:sp>
    </p:spTree>
    <p:extLst>
      <p:ext uri="{BB962C8B-B14F-4D97-AF65-F5344CB8AC3E}">
        <p14:creationId xmlns:p14="http://schemas.microsoft.com/office/powerpoint/2010/main" val="9113784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A41B90A-9E1F-4CEF-9CD0-4586FDFF0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rPr>
              <a:t>參考單價與分組先驗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84031C1-14AB-4E64-9967-7D9506969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33BA36A8-0BD6-48CD-A2F8-4B96E64FB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38275"/>
            <a:ext cx="108966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參考單價 × 有效面積 × 網路調整倍率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F7B2426A-FF42-4F2D-AB54-9DD8A4701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28875"/>
            <a:ext cx="295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參考單價查表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AED2213-F972-409D-9BCB-DF47B4EAF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428875"/>
            <a:ext cx="75723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地區 + 交易類型 + 建物類型</a:t>
            </a:r>
          </a:p>
          <a:p xmlns:a="http://schemas.openxmlformats.org/drawingml/2006/main">
            <a: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資料不足時逐層放寬查詢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9969438C-298F-4B21-A876-C0F8D2C1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29075"/>
            <a:ext cx="295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按建案分 5 組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A52FC947-B71C-40CB-A126-345ACE829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029075"/>
            <a:ext cx="75723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訓練每一組只使用其他四組的標籤</a:t>
            </a:r>
          </a:p>
          <a:p xmlns:a="http://schemas.openxmlformats.org/drawingml/2006/main">
            <a: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這是分組 OOF，並非時間分折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6C4370CD-9207-4934-A0FA-EA5298C87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48350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網路固定 30 輪，日期加權 SmoothL1 的轉折為 10 萬元</a:t>
            </a:r>
          </a:p>
        </p:txBody>
      </p:sp>
    </p:spTree>
    <p:extLst>
      <p:ext uri="{BB962C8B-B14F-4D97-AF65-F5344CB8AC3E}">
        <p14:creationId xmlns:p14="http://schemas.microsoft.com/office/powerpoint/2010/main" val="66480723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CF4EE4F-DD20-49EE-AA04-A494008D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rPr>
              <a:t>六個模型與三條分支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B974A31-1593-4908-B818-23DE05CDA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1CB65FCD-1457-497A-9315-D16961C8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47800"/>
            <a:ext cx="10896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六個模型先換回總價元，再組成三條分支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858C9C-0CDD-486C-A486-EA02BDA8D425}"/>
              </a:ext>
            </a:extLst>
          </p:cNvPr>
          <p:cNvGraphicFramePr/>
          <p:nvPr/>
        </p:nvGraphicFramePr>
        <p:xfrm>
          <a:off xmlns:a="http://schemas.openxmlformats.org/drawingml/2006/main" x="628650" y="2466975"/>
          <a:ext xmlns:a="http://schemas.openxmlformats.org/drawingml/2006/main" cx="10896600" cy="27336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19300"/>
                <a:gridCol w="5029200"/>
                <a:gridCol w="3848100"/>
              </a:tblGrid>
              <a:tr h="683419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分支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主要部分 75%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共同部分 25%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</a:tr>
              <a:tr h="683419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 CatBoost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同一個單價 LightGBM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3419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神經網路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面積 NN 與參考單價 NN 先平均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同一個單價 LightGBM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</a:tr>
              <a:tr h="683419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總價／對數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總價與對數 CatBoost 先平均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同一個單價 LightGBM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085563A4-6AA9-4877-B01D-07B431C60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48350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教學例：1,000 萬 × 75% + 1,200 萬 × 25% = 1,050 萬</a:t>
            </a:r>
          </a:p>
        </p:txBody>
      </p:sp>
    </p:spTree>
    <p:extLst>
      <p:ext uri="{BB962C8B-B14F-4D97-AF65-F5344CB8AC3E}">
        <p14:creationId xmlns:p14="http://schemas.microsoft.com/office/powerpoint/2010/main" val="58569379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23A379E-E85C-4954-82DA-F66187328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rPr>
              <a:t>成交參考與空間修正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2BD2909-E00C-4D70-8519-F27189049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93995113-B9EB-4975-8550-E1670801F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295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成交參考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A2D2AA1F-AC73-4088-9790-F8866DE1C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657350"/>
            <a:ext cx="75723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同建案、地址或道路的可比成交</a:t>
            </a:r>
          </a:p>
          <a:p xmlns:a="http://schemas.openxmlformats.org/drawingml/2006/main">
            <a: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結合物件條件與當期學習的時間趨勢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33110578-E603-400E-BB9E-FC5574AB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95675"/>
            <a:ext cx="295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空間修正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9052F224-CB05-4AA1-892A-259DD332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495675"/>
            <a:ext cx="75723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參考較弱時，補充附近且相容的交易資訊</a:t>
            </a:r>
          </a:p>
          <a:p xmlns:a="http://schemas.openxmlformats.org/drawingml/2006/main">
            <a: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同時使用原初估與成交修正結果，支持不足就回退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A791950C-786A-459D-B439-FE1555FE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48350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三條分支各自完成修正，價格參考只使用當期學習資料</a:t>
            </a:r>
          </a:p>
        </p:txBody>
      </p:sp>
    </p:spTree>
    <p:extLst>
      <p:ext uri="{BB962C8B-B14F-4D97-AF65-F5344CB8AC3E}">
        <p14:creationId xmlns:p14="http://schemas.microsoft.com/office/powerpoint/2010/main" val="113161101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B8071A1-25F7-4503-8925-A970033DE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rPr>
              <a:t>逐筆取中位數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DD22FC1-6098-4AAD-870C-5E1FEBE8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12ACDC96-42F8-496B-A495-BB79AB2E8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108966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同一間房的三個修正後估價，單位：萬元（教學假設）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EE541B75-FC07-4108-8689-20DED099B2AA}"/>
              </a:ext>
            </a:extLst>
          </p:cNvPr>
          <p:cNvGraphicFramePr/>
          <p:nvPr/>
        </p:nvGraphicFramePr>
        <p:xfrm>
          <a:off xmlns:a="http://schemas.openxmlformats.org/drawingml/2006/main" x="685800" y="2305050"/>
          <a:ext xmlns:a="http://schemas.openxmlformats.org/drawingml/2006/main" cx="108394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ce6ae17a48d4261"/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DD79CBBC-C1C8-4A89-AE35-B6040B514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48350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逐筆取中間值 1,100 萬元，減少單一極端輸出的影響</a:t>
            </a:r>
          </a:p>
        </p:txBody>
      </p:sp>
    </p:spTree>
    <p:extLst>
      <p:ext uri="{BB962C8B-B14F-4D97-AF65-F5344CB8AC3E}">
        <p14:creationId xmlns:p14="http://schemas.microsoft.com/office/powerpoint/2010/main" val="113336454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DF8E6D6-1B4C-4A0C-8C3F-ED87D8CB4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rPr>
              <a:t>四個時間窗口的完整結果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D43D45D-1F1A-4CC9-A62C-9025DA41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B1E067E1-EDFA-4E34-9487-5BFDF59B8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10896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完整方法的總價 MAE，單位：元，越低越好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152940-B566-4C2C-B562-7EE385960DD8}"/>
              </a:ext>
            </a:extLst>
          </p:cNvPr>
          <p:cNvGraphicFramePr/>
          <p:nvPr/>
        </p:nvGraphicFramePr>
        <p:xfrm>
          <a:off xmlns:a="http://schemas.openxmlformats.org/drawingml/2006/main" x="628650" y="2276475"/>
          <a:ext xmlns:a="http://schemas.openxmlformats.org/drawingml/2006/main" cx="10896600" cy="3000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05200"/>
                <a:gridCol w="2476500"/>
                <a:gridCol w="2476500"/>
                <a:gridCol w="2438400"/>
              </a:tblGrid>
              <a:tr h="60007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評分期間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基準方法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此方法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差值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</a:tr>
              <a:tr h="60007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2021–2022 八月起點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2,309,352.36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2,310,236.02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+883.66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2022–2023 八月起點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1,407,387.07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1,405,971.19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−1,415.88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</a:tr>
              <a:tr h="60007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2023–2024 八月起點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1,383,228.41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1,381,702.87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−1,525.54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2023–2024 二月起點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1,336,410.67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1,336,107.62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−303.06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B5D09D1F-FF10-453A-ABF4-DC220DF9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48350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差值用未取整 MAE 計算。負值改善、正值退步，四窗非獨立盲測</a:t>
            </a:r>
          </a:p>
        </p:txBody>
      </p:sp>
    </p:spTree>
    <p:extLst>
      <p:ext uri="{BB962C8B-B14F-4D97-AF65-F5344CB8AC3E}">
        <p14:creationId xmlns:p14="http://schemas.microsoft.com/office/powerpoint/2010/main" val="14200625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81E0497-6F0D-42A7-B042-62CA05B7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rPr>
              <a:t>平均改善仍有反例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69CDB79-6839-48F2-88C6-C57A2B30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78E28D0B-4151-40B7-809D-E1B09498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38275"/>
            <a:ext cx="10896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最近年度按建案分群的 MAE 差值（元）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F19D98-DB54-4C84-AC53-216E0C103172}"/>
              </a:ext>
            </a:extLst>
          </p:cNvPr>
          <p:cNvGraphicFramePr/>
          <p:nvPr/>
        </p:nvGraphicFramePr>
        <p:xfrm>
          <a:off xmlns:a="http://schemas.openxmlformats.org/drawingml/2006/main" x="628650" y="2228850"/>
          <a:ext xmlns:a="http://schemas.openxmlformats.org/drawingml/2006/main" cx="10896600" cy="2028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3714750"/>
                <a:gridCol w="3181350"/>
              </a:tblGrid>
              <a:tr h="67627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群別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此方法 − 基準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判讀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</a:tr>
              <a:tr h="67627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既有建案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+213.10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小幅退步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新建案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−2,841.61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改善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E8820E28-E683-46E9-8873-F01315EA2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48200"/>
            <a:ext cx="108489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BC5B2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BC5B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BC5B2E"/>
                </a:solidFill>
                <a:latin typeface="Microsoft JhengHei"/>
                <a:ea typeface="Microsoft JhengHei"/>
                <a:cs typeface="Microsoft JhengHei"/>
              </a:rPr>
              <a:t>另一對照方法：離線較好，Public 卻退步至 208.30 萬元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428715E9-2D61-4C60-8A88-2D379388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48350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最早年亦退步，原強推薦條件未通過；重抽樣區間跨 0</a:t>
            </a:r>
          </a:p>
        </p:txBody>
      </p:sp>
    </p:spTree>
    <p:extLst>
      <p:ext uri="{BB962C8B-B14F-4D97-AF65-F5344CB8AC3E}">
        <p14:creationId xmlns:p14="http://schemas.microsoft.com/office/powerpoint/2010/main" val="91450945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BEAF351-4A02-49A3-8092-25A0F9A1E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rPr>
              <a:t>Public 成績與證據限制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D60ED09-EAA7-4765-B386-D890C19A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DCED3B5D-CD30-41DF-B5D0-31F73E5D1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0896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Public MAE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FA03EB9C-7364-4433-BCAD-C33B7354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14550"/>
            <a:ext cx="1082992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9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9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9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199.58 萬元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5F44CD3C-ABB9-4CA9-B92D-1795FB21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14725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精確值 1,995,836.2136 元，依提交者文字回報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0997902D-E3D8-4F45-82F9-5A7E52701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624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相對基準降低約 0.1367%，幅度有限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ACEAD8F6-2DD9-49C2-9614-230A81A8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48350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Public 約 30%；其餘約 70% 的 Private 成績仍未知</a:t>
            </a:r>
          </a:p>
        </p:txBody>
      </p:sp>
    </p:spTree>
    <p:extLst>
      <p:ext uri="{BB962C8B-B14F-4D97-AF65-F5344CB8AC3E}">
        <p14:creationId xmlns:p14="http://schemas.microsoft.com/office/powerpoint/2010/main" val="65272427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CE68C04-7454-4E2A-AFDE-F97A5AC8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rPr>
              <a:t>實際訓練與時間驗證曲線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857F8CF-9404-4B87-8229-11C70B750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623CDBEF-CB9B-41F0-A971-C30C2643E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304925"/>
            <a:ext cx="108680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固定設定另行診斷，只看參考單價神經網路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AD96BFBA-7D5E-4207-9469-5972D0C3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457450"/>
            <a:ext cx="4572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ctr">
              <a:defRPr sz="20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未</a:t>
            </a:r>
          </a:p>
          <a:p xmlns:a="http://schemas.openxmlformats.org/drawingml/2006/main">
            <a:pPr algn="ctr">
              <a:defRPr sz="20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加</a:t>
            </a:r>
          </a:p>
          <a:p xmlns:a="http://schemas.openxmlformats.org/drawingml/2006/main">
            <a:pPr algn="ctr">
              <a:defRPr sz="20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權</a:t>
            </a:r>
          </a:p>
          <a:p xmlns:a="http://schemas.openxmlformats.org/drawingml/2006/main">
            <a:pPr algn="ctr">
              <a:defRPr sz="20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總</a:t>
            </a:r>
          </a:p>
          <a:p xmlns:a="http://schemas.openxmlformats.org/drawingml/2006/main">
            <a:pPr algn="ctr">
              <a:defRPr sz="20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價</a:t>
            </a:r>
          </a:p>
          <a:p xmlns:a="http://schemas.openxmlformats.org/drawingml/2006/main">
            <a:pPr algn="ctr">
              <a:defRPr sz="20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誤</a:t>
            </a:r>
          </a:p>
          <a:p xmlns:a="http://schemas.openxmlformats.org/drawingml/2006/main">
            <a:pPr algn="ctr">
              <a:defRPr sz="20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差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2C0C7473-537E-4193-B00E-44496C47C890}"/>
              </a:ext>
            </a:extLst>
          </p:cNvPr>
          <p:cNvGraphicFramePr/>
          <p:nvPr/>
        </p:nvGraphicFramePr>
        <p:xfrm>
          <a:off xmlns:a="http://schemas.openxmlformats.org/drawingml/2006/main" x="895350" y="1924050"/>
          <a:ext xmlns:a="http://schemas.openxmlformats.org/drawingml/2006/main" cx="10620375" cy="3495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19d9f6791e5422b"/>
          </a:graphicData>
        </a:graphic>
      </p:graphicFrame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FAA731F1-8A79-442D-B0AD-D1D12CEA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0225"/>
            <a:ext cx="1504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百萬元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A7B1072F-B65A-4AE7-8CE1-FF72A30C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00700"/>
            <a:ext cx="108966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固定 30 輪，未依最低點選輪數；輪數不代表模型容量或 VC 維度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0A1A64D0-A29E-4E72-88D0-7D7597D93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15050"/>
            <a:ext cx="10896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兩線均關閉 dropout 計算完整資料 MAE；曲線不能證明沒有過擬合</a:t>
            </a:r>
          </a:p>
        </p:txBody>
      </p:sp>
    </p:spTree>
    <p:extLst>
      <p:ext uri="{BB962C8B-B14F-4D97-AF65-F5344CB8AC3E}">
        <p14:creationId xmlns:p14="http://schemas.microsoft.com/office/powerpoint/2010/main" val="129772332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8313FA5-01D6-4272-AC93-23D5D67B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rPr>
              <a:t>最終預測與交付檢查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D21F57C-9F66-4437-ADB9-C01CA4EEA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2A422E48-F26D-4A06-8174-3952C9558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90675"/>
            <a:ext cx="295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467,221 筆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F2393246-6089-4E47-A3C3-B5ECFE68D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590675"/>
            <a:ext cx="75723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最終有答案資料</a:t>
            </a:r>
          </a:p>
          <a:p xmlns:a="http://schemas.openxmlformats.org/drawingml/2006/main">
            <a: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只新增一次參考單價 NN 訓練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E0512052-B54D-47A1-9D85-8AB280636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48025"/>
            <a:ext cx="295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47,073 筆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F9941015-65C7-47AD-8141-B54F40CE8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248025"/>
            <a:ext cx="75723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每筆測試交易均有預測</a:t>
            </a:r>
          </a:p>
          <a:p xmlns:a="http://schemas.openxmlformats.org/drawingml/2006/main">
            <a:pPr algn="l">
              <a:def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檢查編號、順序、整數價格及檔案雜湊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EA1B888D-232D-4925-BD4D-47E26C7E3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48350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BC5B2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BC5B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BC5B2E"/>
                </a:solidFill>
                <a:latin typeface="Microsoft JhengHei"/>
                <a:ea typeface="Microsoft JhengHei"/>
                <a:cs typeface="Microsoft JhengHei"/>
              </a:rPr>
              <a:t>新 NN 重載輸出一致；乾淨環境全部六模型重現仍未驗證</a:t>
            </a:r>
          </a:p>
        </p:txBody>
      </p:sp>
    </p:spTree>
    <p:extLst>
      <p:ext uri="{BB962C8B-B14F-4D97-AF65-F5344CB8AC3E}">
        <p14:creationId xmlns:p14="http://schemas.microsoft.com/office/powerpoint/2010/main" val="206287491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65D0C3E-B85B-405E-9B6A-26D536B86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rPr>
              <a:t>結論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CCB83F4-07BB-4CA3-A04B-1F0A4A04F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5D073F0C-39F2-4E6C-91F0-908596EB6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76400"/>
            <a:ext cx="10896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rPr>
              <a:t>先整理資料，再學習估價規則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C900BF1D-702D-498E-9EFB-87A7D6E82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67050"/>
            <a:ext cx="108680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六模型形成三分支，各自修正後取中位數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57898CE0-298E-4152-AC21-BA77161DF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71975"/>
            <a:ext cx="108680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33485F"/>
                </a:solidFill>
                <a:latin typeface="Microsoft JhengHei"/>
                <a:ea typeface="Microsoft JhengHei"/>
                <a:cs typeface="Microsoft JhengHei"/>
              </a:rPr>
              <a:t>時間驗證看完整流程，逐輪曲線看單一網路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015F502B-5A93-4767-851C-66947AF99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48350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Public 有小幅改善，Private 未知，保留退步與反例</a:t>
            </a:r>
          </a:p>
        </p:txBody>
      </p:sp>
    </p:spTree>
    <p:extLst>
      <p:ext uri="{BB962C8B-B14F-4D97-AF65-F5344CB8AC3E}">
        <p14:creationId xmlns:p14="http://schemas.microsoft.com/office/powerpoint/2010/main" val="83593934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41CD86C-F29F-417E-AC83-7353D372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rPr>
              <a:t>附錄　融合公式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5C82F55-E761-4726-AF21-7CAE51B1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69707D43-7FEA-43A3-B8D6-286274B18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38275"/>
            <a:ext cx="108966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全部符號皆代表已還原成元的總價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B12C1A25-571A-48B9-B1EB-69D4F75A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66950"/>
            <a:ext cx="10858500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C45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72C4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72C45"/>
                </a:solidFill>
                <a:latin typeface="Consolas"/>
                <a:ea typeface="Consolas"/>
                <a:cs typeface="Consolas"/>
              </a:rPr>
              <a:t>B_unit = .75*C_unit + .25*L_unit</a:t>
            </a:r>
          </a:p>
          <a:p xmlns:a="http://schemas.openxmlformats.org/drawingml/2006/main">
            <a:pPr algn="l">
              <a:defRPr sz="2025" b="0">
                <a:solidFill>
                  <a:srgbClr val="172C4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72C45"/>
                </a:solidFill>
                <a:latin typeface="Consolas"/>
                <a:ea typeface="Consolas"/>
                <a:cs typeface="Consolas"/>
              </a:rPr>
              <a:t>B_nn   = .75*(.5*N_area + .5*N_prior) + .25*L_unit</a:t>
            </a:r>
          </a:p>
          <a:p xmlns:a="http://schemas.openxmlformats.org/drawingml/2006/main">
            <a:pPr algn="l">
              <a:defRPr sz="2025" b="0">
                <a:solidFill>
                  <a:srgbClr val="172C4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72C45"/>
                </a:solidFill>
                <a:latin typeface="Consolas"/>
                <a:ea typeface="Consolas"/>
                <a:cs typeface="Consolas"/>
              </a:rPr>
              <a:t>B_log  = .75*(.5*C_raw  + .5*C_log)   + .25*L_unit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172C4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72C45"/>
                </a:solidFill>
                <a:latin typeface="Consolas"/>
                <a:ea typeface="Consolas"/>
                <a:cs typeface="Consolas"/>
              </a:rPr>
              <a:t>U = S(B_unit, R(B_unit))</a:t>
            </a:r>
          </a:p>
          <a:p xmlns:a="http://schemas.openxmlformats.org/drawingml/2006/main">
            <a:pPr algn="l">
              <a:defRPr sz="2025" b="0">
                <a:solidFill>
                  <a:srgbClr val="172C4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72C45"/>
                </a:solidFill>
                <a:latin typeface="Consolas"/>
                <a:ea typeface="Consolas"/>
                <a:cs typeface="Consolas"/>
              </a:rPr>
              <a:t>N = S(B_nn,   R(B_nn))</a:t>
            </a:r>
          </a:p>
          <a:p xmlns:a="http://schemas.openxmlformats.org/drawingml/2006/main">
            <a:pPr algn="l">
              <a:defRPr sz="2025" b="0">
                <a:solidFill>
                  <a:srgbClr val="172C4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72C45"/>
                </a:solidFill>
                <a:latin typeface="Consolas"/>
                <a:ea typeface="Consolas"/>
                <a:cs typeface="Consolas"/>
              </a:rPr>
              <a:t>H = S(B_log,  R(B_log))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172C4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72C45"/>
                </a:solidFill>
                <a:latin typeface="Consolas"/>
                <a:ea typeface="Consolas"/>
                <a:cs typeface="Consolas"/>
              </a:rPr>
              <a:t>prediction = median(N, H, U)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12070168-438A-490C-BF34-8523976FD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48350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259B6"/>
                </a:solidFill>
                <a:latin typeface="Microsoft JhengHei"/>
                <a:ea typeface="Microsoft JhengHei"/>
                <a:cs typeface="Microsoft JhengHei"/>
              </a:rPr>
              <a:t>R 為成交參考與時間趨勢，S 同時讀取初估與 R 結果</a:t>
            </a:r>
          </a:p>
        </p:txBody>
      </p:sp>
    </p:spTree>
    <p:extLst>
      <p:ext uri="{BB962C8B-B14F-4D97-AF65-F5344CB8AC3E}">
        <p14:creationId xmlns:p14="http://schemas.microsoft.com/office/powerpoint/2010/main" val="201165093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8D10D4A-FE2C-4FFE-BCB7-37F779609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rPr>
              <a:t>附錄　固定訓練設定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2E6C253-8EEE-4F33-8930-80E784C45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BD105D-66A1-467D-AF4C-0C9359D7B001}"/>
              </a:ext>
            </a:extLst>
          </p:cNvPr>
          <p:cNvGraphicFramePr/>
          <p:nvPr/>
        </p:nvGraphicFramePr>
        <p:xfrm>
          <a:off xmlns:a="http://schemas.openxmlformats.org/drawingml/2006/main" x="628650" y="1628775"/>
          <a:ext xmlns:a="http://schemas.openxmlformats.org/drawingml/2006/main" cx="108966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33875"/>
                <a:gridCol w="6562725"/>
              </a:tblGrid>
              <a:tr h="61912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參考單價 NN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固定設定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</a:tr>
              <a:tr h="61912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隱藏層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512、256、128，LayerNorm 與 ReLU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loss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日期加權 SmoothL1，beta 0.1 百萬元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</a:tr>
              <a:tr h="61912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epochs／batch／seed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30／2,048／42，使用最後一輪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dropout／category dropout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0.1／0.1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</a:tr>
              <a:tr h="619125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optimizer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AdamW，學習率 0.001，weight decay 0.0001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C892DF20-102A-4A43-8369-F36BCF19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48350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BC5B2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BC5B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BC5B2E"/>
                </a:solidFill>
                <a:latin typeface="Microsoft JhengHei"/>
                <a:ea typeface="Microsoft JhengHei"/>
                <a:cs typeface="Microsoft JhengHei"/>
              </a:rPr>
              <a:t>基準 NN 使用日期加權 MAE；此批未同期配對重訓基準</a:t>
            </a:r>
          </a:p>
        </p:txBody>
      </p:sp>
    </p:spTree>
    <p:extLst>
      <p:ext uri="{BB962C8B-B14F-4D97-AF65-F5344CB8AC3E}">
        <p14:creationId xmlns:p14="http://schemas.microsoft.com/office/powerpoint/2010/main" val="139271607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D57D3ED-63EE-49A8-ADAF-0C976D5A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2C45"/>
                </a:solidFill>
                <a:latin typeface="Microsoft JhengHei"/>
                <a:ea typeface="Microsoft JhengHei"/>
                <a:cs typeface="Microsoft JhengHei"/>
              </a:rPr>
              <a:t>附錄　名詞對照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5787484-B125-4395-93EC-BA678EAD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389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17285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161DF6-46A0-4E32-86DC-8F050E9E68AD}"/>
              </a:ext>
            </a:extLst>
          </p:cNvPr>
          <p:cNvGraphicFramePr/>
          <p:nvPr/>
        </p:nvGraphicFramePr>
        <p:xfrm>
          <a:off xmlns:a="http://schemas.openxmlformats.org/drawingml/2006/main" x="628650" y="1647825"/>
          <a:ext xmlns:a="http://schemas.openxmlformats.org/drawingml/2006/main" cx="108966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7277100"/>
              </a:tblGrid>
              <a:tr h="57150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名詞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白話意思</a:t>
                      </a:r>
                    </a:p>
                  </a:txBody>
                  <a:tcPr marL="91440" marR="91440" marT="45720" marB="45720" anchor="ctr">
                    <a:solidFill>
                      <a:srgbClr val="2259B6"/>
                    </a:solidFill>
                  </a:tcPr>
                </a:tc>
              </a:tr>
              <a:tr h="57150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特徵／標籤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房屋條件／已知成交總價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訓練／推論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從有答案的資料學習／用保存規則估價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</a:tr>
              <a:tr h="57150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先驗／分組 OOF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參考單價／只用其他組建立自己的先驗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權重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每筆誤差在學習時的影響大小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</a:tr>
              <a:tr h="57150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過擬合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太貼合看過的資料，新交易可能失準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中位數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lIns="152400" tIns="85725" rIns="114300" bIns="8572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3485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數字由小到大排序後的中間值</a:t>
                      </a:r>
                    </a:p>
                  </a:txBody>
                  <a:tcPr marL="91440" marR="91440" marT="45720" marB="4572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85712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2026-10-12T00:39:26.8880000Z</dcterms:created>
  <dcterms:modified xsi:type="dcterms:W3CDTF">2026-10-12T00:39:26.8880000Z</dcterms:modified>
</coreProperties>
</file>