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4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5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394936f44d4eb5" /><Relationship Type="http://schemas.openxmlformats.org/officeDocument/2006/relationships/extended-properties" Target="/docProps/app.xml" Id="Rb9a48ba042ee4c43" /><Relationship Type="http://schemas.openxmlformats.org/officeDocument/2006/relationships/officeDocument" Target="/ppt/presentation.xml" Id="R02620cdcbe664f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85832459414132"/>
  </p:sldMasterIdLst>
  <p:notesMasterIdLst>
    <p:notesMasterId xmlns:r="http://schemas.openxmlformats.org/officeDocument/2006/relationships" r:id="Rfe18f986cffc4007"/>
  </p:notesMasterIdLst>
  <p:sldIdLst>
    <p:sldId xmlns:r="http://schemas.openxmlformats.org/officeDocument/2006/relationships" id="256" r:id="R13b449e8dd584d83"/>
    <p:sldId xmlns:r="http://schemas.openxmlformats.org/officeDocument/2006/relationships" id="257" r:id="Rc04533d0f1234f0d"/>
    <p:sldId xmlns:r="http://schemas.openxmlformats.org/officeDocument/2006/relationships" id="258" r:id="Rf776a7db22b1410c"/>
    <p:sldId xmlns:r="http://schemas.openxmlformats.org/officeDocument/2006/relationships" id="259" r:id="Re70199bca88148f9"/>
    <p:sldId xmlns:r="http://schemas.openxmlformats.org/officeDocument/2006/relationships" id="260" r:id="R9aef1494944d4665"/>
    <p:sldId xmlns:r="http://schemas.openxmlformats.org/officeDocument/2006/relationships" id="261" r:id="Rccf8e540caa64286"/>
    <p:sldId xmlns:r="http://schemas.openxmlformats.org/officeDocument/2006/relationships" id="262" r:id="R4ddff04827b84923"/>
    <p:sldId xmlns:r="http://schemas.openxmlformats.org/officeDocument/2006/relationships" id="263" r:id="Redcc36ffea624f5e"/>
    <p:sldId xmlns:r="http://schemas.openxmlformats.org/officeDocument/2006/relationships" id="264" r:id="Rf286ad3ccd24446b"/>
    <p:sldId xmlns:r="http://schemas.openxmlformats.org/officeDocument/2006/relationships" id="265" r:id="Rc06910efde14451f"/>
    <p:sldId xmlns:r="http://schemas.openxmlformats.org/officeDocument/2006/relationships" id="266" r:id="R1e10444078c744c1"/>
    <p:sldId xmlns:r="http://schemas.openxmlformats.org/officeDocument/2006/relationships" id="267" r:id="R4589bdc8d620495f"/>
    <p:sldId xmlns:r="http://schemas.openxmlformats.org/officeDocument/2006/relationships" id="268" r:id="R9589f4605a764612"/>
    <p:sldId xmlns:r="http://schemas.openxmlformats.org/officeDocument/2006/relationships" id="269" r:id="Re4cc826775ed40f4"/>
    <p:sldId xmlns:r="http://schemas.openxmlformats.org/officeDocument/2006/relationships" id="270" r:id="Reb53bbaa11974df2"/>
    <p:sldId xmlns:r="http://schemas.openxmlformats.org/officeDocument/2006/relationships" id="271" r:id="R0bba8b2f8a124767"/>
    <p:sldId xmlns:r="http://schemas.openxmlformats.org/officeDocument/2006/relationships" id="272" r:id="R45135c0cd715417b"/>
    <p:sldId xmlns:r="http://schemas.openxmlformats.org/officeDocument/2006/relationships" id="273" r:id="R17d32f9301c2420f"/>
    <p:sldId xmlns:r="http://schemas.openxmlformats.org/officeDocument/2006/relationships" id="274" r:id="Ra1638485e7074340"/>
    <p:sldId xmlns:r="http://schemas.openxmlformats.org/officeDocument/2006/relationships" id="275" r:id="R6e4868d473f445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02d673dd784fed" /><Relationship Type="http://schemas.openxmlformats.org/officeDocument/2006/relationships/slideMaster" Target="/ppt/slideMasters/slideMaster1.xml" Id="R9c85832459414132" /><Relationship Type="http://schemas.openxmlformats.org/officeDocument/2006/relationships/notesMaster" Target="/ppt/notesMasters/notesMaster1.xml" Id="Rfe18f986cffc4007" /><Relationship Type="http://schemas.openxmlformats.org/officeDocument/2006/relationships/presProps" Target="/ppt/presProps.xml" Id="R89fdcf9f760c4e5c" /><Relationship Type="http://schemas.openxmlformats.org/officeDocument/2006/relationships/tableStyles" Target="/ppt/tableStyles.xml" Id="Rc21e75cee42e425a" /><Relationship Type="http://schemas.openxmlformats.org/officeDocument/2006/relationships/slide" Target="/ppt/slides/slide1.xml" Id="R13b449e8dd584d83" /><Relationship Type="http://schemas.openxmlformats.org/officeDocument/2006/relationships/slide" Target="/ppt/slides/slide2.xml" Id="Rc04533d0f1234f0d" /><Relationship Type="http://schemas.openxmlformats.org/officeDocument/2006/relationships/slide" Target="/ppt/slides/slide3.xml" Id="Rf776a7db22b1410c" /><Relationship Type="http://schemas.openxmlformats.org/officeDocument/2006/relationships/slide" Target="/ppt/slides/slide4.xml" Id="Re70199bca88148f9" /><Relationship Type="http://schemas.openxmlformats.org/officeDocument/2006/relationships/slide" Target="/ppt/slides/slide5.xml" Id="R9aef1494944d4665" /><Relationship Type="http://schemas.openxmlformats.org/officeDocument/2006/relationships/slide" Target="/ppt/slides/slide6.xml" Id="Rccf8e540caa64286" /><Relationship Type="http://schemas.openxmlformats.org/officeDocument/2006/relationships/slide" Target="/ppt/slides/slide7.xml" Id="R4ddff04827b84923" /><Relationship Type="http://schemas.openxmlformats.org/officeDocument/2006/relationships/slide" Target="/ppt/slides/slide8.xml" Id="Redcc36ffea624f5e" /><Relationship Type="http://schemas.openxmlformats.org/officeDocument/2006/relationships/slide" Target="/ppt/slides/slide9.xml" Id="Rf286ad3ccd24446b" /><Relationship Type="http://schemas.openxmlformats.org/officeDocument/2006/relationships/slide" Target="/ppt/slides/slide10.xml" Id="Rc06910efde14451f" /><Relationship Type="http://schemas.openxmlformats.org/officeDocument/2006/relationships/slide" Target="/ppt/slides/slide11.xml" Id="R1e10444078c744c1" /><Relationship Type="http://schemas.openxmlformats.org/officeDocument/2006/relationships/slide" Target="/ppt/slides/slide12.xml" Id="R4589bdc8d620495f" /><Relationship Type="http://schemas.openxmlformats.org/officeDocument/2006/relationships/slide" Target="/ppt/slides/slide13.xml" Id="R9589f4605a764612" /><Relationship Type="http://schemas.openxmlformats.org/officeDocument/2006/relationships/slide" Target="/ppt/slides/slide14.xml" Id="Re4cc826775ed40f4" /><Relationship Type="http://schemas.openxmlformats.org/officeDocument/2006/relationships/slide" Target="/ppt/slides/slide15.xml" Id="Reb53bbaa11974df2" /><Relationship Type="http://schemas.openxmlformats.org/officeDocument/2006/relationships/slide" Target="/ppt/slides/slide16.xml" Id="R0bba8b2f8a124767" /><Relationship Type="http://schemas.openxmlformats.org/officeDocument/2006/relationships/slide" Target="/ppt/slides/slide17.xml" Id="R45135c0cd715417b" /><Relationship Type="http://schemas.openxmlformats.org/officeDocument/2006/relationships/slide" Target="/ppt/slides/slide18.xml" Id="R17d32f9301c2420f" /><Relationship Type="http://schemas.openxmlformats.org/officeDocument/2006/relationships/slide" Target="/ppt/slides/slide19.xml" Id="Ra1638485e7074340" /><Relationship Type="http://schemas.openxmlformats.org/officeDocument/2006/relationships/slide" Target="/ppt/slides/slide20.xml" Id="R6e4868d473f445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c62c05390b4d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0f4838cbba4c94" /><Relationship Type="http://schemas.openxmlformats.org/officeDocument/2006/relationships/notesMaster" Target="/ppt/notesMasters/notesMaster1.xml" Id="R343190a7d9f34a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114dede6cf4c7e" /><Relationship Type="http://schemas.openxmlformats.org/officeDocument/2006/relationships/notesMaster" Target="/ppt/notesMasters/notesMaster1.xml" Id="R6315f0d9ca4d40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912763a9aa41d1" /><Relationship Type="http://schemas.openxmlformats.org/officeDocument/2006/relationships/notesMaster" Target="/ppt/notesMasters/notesMaster1.xml" Id="Rce8044b2221b4a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69927ff31e4ca8" /><Relationship Type="http://schemas.openxmlformats.org/officeDocument/2006/relationships/notesMaster" Target="/ppt/notesMasters/notesMaster1.xml" Id="R48c664236f444e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1656b9cc2e4b8c" /><Relationship Type="http://schemas.openxmlformats.org/officeDocument/2006/relationships/notesMaster" Target="/ppt/notesMasters/notesMaster1.xml" Id="R2fabf415666a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6188becf64eb8" /><Relationship Type="http://schemas.openxmlformats.org/officeDocument/2006/relationships/notesMaster" Target="/ppt/notesMasters/notesMaster1.xml" Id="R673a380d77694a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aa433857ae40fa" /><Relationship Type="http://schemas.openxmlformats.org/officeDocument/2006/relationships/notesMaster" Target="/ppt/notesMasters/notesMaster1.xml" Id="Rf25374e555d24e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304941a21e43d2" /><Relationship Type="http://schemas.openxmlformats.org/officeDocument/2006/relationships/notesMaster" Target="/ppt/notesMasters/notesMaster1.xml" Id="R2794252fb2ce4a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19743cbd994259" /><Relationship Type="http://schemas.openxmlformats.org/officeDocument/2006/relationships/notesMaster" Target="/ppt/notesMasters/notesMaster1.xml" Id="R525f98619fd94d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e5fdb4180f45fa" /><Relationship Type="http://schemas.openxmlformats.org/officeDocument/2006/relationships/notesMaster" Target="/ppt/notesMasters/notesMaster1.xml" Id="R87a8a21d0a254fe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fc52fbc1d94343" /><Relationship Type="http://schemas.openxmlformats.org/officeDocument/2006/relationships/notesMaster" Target="/ppt/notesMasters/notesMaster1.xml" Id="Rb4f918b181cb47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5e6896530f434f" /><Relationship Type="http://schemas.openxmlformats.org/officeDocument/2006/relationships/notesMaster" Target="/ppt/notesMasters/notesMaster1.xml" Id="Rff432fe77f7a4f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616f688e7045d5" /><Relationship Type="http://schemas.openxmlformats.org/officeDocument/2006/relationships/notesMaster" Target="/ppt/notesMasters/notesMaster1.xml" Id="R530b569c1d6b4bb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69a23dbc7844751" /><Relationship Type="http://schemas.openxmlformats.org/officeDocument/2006/relationships/notesMaster" Target="/ppt/notesMasters/notesMaster1.xml" Id="Ra97ce56300f84cf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6e29f1b74140b5" /><Relationship Type="http://schemas.openxmlformats.org/officeDocument/2006/relationships/notesMaster" Target="/ppt/notesMasters/notesMaster1.xml" Id="R8ceb3c2b18a844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88cfc28dae4ab4" /><Relationship Type="http://schemas.openxmlformats.org/officeDocument/2006/relationships/notesMaster" Target="/ppt/notesMasters/notesMaster1.xml" Id="R27ae13dcdc794f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95dd0e7d9494185" /><Relationship Type="http://schemas.openxmlformats.org/officeDocument/2006/relationships/notesMaster" Target="/ppt/notesMasters/notesMaster1.xml" Id="R457092b4219c4d4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d11ddcd1544fda" /><Relationship Type="http://schemas.openxmlformats.org/officeDocument/2006/relationships/notesMaster" Target="/ppt/notesMasters/notesMaster1.xml" Id="R400b4841251e407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bca7668555c41d8" /><Relationship Type="http://schemas.openxmlformats.org/officeDocument/2006/relationships/notesMaster" Target="/ppt/notesMasters/notesMaster1.xml" Id="R050fcace2799469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867ade8ee3d40c3" /><Relationship Type="http://schemas.openxmlformats.org/officeDocument/2006/relationships/notesMaster" Target="/ppt/notesMasters/notesMaster1.xml" Id="Rc9e3254fc8b341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大家好，我是廖子頤。這個挑戰要利用交易資料中的地點、面積、樓層與日期，預測房屋成交總價。部分資料附有答案，另一部分需要我們估價。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今天照製作順序，說明資料如何整理、模型怎麼學習、不同估價怎麼組合，以及如何檢查誤差。每一步都會交代實際操作與原因。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製作流程分成四章。資料準備先辨認條件和答案，觀察城市樣本，整理欄位並切開時間。模型訓練說明價格目標、面積、日期與參考單價。預測整合把不同方法的估價修正，合成一筆總價。最後用曲線與完整方法結果檢查，再從大誤差案例提出改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四章依實際製作流程安排，頁碼範圍只提供導覽；未新增章節分隔頁。單一網路曲線與完整融合的分組評估分開說明。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這張方塊圖對照程式的實際工作。先讀取交易表，移除混入表頭與完全重複紀錄；接著逐欄解析，建立特徵，再依日期分出訓練和保留交易。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訓練部分建立填補、編碼、價格參考及模型狀態，保留交易只套用保存規則，不能把答案帶回學習。各模型的輸出換成總價，組成三條分支，各自做成交和空間修正，再取中位數。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保留交易有真價才評分；未知交易依指定順序輸出。原全量階段只新訓練一支參考單價網路，其餘五模型沿用保存預測。後續另外重載六模型推論，檢查保存規則能否產生相同答案。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程式方塊圖對應實際函式，區分當期fit狀態與保留交易套用。原全量階段只新增1NN訓練、其餘沿用保存向量。後續另做既有與全新套件環境的六模型真推論，保存預測只在推論完成後拿來核對，沒有當成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src/prepare_data.py</a:t>
            </a:r>
          </a:p>
          <a:p xmlns:a="http://schemas.openxmlformats.org/drawingml/2006/main">
            <a:r>
              <a:t>src/model_common.py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src/round107_final_candidate.py</a:t>
            </a:r>
          </a:p>
          <a:p xmlns:a="http://schemas.openxmlformats.org/drawingml/2006/main">
            <a:r>
              <a:t>src/round107_full_release.py</a:t>
            </a:r>
          </a:p>
          <a:p xmlns:a="http://schemas.openxmlformats.org/drawingml/2006/main">
            <a:r>
              <a:t>reproducibility_receipt.json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第一步分清條件和答案。地點、面積、樓層、建物類型與日期，都是估價時可用的條件，叫特徵。已知成交總價是標籤。預測連續金額，叫回歸。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我把條件放成輸入表，成交總價另外保存。訓練時先估價，和答案比較，再依差距調整規則；完成後保存規則，新交易只輸入條件，產生估價，這叫推論。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相同面積的房屋，也會因地點或成交時間不同而有不同價格，所以需要共同考慮多個條件。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先決定怎麼比較估價。平均絕對誤差，縮寫ＭＡＥ，是每筆預測減真價後取絕對值，再求平均，單位為新臺幣元。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這裡是假例。兩間房真價都是一千萬，分別估一千一百萬與九百五十萬，誤差是一百萬和五十萬。相加除以兩筆，ＭＡＥ為七十五萬元。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高估和低估不會抵銷，數值越低越好。但這不是答對率，也不代表每間都差七十五萬。比較方法必須用同一批交易與同一金額單位。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介紹資料時，先看城市分布；這是模型凍結後補做的報告統計，沒有用來調參。這裡用清理後四十五萬五千二百五十五筆訓練交易，期間是二〇〇八年六月到二〇二四年八月，計算各城市筆數和總價中位數。將價格排序取中間位置，可減少極端金額對摘要的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全資料中位總價是一千兩百一十二萬。圖中明示六個城市，臺北市是兩千九百四十五萬，新竹市是一千三百七十五萬，各有兩萬零二十三筆和九千四百九十三筆。數量不一樣，不能把每座城市看成同樣多的案例。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地區是重要線索，但總價還混合面積、房型與成交年代。這是課程交易樣本，不能推論全體住宅或現時行情，也不能拿城市中位數直接當每間房的答案。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統計僅用已核對的有標籤課程交易，揭露筆數、資料期間、城市選取與總價單位。城市總價差異混合面積、型態與時間，不能解釋為地點因果或母體行情。 全城市原標籤含舊桃園縣與5筆城市缺失，不寫成23個現行城市；圖只呈現六個明示城市，不推母體。 城市統計為模型凍結後補作的報告描述，非事前選型或調參依據。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source/city_statistics.json</a:t>
            </a:r>
          </a:p>
          <a:p xmlns:a="http://schemas.openxmlformats.org/drawingml/2006/main">
            <a:r>
              <a:t>source/analysis.json</a:t>
            </a:r>
          </a:p>
          <a:p xmlns:a="http://schemas.openxmlformats.org/drawingml/2006/main">
            <a:r>
              <a:t>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著逐欄整理原始文字。數值去除逗號後轉成數字；日期辨認民國年月日，年份加一千九百一十一轉西元，再拆出年月季。樓層辨認中文數字與地下標記，例如十二層變成十二、地下二層變成負二，另保留地下或整棟標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址把台字統一成臺字，依縣市、區鄉鎮市、路街與段的名稱結尾拆欄。假地址臺北市大安區和平東路一段一百號，可分成臺北市、大安區、和平東路和一段。交易筆棟數則依土地、建物、車位標籤擷取數字，例如土地一建物一車位零，變成三個數值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訓練資料先排除混入的英文表頭與完全重複紀錄，待預測資料仍保留完整列。空白或解析失敗另留標記，不假裝已知。這一步統一格式，下一步才決定模型輸入。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逐欄說明解析規則與產生欄位，讓聽眾能解釋實際如何整理原始文字，而不是只背轉換後數字。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src/prepare_data.py</a:t>
            </a:r>
          </a:p>
          <a:p xmlns:a="http://schemas.openxmlformats.org/drawingml/2006/main">
            <a:r>
              <a:t>src/model_common.py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src/round3_features.py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我選擇估價當下可取得的欄位。面積、樓層、地點、日期描述條件；總價另存答案，不能混進輸入。編號只用來對齊輸出，不能當價格線索。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完整備註可能含價格，只留有限條件標記。解約可能是事後資訊，也排除。建築完成年月不可用，不能硬算屋齡；管理組織沒有變化，無法區分房屋。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基礎特徵有八十七欄，部分模型加入八欄非價格道路資訊，共九十五欄，其中二十三欄是類別。道路代表點只是粗略位置。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的數值用訓練中位數填補、調整尺度，另留缺失旗標。類別建立代碼表，再學數字表示，代碼大小沒有等級意義。填補值、尺度和代碼只從當期訓練建立，驗證與新交易沿用。樹模型依各自設定處理數值與類別，不能說所有模型共用同一套編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以欄位用途與可取得時間說明選擇依據，區分條件、答案和輸出識別碼。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src/round6_geo.py</a:t>
            </a:r>
          </a:p>
          <a:p xmlns:a="http://schemas.openxmlformats.org/drawingml/2006/main">
            <a:r>
              <a:t>data_external/geography/ATTRIBUTION.md</a:t>
            </a:r>
          </a:p>
          <a:p xmlns:a="http://schemas.openxmlformats.org/drawingml/2006/main">
            <a:r>
              <a:t>src/round47_nn_encode.py</a:t>
            </a:r>
          </a:p>
          <a:p xmlns:a="http://schemas.openxmlformats.org/drawingml/2006/main">
            <a:r>
              <a:t>src/round54_numeric_encode.py</a:t>
            </a:r>
          </a:p>
          <a:p xmlns:a="http://schemas.openxmlformats.org/drawingml/2006/main">
            <a:r>
              <a:t>src/train_lightgbm.py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有答案的交易依日期切開，較早部分學習，後一年保留檢查。保留交易雖有真價，先預測完成才評分。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房價隨時間變動，隨機混合年份未必反映用過去估未來。因此使用三個八月起點和一個二月起點，日期如表格所示。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每個起點重建當期模型、填補、編碼及價格參考，只使用訓練截止以前的交易，不能拿後期模型回測。這些窗口已反覆用於開發且彼此重疊，不能當成四次獨立的新考試。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outputs/round107/results.json</a:t>
            </a:r>
          </a:p>
          <a:p xmlns:a="http://schemas.openxmlformats.org/drawingml/2006/main">
            <a:r>
              <a:t>reports/round107_108_report.md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接著設定價格目標。樹模型和神經網路是學習方法，單價或總價則是價格表示，兩者要分開理解。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單價樹模型把已知總價除有效面積，得到訓練答案；新交易由條件估出單價，再乘面積。估每平方公尺二十萬、面積五十平方公尺，總價就是一千萬。未知總價沒有拿來計算輸入。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直接總價模型學總價；對數模型先壓縮金額尺度，預測後反向還原。參考單價網路先有參考價，再學調整倍率，參考單價乘面積與倍率得到總價。倍率是一點一，就是把參考總價乘一點一，並不是另一份答案。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同步驟是輸入、預測、計算損失、更新模型。單價樹比較單價誤差並搭配面積等權重，兩個網路則換成總價計算損失，對數模型比較對數誤差。參考網路使用日期加權平滑損失，較小誤差的更新較平順，較大誤差仍保留線性懲罰；其餘模型保留各自設定，不能說六模型都用同一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樹模型逐步增加小樹修正誤差；網路反向更新參數。參考網路每批兩千零四十八筆、固定三十輪，一批更新一次。驗證時參數固定。所有輸出還原總價元，才融合與評分。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區分學習演算法與價格表示，明示單價答案的建立及預測後乘回面積；補上參考網路預測正倍率、對數反向轉換。各模型原生訓練損失不同，融合與最終評分才統一為總價元，避免重複乘面積或誤稱所有模型直接最小化總價MA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src/round19_unit_geo.py</a:t>
            </a:r>
          </a:p>
          <a:p xmlns:a="http://schemas.openxmlformats.org/drawingml/2006/main">
            <a:r>
              <a:t>src/train_lightgbm.py</a:t>
            </a:r>
          </a:p>
          <a:p xmlns:a="http://schemas.openxmlformats.org/drawingml/2006/main">
            <a:r>
              <a:t>src/round48_nn_train.py</a:t>
            </a:r>
          </a:p>
          <a:p xmlns:a="http://schemas.openxmlformats.org/drawingml/2006/main">
            <a:r>
              <a:t>src/round47_nn_train.py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src/round12_log_geo.py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學單價還要考慮面積。這是假例：五十和一百平方公尺的房屋，單價同樣估錯一萬元，總價卻分別差五十萬和一百萬。把單價誤差看得一樣重，就沒有對齊比賽的總價誤差，所以相關模型加入面積權重。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有效面積優先用建物面積，不可用則用車位面積，再不行才用一，避免無法相除，並不表示真的一平方公尺。單價乘回面積、對數反向轉換後，才可組合；已是總價就不能再乘一次。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src/round19_unit_geo.py</a:t>
            </a:r>
          </a:p>
          <a:p xmlns:a="http://schemas.openxmlformats.org/drawingml/2006/main">
            <a:r>
              <a:t>src/round12_log_geo.py</a:t>
            </a:r>
          </a:p>
          <a:p xmlns:a="http://schemas.openxmlformats.org/drawingml/2006/main">
            <a:r>
              <a:t>src/round79_recency_unit.py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房價會隨日期改變，所以讓近期交易對學習有較大影響，這個影響程度叫權重，乘在每筆訓練損失上。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圖中是正規化前的比例。最新有效日期設為一，早三百六十五天是零點五，早七百三十天是零點二五，每早一年降為一半，稱三百六十五天半衰期。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它改變學習影響，沒有改成交價，也沒有刪舊交易。單價樹另搭配面積權重，參考單價網路採日期加權損失，其餘模型保留原設定。建立參考單價時也使用日期權重，但用途不同。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接續上一頁的面積誤差，再交代日期加權的動機，定義權重後才讀圖。一年是365天，1、0.5、0.25是正規化前原始相對比例。實際有效日期權重除以有效參考列權重平均值，無效日期給1；相對於每次reference資料中的最新有效日期計算，OOF補集各自建立anchor。日期權重在NN訓練時乘loss，在下一頁先驗建立時用於加權中位數，屬兩個不同作用。單價樹另有面積權重，不宣稱六模型都共用同一權重，也不保證加權一定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src/round79_recency_unit.py</a:t>
            </a:r>
          </a:p>
          <a:p xmlns:a="http://schemas.openxmlformats.org/drawingml/2006/main">
            <a:r>
              <a:t>src/round60_recency_price_prior.py</a:t>
            </a:r>
          </a:p>
          <a:p xmlns:a="http://schemas.openxmlformats.org/drawingml/2006/main">
            <a:r>
              <a:t>src/round63_recency_weighted_prior_train.py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我用當期訓練交易，按城市、行政區、交易與建物類型建立參考單價，叫分組先驗。取加權中位單價，近期交易影響較大；同類不足三十筆，就逐層放寬條件。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假例中，二十萬元每平方公尺乘五十平方公尺，起點是一千萬；網路依條件學到倍率一點一，就得到一千一百萬。倍率由模型學習，不是逐筆指定。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訓練用參考價按建案分五組，同建案在同組，每組只參考另外四組，排除自己整組的答案。這是建案隔離，不是依年份分五段。預測新交易時，查當期完整訓練建立的參考表，不使用新交易真價。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畫面先展示參考單價及具體金額，再分開說明查表分類與訓練時隔開答案，避免把兩種分組混為一談。先驗精確查詢依序為城市＋行政區＋交易類型＋建物類型，城市＋交易類型＋建物類型，交易類型＋建物類型，交易類型，最後全域。前四層至少30筆原始reference交易；採365天日期加權中位單價，全域不受30筆門檻限制。建案不是先驗查表key，是OOF隔離分組；同組與同折的全部標籤均排除，訓練每列先驗可用同一fit範圍內較晚交易，故不是時間OOF。各時間切點的query標籤不參與先驗；query查完整當期fit。正倍率由Softplus直接輸出，並非log倍率再exp；總價＝參考單價×有效面積×倍率。NN固定30輪，日期加權SmoothL1轉折為10萬元，參考價加權中位數與NN損失加權是不同步驟。例子20萬元/m²、50m²、1.1及1100萬元皆為教學假設，未當成實際評分或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src/round52_price_prior.py</a:t>
            </a:r>
          </a:p>
          <a:p xmlns:a="http://schemas.openxmlformats.org/drawingml/2006/main">
            <a:r>
              <a:t>src/round60_recency_price_prior.py</a:t>
            </a:r>
          </a:p>
          <a:p xmlns:a="http://schemas.openxmlformats.org/drawingml/2006/main">
            <a:r>
              <a:t>src/round47_nn_train.py</a:t>
            </a:r>
          </a:p>
          <a:p xmlns:a="http://schemas.openxmlformats.org/drawingml/2006/main">
            <a:r>
              <a:t>src/round107_weighted_smooth_train.py</a:t>
            </a:r>
          </a:p>
          <a:p xmlns:a="http://schemas.openxmlformats.org/drawingml/2006/main">
            <a:r>
              <a:t>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每個模型先換回總價，再組成三支。第一支以單價ＣａｔＢｏｏｓｔ為主，第二支平均兩個網路，第三支平均直接總價和對數模型。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每支再加入同一個ＬｉｇｈｔＧＢＭ，主要部分占七成五，共同部分占兩成五。四個樹模型加兩個網路，形成三個初估。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假例一千萬乘零點七五，加一千兩百萬乘零點二五，得到一千零五十萬，是加權平均。先核對交易順序與單位；比例沒有證明最佳，三支共用模型，也不是完全獨立。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src/round107_final_candidate.py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三支初估各自做兩步修正。先找當期訓練中的同建案、地址或道路可比成交，配合物件條件與當期學到的時間趨勢。即使同道路，時間、用途或面積不同，也不能複製成交價。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再用粗略道路位置附近、條件相容的交易。空間修正同時讀取初估和第一步結果，依支持條件決定採用程度，參考不足就回退。道路代表點不是精確門牌，價格參考只取自當期訓練。修正完仍是三筆總價。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src/round2_neighborhood.py</a:t>
            </a:r>
          </a:p>
          <a:p xmlns:a="http://schemas.openxmlformats.org/drawingml/2006/main">
            <a:r>
              <a:t>src/round8_spatial_reference.py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對同一交易，把三支修正後價格排序，取中間值。假例一千萬、一千一百萬、一千六百萬，得到一千一百萬。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這能減少某一路極端值的影響，也可能擋掉正確的高估價。三路共同高估或低估，仍會錯。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取整一次，核對四萬七千零七十三筆編號和總價。原全量階段新增一支網路，其餘五模型用保存預測。後續在同機既有及全新套件環境，各重載六模型重新推論，十三份向量與整份答案表逐值一致。這驗證保存狀態的推論流程；六模型從頭重訓、換電腦測試仍未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可能擋掉正確極端與共同偏差的限制。後續兩次完整推論在同一Windows主機與GPU上進行，分別用既有與全新套件環境。六模型重新forward後，13份47,073列向量值位元一致，CSV編號順序、整數價格和檔案bytes一致。保存向量只用來事後核對，新增fit為0。這是預測重現差而非真價MAE，不能推論換硬體／作業系統／不同套件版本或全六模型原始資料重訓已完成。R2直接中間向量沒有另行匯出，不主張該層直接相等。Private仍未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src/round107_final_candidate.py</a:t>
            </a:r>
          </a:p>
          <a:p xmlns:a="http://schemas.openxmlformats.org/drawingml/2006/main">
            <a:r>
              <a:t>reproducibility_receipt.json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看單一網路的學習過程。較早三十二萬一千五百五十筆訓練到二〇二三年八月十日；後一年十三萬三千六百九十七筆保留驗證，日期是二〇二三年八月十一日至二〇二四年八月十日。兩批都從有答案的訓練資料切出，不是課程驗證或未知測試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橫軸是輪數，縱軸是未加權總價ＭＡＥ。藍線評訓練交易，橘線評後一年，兩線不是同一群。學習使用日期加權損失，評圖統一成不加權總價誤差。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這是按固定配方另跑一支參考單價網路。三十輪模型全封存後才讀驗證答案，逐輪重載、關閉隨機丟棄評分，沒有看最低點挑輪。它不是原提交當時的軌跡，也不是完整融合曲線。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橘線後段波動趨平，不能證明沒有過擬合，時間組成與先驗建立方式也會影響落差。輪數是學習次數，不等於模型容量或ＶＣ維度。下一頁才看完整方法。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用明確日期和資料角色定義時間驗證，區分固定設定診斷與完整融合，避免曲線選型。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reports/v25_training_curve_plan_20261010.md</a:t>
            </a:r>
          </a:p>
          <a:p xmlns:a="http://schemas.openxmlformats.org/drawingml/2006/main">
            <a:r>
              <a:t>outputs/v25_training_curve_20261010/curve.json</a:t>
            </a:r>
          </a:p>
          <a:p xmlns:a="http://schemas.openxmlformats.org/drawingml/2006/main">
            <a:r>
              <a:t>src/v25_training_curve_20261010.py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這頁換成完整融合方法的結果。較早資料學習後，先完成六模型換算、三支修正與中位數，再對最近年度十三萬三千六百九十七筆保留交易評分，整體ＭＡＥ是一百三十八點一七萬元。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我依事後已知真價，分成五個價格帶，畫各組ＭＡＥ；所有保留交易都有納入，不是抽樣圖。不到五百萬組約五十四萬，五千萬以上組則約八百二十四萬。大金額可能帶來更大的絕對差距，不能只看全體平均。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誤差最大的百分之五交易，占全部絕對誤差約百分之二十八。這說明有必要檢查尾端案例，但不能因此刪掉合法高價房，也不能把高價組一律判為資料錯誤。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價格帶只是有答案後的分析，未知測試沒有真價，不能照這些組別人工改價。這個歷史窗口已參與開發，也不是新的盲測。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完整融合的保存預測與原query資料按來源索引對齊，只描述指定歷史保留窗口。圖表抽樣與完整評分分開，保留高價樣本及抽樣／座標範圍揭露。 圖採五個半開真價價格帶的完整分組MAE，不用2500點抽樣資料，避免極端值壓縮散點圖。誤差最大的5%為6685筆，其絕對誤差貢獻28.008349%。MAE以未取整保存預測計算。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source/validation_report_summary.json</a:t>
            </a:r>
          </a:p>
          <a:p xmlns:a="http://schemas.openxmlformats.org/drawingml/2006/main">
            <a:r>
              <a:t>source/analysis.json</a:t>
            </a:r>
          </a:p>
          <a:p xmlns:a="http://schemas.openxmlformats.org/drawingml/2006/main">
            <a:r>
              <a:t>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完整結果還要拆組。我用當期訓練的城市、行政區與建案，標記既有、新建案與缺失組，各自算ＭＡＥ，另看城市、月份和價格帶。價格帶僅用有真價的離線資料分析，沒有重新分群訓練。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基準參考網路使用日期加權ＭＡＥ，其餘設定固定；我沿用它的保存預測，沒有同期配對重訓，所以差異不能全歸因於平滑損失。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最近年度，既有建案比基準增加二百一十三點一〇元，新建案減少二千八百四十一點六一元，不能說每群改善。跨年度有改善也有退步，原強推薦條件沒有通過。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方法離線較好，公開ＭＡＥ卻約兩百零八點三〇萬元，比基準差。最近年度按建案重抽樣，差值區間負三千五百九十四點九一至正五百二十三點三五元，跨過零。它只描述保存預測，不含重訓與選型偏差，也不是隱藏分數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窗口反覆使用，Ｐｒｉｖａｔｅ未知，不能保證未來改善。接著具體檢查誤差很大的交易。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說明如何建立群別及逐群評分，完整保留不利對照、重抽樣界線與未知Private。 原跨年度數字表移出主講，完整四窗數字仍保留在既有報告、發行及比較證據。基準沿用保存預測，沒有同期配對重訓，不能把差異全歸因於平滑損失。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reports/v25_method_and_code_20261010.md</a:t>
            </a:r>
          </a:p>
          <a:p xmlns:a="http://schemas.openxmlformats.org/drawingml/2006/main">
            <a:r>
              <a:t>outputs/kaggle_feedback/public_v25_user_report_20261010.json</a:t>
            </a:r>
          </a:p>
          <a:p xmlns:a="http://schemas.openxmlformats.org/drawingml/2006/main">
            <a:r>
              <a:t>src/round3_evaluate.py</a:t>
            </a:r>
          </a:p>
          <a:p xmlns:a="http://schemas.openxmlformats.org/drawingml/2006/main">
            <a:r>
              <a:t>src/round100_temporal_prior_evaluate_v2.py</a:t>
            </a:r>
          </a:p>
          <a:p xmlns:a="http://schemas.openxmlformats.org/drawingml/2006/main">
            <a:r>
              <a:t>reports/round107_108_report.md</a:t>
            </a:r>
          </a:p>
          <a:p xmlns:a="http://schemas.openxmlformats.org/drawingml/2006/main">
            <a:r>
              <a:t>outputs/round107/results.json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這兩筆來自同一年度保留交易，都是低估。案例Ａ是新北市大型廠辦，面積約一萬九千四百一十平方公尺，當期訓練沒有同建案交易。真價二十九點九億元，估約二十八點〇三億元，相差約一點八七億元。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案例Ｂ是新北市店面，約八百三十一平方公尺。真價兩點五六億元，估約一點六三億元，相差九千三百三十萬元。訓練同建案雖有一百三十筆，卻全是住宅大樓，同型店面是零筆。這是同案盤點，不是模型實際參考筆數。現有參考已按建物類型與用途分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兩筆面積都高於當期訓練的第九十九百分位，約三百四十五平方公尺，可能較難從常見樣本估價。這是觀察支持的假設，未證明因果。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因此，Ａ先核對大面積與大量車位的解析，再固定特殊用途對照方案；Ｂ在既有分組內，檢查相近面積與車位的有效支持，以及不足時回退。不能直接把已知差額補回預測，也不因高價刪資料。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先固定改法，再用新的時間留出與多個隨機種子比較，並檢查每群是否退步。這些是待驗證改進，尚未訓練新模型、沒有改已選答案。謝謝大家。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大誤差來自保留交易真實預測，不使用未知test答案。原因以可觀察事實與待驗證假設分開；改進對應案例，沒有事後挑價或修改已選CSV。 案例A為原案例1，B為原案例4，不假稱另挑兩個最大值或涵蓋高低估兩方向。fit同建案筆數不是模型R實際可比支持量。表格萬元四捨五入為整萬元，面積顯示整平方公尺；完整精度存摘要。原案例4的fit_same_project_rows=130、fit_same_project_same_type_rows=0；type_counts只有住宅大樓130，支持同建案不等於同用途可比。 現有成交參考R與空間修正S都已按建物類型與用途分組，不由同案130住宅／0店面推論模型使用了不相容住宅。後續須核對實際reference層級、選中鄰居、相近面積／車位支持及不足時回退。原R/S的query面積範圍為15–1500平方公尺，案例A已超出，因此新增支持限制不能直接宣稱修好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source/validation_report_summary.json：原匿名案例1、4</a:t>
            </a:r>
          </a:p>
          <a:p xmlns:a="http://schemas.openxmlformats.org/drawingml/2006/main">
            <a:r>
              <a:t>source/analysis.json</a:t>
            </a:r>
          </a:p>
          <a:p xmlns:a="http://schemas.openxmlformats.org/drawingml/2006/main">
            <a:r>
              <a:t>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7f0f4c785439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d4ed92c2104f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27b44ad4ab40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de332a261a41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9ec8a4c1f5450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2f0bdb918747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6F40AD-B047-429D-BB85-5A370D3D6E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ADDD277-0CDC-4A39-B3C1-C4A98FF3263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4E93D1D-D629-4833-95E9-5E67F40291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A033AE-64A8-4964-A600-C09BD459D1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0D290E-74A8-46E0-BB0A-39D9FA4CB9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5D190EA-A647-4961-A1BA-414C6B142E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7BDAE3B-85AC-4E4B-929F-1ACF89CA55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EDC12FD-4800-4FFA-998B-8E9F8ADE1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02F6DC-BBE5-40C5-868D-63D25AFE56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7F3092F-43A3-4742-BB0B-C07FF13BAE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1ce9019c0b4781" /><Relationship Type="http://schemas.openxmlformats.org/officeDocument/2006/relationships/slideLayout" Target="/ppt/slideLayouts/slideLayout1.xml" Id="R3bf86637253a4943" /><Relationship Type="http://schemas.openxmlformats.org/officeDocument/2006/relationships/slideLayout" Target="/ppt/slideLayouts/slideLayout2.xml" Id="Ra3ecaa579e6a451e" /><Relationship Type="http://schemas.openxmlformats.org/officeDocument/2006/relationships/slideLayout" Target="/ppt/slideLayouts/slideLayout3.xml" Id="Ra5a70665fd674f70" /><Relationship Type="http://schemas.openxmlformats.org/officeDocument/2006/relationships/slideLayout" Target="/ppt/slideLayouts/slideLayout4.xml" Id="R738e88842f064e45" /><Relationship Type="http://schemas.openxmlformats.org/officeDocument/2006/relationships/slideLayout" Target="/ppt/slideLayouts/slideLayout5.xml" Id="Rfd427db3b0bb4c8b" /><Relationship Type="http://schemas.openxmlformats.org/officeDocument/2006/relationships/slideLayout" Target="/ppt/slideLayouts/slideLayout6.xml" Id="R414b437d44874a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f86637253a4943"/>
    <p:sldLayoutId xmlns:r="http://schemas.openxmlformats.org/officeDocument/2006/relationships" id="2147483650" r:id="Ra3ecaa579e6a451e"/>
    <p:sldLayoutId xmlns:r="http://schemas.openxmlformats.org/officeDocument/2006/relationships" id="2147483651" r:id="Ra5a70665fd674f70"/>
    <p:sldLayoutId xmlns:r="http://schemas.openxmlformats.org/officeDocument/2006/relationships" id="2147483652" r:id="R738e88842f064e45"/>
    <p:sldLayoutId xmlns:r="http://schemas.openxmlformats.org/officeDocument/2006/relationships" id="2147483653" r:id="Rfd427db3b0bb4c8b"/>
    <p:sldLayoutId xmlns:r="http://schemas.openxmlformats.org/officeDocument/2006/relationships" id="2147483654" r:id="R414b437d44874a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1463705dd0458e" /><Relationship Type="http://schemas.openxmlformats.org/officeDocument/2006/relationships/notesSlide" Target="/ppt/notesSlides/notesSlide1.xml" Id="R32a05e3dfe3e42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0ffc10c0084032" /><Relationship Type="http://schemas.openxmlformats.org/officeDocument/2006/relationships/notesSlide" Target="/ppt/notesSlides/notesSlide2.xml" Id="R5c6a73579a9947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c973e8160b490b" /><Relationship Type="http://schemas.openxmlformats.org/officeDocument/2006/relationships/notesSlide" Target="/ppt/notesSlides/notesSlide3.xml" Id="R4129d9394ca64b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aa1615b5254179" /><Relationship Type="http://schemas.openxmlformats.org/officeDocument/2006/relationships/image" Target="/ppt/media/image.png" Id="R27d20f3e7ee7468f" /><Relationship Type="http://schemas.openxmlformats.org/officeDocument/2006/relationships/notesSlide" Target="/ppt/notesSlides/notesSlide4.xml" Id="R7d305ff81a5048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ac8cbd623c4dae" /><Relationship Type="http://schemas.openxmlformats.org/officeDocument/2006/relationships/notesSlide" Target="/ppt/notesSlides/notesSlide5.xml" Id="Rb2950782aca541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736a11968c4dd6" /><Relationship Type="http://schemas.openxmlformats.org/officeDocument/2006/relationships/chart" Target="/ppt/slides/charts/chart1.xml" Id="R9c54a517d36b407e" /><Relationship Type="http://schemas.openxmlformats.org/officeDocument/2006/relationships/notesSlide" Target="/ppt/notesSlides/notesSlide6.xml" Id="R7e5cea98a26e40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d507ae85464220" /><Relationship Type="http://schemas.openxmlformats.org/officeDocument/2006/relationships/notesSlide" Target="/ppt/notesSlides/notesSlide7.xml" Id="R800e520b3c4545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73b0fe35564cb5" /><Relationship Type="http://schemas.openxmlformats.org/officeDocument/2006/relationships/notesSlide" Target="/ppt/notesSlides/notesSlide8.xml" Id="R5b7c5dee5f9f45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0bd6fcdb954065" /><Relationship Type="http://schemas.openxmlformats.org/officeDocument/2006/relationships/notesSlide" Target="/ppt/notesSlides/notesSlide9.xml" Id="R8b72cc8eafbc48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67e77ab6cc446f" /><Relationship Type="http://schemas.openxmlformats.org/officeDocument/2006/relationships/notesSlide" Target="/ppt/notesSlides/notesSlide10.xml" Id="Rfa2674d4d79642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9d17fe3f54499a" /><Relationship Type="http://schemas.openxmlformats.org/officeDocument/2006/relationships/chart" Target="/ppt/slides/charts/chart2.xml" Id="Rac3cc4c481a54c3e" /><Relationship Type="http://schemas.openxmlformats.org/officeDocument/2006/relationships/notesSlide" Target="/ppt/notesSlides/notesSlide11.xml" Id="Rd81bfe8cd2bf42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a2437a143b4f04" /><Relationship Type="http://schemas.openxmlformats.org/officeDocument/2006/relationships/chart" Target="/ppt/slides/charts/chart3.xml" Id="Ra33cb5ef86f94f5d" /><Relationship Type="http://schemas.openxmlformats.org/officeDocument/2006/relationships/notesSlide" Target="/ppt/notesSlides/notesSlide12.xml" Id="R081252b22d4641b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797d4a0f854d29" /><Relationship Type="http://schemas.openxmlformats.org/officeDocument/2006/relationships/notesSlide" Target="/ppt/notesSlides/notesSlide13.xml" Id="R0afac22aaa704e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cf10b2c703482e" /><Relationship Type="http://schemas.openxmlformats.org/officeDocument/2006/relationships/notesSlide" Target="/ppt/notesSlides/notesSlide14.xml" Id="R966cf846f5764aa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a383cc9d2c4bb1" /><Relationship Type="http://schemas.openxmlformats.org/officeDocument/2006/relationships/notesSlide" Target="/ppt/notesSlides/notesSlide15.xml" Id="R7ef03c4639ab42c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81ae03176c49d3" /><Relationship Type="http://schemas.openxmlformats.org/officeDocument/2006/relationships/notesSlide" Target="/ppt/notesSlides/notesSlide16.xml" Id="R0a2dc3c7da8a4ca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03104748214a26" /><Relationship Type="http://schemas.openxmlformats.org/officeDocument/2006/relationships/chart" Target="/ppt/slides/charts/chart4.xml" Id="R0d5f0f2e4b5c434b" /><Relationship Type="http://schemas.openxmlformats.org/officeDocument/2006/relationships/notesSlide" Target="/ppt/notesSlides/notesSlide17.xml" Id="Rdd188280951f44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5102796ec947a0" /><Relationship Type="http://schemas.openxmlformats.org/officeDocument/2006/relationships/chart" Target="/ppt/slides/charts/chart5.xml" Id="R3f3cfac7f83642a7" /><Relationship Type="http://schemas.openxmlformats.org/officeDocument/2006/relationships/notesSlide" Target="/ppt/notesSlides/notesSlide18.xml" Id="R50fac0b040dd4a8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553bfc809c497c" /><Relationship Type="http://schemas.openxmlformats.org/officeDocument/2006/relationships/notesSlide" Target="/ppt/notesSlides/notesSlide19.xml" Id="Rdb083a0ab63b443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9d9557696d4365" /><Relationship Type="http://schemas.openxmlformats.org/officeDocument/2006/relationships/notesSlide" Target="/ppt/notesSlides/notesSlide20.xml" Id="R3f0fa0df0f2c46b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Data'!$A$2:$A$7</c:f>
              <c:strCache>
                <c:ptCount val="6"/>
                <c:pt idx="0">
                  <c:v>臺北市</c:v>
                </c:pt>
                <c:pt idx="1">
                  <c:v>新北市</c:v>
                </c:pt>
                <c:pt idx="2">
                  <c:v>臺中市</c:v>
                </c:pt>
                <c:pt idx="3">
                  <c:v>桃園市</c:v>
                </c:pt>
                <c:pt idx="4">
                  <c:v>新竹市</c:v>
                </c:pt>
                <c:pt idx="5">
                  <c:v>高雄市</c:v>
                </c:pt>
              </c:strCache>
            </c:strRef>
          </c:cat>
          <c:val>
            <c:numRef>
              <c:f>'Chart Data'!$B$2:$B$7</c:f>
              <c:numCache>
                <c:formatCode>0</c:formatCode>
                <c:ptCount val="6"/>
                <c:pt idx="0">
                  <c:v>2945</c:v>
                </c:pt>
                <c:pt idx="1">
                  <c:v>1480</c:v>
                </c:pt>
                <c:pt idx="2">
                  <c:v>1280</c:v>
                </c:pt>
                <c:pt idx="3">
                  <c:v>1161</c:v>
                </c:pt>
                <c:pt idx="4">
                  <c:v>1375</c:v>
                </c:pt>
                <c:pt idx="5">
                  <c:v>1050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較早訓練交易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後一年交易（未參與訓練）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Data'!$A$2:$A$6</c:f>
              <c:strCache>
                <c:ptCount val="5"/>
                <c:pt idx="0">
                  <c:v>未滿500</c:v>
                </c:pt>
                <c:pt idx="1">
                  <c:v>500–&lt;1000</c:v>
                </c:pt>
                <c:pt idx="2">
                  <c:v>1000–&lt;2000</c:v>
                </c:pt>
                <c:pt idx="3">
                  <c:v>2000–&lt;5000</c:v>
                </c:pt>
                <c:pt idx="4">
                  <c:v>≥5000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53.9641315391105</c:v>
                </c:pt>
                <c:pt idx="1">
                  <c:v>65.1684785651013</c:v>
                </c:pt>
                <c:pt idx="2">
                  <c:v>104.188145109873</c:v>
                </c:pt>
                <c:pt idx="3">
                  <c:v>231.955992921364</c:v>
                </c:pt>
                <c:pt idx="4">
                  <c:v>824.075533427343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858CCBD-B309-4AE4-AA5C-64909159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1CB3AA-5C26-4422-95C6-2E5C0937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A58751E-1573-43F5-85D9-3CE95CC4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6465569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DAAF2F-10AC-4F03-8637-069D77AD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71F24C-B3A1-4CDA-AE74-D40C93B2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B3B3630-E3B0-42B5-9254-28219548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從資料整理到估價檢查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D44B58F3-9F15-47E8-9AA0-390FE7E0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792B96A-3B99-4CD2-967E-A85E73CF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0502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資料準備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F8F3661-AA0A-4E2C-B330-C408FD2A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14312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程式流程、城市樣本、欄位與時間切分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16C5828-6BD6-4189-A36A-EF62878B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99814686-9FC6-4367-9F18-960672C9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067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模型訓練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03B88CF-8E0B-4C4A-AD8A-7D036C5A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10515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價格目標、面積、日期與參考單價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4941DD7-8D9E-4E52-8996-10740442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2907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12079726-6812-421B-ADAC-E0E36095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290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預測整合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2133FABE-6878-4A9E-B967-636940DF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06717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組合不同模型，修正後取中位數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D4A7BA50-7F83-4CFA-9D93-B9D3E559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A4C27393-828B-44E3-81E6-DC4920B6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9911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驗證與改進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D42CB712-0133-44E3-BB8E-E7A5C83D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2920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學習曲線、完整結果、大誤差與改法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7186A344-7110-4FE2-A53C-B80E888E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依照實際製作順序，說明每一步怎麼做、為什麼這樣做。</a:t>
            </a:r>
          </a:p>
        </p:txBody>
      </p:sp>
    </p:spTree>
    <p:extLst>
      <p:ext uri="{BB962C8B-B14F-4D97-AF65-F5344CB8AC3E}">
        <p14:creationId xmlns:p14="http://schemas.microsoft.com/office/powerpoint/2010/main" val="6358973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8EFBB7-45A7-44C2-8852-E155B0C564DB}"/>
              </a:ext>
            </a:extLst>
          </p:cNvPr>
          <p:cNvCxnSpPr>
            <a:stCxn xmlns:a="http://schemas.openxmlformats.org/drawingml/2006/main" id="16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4000500" y="45434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E5ECB0-49A3-48E4-AEEF-F8230800BF58}"/>
              </a:ext>
            </a:extLst>
          </p:cNvPr>
          <p:cNvCxnSpPr>
            <a:stCxn xmlns:a="http://schemas.openxmlformats.org/drawingml/2006/main" id="13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7715250" y="45434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5D849A-7EA6-4DEA-A59D-8D985A8F709C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810750" y="310515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1BC36-6FF1-4CAD-91B2-B0AA7BEA2E33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715250" y="24288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AED39F-7E1A-42FC-858E-E25CFDE2D15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00500" y="24288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sp>
        <p:nvSpPr>
          <p:cNvPr id="2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18F132-4BEF-4861-943E-28E29E3F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資料到答案的程式方塊圖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D56BDD-028B-425E-8974-DD385E56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34296CAA-3750-489B-8673-3A53EC97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71AF3882-B517-4D26-A5AF-D438744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0B247C6-F4AB-459D-B6A4-17B73F82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  讀取與清理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3CF7CDF-4968-41DB-9613-17C7644A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412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load_one / load_data</a:t>
            </a:r>
          </a:p>
        </p:txBody>
      </p:sp>
      <p:sp>
        <p:nvSpPr>
          <p:cNvPr id="7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7E891964-5BFB-4D19-B5FD-26AD5714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66AA839-3738-44CD-A3DA-5AB72E30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  欄位解析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BEAEC8B1-6001-42E1-9572-251E1B9B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2412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build_features</a:t>
            </a:r>
          </a:p>
        </p:txBody>
      </p:sp>
      <p:sp>
        <p:nvSpPr>
          <p:cNvPr id="10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9F998C89-6890-4D6C-9099-27EEF9D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A836B2D9-2782-4E84-A465-33CDA756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  依日期切分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80FBB3EA-60C3-4DAB-AB38-4459AAA3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2412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temporal_indices</a:t>
            </a:r>
          </a:p>
        </p:txBody>
      </p:sp>
      <p:sp>
        <p:nvSpPr>
          <p:cNvPr id="13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D6A5AE15-469C-4119-9848-D8F5B3B3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B7C15FF7-55F7-4D1F-91CE-E3E4DB62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  當期模型與規則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6DFB7C0D-1710-48B8-B46A-E0F2F966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3867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訓練、保存、套用</a:t>
            </a:r>
          </a:p>
        </p:txBody>
      </p:sp>
      <p:sp>
        <p:nvSpPr>
          <p:cNvPr id="16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87C1742C-FBEF-4781-8870-E496194F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21E7AFA5-3126-4AA5-B0B1-E8D01FAA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05  三分支與修正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51EC6B94-4B0E-42E6-BFC5-3B574D1D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3867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R / S / median</a:t>
            </a:r>
          </a:p>
        </p:txBody>
      </p:sp>
      <p:sp>
        <p:nvSpPr>
          <p:cNvPr id="19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C924EF57-FEFA-4358-AFA4-5C5CD99B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20" name="body">
            <a:extLst xmlns:a="http://schemas.openxmlformats.org/drawingml/2006/main">
              <a:ext uri="{FF2B5EF4-FFF2-40B4-BE49-F238E27FC236}">
                <a16:creationId xmlns:a16="http://schemas.microsoft.com/office/drawing/2014/main" id="{59E63CEF-C14E-4EA7-B61A-BE254FF8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06  評分或輸出</a:t>
            </a:r>
          </a:p>
        </p:txBody>
      </p:sp>
      <p:sp>
        <p:nvSpPr>
          <p:cNvPr id="21" name="body">
            <a:extLst xmlns:a="http://schemas.openxmlformats.org/drawingml/2006/main">
              <a:ext uri="{FF2B5EF4-FFF2-40B4-BE49-F238E27FC236}">
                <a16:creationId xmlns:a16="http://schemas.microsoft.com/office/drawing/2014/main" id="{E7C5F07D-68DE-4645-8499-44FE6D90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8675"/>
            <a:ext cx="2933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/ release</a:t>
            </a:r>
          </a:p>
        </p:txBody>
      </p:sp>
      <p:sp>
        <p:nvSpPr>
          <p:cNvPr id="27" name="body">
            <a:extLst xmlns:a="http://schemas.openxmlformats.org/drawingml/2006/main">
              <a:ext uri="{FF2B5EF4-FFF2-40B4-BE49-F238E27FC236}">
                <a16:creationId xmlns:a16="http://schemas.microsoft.com/office/drawing/2014/main" id="{B6B9F681-1C9F-4EBB-838B-6BAF3677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保留交易只套用當期規則。有真價才評分，未知交易依編號順序輸出。</a:t>
            </a:r>
          </a:p>
        </p:txBody>
      </p:sp>
      <p:sp>
        <p:nvSpPr>
          <p:cNvPr id="28" name="body">
            <a:extLst xmlns:a="http://schemas.openxmlformats.org/drawingml/2006/main">
              <a:ext uri="{FF2B5EF4-FFF2-40B4-BE49-F238E27FC236}">
                <a16:creationId xmlns:a16="http://schemas.microsoft.com/office/drawing/2014/main" id="{02AD0006-B269-47FC-AFA3-5C856C60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原全量階段新增一支網路訓練，其餘五模型沿用保存預測。</a:t>
            </a:r>
          </a:p>
        </p:txBody>
      </p:sp>
    </p:spTree>
    <p:extLst>
      <p:ext uri="{BB962C8B-B14F-4D97-AF65-F5344CB8AC3E}">
        <p14:creationId xmlns:p14="http://schemas.microsoft.com/office/powerpoint/2010/main" val="15419516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2B1B99-3EAF-45F9-8C17-3EBDDAF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21EDA5-2887-43E9-AFCD-6B1109CC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F3031DC-1495-414D-B8AB-88CF2DAB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C5B764B-9543-4584-849A-BBC8A866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8E329B8-4D70-419C-9193-F053256C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956DE3B-3CC0-4D4B-A475-EC4A2749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3A4C1E5-0913-4F1E-A89B-7799083E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ACEF88CE-FE21-4E38-A725-443FAA53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FB17B-876E-4AF2-A2CC-6F177311C4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20f3e7ee7468f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EF5B1A4-92E1-4243-93BA-B4DAB3A2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</p:spTree>
    <p:extLst>
      <p:ext uri="{BB962C8B-B14F-4D97-AF65-F5344CB8AC3E}">
        <p14:creationId xmlns:p14="http://schemas.microsoft.com/office/powerpoint/2010/main" val="307277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978C9C-2217-44D7-8540-068E241C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AE9BFD2-4E3D-4084-B455-21A2EB55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CD0C1A2-43B7-4EA5-AAD2-D6260B8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98834CE-70E0-48C7-A10A-CC84F711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8EAC78-BF8C-4E6B-9F45-73530100C646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A645AD0-F3F0-46BE-966F-CA093A03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CBDD0C5-B477-43E1-87B9-E5FF8299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484C59A-B745-4FC5-ADA6-37CC6A9F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59D51269-4F8D-4FCD-BEAB-86240928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32DF11-129F-4F05-8DBE-2A14A94D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17272663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5144AE-3935-45C6-A581-8E621D64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城市房價的樣本統計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ED87961-E6FE-40EB-A655-C7DAAAEC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D8FB7CD-A823-4C43-A601-226B0D97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2FB4740-594F-4E10-9DFA-2622AEB2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清理後train 455,255筆；全資料總價中位數1,212萬元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7A86D2A-CA14-43AD-8503-6690F205C2B0}"/>
              </a:ext>
            </a:extLst>
          </p:cNvPr>
          <p:cNvGraphicFramePr/>
          <p:nvPr/>
        </p:nvGraphicFramePr>
        <p:xfrm>
          <a:off xmlns:a="http://schemas.openxmlformats.org/drawingml/2006/main" x="762000" y="2038350"/>
          <a:ext xmlns:a="http://schemas.openxmlformats.org/drawingml/2006/main" cx="709612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54a517d36b407e"/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C4C259D-B666-49FC-8DAE-685726D7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709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成交總價中位數，單位：萬元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FC48D-5350-4E8E-AE37-F0371C43DC8C}"/>
              </a:ext>
            </a:extLst>
          </p:cNvPr>
          <p:cNvGraphicFramePr/>
          <p:nvPr/>
        </p:nvGraphicFramePr>
        <p:xfrm>
          <a:off xmlns:a="http://schemas.openxmlformats.org/drawingml/2006/main" x="8286750" y="2152650"/>
          <a:ext xmlns:a="http://schemas.openxmlformats.org/drawingml/2006/main" cx="3143250" cy="3267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71625"/>
                <a:gridCol w="1571625"/>
              </a:tblGrid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城市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臺北市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20,023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新北市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102,060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臺中市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83,686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桃園市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83,774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新竹市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9,493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高雄市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40,980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0F560EA1-0168-4636-871A-0C3EE8F2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課程交易樣本的描述。城市差距也混合面積、房型與年代，不能推論全體市場。</a:t>
            </a:r>
          </a:p>
        </p:txBody>
      </p:sp>
    </p:spTree>
    <p:extLst>
      <p:ext uri="{BB962C8B-B14F-4D97-AF65-F5344CB8AC3E}">
        <p14:creationId xmlns:p14="http://schemas.microsoft.com/office/powerpoint/2010/main" val="1829954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BC561B-5EF8-482C-9E80-B19BFC9D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原始文字的處理步驟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46ED5CA-BD7F-4307-AAC6-DDD4495E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DF07B0A-C2EA-4AF1-8361-C512063B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FECBD-B0C3-426A-B01C-666600D49BEA}"/>
              </a:ext>
            </a:extLst>
          </p:cNvPr>
          <p:cNvGraphicFramePr/>
          <p:nvPr/>
        </p:nvGraphicFramePr>
        <p:xfrm>
          <a:off xmlns:a="http://schemas.openxmlformats.org/drawingml/2006/main" x="762000" y="169545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3810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我怎麼處理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整理後的資訊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去除逗號，再轉成數值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1,200.5 變成 1200.5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民國年加1911，再拆年月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112年變成2023年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樓層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中文數字轉數值，地下層記負數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十二層=12／地下二層=−2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台統一為臺，依名稱結尾拆欄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縣市／行政區／道路／段別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交易筆棟數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依土地、建物、車位擷取數字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土地1、建物1、車位0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BF33C63-369D-4B3A-B3A8-B32B1BCD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空白及解析失敗另留標記。填補與類別編碼，只從訓練資料建立規則。</a:t>
            </a:r>
          </a:p>
        </p:txBody>
      </p:sp>
    </p:spTree>
    <p:extLst>
      <p:ext uri="{BB962C8B-B14F-4D97-AF65-F5344CB8AC3E}">
        <p14:creationId xmlns:p14="http://schemas.microsoft.com/office/powerpoint/2010/main" val="14314968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3F5B45-00CA-4F47-BF61-ED342328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模型輸入欄位的選擇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CF28976-2FC0-4293-B46B-68EBDBA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EA2A9F5-D8D5-4572-B1AC-BE794A94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8308168-0FBE-41F1-AFDB-6C25668B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先確認每個欄位在估價時能否使用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F4F1C-2DC5-4433-9D2F-E85E1157C035}"/>
              </a:ext>
            </a:extLst>
          </p:cNvPr>
          <p:cNvGraphicFramePr/>
          <p:nvPr/>
        </p:nvGraphicFramePr>
        <p:xfrm>
          <a:off xmlns:a="http://schemas.openxmlformats.org/drawingml/2006/main" x="762000" y="2162175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333750"/>
                <a:gridCol w="3476625"/>
              </a:tblGrid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實際做法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選擇的原因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面積、樓層、地點、日期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整理成模型輸入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描述房屋與交易條件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成交總價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另存為訓練答案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避免答案混入輸入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保留對齊，排除訓練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識別交易，不代表價格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完整備註、解約等資訊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排除全文與不可用欄位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避免價格或事後資訊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46204556-CA40-409A-A212-4410A0AA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數值與類別採不同處理。所有需學習的轉換規則，只用當期訓練資料建立。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17137489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2C386D-4E67-4C1D-BCA6-51718803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6D1CA16-D36A-4862-85E0-F243F4AC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A8D4C9F-93C0-45C7-A065-983B2328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09892-B96A-43DB-996A-1B6587841EE7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41A7124-BA72-4FFA-9184-A76C8A57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236666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263C92-40ED-44EB-B803-073165AD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模型的價格目標與訓練步驟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915EA8-881B-4F3B-96F1-4B7F1F4E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6B77665-03B2-4582-BF02-073AC9D2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F07659E-5664-42D9-B633-A70CC99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單價樹模型：訓練答案＝已知總價 ÷ 有效面積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9554D-6085-4858-BDA2-ED340EC13B4E}"/>
              </a:ext>
            </a:extLst>
          </p:cNvPr>
          <p:cNvGraphicFramePr/>
          <p:nvPr/>
        </p:nvGraphicFramePr>
        <p:xfrm>
          <a:off xmlns:a="http://schemas.openxmlformats.org/drawingml/2006/main" x="762000" y="1885950"/>
          <a:ext xmlns:a="http://schemas.openxmlformats.org/drawingml/2006/main" cx="106680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2857500"/>
                <a:gridCol w="3905250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模型路線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先預測什麼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總價如何產生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單價樹模型、面積網路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每平方公尺單價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預測單價 × 有效面積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直接換回總價元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取對數後的總價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將預測值還原為總價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相對參考價的倍率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× 有效面積 × 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1986DD8-1866-4EA2-AE96-517A1F51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共同訓練：輸入條件、產生預測、依目標計算損失、更新模型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2E688CA-C321-4659-A19E-8918CD88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樹模型：增加小樹修正誤差　神經網路：反向更新參數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F46E8FC-F8E1-4097-9330-20762E39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995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各模型先換回總價元，再進行分支融合與修正。驗證時固定參數。</a:t>
            </a:r>
          </a:p>
        </p:txBody>
      </p:sp>
    </p:spTree>
    <p:extLst>
      <p:ext uri="{BB962C8B-B14F-4D97-AF65-F5344CB8AC3E}">
        <p14:creationId xmlns:p14="http://schemas.microsoft.com/office/powerpoint/2010/main" val="1200029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26D012-6FB2-4ED4-BDD1-DEF5E273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975E65-E3BB-4290-A2CF-185041E2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932988E-8BFD-49A4-B0EA-062092A6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D62B1287-7629-426E-8E63-80D87BCE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8ECC1926-BAC1-4C3D-B176-188F5A6C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36A4894-60B7-409C-8D5E-19659813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91CAC92-2A6F-4210-A9A2-90B9425F3360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3cc4c481a54c3e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389A2B6-FAD4-449D-8D0D-AE001BB5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E394285C-95B4-4B29-9BB1-E7518223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13981715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1B0D76-909B-4561-B5EA-04C4E51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新舊交易的學習影響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04EE246-BE80-404F-AAAF-0D70331E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2D8BD25-D2C5-4B8C-898B-5F78C8A6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1A8169A-2843-48C1-ABDC-B33CC71E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房價會隨時間改變，因此讓近期成交有較大影響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7ECB1A8-5697-499B-AFA1-90D1A056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權重：一筆交易對模型學習的影響程度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D2F0D9D3-BB86-47EB-A425-19A5187E7930}"/>
              </a:ext>
            </a:extLst>
          </p:cNvPr>
          <p:cNvGraphicFramePr/>
          <p:nvPr/>
        </p:nvGraphicFramePr>
        <p:xfrm>
          <a:off xmlns:a="http://schemas.openxmlformats.org/drawingml/2006/main" x="762000" y="2381250"/>
          <a:ext xmlns:a="http://schemas.openxmlformats.org/drawingml/2006/main" cx="7048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3cb5ef86f94f5d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64F8072-B6E0-475E-BB18-9B9233A2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圖中的數字代表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相對學習影響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933EBC6-F0BE-4FC7-8688-3E15175A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每早一年</a:t>
            </a:r>
          </a:p>
          <a:p xmlns:a="http://schemas.openxmlformats.org/drawingml/2006/main">
            <a: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影響降為一半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260E9858-814B-46ED-9DEF-D5A6FC92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245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圖為正規化前的相對比例。權重乘在訓練損失上，成交價本身不變。</a:t>
            </a:r>
          </a:p>
        </p:txBody>
      </p:sp>
    </p:spTree>
    <p:extLst>
      <p:ext uri="{BB962C8B-B14F-4D97-AF65-F5344CB8AC3E}">
        <p14:creationId xmlns:p14="http://schemas.microsoft.com/office/powerpoint/2010/main" val="6022527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D1C474-0F43-4DC0-BE78-F4799F86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相似交易提供參考單價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E492FE-96E4-48F9-957F-7603A6DB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57CAF62-21D9-4CC5-B956-96905DE3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19B5AA9-42BF-40CC-B88E-A1EB9387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573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用同類交易的中位單價作參考，近期交易影響較大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6F357D5-FDD5-4C7F-B10E-78D9AA23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教學假例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6ED182D-F388-420A-B295-FA937DBD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619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20萬/m²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C317185-DBC8-408C-88AA-72E0186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1462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× 50m²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1AC47AB-4C22-4D11-AFFC-55BB60DD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146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× 1.1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428E2A5A-5FD4-49DF-9AD1-71028AA8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146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＝1,100萬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6BC64C1-CE31-48CC-BA02-F8E6C080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619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11980ABB-3216-4B9D-B0D1-D5DD52A9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480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有效面積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613C70C7-78B8-4ED1-AE3F-E8679352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模型學到的倍率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13A4CE63-CB47-4BA6-BFC8-4DEE7946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預測總價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062B07E2-E05A-4B18-87FD-D7521EFE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參考價的分類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833761B7-5A07-4733-8B64-0F2C60E1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43475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依地區、交易及建物類型整理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同類不足30筆，就逐層放寬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233FF17C-E1DA-400D-A506-ABF67DCD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29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訓練時隔開答案</a:t>
            </a:r>
          </a:p>
        </p:txBody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7E856546-0507-41B9-955C-A1615B22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43475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同建案放同組，分成5組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每組只參考其他4組的交易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096F195D-C4F4-42D5-8A7E-665CC859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這份參考單價稱為「分組先驗」，由當期訓練交易建立。</a:t>
            </a:r>
          </a:p>
        </p:txBody>
      </p:sp>
    </p:spTree>
    <p:extLst>
      <p:ext uri="{BB962C8B-B14F-4D97-AF65-F5344CB8AC3E}">
        <p14:creationId xmlns:p14="http://schemas.microsoft.com/office/powerpoint/2010/main" val="17312927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E04C69-A4B2-4863-B0BB-3E23830E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664D8D-67ED-4DCF-BA80-77AAE382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68CAC9A-6706-4521-A7B6-141EEEF7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B6E3E3F-251C-460C-996B-ECD8E38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B9738-D5F7-49CA-8447-9BB4AFC0A2FC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EE0150A-CBB2-4474-89AC-D96D245A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19181274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654AD7-D9B3-415A-8D57-33EBD82F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369059-EFA2-4D1D-8B40-A3115DDC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EEB6243-FDCA-4AD9-97FB-9E4B06A4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15161BA-6389-4D5C-8A7F-4EE8E515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BFF99256-18B0-4C6F-84EE-886B522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BB85965-6752-4F92-AFED-B6929B0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1AA3358-D9A7-4933-A247-146E1716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26B2A07-BABF-4F1C-8912-7872E8DD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1603367-5124-4254-B439-015A432B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A717B8B-8C09-4A22-BA24-55FB92E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1906756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44B949-4C19-497E-BC2A-1943BEEE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8CB6E9-0CA3-480A-A1FE-CEE21559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013E9AD-E057-4DB2-8481-67F27C8F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61651CE-D8A2-4740-B784-A884FD16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0AD124A-2635-4F81-8684-E5B65CB8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D26FD02-D7F3-4F89-8E61-643DB50C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9EF8E22B-3DB0-4924-9EDD-FAEE1FD2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038422B-3357-4B1D-BCF0-49F9E5D4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A1D63AD9-0807-44A3-ABA4-39FE1767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BBA30AB6-9349-44E4-B614-CF78E985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B4C6DE05-AA06-4C92-BFF9-70E36F48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6880A578-DD6F-44E8-A188-6E468701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71D25734-6090-4BC3-872F-ECDC89EE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8D711DE-E02B-4C63-A884-6764C256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D4E56311-AD20-4D63-9395-56174F2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後續兩種同機環境：6模型推論，13份向量與47,073筆CSV完全一致。</a:t>
            </a:r>
          </a:p>
        </p:txBody>
      </p:sp>
    </p:spTree>
    <p:extLst>
      <p:ext uri="{BB962C8B-B14F-4D97-AF65-F5344CB8AC3E}">
        <p14:creationId xmlns:p14="http://schemas.microsoft.com/office/powerpoint/2010/main" val="32548422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BCDE0B-E070-4F80-9275-87BB2A4A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用後一年交易檢查訓練過程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6543480-9476-4DD6-B347-31C578B0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B7F6FD1-64A9-46E6-A9D3-B5ABFBC9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F93BB83-8E60-4B20-AD32-CC7E5C7A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較早交易學習：321,550筆　後一年驗證：133,697筆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8DBDF38-51F3-41AA-987E-498EC690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訓練截至2023-08-10　驗證：2023-08-11 至 2024-08-10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C3D6CA0-7BF7-45FB-A603-25750434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A6158B4-981B-4DC3-BACC-6DEE5CA8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00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A011699-B3D4-49B1-9D7C-52CD10E94CD7}"/>
              </a:ext>
            </a:extLst>
          </p:cNvPr>
          <p:cNvGraphicFramePr/>
          <p:nvPr/>
        </p:nvGraphicFramePr>
        <p:xfrm>
          <a:off xmlns:a="http://schemas.openxmlformats.org/drawingml/2006/main" x="971550" y="2047875"/>
          <a:ext xmlns:a="http://schemas.openxmlformats.org/drawingml/2006/main" cx="10458450" cy="3686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5f0f2e4b5c434b"/>
          </a:graphicData>
        </a:graphic>
      </p:graphicFrame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7FFFC6D-CD6D-42F5-A26F-51130C69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保存各輪模型後，固定參數分別計算兩批 MAE。此圖是另跑的一支網路診斷。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A9A100A2-3F6E-43D7-8DF2-8C533A0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固定30輪，不依最低點選輪數。曲線不能證明沒有過擬合，輪數也不代表模型容量。</a:t>
            </a:r>
          </a:p>
        </p:txBody>
      </p:sp>
    </p:spTree>
    <p:extLst>
      <p:ext uri="{BB962C8B-B14F-4D97-AF65-F5344CB8AC3E}">
        <p14:creationId xmlns:p14="http://schemas.microsoft.com/office/powerpoint/2010/main" val="12160793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CD536E-A39A-4F61-B733-0171F573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完整方法的驗證結果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AE6445E-7A16-4B0A-A1D0-E4DD3335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B22FCB6-DF55-4B7A-96FA-74F80249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D3129634-B031-400A-BFFF-9232B95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2023-08-11至2024-08-10；完整融合，保留交易133,697筆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47941D8-B5C8-489F-82B0-68D15491A59C}"/>
              </a:ext>
            </a:extLst>
          </p:cNvPr>
          <p:cNvGraphicFramePr/>
          <p:nvPr/>
        </p:nvGraphicFramePr>
        <p:xfrm>
          <a:off xmlns:a="http://schemas.openxmlformats.org/drawingml/2006/main" x="762000" y="2190750"/>
          <a:ext xmlns:a="http://schemas.openxmlformats.org/drawingml/2006/main" cx="75247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3cfac7f83642a7"/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2392B9B-F325-452E-BAF6-BDB07955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752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總價MAE，單位：萬元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F5FC9B1-7235-4EB0-821D-33D7A894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724525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真實總價帶（萬元）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B4ED141-551E-456C-861D-150E5AA3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90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全部保留交易 MAE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C8B5C0A5-F812-4BF0-9634-FE96A88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813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6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138.17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FC6C6D1-7F03-4263-B974-54A646F5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7665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65758439-0C14-46FE-B507-2222499B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57700"/>
            <a:ext cx="2667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誤差最大的5%交易</a:t>
            </a:r>
          </a:p>
          <a:p xmlns:a="http://schemas.openxmlformats.org/drawingml/2006/main">
            <a: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占總絕對誤差28.01%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44986C59-B736-451D-B3F2-298BB9B6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五個價格帶涵蓋全部保留交易。以真價分組，僅供事後分析；未使用test答案。</a:t>
            </a:r>
          </a:p>
        </p:txBody>
      </p:sp>
    </p:spTree>
    <p:extLst>
      <p:ext uri="{BB962C8B-B14F-4D97-AF65-F5344CB8AC3E}">
        <p14:creationId xmlns:p14="http://schemas.microsoft.com/office/powerpoint/2010/main" val="32460686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F442B6-02B9-4C24-92E7-88204063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驗證之後的分組檢查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5B0880-1AB6-45F6-BEE8-7852E911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DC43B85-004D-4312-A7EB-3716E24C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0846391-FE0A-4A4F-A37C-DE656A82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　建立分組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5D1E179-F8A2-4DF9-A70C-5253E2D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比對當期訓練資料，標記建案是否見過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A99B2693-A4E7-4721-9057-4BE70CD5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　分別評分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96B387B-C3A7-4A93-9B12-48CD7322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既有、新建案與缺失組，各自計算 MAE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6914FEC-FA4C-4E62-8905-3353B20E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　查看退步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21090B79-0FE0-4EBD-B60C-CCCA057C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1000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檢查整體平均是否掩蓋某一群的問題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B7A08130-7711-4D9B-AA61-80A6F6FB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　保留反證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F507C56D-4EE5-4CD2-BE0B-1F3B0D3B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1012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一起記錄跨期退步與不利對照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E4787525-7A5A-488C-9BA5-81169147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實際曾出現分群退步。歷史窗口已反覆使用，Private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63357286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0E7B28-7451-4E4B-8CC4-D689C500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大誤差案例與對應改進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663C8E9-20E5-4EBA-8CEF-B789A83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91BB019-4F86-424E-8D85-BA403299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驗證與改進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C6448AF-FCE6-4414-9906-79FF01F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同一驗證期的已知答案，只用來事後分析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048D9-9ACC-4F3D-A3F4-675E93620D19}"/>
              </a:ext>
            </a:extLst>
          </p:cNvPr>
          <p:cNvGraphicFramePr/>
          <p:nvPr/>
        </p:nvGraphicFramePr>
        <p:xfrm>
          <a:off xmlns:a="http://schemas.openxmlformats.org/drawingml/2006/main" x="762000" y="2000250"/>
          <a:ext xmlns:a="http://schemas.openxmlformats.org/drawingml/2006/main" cx="106680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"/>
                <a:gridCol w="4286250"/>
                <a:gridCol w="1809750"/>
                <a:gridCol w="1809750"/>
                <a:gridCol w="1809750"/>
              </a:tblGrid>
              <a:tr h="7620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案例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可觀察條件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620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廠辦 19,410 m²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訓練同建案 0 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299,000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280,337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18,663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620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店面 831 m²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同建案130筆，全為住宅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25,600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16,270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9,330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1FE5E7D-223D-4820-B10B-2FA540B5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金額單位：萬元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6573F1A-AB9B-4CA7-A0DB-4B401E68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A  大型、特殊用途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9F1CCC5-D675-45A5-B805-8D448A32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先核對面積與車位解析</a:t>
            </a:r>
          </a:p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再固定特殊用途對照方案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C2C83D1F-9FC2-40A1-B96A-75DF9F90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2442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B  同建案仍須可比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0C22C8F-CF67-4BCC-9FC1-48AC00DA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53050"/>
            <a:ext cx="5048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既有用途分組內檢查面積／車位</a:t>
            </a:r>
          </a:p>
          <a:p xmlns:a="http://schemas.openxmlformats.org/drawingml/2006/main">
            <a:pPr algn="l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核對實際參考支持與回退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D22BA6EC-EA02-4001-BF37-46FB5A0A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67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原因仍是待驗證假設。先固定改法，再用新時間留出與多seed比較，未改提交答案。</a:t>
            </a:r>
          </a:p>
        </p:txBody>
      </p:sp>
    </p:spTree>
    <p:extLst>
      <p:ext uri="{BB962C8B-B14F-4D97-AF65-F5344CB8AC3E}">
        <p14:creationId xmlns:p14="http://schemas.microsoft.com/office/powerpoint/2010/main" val="121548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20</ap:Slides>
  <ap:Notes>20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2026-10-12T18:21:29.7800000Z</dcterms:created>
  <dcterms:modified xsi:type="dcterms:W3CDTF">2026-10-12T18:21:29.7800000Z</dcterms:modified>
</coreProperties>
</file>