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  <Default Extension="png" ContentType="image/png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5a730cdee4424" /><Relationship Type="http://schemas.openxmlformats.org/officeDocument/2006/relationships/extended-properties" Target="/docProps/app.xml" Id="R8209b52aa1ef48d1" /><Relationship Type="http://schemas.openxmlformats.org/officeDocument/2006/relationships/officeDocument" Target="/ppt/presentation.xml" Id="R3bb4bd41b50c43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d5e71f59547c3"/>
  </p:sldMasterIdLst>
  <p:notesMasterIdLst>
    <p:notesMasterId xmlns:r="http://schemas.openxmlformats.org/officeDocument/2006/relationships" r:id="R67b9e7dafd9e484c"/>
  </p:notesMasterIdLst>
  <p:sldIdLst>
    <p:sldId xmlns:r="http://schemas.openxmlformats.org/officeDocument/2006/relationships" id="256" r:id="R932776737e564dca"/>
    <p:sldId xmlns:r="http://schemas.openxmlformats.org/officeDocument/2006/relationships" id="257" r:id="R3b1b25ff07d34f44"/>
    <p:sldId xmlns:r="http://schemas.openxmlformats.org/officeDocument/2006/relationships" id="258" r:id="R416a9c064a1d4ebf"/>
    <p:sldId xmlns:r="http://schemas.openxmlformats.org/officeDocument/2006/relationships" id="259" r:id="R3a6d4b644aec4d7c"/>
    <p:sldId xmlns:r="http://schemas.openxmlformats.org/officeDocument/2006/relationships" id="260" r:id="Rc494890e518e4908"/>
    <p:sldId xmlns:r="http://schemas.openxmlformats.org/officeDocument/2006/relationships" id="261" r:id="Rdb3b9819f9c44b2e"/>
    <p:sldId xmlns:r="http://schemas.openxmlformats.org/officeDocument/2006/relationships" id="262" r:id="R01cff1bf1a5849cc"/>
    <p:sldId xmlns:r="http://schemas.openxmlformats.org/officeDocument/2006/relationships" id="263" r:id="R0ca587361aff4fd6"/>
    <p:sldId xmlns:r="http://schemas.openxmlformats.org/officeDocument/2006/relationships" id="264" r:id="R7c18c1a7a919497e"/>
    <p:sldId xmlns:r="http://schemas.openxmlformats.org/officeDocument/2006/relationships" id="265" r:id="R161b6ec34ef646b9"/>
    <p:sldId xmlns:r="http://schemas.openxmlformats.org/officeDocument/2006/relationships" id="266" r:id="R707079489a4c4806"/>
    <p:sldId xmlns:r="http://schemas.openxmlformats.org/officeDocument/2006/relationships" id="267" r:id="Rd91383fba2ed4332"/>
    <p:sldId xmlns:r="http://schemas.openxmlformats.org/officeDocument/2006/relationships" id="268" r:id="R44ce7eb9dd16436a"/>
    <p:sldId xmlns:r="http://schemas.openxmlformats.org/officeDocument/2006/relationships" id="269" r:id="R540a27f0872a4c71"/>
    <p:sldId xmlns:r="http://schemas.openxmlformats.org/officeDocument/2006/relationships" id="270" r:id="R1f53bf6e65cf49d2"/>
    <p:sldId xmlns:r="http://schemas.openxmlformats.org/officeDocument/2006/relationships" id="271" r:id="Rb19dc4137d0c4eaa"/>
    <p:sldId xmlns:r="http://schemas.openxmlformats.org/officeDocument/2006/relationships" id="272" r:id="R4cea0522c5d64a98"/>
    <p:sldId xmlns:r="http://schemas.openxmlformats.org/officeDocument/2006/relationships" id="273" r:id="R2e1580cef6714752"/>
    <p:sldId xmlns:r="http://schemas.openxmlformats.org/officeDocument/2006/relationships" id="274" r:id="R42ff4935248e484c"/>
    <p:sldId xmlns:r="http://schemas.openxmlformats.org/officeDocument/2006/relationships" id="275" r:id="Rd573ca2bb95f4e90"/>
    <p:sldId xmlns:r="http://schemas.openxmlformats.org/officeDocument/2006/relationships" id="276" r:id="Rfdbdb4eeaa484b0a"/>
    <p:sldId xmlns:r="http://schemas.openxmlformats.org/officeDocument/2006/relationships" id="277" r:id="Rd3532252c9e54fed"/>
    <p:sldId xmlns:r="http://schemas.openxmlformats.org/officeDocument/2006/relationships" id="278" r:id="R5fdc6e71f15b4513"/>
    <p:sldId xmlns:r="http://schemas.openxmlformats.org/officeDocument/2006/relationships" id="279" r:id="Re395d8b44b8945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7278af117a467a" /><Relationship Type="http://schemas.openxmlformats.org/officeDocument/2006/relationships/slideMaster" Target="/ppt/slideMasters/slideMaster1.xml" Id="R7c9d5e71f59547c3" /><Relationship Type="http://schemas.openxmlformats.org/officeDocument/2006/relationships/notesMaster" Target="/ppt/notesMasters/notesMaster1.xml" Id="R67b9e7dafd9e484c" /><Relationship Type="http://schemas.openxmlformats.org/officeDocument/2006/relationships/presProps" Target="/ppt/presProps.xml" Id="Rceb7475fa69246d6" /><Relationship Type="http://schemas.openxmlformats.org/officeDocument/2006/relationships/tableStyles" Target="/ppt/tableStyles.xml" Id="R9287b0087646442c" /><Relationship Type="http://schemas.openxmlformats.org/officeDocument/2006/relationships/slide" Target="/ppt/slides/slide1.xml" Id="R932776737e564dca" /><Relationship Type="http://schemas.openxmlformats.org/officeDocument/2006/relationships/slide" Target="/ppt/slides/slide2.xml" Id="R3b1b25ff07d34f44" /><Relationship Type="http://schemas.openxmlformats.org/officeDocument/2006/relationships/slide" Target="/ppt/slides/slide3.xml" Id="R416a9c064a1d4ebf" /><Relationship Type="http://schemas.openxmlformats.org/officeDocument/2006/relationships/slide" Target="/ppt/slides/slide4.xml" Id="R3a6d4b644aec4d7c" /><Relationship Type="http://schemas.openxmlformats.org/officeDocument/2006/relationships/slide" Target="/ppt/slides/slide5.xml" Id="Rc494890e518e4908" /><Relationship Type="http://schemas.openxmlformats.org/officeDocument/2006/relationships/slide" Target="/ppt/slides/slide6.xml" Id="Rdb3b9819f9c44b2e" /><Relationship Type="http://schemas.openxmlformats.org/officeDocument/2006/relationships/slide" Target="/ppt/slides/slide7.xml" Id="R01cff1bf1a5849cc" /><Relationship Type="http://schemas.openxmlformats.org/officeDocument/2006/relationships/slide" Target="/ppt/slides/slide8.xml" Id="R0ca587361aff4fd6" /><Relationship Type="http://schemas.openxmlformats.org/officeDocument/2006/relationships/slide" Target="/ppt/slides/slide9.xml" Id="R7c18c1a7a919497e" /><Relationship Type="http://schemas.openxmlformats.org/officeDocument/2006/relationships/slide" Target="/ppt/slides/slide10.xml" Id="R161b6ec34ef646b9" /><Relationship Type="http://schemas.openxmlformats.org/officeDocument/2006/relationships/slide" Target="/ppt/slides/slide11.xml" Id="R707079489a4c4806" /><Relationship Type="http://schemas.openxmlformats.org/officeDocument/2006/relationships/slide" Target="/ppt/slides/slide12.xml" Id="Rd91383fba2ed4332" /><Relationship Type="http://schemas.openxmlformats.org/officeDocument/2006/relationships/slide" Target="/ppt/slides/slide13.xml" Id="R44ce7eb9dd16436a" /><Relationship Type="http://schemas.openxmlformats.org/officeDocument/2006/relationships/slide" Target="/ppt/slides/slide14.xml" Id="R540a27f0872a4c71" /><Relationship Type="http://schemas.openxmlformats.org/officeDocument/2006/relationships/slide" Target="/ppt/slides/slide15.xml" Id="R1f53bf6e65cf49d2" /><Relationship Type="http://schemas.openxmlformats.org/officeDocument/2006/relationships/slide" Target="/ppt/slides/slide16.xml" Id="Rb19dc4137d0c4eaa" /><Relationship Type="http://schemas.openxmlformats.org/officeDocument/2006/relationships/slide" Target="/ppt/slides/slide17.xml" Id="R4cea0522c5d64a98" /><Relationship Type="http://schemas.openxmlformats.org/officeDocument/2006/relationships/slide" Target="/ppt/slides/slide18.xml" Id="R2e1580cef6714752" /><Relationship Type="http://schemas.openxmlformats.org/officeDocument/2006/relationships/slide" Target="/ppt/slides/slide19.xml" Id="R42ff4935248e484c" /><Relationship Type="http://schemas.openxmlformats.org/officeDocument/2006/relationships/slide" Target="/ppt/slides/slide20.xml" Id="Rd573ca2bb95f4e90" /><Relationship Type="http://schemas.openxmlformats.org/officeDocument/2006/relationships/slide" Target="/ppt/slides/slide21.xml" Id="Rfdbdb4eeaa484b0a" /><Relationship Type="http://schemas.openxmlformats.org/officeDocument/2006/relationships/slide" Target="/ppt/slides/slide22.xml" Id="Rd3532252c9e54fed" /><Relationship Type="http://schemas.openxmlformats.org/officeDocument/2006/relationships/slide" Target="/ppt/slides/slide23.xml" Id="R5fdc6e71f15b4513" /><Relationship Type="http://schemas.openxmlformats.org/officeDocument/2006/relationships/slide" Target="/ppt/slides/slide24.xml" Id="Re395d8b44b8945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210c1334424f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eea9445bb4216" /><Relationship Type="http://schemas.openxmlformats.org/officeDocument/2006/relationships/notesMaster" Target="/ppt/notesMasters/notesMaster1.xml" Id="Rd6aa52511490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2a782dff874cd5" /><Relationship Type="http://schemas.openxmlformats.org/officeDocument/2006/relationships/notesMaster" Target="/ppt/notesMasters/notesMaster1.xml" Id="R9c6ed8b31c88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bc3d77d4ff4129" /><Relationship Type="http://schemas.openxmlformats.org/officeDocument/2006/relationships/notesMaster" Target="/ppt/notesMasters/notesMaster1.xml" Id="Rb30f84353d394c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99ceb79bb84e35" /><Relationship Type="http://schemas.openxmlformats.org/officeDocument/2006/relationships/notesMaster" Target="/ppt/notesMasters/notesMaster1.xml" Id="Rce1a122ebdd542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586e8f0bd4fe0" /><Relationship Type="http://schemas.openxmlformats.org/officeDocument/2006/relationships/notesMaster" Target="/ppt/notesMasters/notesMaster1.xml" Id="Re260fba4652747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698c7363a84a21" /><Relationship Type="http://schemas.openxmlformats.org/officeDocument/2006/relationships/notesMaster" Target="/ppt/notesMasters/notesMaster1.xml" Id="Rc4c212265edc4f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e1c321ae0d4868" /><Relationship Type="http://schemas.openxmlformats.org/officeDocument/2006/relationships/notesMaster" Target="/ppt/notesMasters/notesMaster1.xml" Id="R93a1249731f140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68b39d5de6494f" /><Relationship Type="http://schemas.openxmlformats.org/officeDocument/2006/relationships/notesMaster" Target="/ppt/notesMasters/notesMaster1.xml" Id="R459aab16cd7c49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a931b62908470d" /><Relationship Type="http://schemas.openxmlformats.org/officeDocument/2006/relationships/notesMaster" Target="/ppt/notesMasters/notesMaster1.xml" Id="R13404f8a7ea64f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be75c5d93b4853" /><Relationship Type="http://schemas.openxmlformats.org/officeDocument/2006/relationships/notesMaster" Target="/ppt/notesMasters/notesMaster1.xml" Id="Rcbe7b66b894c4c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2f4743cca440f3" /><Relationship Type="http://schemas.openxmlformats.org/officeDocument/2006/relationships/notesMaster" Target="/ppt/notesMasters/notesMaster1.xml" Id="R119dcaa02c2748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85f8e2ca6348a5" /><Relationship Type="http://schemas.openxmlformats.org/officeDocument/2006/relationships/notesMaster" Target="/ppt/notesMasters/notesMaster1.xml" Id="R376fce1f228a47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ab091a5c94404" /><Relationship Type="http://schemas.openxmlformats.org/officeDocument/2006/relationships/notesMaster" Target="/ppt/notesMasters/notesMaster1.xml" Id="Rbc50d14eaf424b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86ece9681b4b72" /><Relationship Type="http://schemas.openxmlformats.org/officeDocument/2006/relationships/notesMaster" Target="/ppt/notesMasters/notesMaster1.xml" Id="R9e84ebb8b69d48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6de8f2cbc94703" /><Relationship Type="http://schemas.openxmlformats.org/officeDocument/2006/relationships/notesMaster" Target="/ppt/notesMasters/notesMaster1.xml" Id="R2ec4fc5405bf4e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975628476e4777" /><Relationship Type="http://schemas.openxmlformats.org/officeDocument/2006/relationships/notesMaster" Target="/ppt/notesMasters/notesMaster1.xml" Id="R6f96344763d14d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1521b02f174433" /><Relationship Type="http://schemas.openxmlformats.org/officeDocument/2006/relationships/notesMaster" Target="/ppt/notesMasters/notesMaster1.xml" Id="R744d51d467834a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c386ddbe794d91" /><Relationship Type="http://schemas.openxmlformats.org/officeDocument/2006/relationships/notesMaster" Target="/ppt/notesMasters/notesMaster1.xml" Id="R37fd112da81c4d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fdf5a188a2d45b2" /><Relationship Type="http://schemas.openxmlformats.org/officeDocument/2006/relationships/notesMaster" Target="/ppt/notesMasters/notesMaster1.xml" Id="R5a46f2d3da1c4b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7dbcd3b29e4d3f" /><Relationship Type="http://schemas.openxmlformats.org/officeDocument/2006/relationships/notesMaster" Target="/ppt/notesMasters/notesMaster1.xml" Id="Rcbdce47ab3b341d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89d1406b9cc4d84" /><Relationship Type="http://schemas.openxmlformats.org/officeDocument/2006/relationships/notesMaster" Target="/ppt/notesMasters/notesMaster1.xml" Id="R74dd3138319f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4a2d6622114eb3" /><Relationship Type="http://schemas.openxmlformats.org/officeDocument/2006/relationships/notesMaster" Target="/ppt/notesMasters/notesMaster1.xml" Id="Rf10c49bb5e9f4c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cefba318e24ead" /><Relationship Type="http://schemas.openxmlformats.org/officeDocument/2006/relationships/notesMaster" Target="/ppt/notesMasters/notesMaster1.xml" Id="Rd2924fddec4948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d98699666b4eeb" /><Relationship Type="http://schemas.openxmlformats.org/officeDocument/2006/relationships/notesMaster" Target="/ppt/notesMasters/notesMaster1.xml" Id="Rdfc9e3d14dab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大家好，我是廖子頤，今天介紹台灣房屋銷售價格預測挑戰賽。想像我們拿到一筆交易，知道面積、地點和成交日期，卻不知道總價。這份專題要做的，就是利用以前有答案的成交資料，估計新交易的價格。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我會先說明怎麼判斷估價好不好，再介紹資料清理、文字轉換與模型學習，最後看完整方法的驗證結果和限制。每一步都會說明理由，讓沒有機器學習背景的人，也能跟著一筆交易理解整個流程。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預測連續的金額叫回歸。機器學習就是讓電腦從題目與答案找估價規則。面積、樓層、地點等條件叫特徵，已知總價叫標籤。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模型先估價格，和答案比較差距，再調整規則。反覆練習後保存模型，遇到未知交易時，只看條件估價。學規則叫訓練，套用保存規則叫推論。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房價同時受區位、面積和建物型態影響，很難用一條人工公式處理，所以讓模型從成交資料學習。但練習表現好還不夠，必須用沒參與學習的交易檢查。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怎麼知道估得好不好？比賽看平均絕對誤差，英文叫ＭＡＥ。我們算一個教學例子：兩間房的真價都是一千萬元，第一間估一千一百萬，多估一百萬。第二間估九百五十萬，少估五十萬。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只看差距大小，把一百萬和五十萬加起來，除以兩筆，得到七十五萬元。為什麼取絕對值？因為多估和少估都是誤差，不能互相抵銷。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分數越低，這批交易的平均金額差距越小。七十五萬元不是答對的百分比，也不是每筆都差七十五萬。後面讀分數，都要先看是哪一批交易，再看平均差多少錢。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四份資料用途不同。訓練檔約四十五萬六千列，有房屋條件與價格答案。驗證檔約一萬二千列，也有答案，最後完整訓練時才加入。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測試檔四萬七千零七十三筆，沒有價格答案，要全部估出來。提交範本只規定欄位與編號順序，示範價格不能拿來學。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平台把測試檔約三成用於公開分數，叫Public，其餘約七成算隱藏分數，叫Private。三比七分的是測試檔，和有答案的驗證檔用途不同。隱藏部分的答案仍不知道。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以資料用途取代只念檔名，明確區分課程valid與平台test分割。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資料整理先處理兩個明確問題。原始訓練檔混入三列英文欄名，程式同時確認編號欄是英文的序號，總價欄是英文的總價名稱，才把它辨識為表頭。不是看到英文就刪。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再比較除了編號以外的全部原始欄位，成交總價也要一起比較。全部相同才算完全重複，只留第一次，共移除五百二十九列。相同建案或面積並不夠，日期或價格不同仍可能是另一筆交易。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最後合併有答案的驗證檔，再移除二十八筆跨檔重複，得到四十六萬七千二百二十一筆。這樣避免同一紀錄反覆影響模型。測試檔則完整保留。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先呈現整體順序，讓後面的技術各自有位置，並說明資料正確、評分和交付檢查的不同用途。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格式一致，模型才知道哪些內容可以比較。數字先去除逗號，轉成可運算的數值。民國一百一十二年八月十一日，換成西元二〇二三年八月十一日，再拆出年、月和季等時間線索。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樓層把十二層解析成十二，地下二層解析成負二，另保留地下室或整棟標記。地址將台字統一成臺字，再拆縣市、行政區與道路。交易筆棟數拆成土地、建物、車位數量。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空白和無法解析的內容，保留缺失或異常標記。需要從資料估計的填補值、尺度和類別編碼，只由訓練資料建立，再沿用到驗證與測試，避免後面的資料影響學習規則。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用具體刪除對象說明清理的目的，保留完整去重定義與test全量責任。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整理房屋線索叫特徵工程。模型要看的是交易條件，例如面積、用途、樓層、區位和時間。答案則是成交總價，必須另外保存，不能放進輸入。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欄位不是越多越好。編號只用來對齊答案。完整備註可能含價格文字，解約資訊可能在交易後才產生，所以不直接輸入。備註只保留有限的條件標記。建築完成年月不可用，不能硬算屋齡，管理組織全相同也排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基礎特徵共有八十七欄，部分模型再加入八欄不含價格的道路地理資訊，共九十五欄，其中二十三欄是類別。道路代表點只提供大致位置，不等於精確門牌。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介紹特徵的含義和實際轉換，並解釋不可用、無變化、可能洩漏欄位為何不納入。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房價會隨時間改變，因此採時間回測。每個起點只用那天以前的交易學習，再預測後面一年的價格。主要檢查三個八月起點，另外補一個二月起點，看結果是否只適合某個日期。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這個界線不只管模型。文字編碼、參考單價、成交參考和空間狀態，凡是從資料建立的部分，都要用當期訓練資料重建。不能拿後期模型回頭測較早市場，否則後面的資訊可能流入，形成資料洩漏。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這些期間已反覆用來研究，而且彼此有重疊。它們能檢查歷史穩定性，卻不是四次獨立盲測。後面看到三期改善，也不能把它當成隱藏分數的勝率。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這次使用兩類模型。樹模型依條件逐步判斷，例如面積在哪個範圍、房子在哪個地區。條件門檻由資料學習，許多小樹再逐步修正誤差。工具叫CatBoost和LightGBM。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神經網路則把數值與分類資訊轉成可學習的數字表示，經過多層計算，學習不同條件一起出現時價格怎麼變。建案的數字表示也會隨訓練調整，不是人工指定等級。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兩種學法有機會互補，但模型更多不保證更準，必須看完整組合的驗證結果。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用條件判斷和數字表示教模型直覺，避免只念模型名稱、架構和參數。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價格有三種學法：直接學總價。或總價除以有效面積，先學每平方公尺單價，估完再乘回面積。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為什麼加面積權重？假設兩間房分別五十和一百平方公尺，單價都估錯一萬元，總價就錯五十萬和一百萬。如果把兩個單價誤差看得一樣重，就沒反映比賽關心的總價差距。因此面積越大，單價誤差在學習中的分量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有效面積依固定規則選取：建物面積不可用時改用車位面積，再沒有才用一。第三種是對數，把大金額壓縮，提供另一個學習角度。訓練看的是對數尺度誤差。最後都要換回總價元，才能組合和評分。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近期成交可能更接近目前市場，所以特定模型讓近期資料對學習有較大影響，這個影響大小叫權重。它改變的是誤差有多重要，不是直接修改房價。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先看比例：最近成交算一，一年前零點五，兩年前零點二五。每過三百六十五天，較早交易的相對權重減半，叫半衰期。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合法日期再除以權重平均值，統一尺度，無效日期給一。單價樹模型另乘面積權重，先驗神經網路也使用保存的日期權重，其餘模型各有設定。不能說全部模型都加同一套權重。舊資料仍參與學習，只是單筆誤差的影響不同，效果還要用後面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參考單價，也叫價格先驗，是先整理這類地點與房屋大約多少錢一平方公尺，再讓神經網路學調整倍率。查表依據是地區、交易類型和建物類型，資料不足就逐層放寬，最後用整體參考。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案用來分組，不是這張先驗表的查詢鍵。訓練交易按建案分五組，每組只用其他四組建立自己的參考價，避免把本建案的答案放回自己的線索。這叫分組折外處理，但它不是按日期分折。新的待預測交易，則使用當期全部訓練資料建立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這支網路採日期加權的平滑絕對損失，差距在十萬元內時調整較平順。固定訓練三十輪，不依驗證最低點挑輪數。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所有模型先換回總價元。第一路以單價CatBoost為主，第二路先平均兩個神經網路，第三路先平均直接總價與對數總價兩個樹模型。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每一路再加入同一個LightGBM的總價預測，主要部分占七成五，共同模型占兩成五。合起來共四個樹模型、兩個神經網路。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教學假設中，主要部分估一千萬，共同模型估一千兩百萬，加權後就是一千零五十萬。這只是初估，還要分別修正，再取中位數。固定比例沒有證明最佳，三路共用一個模型，也不是完全獨立的估價者。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三條分支各自做兩步修正，補充模型整體關係沒掌握的建案或街區差異。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第一步，找訓練資料裡同建案、同地址或同道路的可比成交，配合訓練資料估出的時間趨勢，調整初估。第二步，成交參考較弱時，用粗略道路位置附近的歷史資訊補充，並檢查城市、建物型態和用途是否相容。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叫空間修正，同時讀原本初估和第一步的修正結果，依支持條件決定採用多少，資訊不足就回退。價格參考只使用當期訓練資料。道路位置也不等於門牌。三支各自完成後，仍有三個總價，下一步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三個總價由小到大排序，取中間那個，叫中位數。教學例子中，三支修正後估一千萬、一千一百萬和一千六百萬元，就採用一千一百萬元。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平均容易被單一極端值往上拉，中位數能減少這種影響。但如果高估價剛好正確，中位數也可能捨掉有用資訊。三條一起低估時，取中間仍會低估。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所以它沒有每次更好的保證。順序是先換回總價，各支完成成交與空間修正，最後才取中位數。此時已是總價，不能再乘一次面積。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這張表評分的是完整三分支中位數方法。比較基準的參考單價網路使用日期加權絕對誤差，此方法改用日期加權平滑損失，其餘設定固定。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最早年度比基準多錯約八百八十四元，中間年度少錯約一千四百一十六元，最近年度少錯約一千五百二十六元。額外二月起點也少錯約三百零三元。負差表示改善，正差表示退步。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列是不同市場與交易組成，不能把四個分數畫成同一模型越練越好的曲線。改善幅度都很小，而且基準使用保存預測，沒有同期配對重訓，所以還不能把差異全歸因於損失函數。接著還要看分群和不支持這個方法的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如實呈現三期數值與不同集合口徑，不把跨年度差異說成同一批資料上的進步。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最近年度整體平均稍微變好，不代表所有交易都變好。既有建案的平均誤差增加約兩百一十三元，新建案則減少約兩千八百四十二元。最早年度也退步，因此原本要求跨期一致改善的強推薦條件沒有通過。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另一個對照方法更提醒我們：它的主要離線窗口整體較好，公開分數卻是兩百零八點三〇萬元，比基準更差。歷史表現較好，不能直接推出未知資料也較好。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最近年度按建案重抽樣的差值區間，從改善約三千五百九十五元，到退步約五百二十三元，跨過零。這只衡量既有預測的不確定性，沒有包含重新訓練和選型偏差，更不是隱藏分數的勝率。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將平台數字翻譯成生活可理解的平均金額差，清楚區分Public證據與未知Private。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目前方法的公開平均絕對誤差約一百九十九點五八萬元。精確值是畫面上的一百九十九萬五千八百三十六點二一三六元，來自提交者文字回報，沒有新截圖。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相對基準少約兩千七百三十二元，約降低百分之零點一三七，屬於小幅變化。公開部分只涵蓋約三成測試交易，其餘七成的隱藏分數仍然未知。公開與歷史驗證用的是不同交易，不能直接比較兩邊誰比較低。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窗口反覆使用、單一亂數種子和粗略道路位置，都限制我們能下的結論。多模型和中位數也可能一起估錯。因此這份專題保留不利證據，將目前成果理解為有限的改善，沒有宣稱未來一定更準。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以已知反證、地理精度與分支共同偏誤說明限制，不宣稱流程保證泛化。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這張是固定設定另跑一次的單一神經網路診斷，不是原提交模型當時的軌跡，也不是完整融合。用二〇二三年八月以前資料訓練，後一年交易驗證。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藍線是訓練誤差，橘線是時間驗證誤差，越低越好。每輪關閉隨機丟棄，用完整資料計算不加權總價誤差。最後一輪約七十一點五與一百七十七點七一萬元，驗證後段波動趨平，仍不能證明沒有過擬合。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完成三十輪並封存後才讀驗證答案，沒有依最低點挑輪數。模型大小全程固定，輪數不是模型容量或ＶＣ維度。訓練先驗來自其他建案組，驗證先驗來自全部訓練資料，兩線差距也受到這個差異與時間組成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先封存固定輪數，再讀驗證標籤，觀察學習過程但不以曲線選 epoch。原生 NN 診斷與完整中位數年度回測分開。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方法確認後，最終使用四十六萬七千二百二十一筆有答案資料，只新增一次參考單價神經網路訓練。其餘五個模型沿用保存的預測向量，沒有宣稱全部重新訓練或重新原生推論。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替換新的網路分量後，完成分支修正與中位數，最後才取整，輸出四萬七千零七十三筆。兩欄是編號與總價元，必須核對列數、順序、整數和檔案雜湊，避免預測對到錯誤房屋。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新網路已重新載入，全部待預測輸出核對一致。程式、模型與發行證據都保存，能追查這次價格如何形成。但乾淨環境從原始資料完成六模型全部重訓與推論，仍未驗證。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明確區分最終fit、保存模型推論及從零重訓，交代真實完成範圍與可追查程式入口。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回到最初問題，只有房屋條件怎麼估總價？先排除混入表頭與完全重複，把數字、日期、樓層和地址整理成一致線索。從以前有答案的交易學習，再用較晚交易檢查誤差。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不同模型分別學總價、單價與對數。面積權重對齊總價差距，日期權重提高近期成交影響，參考單價網路使用平滑損失。六模型形成三分支，各自修正後逐筆取中位數。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完整方法的歷史改善很小，也有退步與反例。公開平均誤差約一百九十九點五八萬元，隱藏分數仍未知。以上是這次資料整理、模型設計與驗證的完整流程，謝謝大家。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回扣任務、方法和證據邊界，用觀眾已學會的概念收束，不引入內部版本競賽。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供問答核對。所有模型符號都代表已換回新臺幣元的總價。兩個神經網路先平均，直接總價和對數總價模型也先平均。每路主要部分占四分之三，共同的單價樹模型占四分之一。各路先做成交參考，再把原初估和成交修正結果一起交給空間修正。最後每筆交易取三路中位數，不再乘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保留精確係數供技術提問，但不要求主講聽眾記住全部符號。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提供參數核對。參考單價網路有三個隱藏層，固定三十輪，種子四十二，採日期加權平滑損失，十萬元為轉折。基準只改用日期加權絕對誤差，但本次沒有同期配對重訓基準，因此不能完全分離損失效果和訓練變異。其他模型仍使用各自的設定，沒有把六模型全改成同一種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提供可查的實作入口與主要設定，讓參數離開主講並保留研究可追溯性。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徵是房屋條件，標籤是已知總價。訓練利用有答案的資料調整規則，推論則套用保存規則。先驗是訓練成交整理出的參考基準。分組折外處理，讓某組只使用其他組的標籤建立參考。中位數是排序後的中間值。過擬合表示太貼合練習資料的細節，換成新交易可能失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讓零基礎聽眾能從動作找回概念，供閱讀與問答查詞。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9cc1bbd4943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2c6fa5b7841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c2683dcae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3bebd8e2d4a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07a3e8c934e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e4fe5857d44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51ED2F-A647-4219-A412-7A8EBDD51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A8F9B84-2738-492E-8D3A-B7C51F6894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36C4F5-5D3D-47BD-8C6F-0FFF49D12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3CADFA-5979-4C16-A30F-119A74C06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5D6E5F-88E4-46BC-9EA5-A0D4A01C58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F56C6E-94A9-4294-9F2D-B6061D903E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8ADB77-0937-40F8-98DB-E5941F291B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95C28D-DB4E-41B1-BBE1-5956EFC17D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C5640-EF6E-4B16-A737-26E084C23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536190-57E2-4C9C-98F1-D39C46AB8B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15a9e4af754793" /><Relationship Type="http://schemas.openxmlformats.org/officeDocument/2006/relationships/slideLayout" Target="/ppt/slideLayouts/slideLayout1.xml" Id="R170991f6298d4930" /><Relationship Type="http://schemas.openxmlformats.org/officeDocument/2006/relationships/slideLayout" Target="/ppt/slideLayouts/slideLayout2.xml" Id="R21edbbdb79784dbd" /><Relationship Type="http://schemas.openxmlformats.org/officeDocument/2006/relationships/slideLayout" Target="/ppt/slideLayouts/slideLayout3.xml" Id="Ra7b471ce9ee7444a" /><Relationship Type="http://schemas.openxmlformats.org/officeDocument/2006/relationships/slideLayout" Target="/ppt/slideLayouts/slideLayout4.xml" Id="R4888347722f443ec" /><Relationship Type="http://schemas.openxmlformats.org/officeDocument/2006/relationships/slideLayout" Target="/ppt/slideLayouts/slideLayout5.xml" Id="R183e80b524c44b25" /><Relationship Type="http://schemas.openxmlformats.org/officeDocument/2006/relationships/slideLayout" Target="/ppt/slideLayouts/slideLayout6.xml" Id="R87abebe7644a45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991f6298d4930"/>
    <p:sldLayoutId xmlns:r="http://schemas.openxmlformats.org/officeDocument/2006/relationships" id="2147483650" r:id="R21edbbdb79784dbd"/>
    <p:sldLayoutId xmlns:r="http://schemas.openxmlformats.org/officeDocument/2006/relationships" id="2147483651" r:id="Ra7b471ce9ee7444a"/>
    <p:sldLayoutId xmlns:r="http://schemas.openxmlformats.org/officeDocument/2006/relationships" id="2147483652" r:id="R4888347722f443ec"/>
    <p:sldLayoutId xmlns:r="http://schemas.openxmlformats.org/officeDocument/2006/relationships" id="2147483653" r:id="R183e80b524c44b25"/>
    <p:sldLayoutId xmlns:r="http://schemas.openxmlformats.org/officeDocument/2006/relationships" id="2147483654" r:id="R87abebe7644a45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35a751020433b" /><Relationship Type="http://schemas.openxmlformats.org/officeDocument/2006/relationships/notesSlide" Target="/ppt/notesSlides/notesSlide1.xml" Id="R69c851d6a62b4d87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d6aefd88469424d"/><Relationship Type="http://schemas.openxmlformats.org/officeDocument/2006/relationships/notesSlide" Target="/ppt/notesSlides/notesSlide2.xml" Id="Rf40aa1f978034ea4"/><Relationship Id="rId1" Type="http://schemas.openxmlformats.org/officeDocument/2006/relationships/image" Target="../media/house_illustration.png"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5e5f653d143a8" /><Relationship Type="http://schemas.openxmlformats.org/officeDocument/2006/relationships/notesSlide" Target="/ppt/notesSlides/notesSlide3.xml" Id="Rada19e31a85d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77a28d52814f0e" /><Relationship Type="http://schemas.openxmlformats.org/officeDocument/2006/relationships/notesSlide" Target="/ppt/notesSlides/notesSlide4.xml" Id="Ra4aec09901b048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875fc5d8714aa9" /><Relationship Type="http://schemas.openxmlformats.org/officeDocument/2006/relationships/notesSlide" Target="/ppt/notesSlides/notesSlide5.xml" Id="R3271f1da19754e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0504c02004a63" /><Relationship Type="http://schemas.openxmlformats.org/officeDocument/2006/relationships/notesSlide" Target="/ppt/notesSlides/notesSlide6.xml" Id="Rb88dfa58b72c4a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33b23f1074965" /><Relationship Type="http://schemas.openxmlformats.org/officeDocument/2006/relationships/notesSlide" Target="/ppt/notesSlides/notesSlide7.xml" Id="Rf2610103df324f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ed222d16f4122" /><Relationship Type="http://schemas.openxmlformats.org/officeDocument/2006/relationships/notesSlide" Target="/ppt/notesSlides/notesSlide8.xml" Id="Rba5bdfc1ff1d4f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c22de5c3de4cbc" /><Relationship Type="http://schemas.openxmlformats.org/officeDocument/2006/relationships/notesSlide" Target="/ppt/notesSlides/notesSlide9.xml" Id="R65f58c907b3e47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7619997bd4d68" /><Relationship Type="http://schemas.openxmlformats.org/officeDocument/2006/relationships/chart" Target="/ppt/slides/charts/chart1.xml" Id="R783f73d529c64a76" /><Relationship Type="http://schemas.openxmlformats.org/officeDocument/2006/relationships/notesSlide" Target="/ppt/notesSlides/notesSlide10.xml" Id="R7bd8247a38144e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4636739a204e0a" /><Relationship Type="http://schemas.openxmlformats.org/officeDocument/2006/relationships/chart" Target="/ppt/slides/charts/chart2.xml" Id="Rd7276bc118d04774" /><Relationship Type="http://schemas.openxmlformats.org/officeDocument/2006/relationships/notesSlide" Target="/ppt/notesSlides/notesSlide11.xml" Id="R831deca506f3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d08af7191456d" /><Relationship Type="http://schemas.openxmlformats.org/officeDocument/2006/relationships/notesSlide" Target="/ppt/notesSlides/notesSlide12.xml" Id="R342b1c0f8c4541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dc9d89f34749e3" /><Relationship Type="http://schemas.openxmlformats.org/officeDocument/2006/relationships/notesSlide" Target="/ppt/notesSlides/notesSlide13.xml" Id="R2f7f1c82519248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812c8544bb470d" /><Relationship Type="http://schemas.openxmlformats.org/officeDocument/2006/relationships/notesSlide" Target="/ppt/notesSlides/notesSlide14.xml" Id="R979a2590743645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a6c18b21aa4c34" /><Relationship Type="http://schemas.openxmlformats.org/officeDocument/2006/relationships/notesSlide" Target="/ppt/notesSlides/notesSlide15.xml" Id="Rfaabcc0a0c5240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cf6e31e2345a0" /><Relationship Type="http://schemas.openxmlformats.org/officeDocument/2006/relationships/notesSlide" Target="/ppt/notesSlides/notesSlide16.xml" Id="R3de516ca32a54d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6f9efeb28249aa" /><Relationship Type="http://schemas.openxmlformats.org/officeDocument/2006/relationships/notesSlide" Target="/ppt/notesSlides/notesSlide17.xml" Id="R6e9a7bb938f64d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965a09782a48f2" /><Relationship Type="http://schemas.openxmlformats.org/officeDocument/2006/relationships/notesSlide" Target="/ppt/notesSlides/notesSlide18.xml" Id="R76002999f9b04a5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9c6eded0142e8" /><Relationship Type="http://schemas.openxmlformats.org/officeDocument/2006/relationships/chart" Target="/ppt/slides/charts/chart3.xml" Id="R929a2357e59f4ef0" /><Relationship Type="http://schemas.openxmlformats.org/officeDocument/2006/relationships/notesSlide" Target="/ppt/notesSlides/notesSlide19.xml" Id="Rdb3e38e5e8fc46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44010fd0c4d59" /><Relationship Type="http://schemas.openxmlformats.org/officeDocument/2006/relationships/notesSlide" Target="/ppt/notesSlides/notesSlide20.xml" Id="Re01d6a6555ac4a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c3665791d4ebe" /><Relationship Type="http://schemas.openxmlformats.org/officeDocument/2006/relationships/notesSlide" Target="/ppt/notesSlides/notesSlide21.xml" Id="R9ff1d7fee37844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b446b786b4aee" /><Relationship Type="http://schemas.openxmlformats.org/officeDocument/2006/relationships/notesSlide" Target="/ppt/notesSlides/notesSlide22.xml" Id="R51ec93e675f942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8fa7d54b664e54" /><Relationship Type="http://schemas.openxmlformats.org/officeDocument/2006/relationships/notesSlide" Target="/ppt/notesSlides/notesSlide23.xml" Id="R64df3232a1484c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fb6060b3547d7" /><Relationship Type="http://schemas.openxmlformats.org/officeDocument/2006/relationships/notesSlide" Target="/ppt/notesSlides/notesSlide24.xml" Id="R2a42bc2138fd42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訓練資料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時間驗證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8BA7D5-9043-43F6-B3EF-C33191A1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1EB712-298B-40CF-8D1A-1B9CE2AD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1448272-1AA9-43D9-9CBA-CB635C7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35392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976346-DE33-49BE-85F6-F6FFA987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AAF367-67F5-470D-8156-E31FC5E7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1FF1F3D-B436-4A88-AB1D-A3F7071F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CC70A98-218E-4634-9BB5-0214B7E8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319D320-3126-45E7-8842-D443A85D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BCEFA7F-1B39-4AE8-B066-783E08D0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1A85256-B828-4A18-A540-DEEF60AD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586AB3E-3FB0-4865-963D-E596F082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  <p:pic>
        <p:nvPicPr>
          <p:cNvPr id="10" name="房屋示意插圖" descr="AI生成青綠色房屋示意插圖，非實際交易物件。">
            <a:extLst xmlns:a="http://schemas.openxmlformats.org/drawingml/2006/main">
              <a:ext uri="{FF2B5EF4-FFF2-40B4-BE49-F238E27FC236}">
                <a16:creationId xmlns:a16="http://schemas.microsoft.com/office/drawing/2014/main" id="{51BB0392-3582-4886-AAE1-81156571DE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1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61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4C335C-5321-42BE-957D-F4A4510D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741114F-5E6D-4B78-86EA-C7C92627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42D7D93-9C0E-41F0-BACF-AA6EAB35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4A5F9-E33F-4D63-95C0-54336E345B60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7CCC9F7-F8BE-4EF3-979E-DDA490B7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A1238C3-BC7D-4F59-8BCB-8FCCF0B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06028B9-E8AE-4B01-8F1D-D8AC99B9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11BAF79-EA5E-4788-882D-2348A13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12072B9-3C66-49F6-836A-306A8308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7726549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51357B-5674-429C-882E-EB374560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四份資料的用途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79E70A-868D-4EC5-A925-486D505B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059DB-3537-43BD-A795-813B815E50AE}"/>
              </a:ext>
            </a:extLst>
          </p:cNvPr>
          <p:cNvGraphicFramePr/>
          <p:nvPr/>
        </p:nvGraphicFramePr>
        <p:xfrm>
          <a:off xmlns:a="http://schemas.openxmlformats.org/drawingml/2006/main" x="762000" y="1781175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2095500"/>
                <a:gridCol w="2190750"/>
                <a:gridCol w="47625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原始列數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學習與歷史回測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valid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11,994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最終訓練才合併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每筆均須估價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sample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格式示例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指定編號與欄位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45FF78D-D04C-4A32-AAB6-8E3D1B6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Public／Private 約以 test 的30%／70%評分，與課程 valid 的用途不同。</a:t>
            </a:r>
          </a:p>
        </p:txBody>
      </p:sp>
    </p:spTree>
    <p:extLst>
      <p:ext uri="{BB962C8B-B14F-4D97-AF65-F5344CB8AC3E}">
        <p14:creationId xmlns:p14="http://schemas.microsoft.com/office/powerpoint/2010/main" val="5387371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572E6F-BFCD-46AC-9460-A0E223B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表頭排除與完全去重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A61123A-E2AB-4D71-94AF-55911E82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47C4E08-CE43-4265-8AA2-E4A483EC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455,787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B0DEB68-A631-49EB-8EA0-FF355560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764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原始訓練資料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7004519E-6605-48F2-9DE9-4F4BD544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455,784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A7EB74F-3E96-4475-9FF3-206B02C8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051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排除3列表頭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9854758-51E6-4B91-9EC7-DA8C34AB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455,255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F7AE002-D2A4-4711-A488-FCAEFCE8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338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移除529筆完全重複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5C658EA-E268-41B1-9705-0A33CF90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8383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最終有標籤資料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BF3D7EB-DA66-497C-8E54-2154EBE9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33650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58A12235-DFD0-47B0-8592-10A3B300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7665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加入 valid 11,994筆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再排除28筆跨檔重複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B7CA643-46F4-4C52-93FD-8B5279E6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81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表頭：serial number 與 total price NTD 同時符合</a:t>
            </a:r>
          </a:p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完全去重：比較全部原始欄位，包含總價、排除編號</a:t>
            </a:r>
          </a:p>
        </p:txBody>
      </p:sp>
    </p:spTree>
    <p:extLst>
      <p:ext uri="{BB962C8B-B14F-4D97-AF65-F5344CB8AC3E}">
        <p14:creationId xmlns:p14="http://schemas.microsoft.com/office/powerpoint/2010/main" val="16606717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310DD5-2B01-487D-90C9-6B0AE494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文字轉換的實際例子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42B392-6193-4D4C-B5BA-D6647238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6333635-2662-422B-9B03-22030BD2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382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原始文字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F9CE682-3765-4F93-9446-E985D7D5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38275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轉換結果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E6FB7A1-21E5-4D58-825B-972031FD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數值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1762638-D623-4091-9BC4-DCAF8EC2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47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1,200.5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4C80EE9-3D78-4F0C-9FD8-6570453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47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1200.5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69F03DEE-45DE-4E4D-A560-E46D9FCE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日期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A592B2F-189F-4A15-966E-60EEA31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112年8月11日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476B1D0-7C21-446A-9EDB-0509005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03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2023-08-11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FFF65D3-3F5D-41F9-92B4-8218AFB1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樓層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04C559F-F59C-47BC-B2A8-A0F591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52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十二層／地下二層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892F09CB-70F6-43F6-8A1D-B25D23A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52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12／−2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3E70C8E-B514-49BF-A2CC-BF6FE89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地址拆地區與道路，交易筆棟數拆土地、建物及車位數量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3594B1D7-D1AA-4057-B083-72B3A63C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缺失與異常標記保留。填補、尺度及類別編碼只由當期訓練資料建立。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2035290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ECFA3-B902-423F-A2CB-4F335A8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輸入特徵與排除欄位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A71FEC9-8D95-4165-AEEC-20E40AD2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3425CF0-3939-4CE9-BBE2-4A729155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模型可用的線索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A03BC77-10A5-488D-B22C-9F4CF6FF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495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面積、用途與樓層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地區、交易時間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不含價格的道路位置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5BB48AD-1FC1-4C16-A7A9-B8C62552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排除的欄位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DFB5C6E-71CB-46FD-B7A6-2080C377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717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編號與成交總價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完整備註、解約資訊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不可用日期與常數欄位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CCA15A3-5274-4784-AC30-283392D5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87 基礎欄位 + 8 地理欄位 = 95 欄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9170E4-0610-4649-9253-7576DF66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其中23欄為類別。道路代表點提供大致位置，並非精確門牌。</a:t>
            </a:r>
          </a:p>
        </p:txBody>
      </p:sp>
    </p:spTree>
    <p:extLst>
      <p:ext uri="{BB962C8B-B14F-4D97-AF65-F5344CB8AC3E}">
        <p14:creationId xmlns:p14="http://schemas.microsoft.com/office/powerpoint/2010/main" val="1988829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AE16B4-A8ED-43C2-8F73-0BB2323B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83FF9D-7DFA-4F09-9041-EE65B364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693E7-844B-4C68-8102-2F6B6DCF09EF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D4DCBF4-05BD-451F-9AA8-C9E346E8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380376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2DEA30-0153-42D3-9F80-5A7F8052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樹模型與神經網路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25A2326-8D68-4D55-9871-3DFACAEC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F0D294A-AE41-4464-A129-79433A6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EB494F-F63A-4602-8909-1804B4FD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學習條件與門檻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9744286-53EC-4409-85CB-D1D3DCD1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許多小樹逐步修正誤差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2463902-98F8-448B-B0B5-D67F4B7B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神經網路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3B4154F-5749-446C-939C-3723BE7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學習條件的共同影響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FDFA7B6-FE7A-4F96-B9E0-BC6887F4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數值與類別轉成可學習表示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經多層計算調整估價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F878109-A315-4D11-82D9-E7B391C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兩種學法可能互補。模型增加是否有效，仍以完整方法的驗證結果判斷。</a:t>
            </a:r>
          </a:p>
        </p:txBody>
      </p:sp>
    </p:spTree>
    <p:extLst>
      <p:ext uri="{BB962C8B-B14F-4D97-AF65-F5344CB8AC3E}">
        <p14:creationId xmlns:p14="http://schemas.microsoft.com/office/powerpoint/2010/main" val="1256919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468C4B-F308-4E15-A984-5AC76F8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4A92AA-D18A-41B6-8EC0-8D7910C4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31C6372-4219-461C-9427-B2740F8C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80DDBF3-5F66-48ED-BFCD-FCA039D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BA26C9E-FC05-4AA1-B8F5-132C90D5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34F04F6-DC0B-4596-BA89-D8ED01C49B69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3f73d529c64a76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BE0D105-BB73-4DB2-897B-E15EC5B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6A29670-569A-4866-899E-21440071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7727935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C058C4-18BF-4C20-9B61-C554373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39B4AB-40AD-4CFD-810A-A89570AF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741CF1F-414D-4359-8C3D-A082921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C189F2-CF3A-4D21-98E8-BB15D765CCD4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276bc118d04774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991074C-0093-44EE-BC12-53DDFC6A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57B4F3-079E-4B7A-A7AC-AE2EE1E7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39EDC2C-3DAD-4F4E-9827-410B50FB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5573E65-C087-4D40-8FAB-58F87934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21214211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FAFD0B-4F98-485D-909A-5A9C8EC4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CE9D14-5930-47B3-B694-12C34C66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B580600-4469-43D2-BB30-DF0B93FA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D7FE07E-2B2D-44EC-AAE5-8D44AD5E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B7EFE21-D8B7-426A-AD8F-7D53CD99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D641689-1D42-4DB4-872F-380328A7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01FAA5D-4BDE-4A66-8B02-3F9DE75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89D7704-841F-4FA1-BB65-1F1D194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6897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A46C00-5BD0-4CE4-99FD-C4143E35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5322E0-A420-4811-9A34-AE9EF9A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653EAE3-01D5-4A7E-A4D4-0863D547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70CC2-B9FE-4C50-A9FF-E0137C2F8E87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F64E961-BB74-4511-A795-717F2DF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771741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8EA8BC-A919-45E9-A2BA-41D49741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5BCA60A-68C4-4C3E-8725-AFABD61F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DD23523-94DC-417D-8517-D9EC4FA3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63C412C-4BA9-4A94-9006-7AE27097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AD0A2B-709B-408C-BC17-9C7B21B2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2ACD7A9-FFC0-41E0-949A-BB8B6E8D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86ED930-B4B6-4679-BB4B-504520F9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66C281-E958-47B1-A03C-08A49347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1195C9F0-E78A-4D87-A629-1FBB929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1343476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33DE1D-86E4-4EB0-84F5-09872FAE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FF490B-83E4-4D2F-B7E2-33053B53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0E78DE6-921C-46FD-B5B5-EE1C46D8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B2B5D85-A6DD-4123-8202-C8EA943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8DA33FB-923A-42C2-AEFE-0D388C7B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4B2929B-56EA-410C-BCC2-96C59500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FEBC684-1B77-43F7-9FE7-240B120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AD72C75-9395-4358-9614-361B98AB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3770CE5-BB65-4010-8B9F-DDA02CB4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9527BA4-5CFD-4D3A-819E-C53C7D77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FE1EC4A-3DFE-444D-AC88-DB64F8E2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E0A52D23-6E6A-46E5-8ADE-18ADEDF4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FF659869-99B7-4491-8E70-F4530EBE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9182997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E1D80F-E9CE-4165-8D45-D879A7F3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四個時間窗口的完整結果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2AF74A-B486-4B0A-B951-92FB4013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94180EF-2AA6-45C6-9715-8B987AE4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 MAE，單位：元，越低越好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E649A-16FB-4379-B8B9-DFA066281BA2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E42F139-2B09-4B29-A492-775108C8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差值由未取整 MAE 計算。三期改善、一期退步，且未同期配對重訓基準。</a:t>
            </a:r>
          </a:p>
        </p:txBody>
      </p:sp>
    </p:spTree>
    <p:extLst>
      <p:ext uri="{BB962C8B-B14F-4D97-AF65-F5344CB8AC3E}">
        <p14:creationId xmlns:p14="http://schemas.microsoft.com/office/powerpoint/2010/main" val="1375568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DC325-9643-4C80-8E27-5D3E38F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分群退步與不利對照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D16F13-6DCA-4D57-8418-8567D982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180C4B0-4F38-4EAE-8328-45D40817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最近年度的 MAE 差值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273C506-D2E9-4A68-B43D-10A7DBB1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此方法減基準，單位：元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C2E8-CB4D-4AD3-9A32-24F2A1FFC9B3}"/>
              </a:ext>
            </a:extLst>
          </p:cNvPr>
          <p:cNvGraphicFramePr/>
          <p:nvPr/>
        </p:nvGraphicFramePr>
        <p:xfrm>
          <a:off xmlns:a="http://schemas.openxmlformats.org/drawingml/2006/main" x="762000" y="2914650"/>
          <a:ext xmlns:a="http://schemas.openxmlformats.org/drawingml/2006/main" cx="5905500" cy="1857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2619375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群別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差值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既有建案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+213.10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−2,841.61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9DC838B-ECF8-4B05-8409-4D626833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另一對照方法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0DA046C-6271-41AB-B09C-1D462274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3842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rPr>
              <a:t>208.30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8125884-9304-49C5-A1AF-F06C9A6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 Public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DB6BDD5-5A00-4CC2-9829-B7BB31D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476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離線較好，公開成績反而退步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40AC39D-72EB-4311-A21C-C9E67C68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最早年退步，原強推薦條件未通過。重抽樣區間約[−3,595, +523]元，跨過0。</a:t>
            </a:r>
          </a:p>
        </p:txBody>
      </p:sp>
    </p:spTree>
    <p:extLst>
      <p:ext uri="{BB962C8B-B14F-4D97-AF65-F5344CB8AC3E}">
        <p14:creationId xmlns:p14="http://schemas.microsoft.com/office/powerpoint/2010/main" val="3092043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43D528-96CD-4687-B30B-6B7BF059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Public 成績與證據限制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7A48B9-2A2D-4C99-A43E-9DCAFC7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94184A9-BD82-4B59-B66E-E53ABC5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192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MAE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3605890-019B-42C2-A069-6A33ED18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05075"/>
            <a:ext cx="676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199.58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9716640-0F1A-4666-A9BD-411028E5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753FCA4-90C3-47F0-A91A-50D76780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相對基準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710B7D4-A1BB-4B07-A0D5-1574BD64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765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−0.1367%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B5041A8-0C39-41F8-9EAF-13782F5A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957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約降低2,732元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改善幅度有限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BBE81F4-6C18-4915-90FF-1F80E5A6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精確值：1,995,836.2136 元，使用者文字回報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3F31556-6A5C-4DA9-9461-4BEFE6E6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 約占test 30%。其餘約70%的 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6861293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23423D-46F3-401B-9E2C-BA8B337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實際訓練與時間驗證曲線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D6F0C96-8D6E-4DBE-8A82-BC14D5DB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1A315DC-C090-4E13-94F5-D2639041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單一參考單價神經網路，另行固定設定診斷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4FEC75D-51C7-446C-A406-45C23FE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4EBF7E1-D9BA-407C-B69B-8CE1350B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B066758-D31E-46EB-9219-4E9AABB3FB2D}"/>
              </a:ext>
            </a:extLst>
          </p:cNvPr>
          <p:cNvGraphicFramePr/>
          <p:nvPr/>
        </p:nvGraphicFramePr>
        <p:xfrm>
          <a:off xmlns:a="http://schemas.openxmlformats.org/drawingml/2006/main" x="971550" y="1809750"/>
          <a:ext xmlns:a="http://schemas.openxmlformats.org/drawingml/2006/main" cx="1045845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a2357e59f4ef0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5F2654C-5C55-4D48-90F1-BA40175E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固定30輪，兩線皆關閉 dropout 後評分。未依最低點選輪數，不能證明沒有過擬合。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8B4A0B9-D535-42BA-BC04-21F4B1C6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此圖涵蓋單一網路。Epoch為學習輪數，不代表模型容量或VC維度。</a:t>
            </a:r>
          </a:p>
        </p:txBody>
      </p:sp>
    </p:spTree>
    <p:extLst>
      <p:ext uri="{BB962C8B-B14F-4D97-AF65-F5344CB8AC3E}">
        <p14:creationId xmlns:p14="http://schemas.microsoft.com/office/powerpoint/2010/main" val="2653691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6A6DF0-81F8-4CA0-8B06-C4F1D928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最終訓練與提交檔案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0DB7E67-8282-4786-8E35-41C162A1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89F42DB-0498-4B64-BF0F-199FBFE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最終有答案資料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42CF33-8252-459D-B84C-0C496CDE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5270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41BC666-7BF5-4ADD-8F62-AE8F55E4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筆交易用於最終訓練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09EE47E-3407-45E3-A241-E13040E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未知交易估價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967A9D7-4B9D-4C3F-8FA8-F06E8A4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857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47,073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7B5B695-EE66-4581-8AD5-5823D232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筆預測完整對齊編號與順序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6206105-C4CE-4DAA-BFA2-4665BA53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新增1支參考單價 NN，其餘5模型沿用保存預測向量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6C2E304-8A04-4D3C-A8C5-2FCBB48E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新 NN 重載輸出一致。全部六模型的乾淨環境端到端重現尚未驗證。</a:t>
            </a:r>
          </a:p>
        </p:txBody>
      </p:sp>
    </p:spTree>
    <p:extLst>
      <p:ext uri="{BB962C8B-B14F-4D97-AF65-F5344CB8AC3E}">
        <p14:creationId xmlns:p14="http://schemas.microsoft.com/office/powerpoint/2010/main" val="212694648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C5FE5B-E790-441C-855D-81B716C5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20E5C4-8D72-4F24-901B-DE04ED2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131C0AB-437D-4172-B8CF-6F25C443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完整流程以未知交易的</a:t>
            </a:r>
          </a:p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總價誤差檢查估價能力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0ACD276-9504-4569-95F1-F01DA2C1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整理資料並建立價格表示，六模型組成三分支</a:t>
            </a:r>
          </a:p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各自加入成交與空間參考，再逐筆取中位數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C7DD7AD-1715-4B97-A0B0-DC822141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小幅改善，仍有跨期退步與反例</a:t>
            </a:r>
          </a:p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Private 未知，尚不能保證未來表現</a:t>
            </a:r>
          </a:p>
        </p:txBody>
      </p:sp>
    </p:spTree>
    <p:extLst>
      <p:ext uri="{BB962C8B-B14F-4D97-AF65-F5344CB8AC3E}">
        <p14:creationId xmlns:p14="http://schemas.microsoft.com/office/powerpoint/2010/main" val="17396495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EDF7B6-837F-4DDA-8306-DF6FA967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完整融合公式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CE63DB-D312-4773-99A1-F77B2A1B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7F6D472-E9F4-4BBA-8615-9607DEBF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各符號皆為已還原成元的總價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BFF2635-3060-4065-AA55-171CA201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9532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B_unit = .75*C_unit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B_nn = .75*(.5*N_area + .5*N_prior)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B_log = .75*(.5*C_raw + .5*C_log)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 + .25*L_unit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452E2CE-1C86-457E-876C-96F3A76A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N = S(B_nn, R(B_nn))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H = S(B_log, R(B_log))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EC2660F-B021-484A-A027-1E204A39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48175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276E68"/>
                </a:solidFill>
                <a:latin typeface="Consolas"/>
                <a:ea typeface="Consolas"/>
                <a:cs typeface="Consolas"/>
              </a:rPr>
              <a:t>median(N, H, U)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F9E7EB5-BCDF-4C86-9A6F-8F3321E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R為成交參考與時間趨勢，S同時讀取初估與R結果。最後取中位數，不再乘面積。</a:t>
            </a:r>
          </a:p>
        </p:txBody>
      </p:sp>
    </p:spTree>
    <p:extLst>
      <p:ext uri="{BB962C8B-B14F-4D97-AF65-F5344CB8AC3E}">
        <p14:creationId xmlns:p14="http://schemas.microsoft.com/office/powerpoint/2010/main" val="14022795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364F6-A421-4B08-AD9F-BC822619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固定訓練設定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6178F2-1990-4217-A083-46E71BBE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2962D-3D78-475F-B7D7-39AA9B3B1B07}"/>
              </a:ext>
            </a:extLst>
          </p:cNvPr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43375"/>
                <a:gridCol w="6524625"/>
              </a:tblGrid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NN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隱藏層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512、256、128，LayerNorm 與 ReLU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日期加權 SmoothL1，β = 0.1 百萬元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輪數／批次／種子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30／2,048／42，採最後一輪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dropout／category dropout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0.1／0.1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最佳化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AdamW，lr 0.001，weight decay 0.0001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E0DBDC9-B3B7-453E-9AEC-53377BBC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基準 NN 採日期加權 MAE。本次未同期配對重訓基準，其餘模型保留各自損失。</a:t>
            </a:r>
          </a:p>
        </p:txBody>
      </p:sp>
    </p:spTree>
    <p:extLst>
      <p:ext uri="{BB962C8B-B14F-4D97-AF65-F5344CB8AC3E}">
        <p14:creationId xmlns:p14="http://schemas.microsoft.com/office/powerpoint/2010/main" val="8827553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0B4D8-96E7-4AB3-A03F-EB15EFE0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名詞對照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65229A-B730-4D00-86FC-0A4A72B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A1AFBEA-0A10-4EB0-81F2-64265A6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特徵／標籤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1163937-02F0-4072-B432-12F27362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房屋條件／已知成交總價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27F1700-EA3B-4434-8744-C5AF6999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訓練／推論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1B010E1-7889-42A0-8E0F-10095AA3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學習規則／用保存規則估價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18AE309-F6F9-4D46-9EDE-3A7746C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先驗／分組 OOF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D0EC954-5EA0-4821-9F56-EB9F033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參考單價／使用其他組的標籤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C0B45D2-DAB8-4C64-9F3E-5754F2B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8B7C73A-8791-4687-A57A-AB2A838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每筆誤差在學習時的影響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494BBE61-8668-4BD9-9F34-42023BD8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過擬合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9AFDCBC-94C9-4EF7-853F-9485F12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太貼合練習資料，新交易可能失準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CF6E4ABA-29A0-4676-B69D-85E2A76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中位數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83E61782-56F6-45D2-949F-55D8F88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由小到大排序後的中間值</a:t>
            </a:r>
          </a:p>
        </p:txBody>
      </p:sp>
    </p:spTree>
    <p:extLst>
      <p:ext uri="{BB962C8B-B14F-4D97-AF65-F5344CB8AC3E}">
        <p14:creationId xmlns:p14="http://schemas.microsoft.com/office/powerpoint/2010/main" val="786082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2026-10-12T05:49:18.2170000Z</dcterms:created>
  <dcterms:modified xsi:type="dcterms:W3CDTF">2026-10-12T05:49:18.2180000Z</dcterms:modified>
</coreProperties>
</file>