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3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4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5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99f23773c64dec" /><Relationship Type="http://schemas.openxmlformats.org/officeDocument/2006/relationships/extended-properties" Target="/docProps/app.xml" Id="R13a060df39a24cd5" /><Relationship Type="http://schemas.openxmlformats.org/officeDocument/2006/relationships/officeDocument" Target="/ppt/presentation.xml" Id="R2986b77e101242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87a1ad12cfd4c17"/>
  </p:sldMasterIdLst>
  <p:notesMasterIdLst>
    <p:notesMasterId xmlns:r="http://schemas.openxmlformats.org/officeDocument/2006/relationships" r:id="Rac814532deed42e4"/>
  </p:notesMasterIdLst>
  <p:sldIdLst>
    <p:sldId xmlns:r="http://schemas.openxmlformats.org/officeDocument/2006/relationships" id="256" r:id="R20544db0474c4771"/>
    <p:sldId xmlns:r="http://schemas.openxmlformats.org/officeDocument/2006/relationships" id="257" r:id="R8924b080ff144e1e"/>
    <p:sldId xmlns:r="http://schemas.openxmlformats.org/officeDocument/2006/relationships" id="258" r:id="R988e19deba1e4859"/>
    <p:sldId xmlns:r="http://schemas.openxmlformats.org/officeDocument/2006/relationships" id="259" r:id="Reb58d72c455b479c"/>
    <p:sldId xmlns:r="http://schemas.openxmlformats.org/officeDocument/2006/relationships" id="260" r:id="Rb0fa717fcc7e45de"/>
    <p:sldId xmlns:r="http://schemas.openxmlformats.org/officeDocument/2006/relationships" id="261" r:id="R85ca92b28a17437e"/>
    <p:sldId xmlns:r="http://schemas.openxmlformats.org/officeDocument/2006/relationships" id="262" r:id="R77b607eb56034ddb"/>
    <p:sldId xmlns:r="http://schemas.openxmlformats.org/officeDocument/2006/relationships" id="263" r:id="R0438dbc4bfdc4e26"/>
    <p:sldId xmlns:r="http://schemas.openxmlformats.org/officeDocument/2006/relationships" id="264" r:id="R308179905c864a4a"/>
    <p:sldId xmlns:r="http://schemas.openxmlformats.org/officeDocument/2006/relationships" id="265" r:id="R4c4edb4e8b694e15"/>
    <p:sldId xmlns:r="http://schemas.openxmlformats.org/officeDocument/2006/relationships" id="266" r:id="R29fd6876de4a427a"/>
    <p:sldId xmlns:r="http://schemas.openxmlformats.org/officeDocument/2006/relationships" id="267" r:id="Rdd0121ea250c4810"/>
    <p:sldId xmlns:r="http://schemas.openxmlformats.org/officeDocument/2006/relationships" id="268" r:id="R0c8173457bfb41db"/>
    <p:sldId xmlns:r="http://schemas.openxmlformats.org/officeDocument/2006/relationships" id="269" r:id="R6ad3dcc6c5ca44d5"/>
    <p:sldId xmlns:r="http://schemas.openxmlformats.org/officeDocument/2006/relationships" id="270" r:id="Rfa4841efb6964ab7"/>
    <p:sldId xmlns:r="http://schemas.openxmlformats.org/officeDocument/2006/relationships" id="271" r:id="R6b9e523b246f44f7"/>
    <p:sldId xmlns:r="http://schemas.openxmlformats.org/officeDocument/2006/relationships" id="272" r:id="R103cac1761834023"/>
    <p:sldId xmlns:r="http://schemas.openxmlformats.org/officeDocument/2006/relationships" id="273" r:id="R56c1a403e25241b6"/>
    <p:sldId xmlns:r="http://schemas.openxmlformats.org/officeDocument/2006/relationships" id="274" r:id="Rc57f844a0ebe4554"/>
    <p:sldId xmlns:r="http://schemas.openxmlformats.org/officeDocument/2006/relationships" id="275" r:id="Re725f9f03899423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e0935e7ef74385" /><Relationship Type="http://schemas.openxmlformats.org/officeDocument/2006/relationships/slideMaster" Target="/ppt/slideMasters/slideMaster1.xml" Id="R287a1ad12cfd4c17" /><Relationship Type="http://schemas.openxmlformats.org/officeDocument/2006/relationships/notesMaster" Target="/ppt/notesMasters/notesMaster1.xml" Id="Rac814532deed42e4" /><Relationship Type="http://schemas.openxmlformats.org/officeDocument/2006/relationships/presProps" Target="/ppt/presProps.xml" Id="R34f5393beb0841f7" /><Relationship Type="http://schemas.openxmlformats.org/officeDocument/2006/relationships/tableStyles" Target="/ppt/tableStyles.xml" Id="R97bcd3b2ed634135" /><Relationship Type="http://schemas.openxmlformats.org/officeDocument/2006/relationships/slide" Target="/ppt/slides/slide1.xml" Id="R20544db0474c4771" /><Relationship Type="http://schemas.openxmlformats.org/officeDocument/2006/relationships/slide" Target="/ppt/slides/slide2.xml" Id="R8924b080ff144e1e" /><Relationship Type="http://schemas.openxmlformats.org/officeDocument/2006/relationships/slide" Target="/ppt/slides/slide3.xml" Id="R988e19deba1e4859" /><Relationship Type="http://schemas.openxmlformats.org/officeDocument/2006/relationships/slide" Target="/ppt/slides/slide4.xml" Id="Reb58d72c455b479c" /><Relationship Type="http://schemas.openxmlformats.org/officeDocument/2006/relationships/slide" Target="/ppt/slides/slide5.xml" Id="Rb0fa717fcc7e45de" /><Relationship Type="http://schemas.openxmlformats.org/officeDocument/2006/relationships/slide" Target="/ppt/slides/slide6.xml" Id="R85ca92b28a17437e" /><Relationship Type="http://schemas.openxmlformats.org/officeDocument/2006/relationships/slide" Target="/ppt/slides/slide7.xml" Id="R77b607eb56034ddb" /><Relationship Type="http://schemas.openxmlformats.org/officeDocument/2006/relationships/slide" Target="/ppt/slides/slide8.xml" Id="R0438dbc4bfdc4e26" /><Relationship Type="http://schemas.openxmlformats.org/officeDocument/2006/relationships/slide" Target="/ppt/slides/slide9.xml" Id="R308179905c864a4a" /><Relationship Type="http://schemas.openxmlformats.org/officeDocument/2006/relationships/slide" Target="/ppt/slides/slide10.xml" Id="R4c4edb4e8b694e15" /><Relationship Type="http://schemas.openxmlformats.org/officeDocument/2006/relationships/slide" Target="/ppt/slides/slide11.xml" Id="R29fd6876de4a427a" /><Relationship Type="http://schemas.openxmlformats.org/officeDocument/2006/relationships/slide" Target="/ppt/slides/slide12.xml" Id="Rdd0121ea250c4810" /><Relationship Type="http://schemas.openxmlformats.org/officeDocument/2006/relationships/slide" Target="/ppt/slides/slide13.xml" Id="R0c8173457bfb41db" /><Relationship Type="http://schemas.openxmlformats.org/officeDocument/2006/relationships/slide" Target="/ppt/slides/slide14.xml" Id="R6ad3dcc6c5ca44d5" /><Relationship Type="http://schemas.openxmlformats.org/officeDocument/2006/relationships/slide" Target="/ppt/slides/slide15.xml" Id="Rfa4841efb6964ab7" /><Relationship Type="http://schemas.openxmlformats.org/officeDocument/2006/relationships/slide" Target="/ppt/slides/slide16.xml" Id="R6b9e523b246f44f7" /><Relationship Type="http://schemas.openxmlformats.org/officeDocument/2006/relationships/slide" Target="/ppt/slides/slide17.xml" Id="R103cac1761834023" /><Relationship Type="http://schemas.openxmlformats.org/officeDocument/2006/relationships/slide" Target="/ppt/slides/slide18.xml" Id="R56c1a403e25241b6" /><Relationship Type="http://schemas.openxmlformats.org/officeDocument/2006/relationships/slide" Target="/ppt/slides/slide19.xml" Id="Rc57f844a0ebe4554" /><Relationship Type="http://schemas.openxmlformats.org/officeDocument/2006/relationships/slide" Target="/ppt/slides/slide20.xml" Id="Re725f9f0389942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fbefbc57e44b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2628aa4263482a" /><Relationship Type="http://schemas.openxmlformats.org/officeDocument/2006/relationships/notesMaster" Target="/ppt/notesMasters/notesMaster1.xml" Id="R19a0201cd64948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f4891d1d914f1c" /><Relationship Type="http://schemas.openxmlformats.org/officeDocument/2006/relationships/notesMaster" Target="/ppt/notesMasters/notesMaster1.xml" Id="Re761f952603846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e1e153e0034492e" /><Relationship Type="http://schemas.openxmlformats.org/officeDocument/2006/relationships/notesMaster" Target="/ppt/notesMasters/notesMaster1.xml" Id="Rb959f94aa4c44f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4ca042d3854eac" /><Relationship Type="http://schemas.openxmlformats.org/officeDocument/2006/relationships/notesMaster" Target="/ppt/notesMasters/notesMaster1.xml" Id="Rc1f25d6ccd7b4c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59f437e2dd4409" /><Relationship Type="http://schemas.openxmlformats.org/officeDocument/2006/relationships/notesMaster" Target="/ppt/notesMasters/notesMaster1.xml" Id="Rd8e7ddb3760d43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0faec32b014ce5" /><Relationship Type="http://schemas.openxmlformats.org/officeDocument/2006/relationships/notesMaster" Target="/ppt/notesMasters/notesMaster1.xml" Id="R1de5bcde782649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a71762acf4b4e5f" /><Relationship Type="http://schemas.openxmlformats.org/officeDocument/2006/relationships/notesMaster" Target="/ppt/notesMasters/notesMaster1.xml" Id="Rfd5e2b1cf21d4ac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f46d9d6dd2545e2" /><Relationship Type="http://schemas.openxmlformats.org/officeDocument/2006/relationships/notesMaster" Target="/ppt/notesMasters/notesMaster1.xml" Id="R8ccfb17799744f9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ac773094da540ab" /><Relationship Type="http://schemas.openxmlformats.org/officeDocument/2006/relationships/notesMaster" Target="/ppt/notesMasters/notesMaster1.xml" Id="Re64c3f4d43dc45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f8e391ec729401c" /><Relationship Type="http://schemas.openxmlformats.org/officeDocument/2006/relationships/notesMaster" Target="/ppt/notesMasters/notesMaster1.xml" Id="R56aa2279257046b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ce4eaa443154b5d" /><Relationship Type="http://schemas.openxmlformats.org/officeDocument/2006/relationships/notesMaster" Target="/ppt/notesMasters/notesMaster1.xml" Id="Re161a2c1cb5544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31c82a6907b4c72" /><Relationship Type="http://schemas.openxmlformats.org/officeDocument/2006/relationships/notesMaster" Target="/ppt/notesMasters/notesMaster1.xml" Id="Rc5c1bb7eb3254e3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1094eca92764067" /><Relationship Type="http://schemas.openxmlformats.org/officeDocument/2006/relationships/notesMaster" Target="/ppt/notesMasters/notesMaster1.xml" Id="Rd7fb719b327346e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71c059b1d424083" /><Relationship Type="http://schemas.openxmlformats.org/officeDocument/2006/relationships/notesMaster" Target="/ppt/notesMasters/notesMaster1.xml" Id="R888bf49e9bc747a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24cd926027e4f18" /><Relationship Type="http://schemas.openxmlformats.org/officeDocument/2006/relationships/notesMaster" Target="/ppt/notesMasters/notesMaster1.xml" Id="R8854406eb108435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b078f99048d4269" /><Relationship Type="http://schemas.openxmlformats.org/officeDocument/2006/relationships/notesMaster" Target="/ppt/notesMasters/notesMaster1.xml" Id="R78aa16e06088422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49cec77d0e54744" /><Relationship Type="http://schemas.openxmlformats.org/officeDocument/2006/relationships/notesMaster" Target="/ppt/notesMasters/notesMaster1.xml" Id="R7a4b8b5489d540a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b76e73947ae4c6f" /><Relationship Type="http://schemas.openxmlformats.org/officeDocument/2006/relationships/notesMaster" Target="/ppt/notesMasters/notesMaster1.xml" Id="R733d7171af434f4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e26ea1d95a941d0" /><Relationship Type="http://schemas.openxmlformats.org/officeDocument/2006/relationships/notesMaster" Target="/ppt/notesMasters/notesMaster1.xml" Id="Rf4e3700ec699493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a31fd5fdd8a4cd0" /><Relationship Type="http://schemas.openxmlformats.org/officeDocument/2006/relationships/notesMaster" Target="/ppt/notesMasters/notesMaster1.xml" Id="R1d36c10e28644f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大家好，我是廖子頤。這個挑戰要利用交易資料中的地點、面積、樓層與日期，預測房屋成交總價。部分資料附有答案，另一部分需要我們估價。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今天照製作順序，說明資料如何整理、模型怎麼學習、不同估價怎麼組合，以及如何檢查誤差。每一步都會交代實際操作與原因。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先定義一筆交易的輸入與輸出，讓零基礎聽眾知道整份報告要解決的問題。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製作流程分成四章。資料準備先辨認條件和答案，觀察城市樣本，整理欄位並切開時間。模型訓練說明價格目標、面積、日期與參考單價。預測整合把不同方法的估價修正，合成一筆總價。最後用曲線與完整方法結果檢查，再從大誤差案例提出改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四章依實際製作流程安排，頁碼範圍只提供導覽；未新增章節分隔頁。單一網路曲線與完整融合的分組評估分開說明。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這張方塊圖對照程式的實際工作。先讀取交易表，移除混入表頭與完全重複紀錄；接著逐欄解析，建立特徵，再依日期分出訓練和保留交易。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訓練部分建立填補、編碼、價格參考及模型狀態，保留交易只套用保存規則，不能把答案帶回學習。各模型的輸出換成總價，組成三條分支，各自做成交和空間修正，再取中位數。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真價的保留交易用來計算誤差；未知測試交易則依指定順序輸出答案。程式分成讀取、特徵、模型、組合和發行模組，逐步保存結果，便於核對。最終交付只新增訓練一支參考單價網路，其餘五個模型沿用保存預測，不是這次把全部模型從頭重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程式方塊圖將操作階段對應實際函式，區分當期fit狀態與保留交易套用。最終只新增1NN訓練、其餘保存向量，不將方法概念圖說成全六模型重訓紀錄。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src/prepare_data.py</a:t>
            </a:r>
          </a:p>
          <a:p xmlns:a="http://schemas.openxmlformats.org/drawingml/2006/main">
            <a:r>
              <a:t>src/model_common.py</a:t>
            </a:r>
          </a:p>
          <a:p xmlns:a="http://schemas.openxmlformats.org/drawingml/2006/main">
            <a:r>
              <a:t>src/house_features.py</a:t>
            </a:r>
          </a:p>
          <a:p xmlns:a="http://schemas.openxmlformats.org/drawingml/2006/main">
            <a:r>
              <a:t>src/round107_weighted_smooth_train.py</a:t>
            </a:r>
          </a:p>
          <a:p xmlns:a="http://schemas.openxmlformats.org/drawingml/2006/main">
            <a:r>
              <a:t>src/round107_final_candidate.py</a:t>
            </a:r>
          </a:p>
          <a:p xmlns:a="http://schemas.openxmlformats.org/drawingml/2006/main">
            <a:r>
              <a:t>src/round107_full_release.py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第一步分清條件和答案。地點、面積、樓層、建物類型與日期，都是估價時可用的條件，叫特徵。已知成交總價是標籤。預測連續金額，叫回歸。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我把條件放成輸入表，成交總價另外保存。訓練時先估價，和答案比較，再依差距調整規則；完成後保存規則，新交易只輸入條件，產生估價，這叫推論。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相同面積的房屋，也會因地點或成交時間不同而有不同價格，所以需要共同考慮多個條件。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先教會訓練和推論的差異，避免將模型當成上網搜尋價格或背出固定答案。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先決定怎麼比較估價。平均絕對誤差，縮寫ＭＡＥ，是每筆預測減真價後取絕對值，再求平均，單位為新臺幣元。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這裡是假例。兩間房真價都是一千萬，分別估一千一百萬與九百五十萬，誤差是一百萬和五十萬。相加除以兩筆，ＭＡＥ為七十五萬元。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高估和低估不會抵銷，數值越低越好。但這不是答對率，也不代表每間都差七十五萬。比較方法必須用同一批交易與同一金額單位。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完整算一次比只展示公式容易理解，也能預防把MAE當成百分比或有正負號的平均誤差。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介紹資料時，先看城市分布；這是模型凍結後補做的報告統計，沒有用來調參。這裡用清理後四十五萬五千二百五十五筆訓練交易，期間是二〇〇八年六月到二〇二四年八月，計算各城市筆數和總價中位數。將價格排序取中間位置，可減少極端金額對摘要的影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全資料中位總價是一千兩百一十二萬。圖中明示六個城市，臺北市是兩千九百四十五萬，新竹市是一千三百七十五萬，各有兩萬零二十三筆和九千四百九十三筆。數量不一樣，不能把每座城市看成同樣多的案例。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地區是重要線索，但總價還混合面積、房型與成交年代。這是課程交易樣本，不能推論全體住宅或現時行情，也不能拿城市中位數直接當每間房的答案。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統計僅用已核對的有標籤課程交易，揭露筆數、資料期間、城市選取與總價單位。城市總價差異混合面積、型態與時間，不能解釋為地點因果或母體行情。 全城市原標籤含舊桃園縣與5筆城市缺失，不寫成23個現行城市；圖只呈現六個明示城市，不推母體。 城市統計為模型凍結後補作的報告描述，非事前選型或調參依據。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source/city_statistics.json</a:t>
            </a:r>
          </a:p>
          <a:p xmlns:a="http://schemas.openxmlformats.org/drawingml/2006/main">
            <a:r>
              <a:t>source/analysis.json</a:t>
            </a:r>
          </a:p>
          <a:p xmlns:a="http://schemas.openxmlformats.org/drawingml/2006/main">
            <a:r>
              <a:t>src/course_gap_analysis_20261012.py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接著逐欄整理原始文字。數值去除逗號後轉成數字；日期辨認民國年月日，年份加一千九百一十一轉西元，再拆出年月季。樓層辨認中文數字與地下標記，例如十二層變成十二、地下二層變成負二，另保留地下或整棟標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地址把台字統一成臺字，依縣市、區鄉鎮市、路街與段的名稱結尾拆欄。假地址臺北市大安區和平東路一段一百號，可分成臺北市、大安區、和平東路和一段。交易筆棟數則依土地、建物、車位標籤擷取數字，例如土地一建物一車位零，變成三個數值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訓練資料先排除混入的英文表頭與完全重複紀錄，待預測資料仍保留完整列。空白或解析失敗另留標記，不假裝已知。這一步統一格式，下一步才決定模型輸入。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逐欄說明解析規則與產生欄位，讓聽眾能解釋實際如何整理原始文字，而不是只背轉換後數字。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src/prepare_data.py</a:t>
            </a:r>
          </a:p>
          <a:p xmlns:a="http://schemas.openxmlformats.org/drawingml/2006/main">
            <a:r>
              <a:t>src/model_common.py</a:t>
            </a:r>
          </a:p>
          <a:p xmlns:a="http://schemas.openxmlformats.org/drawingml/2006/main">
            <a:r>
              <a:t>src/house_features.py</a:t>
            </a:r>
          </a:p>
          <a:p xmlns:a="http://schemas.openxmlformats.org/drawingml/2006/main">
            <a:r>
              <a:t>src/round3_features.py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我選擇估價當下可取得的欄位。面積、樓層、地點、日期描述條件；總價另存答案，不能混進輸入。編號只用來對齊輸出，不能當價格線索。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完整備註可能含價格，只留有限條件標記。解約可能是事後資訊，也排除。建築完成年月不可用，不能硬算屋齡；管理組織沒有變化，無法區分房屋。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基礎特徵有八十七欄，部分模型加入八欄非價格道路資訊，共九十五欄，其中二十三欄是類別。道路代表點只是粗略位置。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神經網路的數值用訓練中位數填補、調整尺度，另留缺失旗標。類別建立代碼表，再學數字表示，代碼大小沒有等級意義。填補值、尺度和代碼只從當期訓練建立，驗證與新交易沿用。樹模型依各自設定處理數值與類別，不能說所有模型共用同一套編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以欄位用途與可取得時間說明選擇依據，區分條件、答案和輸出識別碼。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src/house_features.py</a:t>
            </a:r>
          </a:p>
          <a:p xmlns:a="http://schemas.openxmlformats.org/drawingml/2006/main">
            <a:r>
              <a:t>src/round6_geo.py</a:t>
            </a:r>
          </a:p>
          <a:p xmlns:a="http://schemas.openxmlformats.org/drawingml/2006/main">
            <a:r>
              <a:t>data_external/geography/ATTRIBUTION.md</a:t>
            </a:r>
          </a:p>
          <a:p xmlns:a="http://schemas.openxmlformats.org/drawingml/2006/main">
            <a:r>
              <a:t>src/round47_nn_encode.py</a:t>
            </a:r>
          </a:p>
          <a:p xmlns:a="http://schemas.openxmlformats.org/drawingml/2006/main">
            <a:r>
              <a:t>src/round54_numeric_encode.py</a:t>
            </a:r>
          </a:p>
          <a:p xmlns:a="http://schemas.openxmlformats.org/drawingml/2006/main">
            <a:r>
              <a:t>src/train_lightgbm.py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有答案的交易依日期切開，較早部分學習，後一年保留檢查。保留交易雖有真價，先預測完成才評分。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房價隨時間變動，隨機混合年份未必反映用過去估未來。因此使用三個八月起點和一個二月起點，日期如表格所示。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每個起點重建當期模型、填補、編碼及價格參考，只使用訓練截止以前的交易，不能拿後期模型回測。這些窗口已反覆用於開發且彼此重疊，不能當成四次獨立的新考試。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先用新舊題目教過擬合，再說明時間隔離需涵蓋所有fit狀態，並保留反覆選型限制。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outputs/round107/results.json</a:t>
            </a:r>
          </a:p>
          <a:p xmlns:a="http://schemas.openxmlformats.org/drawingml/2006/main">
            <a:r>
              <a:t>reports/round107_108_report.md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接著設定價格目標。樹模型和神經網路是學習方法，單價或總價則是價格表示，兩者要分開理解。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單價樹模型把已知總價除有效面積，得到訓練答案；新交易由條件估出單價，再乘面積。估每平方公尺二十萬、面積五十平方公尺，總價就是一千萬。未知總價沒有拿來計算輸入。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直接總價模型學總價；對數模型先壓縮金額尺度，預測後反向還原。參考單價網路先有參考價，再學調整倍率，參考單價乘面積與倍率得到總價。倍率是一點一，就是把參考總價乘一點一，並不是另一份答案。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同步驟是輸入、預測、計算損失、更新模型。單價樹比較單價誤差並搭配面積等權重，兩個網路則換成總價計算損失，對數模型比較對數誤差。參考網路使用日期加權平滑損失，較小誤差的更新較平順，較大誤差仍保留線性懲罰；其餘模型保留各自設定，不能說六模型都用同一損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樹模型逐步增加小樹修正誤差；網路反向更新參數。參考網路每批兩千零四十八筆、固定三十輪，一批更新一次。驗證時參數固定。所有輸出還原總價元，才融合與評分。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區分學習演算法與價格表示，明示單價答案的建立及預測後乘回面積；補上參考網路預測正倍率、對數反向轉換。各模型原生訓練損失不同，融合與最終評分才統一為總價元，避免重複乘面積或誤稱所有模型直接最小化總價MA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src/round19_unit_geo.py</a:t>
            </a:r>
          </a:p>
          <a:p xmlns:a="http://schemas.openxmlformats.org/drawingml/2006/main">
            <a:r>
              <a:t>src/train_lightgbm.py</a:t>
            </a:r>
          </a:p>
          <a:p xmlns:a="http://schemas.openxmlformats.org/drawingml/2006/main">
            <a:r>
              <a:t>src/round48_nn_train.py</a:t>
            </a:r>
          </a:p>
          <a:p xmlns:a="http://schemas.openxmlformats.org/drawingml/2006/main">
            <a:r>
              <a:t>src/round47_nn_train.py</a:t>
            </a:r>
          </a:p>
          <a:p xmlns:a="http://schemas.openxmlformats.org/drawingml/2006/main">
            <a:r>
              <a:t>src/round107_weighted_smooth_train.py</a:t>
            </a:r>
          </a:p>
          <a:p xmlns:a="http://schemas.openxmlformats.org/drawingml/2006/main">
            <a:r>
              <a:t>src/round12_log_geo.py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學單價還要考慮面積。這是假例：五十和一百平方公尺的房屋，單價同樣估錯一萬元，總價卻分別差五十萬和一百萬。把單價誤差看得一樣重，就沒有對齊比賽的總價誤差，所以相關模型加入面積權重。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有效面積優先用建物面積，不可用則用車位面積，再不行才用一，避免無法相除，並不表示真的一平方公尺。單價乘回面積、對數反向轉換後，才可組合；已是總價就不能再乘一次。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用同單價誤差導致不同總價誤差，解釋面積權重的必要性，並區分log原生loss與最終評估。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src/round19_unit_geo.py</a:t>
            </a:r>
          </a:p>
          <a:p xmlns:a="http://schemas.openxmlformats.org/drawingml/2006/main">
            <a:r>
              <a:t>src/round12_log_geo.py</a:t>
            </a:r>
          </a:p>
          <a:p xmlns:a="http://schemas.openxmlformats.org/drawingml/2006/main">
            <a:r>
              <a:t>src/round79_recency_unit.py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房價會隨日期改變，所以讓近期交易對學習有較大影響，這個影響程度叫權重，乘在每筆訓練損失上。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圖中是正規化前的比例。最新有效日期設為一，早三百六十五天是零點五，早七百三十天是零點二五，每早一年降為一半，稱三百六十五天半衰期。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它改變學習影響，沒有改成交價，也沒有刪舊交易。單價樹另搭配面積權重，參考單價網路採日期加權損失，其餘模型保留原設定。建立參考單價時也使用日期權重，但用途不同。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接續上一頁的面積誤差，再交代日期加權的動機，定義權重後才讀圖。一年是365天，1、0.5、0.25是正規化前原始相對比例。實際有效日期權重除以有效參考列權重平均值，無效日期給1；相對於每次reference資料中的最新有效日期計算，OOF補集各自建立anchor。日期權重在NN訓練時乘loss，在下一頁先驗建立時用於加權中位數，屬兩個不同作用。單價樹另有面積權重，不宣稱六模型都共用同一權重，也不保證加權一定改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src/round79_recency_unit.py</a:t>
            </a:r>
          </a:p>
          <a:p xmlns:a="http://schemas.openxmlformats.org/drawingml/2006/main">
            <a:r>
              <a:t>src/round60_recency_price_prior.py</a:t>
            </a:r>
          </a:p>
          <a:p xmlns:a="http://schemas.openxmlformats.org/drawingml/2006/main">
            <a:r>
              <a:t>src/round63_recency_weighted_prior_train.py</a:t>
            </a:r>
          </a:p>
          <a:p xmlns:a="http://schemas.openxmlformats.org/drawingml/2006/main">
            <a:r>
              <a:t>src/round107_weighted_smooth_train.py</a:t>
            </a:r>
          </a:p>
          <a:p xmlns:a="http://schemas.openxmlformats.org/drawingml/2006/main">
            <a:r>
              <a:t>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我用當期訓練交易，按城市、行政區、交易與建物類型建立參考單價，叫分組先驗。取加權中位單價，近期交易影響較大；同類不足三十筆，就逐層放寬條件。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假例中，二十萬元每平方公尺乘五十平方公尺，起點是一千萬；網路依條件學到倍率一點一，就得到一千一百萬。倍率由模型學習，不是逐筆指定。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訓練用參考價按建案分五組，同建案在同組，每組只參考另外四組，排除自己整組的答案。這是建案隔離，不是依年份分五段。預測新交易時，查當期完整訓練建立的參考表，不使用新交易真價。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畫面先展示參考單價及具體金額，再分開說明查表分類與訓練時隔開答案，避免把兩種分組混為一談。先驗精確查詢依序為城市＋行政區＋交易類型＋建物類型，城市＋交易類型＋建物類型，交易類型＋建物類型，交易類型，最後全域。前四層至少30筆原始reference交易；採365天日期加權中位單價，全域不受30筆門檻限制。建案不是先驗查表key，是OOF隔離分組；同組與同折的全部標籤均排除，訓練每列先驗可用同一fit範圍內較晚交易，故不是時間OOF。各時間切點的query標籤不參與先驗；query查完整當期fit。正倍率由Softplus直接輸出，並非log倍率再exp；總價＝參考單價×有效面積×倍率。NN固定30輪，日期加權SmoothL1轉折為10萬元，參考價加權中位數與NN損失加權是不同步驟。例子20萬元/m²、50m²、1.1及1100萬元皆為教學假設，未當成實際評分或真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src/round52_price_prior.py</a:t>
            </a:r>
          </a:p>
          <a:p xmlns:a="http://schemas.openxmlformats.org/drawingml/2006/main">
            <a:r>
              <a:t>src/round60_recency_price_prior.py</a:t>
            </a:r>
          </a:p>
          <a:p xmlns:a="http://schemas.openxmlformats.org/drawingml/2006/main">
            <a:r>
              <a:t>src/round47_nn_train.py</a:t>
            </a:r>
          </a:p>
          <a:p xmlns:a="http://schemas.openxmlformats.org/drawingml/2006/main">
            <a:r>
              <a:t>src/round107_weighted_smooth_train.py</a:t>
            </a:r>
          </a:p>
          <a:p xmlns:a="http://schemas.openxmlformats.org/drawingml/2006/main">
            <a:r>
              <a:t>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每個模型先換回總價，再組成三支。第一支以單價ＣａｔＢｏｏｓｔ為主，第二支平均兩個網路，第三支平均直接總價和對數模型。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每支再加入同一個ＬｉｇｈｔＧＢＭ，主要部分占七成五，共同部分占兩成五。四個樹模型加兩個網路，形成三個初估。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假例一千萬乘零點七五，加一千兩百萬乘零點二五，得到一千零五十萬，是加權平均。先核對交易順序與單位；比例沒有證明最佳，三支共用模型，也不是完全獨立。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分開解釋六模型和三分支，以同一間房的總價示例算一次75／25，再銜接後續修正。例子只說明運算，沒有證明這組比例最佳。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src/round107_final_candidate.py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三支初估各自做兩步修正。先找當期訓練中的同建案、地址或道路可比成交，配合物件條件與當期學到的時間趨勢。即使同道路，時間、用途或面積不同，也不能複製成交價。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再用粗略道路位置附近、條件相容的交易。空間修正同時讀取初估和第一步結果，依支持條件決定採用程度，參考不足就回退。道路代表點不是精確門牌，價格參考只取自當期訓練。修正完仍是三筆總價。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補足初估、成交參考和空間修正的資料流，明說每支各自處理、修正後仍是三個價格。保留當期訓練來源、支持條件及道路精度限制。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src/round2_neighborhood.py</a:t>
            </a:r>
          </a:p>
          <a:p xmlns:a="http://schemas.openxmlformats.org/drawingml/2006/main">
            <a:r>
              <a:t>src/round8_spatial_reference.py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對同一交易，把三支修正後價格排序，取中間值。假例一千萬、一千一百萬、一千六百萬，得到一千一百萬。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這能減少某一路極端值的影響，也可能擋掉正確的高估價。三路共同高估或低估，仍會錯。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最後取整一次，輸出編號與總價，核對四萬七千零七十三筆順序。全量只新增參考單價網路，其餘五個沿用保存預測；雖保存程式與證據，尚未驗證乾淨環境全部六模型從頭重訓。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用排序手算建立median直覺，保留它可能阻擋正確極端與無法消除共同偏差的限制。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src/round107_final_candidate.py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看單一網路的學習過程。較早三十二萬一千五百五十筆訓練到二〇二三年八月十日；後一年十三萬三千六百九十七筆保留驗證，日期是二〇二三年八月十一日至二〇二四年八月十日。兩批都從有答案的訓練資料切出，不是課程驗證或未知測試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橫軸是輪數，縱軸是未加權總價ＭＡＥ。藍線評訓練交易，橘線評後一年，兩線不是同一群。學習使用日期加權損失，評圖統一成不加權總價誤差。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這是按固定配方另跑一支參考單價網路。三十輪模型全封存後才讀驗證答案，逐輪重載、關閉隨機丟棄評分，沒有看最低點挑輪。它不是原提交當時的軌跡，也不是完整融合曲線。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橘線後段波動趨平，不能證明沒有過擬合，時間組成與先驗建立方式也會影響落差。輪數是學習次數，不等於模型容量或ＶＣ維度。下一頁才看完整方法。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用明確日期和資料角色定義時間驗證，區分固定設定診斷與完整融合，避免曲線選型。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reports/v25_training_curve_plan_20261010.md</a:t>
            </a:r>
          </a:p>
          <a:p xmlns:a="http://schemas.openxmlformats.org/drawingml/2006/main">
            <a:r>
              <a:t>outputs/v25_training_curve_20261010/curve.json</a:t>
            </a:r>
          </a:p>
          <a:p xmlns:a="http://schemas.openxmlformats.org/drawingml/2006/main">
            <a:r>
              <a:t>src/v25_training_curve_20261010.py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這頁換成完整融合方法的結果。較早資料學習後，先完成六模型換算、三支修正與中位數，再對最近年度十三萬三千六百九十七筆保留交易評分，整體ＭＡＥ是一百三十八點一七萬元。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我依事後已知真價，分成五個價格帶，畫各組ＭＡＥ；所有保留交易都有納入，不是抽樣圖。不到五百萬組約五十四萬，五千萬以上組則約八百二十四萬。大金額可能帶來更大的絕對差距，不能只看全體平均。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誤差最大的百分之五交易，占全部絕對誤差約百分之二十八。這說明有必要檢查尾端案例，但不能因此刪掉合法高價房，也不能把高價組一律判為資料錯誤。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價格帶只是有答案後的分析，未知測試沒有真價，不能照這些組別人工改價。這個歷史窗口已參與開發，也不是新的盲測。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完整融合的保存預測與原query資料按來源索引對齊，只描述指定歷史保留窗口。圖表抽樣與完整評分分開，保留高價樣本及抽樣／座標範圍揭露。 圖採五個半開真價價格帶的完整分組MAE，不用2500點抽樣資料，避免極端值壓縮散點圖。誤差最大的5%為6685筆，其絕對誤差貢獻28.008349%。MAE以未取整保存預測計算。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source/validation_report_summary.json</a:t>
            </a:r>
          </a:p>
          <a:p xmlns:a="http://schemas.openxmlformats.org/drawingml/2006/main">
            <a:r>
              <a:t>source/analysis.json</a:t>
            </a:r>
          </a:p>
          <a:p xmlns:a="http://schemas.openxmlformats.org/drawingml/2006/main">
            <a:r>
              <a:t>src/course_gap_analysis_20261012.py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完整結果還要拆組。我用當期訓練的城市、行政區與建案，標記既有、新建案與缺失組，各自算ＭＡＥ，另看城市、月份和價格帶。價格帶僅用有真價的離線資料分析，沒有重新分群訓練。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基準參考網路使用日期加權ＭＡＥ，其餘設定固定；我沿用它的保存預測，沒有同期配對重訓，所以差異不能全歸因於平滑損失。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最近年度，既有建案比基準增加二百一十三點一〇元，新建案減少二千八百四十一點六一元，不能說每群改善。跨年度有改善也有退步，原強推薦條件沒有通過。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一方法離線較好，公開ＭＡＥ卻約兩百零八點三〇萬元，比基準差。最近年度按建案重抽樣，差值區間負三千五百九十四點九一至正五百二十三點三五元，跨過零。它只描述保存預測，不含重訓與選型偏差，也不是隱藏分數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窗口反覆使用，Ｐｒｉｖａｔｅ未知，不能保證未來改善。接著具體檢查誤差很大的交易。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說明如何建立群別及逐群評分，完整保留不利對照、重抽樣界線與未知Private。 原跨年度數字表移出主講，完整四窗數字仍保留在既有報告、發行及比較證據。基準沿用保存預測，沒有同期配對重訓，不能把差異全歸因於平滑損失。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outputs/kaggle_feedback/public_v25_user_report_20261010.json</a:t>
            </a:r>
          </a:p>
          <a:p xmlns:a="http://schemas.openxmlformats.org/drawingml/2006/main">
            <a:r>
              <a:t>src/round3_evaluate.py</a:t>
            </a:r>
          </a:p>
          <a:p xmlns:a="http://schemas.openxmlformats.org/drawingml/2006/main">
            <a:r>
              <a:t>src/round100_temporal_prior_evaluate_v2.py</a:t>
            </a:r>
          </a:p>
          <a:p xmlns:a="http://schemas.openxmlformats.org/drawingml/2006/main">
            <a:r>
              <a:t>reports/round107_108_report.md</a:t>
            </a:r>
          </a:p>
          <a:p xmlns:a="http://schemas.openxmlformats.org/drawingml/2006/main">
            <a:r>
              <a:t>outputs/round107/results.json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這兩筆來自同一年度保留交易，都是低估。案例Ａ是新北市大型廠辦，面積約一萬九千四百一十平方公尺，當期訓練沒有同建案交易。真價二十九點九億元，估約二十八點〇三億元，相差約一點八七億元。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案例Ｂ是新北市店面，約八百三十一平方公尺。真價兩點五六億元，估約一點六三億元，相差九千三百三十萬元。訓練同建案雖有一百三十筆，卻全是住宅大樓，同型店面是零筆。這是同案盤點，不是模型實際參考筆數。現有參考已按建物類型與用途分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兩筆面積都高於當期訓練的第九十九百分位，約三百四十五平方公尺，可能較難從常見樣本估價。這是觀察支持的假設，未證明因果。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因此，Ａ先核對大面積與大量車位的解析，再固定特殊用途對照方案；Ｂ在既有分組內，檢查相近面積與車位的有效支持，以及不足時回退。不能直接把已知差額補回預測，也不因高價刪資料。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先固定改法，再用新的時間留出與多個隨機種子比較，並檢查每群是否退步。這些是待驗證改進，尚未訓練新模型、沒有改已選答案。謝謝大家。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大誤差來自保留交易真實預測，不使用未知test答案。原因以可觀察事實與待驗證假設分開；改進對應案例，沒有事後挑價或修改已選CSV。 案例A為原案例1，B為原案例4，不假稱另挑兩個最大值或涵蓋高低估兩方向。fit同建案筆數不是模型R實際可比支持量。表格萬元四捨五入為整萬元，面積顯示整平方公尺；完整精度存摘要。原案例4的fit_same_project_rows=130、fit_same_project_same_type_rows=0；type_counts只有住宅大樓130，支持同建案不等於同用途可比。 現有成交參考R與空間修正S都已按建物類型與用途分組，不由同案130住宅／0店面推論模型使用了不相容住宅。後續須核對實際reference層級、選中鄰居、相近面積／車位支持及不足時回退。原R/S的query面積範圍為15–1500平方公尺，案例A已超出，因此新增支持限制不能直接宣稱修好A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source/validation_report_summary.json：原匿名案例1、4</a:t>
            </a:r>
          </a:p>
          <a:p xmlns:a="http://schemas.openxmlformats.org/drawingml/2006/main">
            <a:r>
              <a:t>source/analysis.json</a:t>
            </a:r>
          </a:p>
          <a:p xmlns:a="http://schemas.openxmlformats.org/drawingml/2006/main">
            <a:r>
              <a:t>src/course_gap_analysis_20261012.py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b2be88c740412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b483bb366e402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740f2c02b5464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cde9328df2419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7cc42373a2495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135672a8c344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1364C2-32A6-4097-B30D-0731D8163A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AD2A8E0-45E2-47C6-B056-1E30BB04611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9632E21-0E93-437B-884D-08468E1FDA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5A5BBB-B4F8-440D-BA93-2F36696D47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E006E0C-4298-4F4B-A6F4-1B205FE36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C069FBA-DBA5-4F6C-BAF0-4E4348A28C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8FEE532-2D56-4276-AFF7-596A0C43B4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D70EE1C-BE9F-4F5C-9DD5-D6B831F1595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B1F87D1-942F-465A-A66E-49B4470C50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3ED90BB-533E-452E-A243-A45FA52FC4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ff73f13bcb402c" /><Relationship Type="http://schemas.openxmlformats.org/officeDocument/2006/relationships/slideLayout" Target="/ppt/slideLayouts/slideLayout1.xml" Id="R6e490c18083b40ea" /><Relationship Type="http://schemas.openxmlformats.org/officeDocument/2006/relationships/slideLayout" Target="/ppt/slideLayouts/slideLayout2.xml" Id="R84249aa020f74155" /><Relationship Type="http://schemas.openxmlformats.org/officeDocument/2006/relationships/slideLayout" Target="/ppt/slideLayouts/slideLayout3.xml" Id="Rd8e53e263c6a4756" /><Relationship Type="http://schemas.openxmlformats.org/officeDocument/2006/relationships/slideLayout" Target="/ppt/slideLayouts/slideLayout4.xml" Id="Rcd2fca37cacb4f66" /><Relationship Type="http://schemas.openxmlformats.org/officeDocument/2006/relationships/slideLayout" Target="/ppt/slideLayouts/slideLayout5.xml" Id="R4ef0c6f734074f3e" /><Relationship Type="http://schemas.openxmlformats.org/officeDocument/2006/relationships/slideLayout" Target="/ppt/slideLayouts/slideLayout6.xml" Id="R003996c450af46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490c18083b40ea"/>
    <p:sldLayoutId xmlns:r="http://schemas.openxmlformats.org/officeDocument/2006/relationships" id="2147483650" r:id="R84249aa020f74155"/>
    <p:sldLayoutId xmlns:r="http://schemas.openxmlformats.org/officeDocument/2006/relationships" id="2147483651" r:id="Rd8e53e263c6a4756"/>
    <p:sldLayoutId xmlns:r="http://schemas.openxmlformats.org/officeDocument/2006/relationships" id="2147483652" r:id="Rcd2fca37cacb4f66"/>
    <p:sldLayoutId xmlns:r="http://schemas.openxmlformats.org/officeDocument/2006/relationships" id="2147483653" r:id="R4ef0c6f734074f3e"/>
    <p:sldLayoutId xmlns:r="http://schemas.openxmlformats.org/officeDocument/2006/relationships" id="2147483654" r:id="R003996c450af46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aa5e56554e443a" /><Relationship Type="http://schemas.openxmlformats.org/officeDocument/2006/relationships/notesSlide" Target="/ppt/notesSlides/notesSlide1.xml" Id="R0a83465f37b340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fd572c4a854aa3" /><Relationship Type="http://schemas.openxmlformats.org/officeDocument/2006/relationships/notesSlide" Target="/ppt/notesSlides/notesSlide2.xml" Id="R5d580c3d2b194e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04becfd5534064" /><Relationship Type="http://schemas.openxmlformats.org/officeDocument/2006/relationships/notesSlide" Target="/ppt/notesSlides/notesSlide3.xml" Id="R70297d299cb54d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f498b08360499c" /><Relationship Type="http://schemas.openxmlformats.org/officeDocument/2006/relationships/image" Target="/ppt/media/image.png" Id="R3653ca8e74b74d20" /><Relationship Type="http://schemas.openxmlformats.org/officeDocument/2006/relationships/notesSlide" Target="/ppt/notesSlides/notesSlide4.xml" Id="R06bf7a3e9ae54bc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91d0c38aa54877" /><Relationship Type="http://schemas.openxmlformats.org/officeDocument/2006/relationships/notesSlide" Target="/ppt/notesSlides/notesSlide5.xml" Id="R8e34e10a43ef40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ff7daeed3f4a7e" /><Relationship Type="http://schemas.openxmlformats.org/officeDocument/2006/relationships/chart" Target="/ppt/slides/charts/chart1.xml" Id="Re0a5055752df40f2" /><Relationship Type="http://schemas.openxmlformats.org/officeDocument/2006/relationships/notesSlide" Target="/ppt/notesSlides/notesSlide6.xml" Id="Re88fa635d1484d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f555ba6820463d" /><Relationship Type="http://schemas.openxmlformats.org/officeDocument/2006/relationships/notesSlide" Target="/ppt/notesSlides/notesSlide7.xml" Id="Rdd76047abf6c47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03598e7550453f" /><Relationship Type="http://schemas.openxmlformats.org/officeDocument/2006/relationships/notesSlide" Target="/ppt/notesSlides/notesSlide8.xml" Id="R587487f80f9642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5302e75a114865" /><Relationship Type="http://schemas.openxmlformats.org/officeDocument/2006/relationships/notesSlide" Target="/ppt/notesSlides/notesSlide9.xml" Id="R22f4ab06888245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a1de282c2741b2" /><Relationship Type="http://schemas.openxmlformats.org/officeDocument/2006/relationships/notesSlide" Target="/ppt/notesSlides/notesSlide10.xml" Id="Rb154ba151755462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aa1d9db1a04e74" /><Relationship Type="http://schemas.openxmlformats.org/officeDocument/2006/relationships/chart" Target="/ppt/slides/charts/chart2.xml" Id="Rc07fa08994674ee6" /><Relationship Type="http://schemas.openxmlformats.org/officeDocument/2006/relationships/notesSlide" Target="/ppt/notesSlides/notesSlide11.xml" Id="Rd167484a38fc491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1bd7b6ffc44d31" /><Relationship Type="http://schemas.openxmlformats.org/officeDocument/2006/relationships/chart" Target="/ppt/slides/charts/chart3.xml" Id="R05a0afb60b7c4c1a" /><Relationship Type="http://schemas.openxmlformats.org/officeDocument/2006/relationships/notesSlide" Target="/ppt/notesSlides/notesSlide12.xml" Id="Rf9fc2da1ea66448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2e2daba7094528" /><Relationship Type="http://schemas.openxmlformats.org/officeDocument/2006/relationships/notesSlide" Target="/ppt/notesSlides/notesSlide13.xml" Id="R5bfb7e7090574a9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7b6d648b7c4cf8" /><Relationship Type="http://schemas.openxmlformats.org/officeDocument/2006/relationships/notesSlide" Target="/ppt/notesSlides/notesSlide14.xml" Id="Re8fe3fd23b9e456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d7a1afdce24423" /><Relationship Type="http://schemas.openxmlformats.org/officeDocument/2006/relationships/notesSlide" Target="/ppt/notesSlides/notesSlide15.xml" Id="R66dcfaa90d814d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b0d4ab598d4fb0" /><Relationship Type="http://schemas.openxmlformats.org/officeDocument/2006/relationships/notesSlide" Target="/ppt/notesSlides/notesSlide16.xml" Id="Rb73cbc0ab99640c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2addfd91ce4db3" /><Relationship Type="http://schemas.openxmlformats.org/officeDocument/2006/relationships/chart" Target="/ppt/slides/charts/chart4.xml" Id="R6971f0f2dc9546fe" /><Relationship Type="http://schemas.openxmlformats.org/officeDocument/2006/relationships/notesSlide" Target="/ppt/notesSlides/notesSlide17.xml" Id="R46e79f68994e4b7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bf786ccb5240b9" /><Relationship Type="http://schemas.openxmlformats.org/officeDocument/2006/relationships/chart" Target="/ppt/slides/charts/chart5.xml" Id="Rbc8e31786c3440cd" /><Relationship Type="http://schemas.openxmlformats.org/officeDocument/2006/relationships/notesSlide" Target="/ppt/notesSlides/notesSlide18.xml" Id="R7e430d636f924d5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2b854365134b30" /><Relationship Type="http://schemas.openxmlformats.org/officeDocument/2006/relationships/notesSlide" Target="/ppt/notesSlides/notesSlide19.xml" Id="R2bf7064146bb4f5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7a15ea5fea40cd" /><Relationship Type="http://schemas.openxmlformats.org/officeDocument/2006/relationships/notesSlide" Target="/ppt/notesSlides/notesSlide20.xml" Id="R45158e4ea18542d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Data'!$A$2:$A$7</c:f>
              <c:strCache>
                <c:ptCount val="6"/>
                <c:pt idx="0">
                  <c:v>臺北市</c:v>
                </c:pt>
                <c:pt idx="1">
                  <c:v>新北市</c:v>
                </c:pt>
                <c:pt idx="2">
                  <c:v>臺中市</c:v>
                </c:pt>
                <c:pt idx="3">
                  <c:v>桃園市</c:v>
                </c:pt>
                <c:pt idx="4">
                  <c:v>新竹市</c:v>
                </c:pt>
                <c:pt idx="5">
                  <c:v>高雄市</c:v>
                </c:pt>
              </c:strCache>
            </c:strRef>
          </c:cat>
          <c:val>
            <c:numRef>
              <c:f>'Chart Data'!$B$2:$B$7</c:f>
              <c:numCache>
                <c:formatCode>0</c:formatCode>
                <c:ptCount val="6"/>
                <c:pt idx="0">
                  <c:v>2945</c:v>
                </c:pt>
                <c:pt idx="1">
                  <c:v>1480</c:v>
                </c:pt>
                <c:pt idx="2">
                  <c:v>1280</c:v>
                </c:pt>
                <c:pt idx="3">
                  <c:v>1161</c:v>
                </c:pt>
                <c:pt idx="4">
                  <c:v>1375</c:v>
                </c:pt>
                <c:pt idx="5">
                  <c:v>1050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3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Data'!$A$2:$A$3</c:f>
              <c:strCache>
                <c:ptCount val="2"/>
                <c:pt idx="0">
                  <c:v>50 m²</c:v>
                </c:pt>
                <c:pt idx="1">
                  <c:v>100 m²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50</c:v>
                </c:pt>
                <c:pt idx="1">
                  <c:v>100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Data'!$A$2:$A$4</c:f>
              <c:strCache>
                <c:ptCount val="3"/>
                <c:pt idx="0">
                  <c:v>最新日期</c:v>
                </c:pt>
                <c:pt idx="1">
                  <c:v>早一年</c:v>
                </c:pt>
                <c:pt idx="2">
                  <c:v>早兩年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1</c:v>
                </c:pt>
                <c:pt idx="1">
                  <c:v>0.5</c:v>
                </c:pt>
                <c:pt idx="2">
                  <c:v>0.25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.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較早訓練交易</c:v>
          </c:tx>
          <c:spPr>
            <a:ln xmlns:a="http://schemas.openxmlformats.org/drawingml/2006/main" w="33338">
              <a:solidFill>
                <a:srgbClr val="315D8A"/>
              </a:solidFill>
              <a:prstDash val="solid"/>
            </a:ln>
          </c:spPr>
          <c:marker>
            <c:symbol val="none"/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Data'!$B$2:$B$31</c:f>
              <c:numCache>
                <c:formatCode>0</c:formatCode>
                <c:ptCount val="30"/>
                <c:pt idx="0">
                  <c:v>2235313.48343883</c:v>
                </c:pt>
                <c:pt idx="1">
                  <c:v>1832261.4188805</c:v>
                </c:pt>
                <c:pt idx="2">
                  <c:v>1591415.61656558</c:v>
                </c:pt>
                <c:pt idx="3">
                  <c:v>1510153.84501852</c:v>
                </c:pt>
                <c:pt idx="4">
                  <c:v>1311856.8984844</c:v>
                </c:pt>
                <c:pt idx="5">
                  <c:v>1185182.70776998</c:v>
                </c:pt>
                <c:pt idx="6">
                  <c:v>1148706.16631189</c:v>
                </c:pt>
                <c:pt idx="7">
                  <c:v>1125197.24966036</c:v>
                </c:pt>
                <c:pt idx="8">
                  <c:v>1012946.97397296</c:v>
                </c:pt>
                <c:pt idx="9">
                  <c:v>1051593.84038778</c:v>
                </c:pt>
                <c:pt idx="10">
                  <c:v>975804.995821139</c:v>
                </c:pt>
                <c:pt idx="11">
                  <c:v>925532.316399218</c:v>
                </c:pt>
                <c:pt idx="12">
                  <c:v>857222.787359282</c:v>
                </c:pt>
                <c:pt idx="13">
                  <c:v>830988.799595044</c:v>
                </c:pt>
                <c:pt idx="14">
                  <c:v>805182.482096218</c:v>
                </c:pt>
                <c:pt idx="15">
                  <c:v>842231.268894053</c:v>
                </c:pt>
                <c:pt idx="16">
                  <c:v>784054.076659313</c:v>
                </c:pt>
                <c:pt idx="17">
                  <c:v>803667.713204716</c:v>
                </c:pt>
                <c:pt idx="18">
                  <c:v>768591.063195035</c:v>
                </c:pt>
                <c:pt idx="19">
                  <c:v>765402.656387365</c:v>
                </c:pt>
                <c:pt idx="20">
                  <c:v>751954.601149785</c:v>
                </c:pt>
                <c:pt idx="21">
                  <c:v>753961.258588071</c:v>
                </c:pt>
                <c:pt idx="22">
                  <c:v>739706.724836986</c:v>
                </c:pt>
                <c:pt idx="23">
                  <c:v>728262.765757631</c:v>
                </c:pt>
                <c:pt idx="24">
                  <c:v>723131.753773548</c:v>
                </c:pt>
                <c:pt idx="25">
                  <c:v>719029.416399214</c:v>
                </c:pt>
                <c:pt idx="26">
                  <c:v>720744.088754497</c:v>
                </c:pt>
                <c:pt idx="27">
                  <c:v>715970.247165135</c:v>
                </c:pt>
                <c:pt idx="28">
                  <c:v>714630.710990997</c:v>
                </c:pt>
                <c:pt idx="29">
                  <c:v>715006.131355397</c:v>
                </c:pt>
              </c:numCache>
            </c:numRef>
          </c:yVal>
        </c:ser>
        <c:ser>
          <c:idx val="1"/>
          <c:order val="1"/>
          <c:tx>
            <c:v>後一年交易（未參與訓練）</c:v>
          </c:tx>
          <c:spPr>
            <a:ln xmlns:a="http://schemas.openxmlformats.org/drawingml/2006/main" w="33338">
              <a:solidFill>
                <a:srgbClr val="BA6548"/>
              </a:solidFill>
              <a:prstDash val="solid"/>
            </a:ln>
          </c:spPr>
          <c:marker>
            <c:symbol val="none"/>
          </c:marker>
          <c:xVal>
            <c:numRef>
              <c:f>'Chart Data'!$C$2:$C$31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Data'!$D$2:$D$31</c:f>
              <c:numCache>
                <c:formatCode>0</c:formatCode>
                <c:ptCount val="30"/>
                <c:pt idx="0">
                  <c:v>1981140.43488927</c:v>
                </c:pt>
                <c:pt idx="1">
                  <c:v>1927632.08130938</c:v>
                </c:pt>
                <c:pt idx="2">
                  <c:v>1809738.66013985</c:v>
                </c:pt>
                <c:pt idx="3">
                  <c:v>1954629.43221374</c:v>
                </c:pt>
                <c:pt idx="4">
                  <c:v>1896944.67968081</c:v>
                </c:pt>
                <c:pt idx="5">
                  <c:v>1867611.84546502</c:v>
                </c:pt>
                <c:pt idx="6">
                  <c:v>1915112.65992417</c:v>
                </c:pt>
                <c:pt idx="7">
                  <c:v>1947167.40665746</c:v>
                </c:pt>
                <c:pt idx="8">
                  <c:v>1876765.10207814</c:v>
                </c:pt>
                <c:pt idx="9">
                  <c:v>1899582.89506721</c:v>
                </c:pt>
                <c:pt idx="10">
                  <c:v>1895966.16637718</c:v>
                </c:pt>
                <c:pt idx="11">
                  <c:v>1800641.35546675</c:v>
                </c:pt>
                <c:pt idx="12">
                  <c:v>1830552.36974665</c:v>
                </c:pt>
                <c:pt idx="13">
                  <c:v>1796817.8718656</c:v>
                </c:pt>
                <c:pt idx="14">
                  <c:v>1762160.26849798</c:v>
                </c:pt>
                <c:pt idx="15">
                  <c:v>1828975.62324592</c:v>
                </c:pt>
                <c:pt idx="16">
                  <c:v>1772272.1199951</c:v>
                </c:pt>
                <c:pt idx="17">
                  <c:v>1789328.48447893</c:v>
                </c:pt>
                <c:pt idx="18">
                  <c:v>1775816.05141653</c:v>
                </c:pt>
                <c:pt idx="19">
                  <c:v>1840723.68747277</c:v>
                </c:pt>
                <c:pt idx="20">
                  <c:v>1796985.67935174</c:v>
                </c:pt>
                <c:pt idx="21">
                  <c:v>1809790.24604321</c:v>
                </c:pt>
                <c:pt idx="22">
                  <c:v>1774012.67498537</c:v>
                </c:pt>
                <c:pt idx="23">
                  <c:v>1770810.76091548</c:v>
                </c:pt>
                <c:pt idx="24">
                  <c:v>1781798.94944525</c:v>
                </c:pt>
                <c:pt idx="25">
                  <c:v>1792743.54911063</c:v>
                </c:pt>
                <c:pt idx="26">
                  <c:v>1781466.20557404</c:v>
                </c:pt>
                <c:pt idx="27">
                  <c:v>1788213.30648566</c:v>
                </c:pt>
                <c:pt idx="28">
                  <c:v>1786753.33411106</c:v>
                </c:pt>
                <c:pt idx="29">
                  <c:v>1777133.9759191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,,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majorUnit val="500000"/>
      </c:valAx>
      <c:valAx>
        <c:axId val="48650112"/>
        <c:scaling>
          <c:orientation val="minMax"/>
          <c:max val="30"/>
          <c:min val="1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3A4A4E"/>
                    </a:solidFill>
                    <a:latin typeface="Microsoft JhengHei"/>
                    <a:ea typeface="Microsoft JhengHei"/>
                    <a:cs typeface="Microsoft JhengHei"/>
                  </a:rPr>
                  <a:t>訓練輪數 Epoch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3A4A4E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  <c:majorUnit val="5"/>
      </c:valAx>
      <c:spPr>
        <a:noFill xmlns:a="http://schemas.openxmlformats.org/drawingml/2006/main"/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3A4A4E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Data'!$A$2:$A$6</c:f>
              <c:strCache>
                <c:ptCount val="5"/>
                <c:pt idx="0">
                  <c:v>未滿500</c:v>
                </c:pt>
                <c:pt idx="1">
                  <c:v>500–&lt;1000</c:v>
                </c:pt>
                <c:pt idx="2">
                  <c:v>1000–&lt;2000</c:v>
                </c:pt>
                <c:pt idx="3">
                  <c:v>2000–&lt;5000</c:v>
                </c:pt>
                <c:pt idx="4">
                  <c:v>≥5000</c:v>
                </c:pt>
              </c:strCache>
            </c:str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53.9641315391105</c:v>
                </c:pt>
                <c:pt idx="1">
                  <c:v>65.1684785651013</c:v>
                </c:pt>
                <c:pt idx="2">
                  <c:v>104.188145109873</c:v>
                </c:pt>
                <c:pt idx="3">
                  <c:v>231.955992921364</c:v>
                </c:pt>
                <c:pt idx="4">
                  <c:v>824.075533427343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F37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CC83BD7-64B3-4E74-A8AE-E277EC0C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C37157-50FE-4C07-B090-354EB727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06680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台灣房屋銷售價格</a:t>
            </a:r>
          </a:p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預測挑戰賽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1A2B2E74-BBB6-44D8-B103-4212E1D2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姓名：廖子頤</a:t>
            </a:r>
          </a:p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學號：315581048</a:t>
            </a:r>
          </a:p>
        </p:txBody>
      </p:sp>
    </p:spTree>
    <p:extLst>
      <p:ext uri="{BB962C8B-B14F-4D97-AF65-F5344CB8AC3E}">
        <p14:creationId xmlns:p14="http://schemas.microsoft.com/office/powerpoint/2010/main" val="1003323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4748381-399F-4C4A-AE4E-C6676F61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簡報大綱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CCA9482-AFAB-42EC-9133-7E32090A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9F2EF05F-03AB-4B15-9E02-1CBE7322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從資料整理到估價檢查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5B3AF50-27CD-4E3E-B851-1479B99B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32D8EBB2-6069-4D3E-9B39-18E619E5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10502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資料準備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738BDD71-E512-472B-A615-7574B87E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143125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程式流程、城市樣本、欄位與時間切分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CE8F82A4-C778-4F61-AC14-D3AEA8EF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670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B193D9F-D161-4695-8E5F-2D9005F66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067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模型訓練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D9EC5D84-E80C-44D4-A313-1229091B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105150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價格目標、面積、日期與參考單價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6CE0351-9AE8-4EBA-B417-0236E071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29075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FA6140A9-0534-4FB6-BF37-40D2BAFD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0290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預測整合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F9B66236-C927-45FD-9E05-394EC1DF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067175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組合不同模型，修正後取中位數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F5BAA079-87A8-43B0-AC62-5024AE4E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911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F5BA4358-0334-4370-BCD1-5A73252F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9911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驗證與改進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5E106BEF-DF2C-44A7-B9F1-20A938CE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029200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學習曲線、完整結果、大誤差與改法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CFBA2B19-1159-4A6D-8B1B-93B13575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769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依照實際製作順序，說明每一步怎麼做、為什麼這樣做。</a:t>
            </a:r>
          </a:p>
        </p:txBody>
      </p:sp>
    </p:spTree>
    <p:extLst>
      <p:ext uri="{BB962C8B-B14F-4D97-AF65-F5344CB8AC3E}">
        <p14:creationId xmlns:p14="http://schemas.microsoft.com/office/powerpoint/2010/main" val="4287874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A9ED7B-80FD-4CC3-B44B-3F2FE5CC4CD0}"/>
              </a:ext>
            </a:extLst>
          </p:cNvPr>
          <p:cNvCxnSpPr>
            <a:stCxn xmlns:a="http://schemas.openxmlformats.org/drawingml/2006/main" id="16" idx="1"/>
            <a:endCxn xmlns:a="http://schemas.openxmlformats.org/drawingml/2006/main" id="19" idx="3"/>
          </p:cNvCxnSpPr>
          <p:nvPr/>
        </p:nvCxnSpPr>
        <p:spPr>
          <a:xfrm xmlns:a="http://schemas.openxmlformats.org/drawingml/2006/main" flipH="1">
            <a:off x="4000500" y="45434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6E68"/>
            </a:solidFill>
            <a:prstDash val="solid"/>
            <a:tailEnd type="arrow" w="med" len="med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7C7F60-B48A-4999-9CA0-A87EA0DEFF52}"/>
              </a:ext>
            </a:extLst>
          </p:cNvPr>
          <p:cNvCxnSpPr>
            <a:stCxn xmlns:a="http://schemas.openxmlformats.org/drawingml/2006/main" id="13" idx="1"/>
            <a:endCxn xmlns:a="http://schemas.openxmlformats.org/drawingml/2006/main" id="16" idx="3"/>
          </p:cNvCxnSpPr>
          <p:nvPr/>
        </p:nvCxnSpPr>
        <p:spPr>
          <a:xfrm xmlns:a="http://schemas.openxmlformats.org/drawingml/2006/main" flipH="1">
            <a:off x="7715250" y="45434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6E68"/>
            </a:solidFill>
            <a:prstDash val="solid"/>
            <a:tailEnd type="arrow" w="med" len="med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602EBC-6D49-4F9A-AC70-ACDFF009F357}"/>
              </a:ext>
            </a:extLst>
          </p:cNvPr>
          <p:cNvCxnSpPr>
            <a:stCxn xmlns:a="http://schemas.openxmlformats.org/drawingml/2006/main" id="10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9810750" y="3105150"/>
            <a:ext cx="0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6E68"/>
            </a:solidFill>
            <a:prstDash val="solid"/>
            <a:tailEnd type="arrow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5E77EE-8357-4CAC-A845-54A9FBF44DC6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715250" y="24288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6E68"/>
            </a:solidFill>
            <a:prstDash val="solid"/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B87987-E48C-4975-9209-637CBB981EF0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00500" y="24288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6E68"/>
            </a:solidFill>
            <a:prstDash val="solid"/>
            <a:tailEnd type="arrow" w="med" len="med"/>
          </a:ln>
        </p:spPr>
      </p:cxnSp>
      <p:sp>
        <p:nvSpPr>
          <p:cNvPr id="2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D2A7804-77E8-4138-960F-3B5EEFEB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資料到答案的程式方塊圖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55BF7F1-67F3-4392-A027-31009678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88AD4899-96BB-46FE-9E26-7FD2FD848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sp>
        <p:nvSpPr>
          <p:cNvPr id="4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6FEFCB6B-3DD7-43A5-9A76-12A98802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F10FD9B1-DD91-4F2F-BC60-56C0E271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01  讀取與清理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2981B7E-BF15-4CE6-802E-16417EB9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24125"/>
            <a:ext cx="2933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load_one / load_data</a:t>
            </a:r>
          </a:p>
        </p:txBody>
      </p:sp>
      <p:sp>
        <p:nvSpPr>
          <p:cNvPr id="7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B5B283B2-C779-4FAA-AC0F-C61F014B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5260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B876EFE0-64A2-465E-AB05-7CADC10F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812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02  欄位解析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DE727203-E983-4869-810C-6B303213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24125"/>
            <a:ext cx="2933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build_features</a:t>
            </a:r>
          </a:p>
        </p:txBody>
      </p:sp>
      <p:sp>
        <p:nvSpPr>
          <p:cNvPr id="10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C81919BB-6571-44F7-A4AB-4FD28F55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5260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76559376-FFA0-4C43-8E31-019FA513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812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03  依日期切分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7AF882D1-26C8-465B-B484-ABF4C2AE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524125"/>
            <a:ext cx="2933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temporal_indices</a:t>
            </a:r>
          </a:p>
        </p:txBody>
      </p:sp>
      <p:sp>
        <p:nvSpPr>
          <p:cNvPr id="13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3B2F5E29-6A6B-4282-8F2A-8DC2C364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6715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DF49DD56-D0D9-45E5-B7EF-74381B84B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957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04  當期模型與規則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6A0B0A59-324C-4E6A-B6AF-1C13204BE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638675"/>
            <a:ext cx="2933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訓練、保存、套用</a:t>
            </a:r>
          </a:p>
        </p:txBody>
      </p:sp>
      <p:sp>
        <p:nvSpPr>
          <p:cNvPr id="16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3D43E65A-8FC7-47AF-80B4-B1229B3CC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6715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17" name="body">
            <a:extLst xmlns:a="http://schemas.openxmlformats.org/drawingml/2006/main">
              <a:ext uri="{FF2B5EF4-FFF2-40B4-BE49-F238E27FC236}">
                <a16:creationId xmlns:a16="http://schemas.microsoft.com/office/drawing/2014/main" id="{D0BD6350-AC51-4B2F-9D29-910B9C24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957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05  三分支與修正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90AE0437-7DD8-444D-8E1D-9F19C49D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38675"/>
            <a:ext cx="2933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R / S / median</a:t>
            </a:r>
          </a:p>
        </p:txBody>
      </p:sp>
      <p:sp>
        <p:nvSpPr>
          <p:cNvPr id="19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0D13BF6D-FA3C-495C-B70E-5CBE4E33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6715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20" name="body">
            <a:extLst xmlns:a="http://schemas.openxmlformats.org/drawingml/2006/main">
              <a:ext uri="{FF2B5EF4-FFF2-40B4-BE49-F238E27FC236}">
                <a16:creationId xmlns:a16="http://schemas.microsoft.com/office/drawing/2014/main" id="{DA4B5FE7-8EE4-454C-A7A3-3E0DCCBB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06  評分或輸出</a:t>
            </a:r>
          </a:p>
        </p:txBody>
      </p:sp>
      <p:sp>
        <p:nvSpPr>
          <p:cNvPr id="21" name="body">
            <a:extLst xmlns:a="http://schemas.openxmlformats.org/drawingml/2006/main">
              <a:ext uri="{FF2B5EF4-FFF2-40B4-BE49-F238E27FC236}">
                <a16:creationId xmlns:a16="http://schemas.microsoft.com/office/drawing/2014/main" id="{F4A389C7-3E13-4BD1-8A11-F8A3D9C4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38675"/>
            <a:ext cx="2933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mae / release</a:t>
            </a:r>
          </a:p>
        </p:txBody>
      </p:sp>
      <p:sp>
        <p:nvSpPr>
          <p:cNvPr id="27" name="body">
            <a:extLst xmlns:a="http://schemas.openxmlformats.org/drawingml/2006/main">
              <a:ext uri="{FF2B5EF4-FFF2-40B4-BE49-F238E27FC236}">
                <a16:creationId xmlns:a16="http://schemas.microsoft.com/office/drawing/2014/main" id="{4B68F971-138F-46B0-9F10-F5906B0C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保留交易只套用當期規則。有真價才評分，未知交易依編號順序輸出。</a:t>
            </a:r>
          </a:p>
        </p:txBody>
      </p:sp>
      <p:sp>
        <p:nvSpPr>
          <p:cNvPr id="28" name="body">
            <a:extLst xmlns:a="http://schemas.openxmlformats.org/drawingml/2006/main">
              <a:ext uri="{FF2B5EF4-FFF2-40B4-BE49-F238E27FC236}">
                <a16:creationId xmlns:a16="http://schemas.microsoft.com/office/drawing/2014/main" id="{CF2365B5-CE54-491E-AC04-6538A10D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995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最終只新增一支網路訓練，其餘五模型沿用保存預測。</a:t>
            </a:r>
          </a:p>
        </p:txBody>
      </p:sp>
    </p:spTree>
    <p:extLst>
      <p:ext uri="{BB962C8B-B14F-4D97-AF65-F5344CB8AC3E}">
        <p14:creationId xmlns:p14="http://schemas.microsoft.com/office/powerpoint/2010/main" val="13173800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1AF93EC-5984-4850-AD7A-A540145B1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房屋條件與價格答案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32BCF1E-FE79-4C07-B657-41CFF941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BCE4385B-8A9F-43FE-8EB2-D7557776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ADEEA53A-DA65-493C-B9D3-0CAD9CC3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特徵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69A82674-E62B-467D-802F-EF584621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地點、面積、樓層</a:t>
            </a:r>
          </a:p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建物類型、交易日期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8829F90B-202F-475F-A1EF-65B9CF77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標籤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B786CA98-3EB3-4F2B-99B0-E2D57B80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已知成交總價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5AF268FB-AD5D-46B7-B279-113694F3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訓練：用條件和答案調整規則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推論：用保存的規則估計新交易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07CDAB-8931-4A9E-A8BC-4E4F865502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53ca8e74b74d20"/>
          <a:stretch xmlns:a="http://schemas.openxmlformats.org/drawingml/2006/main"/>
        </p:blipFill>
        <p:spPr>
          <a:xfrm xmlns:a="http://schemas.openxmlformats.org/drawingml/2006/main">
            <a:off x="7736661" y="3143250"/>
            <a:ext cx="2909928" cy="2619375"/>
          </a:xfrm>
          <a:prstGeom xmlns:a="http://schemas.openxmlformats.org/drawingml/2006/main" prst="rect">
            <a:avLst/>
          </a:prstGeom>
        </p:spPr>
      </p:pic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C2C53E2D-62FB-4D78-ABC8-187CB008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回歸預測連續金額。未知交易仍需要獨立驗證。</a:t>
            </a:r>
          </a:p>
        </p:txBody>
      </p:sp>
    </p:spTree>
    <p:extLst>
      <p:ext uri="{BB962C8B-B14F-4D97-AF65-F5344CB8AC3E}">
        <p14:creationId xmlns:p14="http://schemas.microsoft.com/office/powerpoint/2010/main" val="7828172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908E9C9-78D6-4AD5-A29C-D077F8C3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估價誤差與 MAE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B77A16D-C361-42EF-BC6E-A6CFE1C6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3CA20E16-C6C1-4548-B8B1-B493E18C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D9869AE-1BD2-4D75-BB81-C120B75B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每筆相差金額取絕對值，再求平均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C4A89F-2243-4B04-8ABC-F2A020C8665D}"/>
              </a:ext>
            </a:extLst>
          </p:cNvPr>
          <p:cNvGraphicFramePr/>
          <p:nvPr/>
        </p:nvGraphicFramePr>
        <p:xfrm>
          <a:off xmlns:a="http://schemas.openxmlformats.org/drawingml/2006/main" x="762000" y="2371725"/>
          <a:ext xmlns:a="http://schemas.openxmlformats.org/drawingml/2006/main" cx="68580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809750"/>
                <a:gridCol w="1809750"/>
                <a:gridCol w="1809750"/>
              </a:tblGrid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教學假設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真實總價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絕對誤差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8630521B-3DAD-4065-ADA8-306DDF48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050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1EA9BD78-3BB6-49CF-BBB7-8380ABCF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76525"/>
            <a:ext cx="219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75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00430557-9999-4BA2-ABA9-572A24EF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228975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E2DF0D3F-1865-4FC2-B792-8727A3659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1624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（100 + 50）÷ 2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5898B2E8-E94D-4611-B690-439D02FB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MAE 越低越好。高估和低估不會互相抵銷，也不表示每筆都相差75萬元。</a:t>
            </a:r>
          </a:p>
        </p:txBody>
      </p:sp>
    </p:spTree>
    <p:extLst>
      <p:ext uri="{BB962C8B-B14F-4D97-AF65-F5344CB8AC3E}">
        <p14:creationId xmlns:p14="http://schemas.microsoft.com/office/powerpoint/2010/main" val="11698302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AE9DBA-40DD-4C3C-9CB6-5CA6A6E7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城市房價的樣本統計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B25D40B-700B-481C-8F6B-972C53A4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851F4A60-0A89-4D00-AC38-C84E46A3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1C589D71-2B0E-4C1B-ABF4-08AA69EA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清理後train 455,255筆；全資料總價中位數1,212萬元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8FC913D6-5153-460C-BD8E-41400FBE205E}"/>
              </a:ext>
            </a:extLst>
          </p:cNvPr>
          <p:cNvGraphicFramePr/>
          <p:nvPr/>
        </p:nvGraphicFramePr>
        <p:xfrm>
          <a:off xmlns:a="http://schemas.openxmlformats.org/drawingml/2006/main" x="762000" y="2038350"/>
          <a:ext xmlns:a="http://schemas.openxmlformats.org/drawingml/2006/main" cx="7096125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a5055752df40f2"/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351D5A51-17F8-4C81-809B-7B00F913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7096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成交總價中位數，單位：萬元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6E21AB-5F05-46CC-BA85-272F8C46C473}"/>
              </a:ext>
            </a:extLst>
          </p:cNvPr>
          <p:cNvGraphicFramePr/>
          <p:nvPr/>
        </p:nvGraphicFramePr>
        <p:xfrm>
          <a:off xmlns:a="http://schemas.openxmlformats.org/drawingml/2006/main" x="8286750" y="2152650"/>
          <a:ext xmlns:a="http://schemas.openxmlformats.org/drawingml/2006/main" cx="3143250" cy="3267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71625"/>
                <a:gridCol w="1571625"/>
              </a:tblGrid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城市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7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交易筆數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臺北市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20,023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新北市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102,060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臺中市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83,686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桃園市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83,774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新竹市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9,493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高雄市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40,980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4B9CA39E-9F28-4CAE-97BF-3C6D0F81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436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課程交易樣本的描述。城市差距也混合面積、房型與年代，不能推論全體市場。</a:t>
            </a:r>
          </a:p>
        </p:txBody>
      </p:sp>
    </p:spTree>
    <p:extLst>
      <p:ext uri="{BB962C8B-B14F-4D97-AF65-F5344CB8AC3E}">
        <p14:creationId xmlns:p14="http://schemas.microsoft.com/office/powerpoint/2010/main" val="19407547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514E190-C04A-44ED-B5BA-250CFB31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原始文字的處理步驟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6B739A0-BD4A-4831-BBAF-78B69FFD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586B29FE-7572-45A5-B265-7308ABB7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8B8D41-B2A9-48FF-B41D-627AFB9A063C}"/>
              </a:ext>
            </a:extLst>
          </p:cNvPr>
          <p:cNvGraphicFramePr/>
          <p:nvPr/>
        </p:nvGraphicFramePr>
        <p:xfrm>
          <a:off xmlns:a="http://schemas.openxmlformats.org/drawingml/2006/main" x="762000" y="1695450"/>
          <a:ext xmlns:a="http://schemas.openxmlformats.org/drawingml/2006/main" cx="106680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762500"/>
                <a:gridCol w="3810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原始欄位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我怎麼處理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整理後的資訊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數值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去除逗號，再轉成數值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1,200.5 變成 1200.5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民國年加1911，再拆年月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112年變成2023年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樓層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中文數字轉數值，地下層記負數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十二層=12／地下二層=−2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地址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台統一為臺，依名稱結尾拆欄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縣市／行政區／道路／段別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交易筆棟數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依土地、建物、車位擷取數字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土地1、建物1、車位0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2B41359D-2E20-4B17-9D64-1658B58A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空白及解析失敗另留標記。填補與類別編碼，只從訓練資料建立規則。</a:t>
            </a:r>
          </a:p>
        </p:txBody>
      </p:sp>
    </p:spTree>
    <p:extLst>
      <p:ext uri="{BB962C8B-B14F-4D97-AF65-F5344CB8AC3E}">
        <p14:creationId xmlns:p14="http://schemas.microsoft.com/office/powerpoint/2010/main" val="9341401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ACC6548-B343-47A8-BE81-974F9D81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模型輸入欄位的選擇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7AB8C67-AF78-41B8-AD13-19D8E22F1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A8401B67-E0F4-4870-93F3-FD513E3B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7664761-099E-47CA-80BC-0954DC11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620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先確認每個欄位在估價時能否使用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6A5F0E-40BB-41D8-9743-75445C585860}"/>
              </a:ext>
            </a:extLst>
          </p:cNvPr>
          <p:cNvGraphicFramePr/>
          <p:nvPr/>
        </p:nvGraphicFramePr>
        <p:xfrm>
          <a:off xmlns:a="http://schemas.openxmlformats.org/drawingml/2006/main" x="762000" y="2162175"/>
          <a:ext xmlns:a="http://schemas.openxmlformats.org/drawingml/2006/main" cx="106680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57625"/>
                <a:gridCol w="3333750"/>
                <a:gridCol w="3476625"/>
              </a:tblGrid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資料欄位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實際做法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選擇的原因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面積、樓層、地點、日期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整理成模型輸入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描述房屋與交易條件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成交總價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另存為訓練答案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避免答案混入輸入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編號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保留對齊，排除訓練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識別交易，不代表價格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完整備註、解約等資訊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排除全文與不可用欄位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避免價格或事後資訊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660C122F-B8E0-4B55-A978-666D7AE1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數值與類別採不同處理。所有需學習的轉換規則，只用當期訓練資料建立。</a:t>
            </a:r>
          </a:p>
        </p:txBody>
      </p:sp>
    </p:spTree>
    <p:extLst>
      <p:ext uri="{BB962C8B-B14F-4D97-AF65-F5344CB8AC3E}">
        <p14:creationId xmlns:p14="http://schemas.microsoft.com/office/powerpoint/2010/main" val="2491183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5DCFE2-F07D-4506-9D33-595BBA95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用較早交易預測下一年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36C300A-25EE-4855-8424-14BE07D6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F153948-6E2C-48EC-8E24-549776A8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DD2A99-CB4C-496B-8CB8-FD27E90C8C47}"/>
              </a:ext>
            </a:extLst>
          </p:cNvPr>
          <p:cNvGraphicFramePr/>
          <p:nvPr/>
        </p:nvGraphicFramePr>
        <p:xfrm>
          <a:off xmlns:a="http://schemas.openxmlformats.org/drawingml/2006/main" x="762000" y="1733550"/>
          <a:ext xmlns:a="http://schemas.openxmlformats.org/drawingml/2006/main" cx="10668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6858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訓練資料截止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後一年評分期間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2021-08-11 至 2022-08-10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2022-08-11 至 2023-08-10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2023-08-11 至 2024-08-10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2023-02-11 至 2024-02-10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AF79027E-96EB-4B54-9A5B-47E698454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各起點重建模型、編碼及價格參考。窗口已反覆使用且重疊，無法視為四次獨立盲測。</a:t>
            </a:r>
          </a:p>
        </p:txBody>
      </p:sp>
    </p:spTree>
    <p:extLst>
      <p:ext uri="{BB962C8B-B14F-4D97-AF65-F5344CB8AC3E}">
        <p14:creationId xmlns:p14="http://schemas.microsoft.com/office/powerpoint/2010/main" val="11433333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D30276-A47F-4C36-838C-D3B33E6D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模型的價格目標與訓練步驟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018D823-13E5-4E9D-8FA0-E8146783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FFAC5823-5034-4061-91D8-5C076421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C4DD26A-324E-4F95-8EAB-F3CDD7BDE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6207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單價樹模型：訓練答案＝已知總價 ÷ 有效面積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D0EF67-7248-4945-BB73-843AA561FE2E}"/>
              </a:ext>
            </a:extLst>
          </p:cNvPr>
          <p:cNvGraphicFramePr/>
          <p:nvPr/>
        </p:nvGraphicFramePr>
        <p:xfrm>
          <a:off xmlns:a="http://schemas.openxmlformats.org/drawingml/2006/main" x="762000" y="1885950"/>
          <a:ext xmlns:a="http://schemas.openxmlformats.org/drawingml/2006/main" cx="106680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5250"/>
                <a:gridCol w="2857500"/>
                <a:gridCol w="3905250"/>
              </a:tblGrid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模型路線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先預測什麼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總價如何產生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單價樹模型、面積網路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每平方公尺單價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預測單價 × 有效面積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直接總價樹模型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直接換回總價元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對數總價樹模型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取對數後的總價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將預測值還原為總價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相對參考價的倍率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 × 有效面積 × 倍率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0AC4E718-E343-4F24-AA89-B2FE59724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共同訓練：輸入條件、產生預測、依目標計算損失、更新模型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6A8CC6A9-C97B-4A7A-9F9F-9525BFC9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樹模型：增加小樹修正誤差　神經網路：反向更新參數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14E4B43-43B1-4345-BECC-81705634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9953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各模型先換回總價元，再進行分支融合與修正。驗證時固定參數。</a:t>
            </a:r>
          </a:p>
        </p:txBody>
      </p:sp>
    </p:spTree>
    <p:extLst>
      <p:ext uri="{BB962C8B-B14F-4D97-AF65-F5344CB8AC3E}">
        <p14:creationId xmlns:p14="http://schemas.microsoft.com/office/powerpoint/2010/main" val="17131541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20AFB9-D54D-4144-85F5-D1F99DA4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面積與總價誤差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5BCA7E1-E20B-4BFB-9007-FE573C90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176F85DD-9C2E-4F83-B171-66880BCCA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0B824CF-20AC-49CE-BDC0-624CF733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04975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總價 = 單價 × 有效面積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FB9CB76E-6035-485D-8666-18542AF3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單價同樣估錯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每平方公尺1萬元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6B163068-14CE-4AF3-B47B-4B77254D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面積越大，總價誤差越大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AEC4F066-8F4C-4D69-B91B-6CDEEE05B9B8}"/>
              </a:ext>
            </a:extLst>
          </p:cNvPr>
          <p:cNvGraphicFramePr/>
          <p:nvPr/>
        </p:nvGraphicFramePr>
        <p:xfrm>
          <a:off xmlns:a="http://schemas.openxmlformats.org/drawingml/2006/main" x="6048375" y="2047875"/>
          <a:ext xmlns:a="http://schemas.openxmlformats.org/drawingml/2006/main" cx="5381625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07fa08994674ee6"/>
          </a:graphicData>
        </a:graphic>
      </p:graphicFrame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A974229A-EDB2-41A0-B151-A8ECEC5A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總價誤差，單位：萬元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036E8E64-8B31-4357-B179-9C7E68B6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面積權重對齊總價差距。另保留直接總價與對數學法，最後皆還原為元。</a:t>
            </a:r>
          </a:p>
        </p:txBody>
      </p:sp>
    </p:spTree>
    <p:extLst>
      <p:ext uri="{BB962C8B-B14F-4D97-AF65-F5344CB8AC3E}">
        <p14:creationId xmlns:p14="http://schemas.microsoft.com/office/powerpoint/2010/main" val="207574136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61C685-D9D3-47BB-AA75-ACF7DDF0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新舊交易的學習影響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2D5C072-0910-4AD5-8457-7D2FC07B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5563DEE0-7EB4-4339-B65B-87FDCD96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57DE6EF4-FEA9-4F43-90C8-4F573C5E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房價會隨時間改變，因此讓近期成交有較大影響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9C29F066-4281-4E21-8607-C82DD9E5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權重：一筆交易對模型學習的影響程度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1AC5D004-05DE-48E5-BB65-0EA2A40CE697}"/>
              </a:ext>
            </a:extLst>
          </p:cNvPr>
          <p:cNvGraphicFramePr/>
          <p:nvPr/>
        </p:nvGraphicFramePr>
        <p:xfrm>
          <a:off xmlns:a="http://schemas.openxmlformats.org/drawingml/2006/main" x="762000" y="2381250"/>
          <a:ext xmlns:a="http://schemas.openxmlformats.org/drawingml/2006/main" cx="704850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a0afb60b7c4c1a"/>
          </a:graphicData>
        </a:graphic>
      </p:graphicFrame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1797AEF-F610-4F94-92B9-CD453D2B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670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圖中的數字代表</a:t>
            </a:r>
          </a:p>
          <a:p xmlns:a="http://schemas.openxmlformats.org/drawingml/2006/main">
            <a: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相對學習影響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6CB852D-BEE7-4652-91A8-E4BAA53D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52875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每早一年</a:t>
            </a:r>
          </a:p>
          <a:p xmlns:a="http://schemas.openxmlformats.org/drawingml/2006/main">
            <a:pPr algn="l"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影響降為一半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D88F58A4-D15C-4F40-83EF-0160CB75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245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圖為正規化前的相對比例。權重乘在訓練損失上，成交價本身不變。</a:t>
            </a:r>
          </a:p>
        </p:txBody>
      </p:sp>
    </p:spTree>
    <p:extLst>
      <p:ext uri="{BB962C8B-B14F-4D97-AF65-F5344CB8AC3E}">
        <p14:creationId xmlns:p14="http://schemas.microsoft.com/office/powerpoint/2010/main" val="95573101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D234EB1-395C-4F92-AFC3-E857FA769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相似交易提供參考單價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CAFFCC7-A3F7-40BA-A2AB-989120C7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4D4A0B0E-D3D7-49CC-A8C9-D57A6854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D761E317-658E-48C3-84B1-A173BAD2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57325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用同類交易的中位單價作參考，近期交易影響較大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BD691AB4-6B37-405E-88E7-E7BB2615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教學假例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7198F25C-582A-430E-945B-C75A4CE6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2619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20萬/m²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0589FF43-858D-4109-B186-3A04CD90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14625"/>
            <a:ext cx="2524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× 50m²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A40C758F-6FB5-4F23-8980-CA9F009D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1462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× 1.1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95F585C2-F83B-47A1-80FE-F0577D10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146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＝1,100萬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FCEDC2B-5077-44D3-B351-9F0DFC908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48050"/>
            <a:ext cx="2619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參考單價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4AC29DBA-43A8-45EE-A3A3-F409AF69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480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有效面積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A63B4FBF-E6BE-439F-9E84-8CF854E9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480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模型學到的倍率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451DCF7D-533C-4402-A33B-BFF5783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480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預測總價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A510D984-BDD3-4D97-8A57-A4772D85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5095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參考價的分類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7260632E-26F4-4B50-9FEE-A10821EA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43475"/>
            <a:ext cx="50958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依地區、交易及建物類型整理</a:t>
            </a:r>
          </a:p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同類不足30筆，就逐層放寬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3A8FD1AA-4F1B-4DF1-8854-2FC291A9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291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訓練時隔開答案</a:t>
            </a:r>
          </a:p>
        </p:txBody>
      </p:sp>
      <p:sp>
        <p:nvSpPr>
          <p:cNvPr id="17" name="body">
            <a:extLst xmlns:a="http://schemas.openxmlformats.org/drawingml/2006/main">
              <a:ext uri="{FF2B5EF4-FFF2-40B4-BE49-F238E27FC236}">
                <a16:creationId xmlns:a16="http://schemas.microsoft.com/office/drawing/2014/main" id="{1D376E1C-7023-44CF-A869-C019F974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43475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同建案放同組，分成5組</a:t>
            </a:r>
          </a:p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每組只參考其他4組的交易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E5EE8EF6-DDF5-4BCB-905E-65D83266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這份參考單價稱為「分組先驗」，由當期訓練交易建立。</a:t>
            </a:r>
          </a:p>
        </p:txBody>
      </p:sp>
    </p:spTree>
    <p:extLst>
      <p:ext uri="{BB962C8B-B14F-4D97-AF65-F5344CB8AC3E}">
        <p14:creationId xmlns:p14="http://schemas.microsoft.com/office/powerpoint/2010/main" val="3723635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BECC8A-6E62-43FD-8CEB-5711C965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六模型組成三條分支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670D774-BFDD-45BC-A8B3-A369B163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25428CB2-EF23-4D37-82F6-9CA2E50C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 預測整合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EE5DB2C5-B67F-460C-B9C2-493F266B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所有輸出先換回總價元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45656D-593E-4A01-9152-E79C393899A0}"/>
              </a:ext>
            </a:extLst>
          </p:cNvPr>
          <p:cNvGraphicFramePr/>
          <p:nvPr/>
        </p:nvGraphicFramePr>
        <p:xfrm>
          <a:off xmlns:a="http://schemas.openxmlformats.org/drawingml/2006/main" x="762000" y="2247900"/>
          <a:ext xmlns:a="http://schemas.openxmlformats.org/drawingml/2006/main" cx="10668000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5095875"/>
                <a:gridCol w="3429000"/>
              </a:tblGrid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主要部分 75%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共同部分 25%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CatBoost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神經網路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 NN、參考單價 NN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總價／對數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總價、對數 CatBoost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AFAF6BD1-FE4D-4918-A0D5-0F79AE03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假例：1,000萬 × 75% + 1,200萬 × 25% = 1,050萬。固定比例未證明最佳。</a:t>
            </a:r>
          </a:p>
        </p:txBody>
      </p:sp>
    </p:spTree>
    <p:extLst>
      <p:ext uri="{BB962C8B-B14F-4D97-AF65-F5344CB8AC3E}">
        <p14:creationId xmlns:p14="http://schemas.microsoft.com/office/powerpoint/2010/main" val="89347484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7A63762-C3D7-4084-ACC9-7B0138DA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成交參考與空間修正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65F0605-5C7D-49D9-978F-1AA45D90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E326428B-F398-4A48-8EEB-5F2A1C49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 預測整合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0D210EE1-EC98-4AD1-A9A1-583BC7F1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成交參考 R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D287D926-2E7A-4189-89CC-7D72E37E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5048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同建案、地址或道路的成交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B81253ED-7751-4DD3-A0B7-1006DB5C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504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結合物件條件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與當期學到的時間趨勢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9CBA461F-6E13-4F4D-9F45-2C6BED27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240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空間修正 S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28CF383-3E76-403D-8443-ED4A8A89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附近且相容的交易資訊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754ECFF2-EE6E-4503-9B2F-EBDA9973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38575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同時讀取初估與 R 的結果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參考不足時回退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3848F358-EDFC-440F-B1A7-7E6949D3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三條分支各自完成修正。價格參考只取自當期訓練資料。</a:t>
            </a:r>
          </a:p>
        </p:txBody>
      </p:sp>
    </p:spTree>
    <p:extLst>
      <p:ext uri="{BB962C8B-B14F-4D97-AF65-F5344CB8AC3E}">
        <p14:creationId xmlns:p14="http://schemas.microsoft.com/office/powerpoint/2010/main" val="32410964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B04362-A495-4841-833C-FEA7B314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逐筆取三路中位數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8DD944E-AC34-417C-A993-94DD50A0F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C70AC071-C8F7-4261-B43A-2A814E07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 預測整合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1372856A-3892-4518-9A32-A03F34AD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382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同一間房，三個修正後總價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7DEC2A21-3F85-4777-A680-408B95B5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A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8DF6F034-8FD0-4160-AC29-355468FD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1,000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51C4B705-080B-494B-B82E-466BA88A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4A38E58B-3E6C-4B3B-A8F0-7E16B4C09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B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A36F4C20-5A69-4C26-A75B-35401986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1,100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CA6507D1-DA67-4C3E-8608-879DF0F9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187609D7-0A77-4C21-86CB-2F4286AC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C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D16948ED-91BF-4F50-BDD3-BE6E6757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1,600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99FD87E8-92A0-4756-A2FC-05782CF66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47807D44-C22F-42C3-9952-66971108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中間值為1,100萬元，可減少單一路線極端值的影響，仍可能共同高估或低估。</a:t>
            </a:r>
          </a:p>
        </p:txBody>
      </p:sp>
    </p:spTree>
    <p:extLst>
      <p:ext uri="{BB962C8B-B14F-4D97-AF65-F5344CB8AC3E}">
        <p14:creationId xmlns:p14="http://schemas.microsoft.com/office/powerpoint/2010/main" val="159827722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753D568-8F85-4E93-997F-FC9B175B3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用後一年交易檢查訓練過程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3A071B3-1181-4437-A6DF-712F6C24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B25EBE5B-8473-4DFE-B0B5-FD72817C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 驗證與改進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852FF652-7D4F-49BC-9542-35585D9B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較早交易學習：321,550筆　後一年驗證：133,697筆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A12E576-E9EC-4F67-85F2-FE470344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訓練截至2023-08-10　驗證：2023-08-11 至 2024-08-10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B531BD6-B717-442C-BBCA-816F2A28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686050"/>
            <a:ext cx="7048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未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加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權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總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價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1D27EB8D-EFA1-49B0-884E-799531D4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0002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百萬元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3E6E66C1-B47D-49BE-AC0C-8EE12BE40784}"/>
              </a:ext>
            </a:extLst>
          </p:cNvPr>
          <p:cNvGraphicFramePr/>
          <p:nvPr/>
        </p:nvGraphicFramePr>
        <p:xfrm>
          <a:off xmlns:a="http://schemas.openxmlformats.org/drawingml/2006/main" x="971550" y="2047875"/>
          <a:ext xmlns:a="http://schemas.openxmlformats.org/drawingml/2006/main" cx="10458450" cy="3686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71f0f2dc9546fe"/>
          </a:graphicData>
        </a:graphic>
      </p:graphicFrame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A4AF995B-115C-4B51-A7E1-FA22E8EA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保存各輪模型後，固定參數分別計算兩批 MAE。此圖是另跑的一支網路診斷。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76DF90F-C050-4D7A-AEE3-F88ADF33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995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固定30輪，不依最低點選輪數。曲線不能證明沒有過擬合，輪數也不代表模型容量。</a:t>
            </a:r>
          </a:p>
        </p:txBody>
      </p:sp>
    </p:spTree>
    <p:extLst>
      <p:ext uri="{BB962C8B-B14F-4D97-AF65-F5344CB8AC3E}">
        <p14:creationId xmlns:p14="http://schemas.microsoft.com/office/powerpoint/2010/main" val="141677917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0BB5BB8-303A-4B4B-A559-4B40FCE6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完整方法的驗證結果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4C53C5C-9DB8-403B-BDC0-1FD8662D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953163AB-2EF5-40F1-872C-41268CB3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 驗證與改進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E9EFBD3-6F72-4D35-84D1-32130BCC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2023-08-11至2024-08-10；完整融合，保留交易133,697筆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C2EEFEFF-C597-4ABE-9A07-BB968AC8EFE5}"/>
              </a:ext>
            </a:extLst>
          </p:cNvPr>
          <p:cNvGraphicFramePr/>
          <p:nvPr/>
        </p:nvGraphicFramePr>
        <p:xfrm>
          <a:off xmlns:a="http://schemas.openxmlformats.org/drawingml/2006/main" x="762000" y="2190750"/>
          <a:ext xmlns:a="http://schemas.openxmlformats.org/drawingml/2006/main" cx="752475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8e31786c3440cd"/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21F8D599-FCDE-4618-A707-6ACA092F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7524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總價MAE，單位：萬元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56AB49ED-BD10-463B-83C7-0BCCEC47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724525"/>
            <a:ext cx="533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真實總價帶（萬元）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BCFEB617-B668-4E5A-845B-9F73C744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907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全部保留交易 MAE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46DDE900-A135-467F-ADD2-E4031D9F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7813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6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6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138.17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59E071BC-79D2-40B6-844F-D01A4B21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7665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B548694B-B4A8-406A-9949-6175F310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57700"/>
            <a:ext cx="26670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誤差最大的5%交易</a:t>
            </a:r>
          </a:p>
          <a:p xmlns:a="http://schemas.openxmlformats.org/drawingml/2006/main">
            <a:pPr algn="l"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占總絕對誤差28.01%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B7B2309E-1F39-46D1-9482-5ED8F187D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007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五個價格帶涵蓋全部保留交易。以真價分組，僅供事後分析；未使用test答案。</a:t>
            </a:r>
          </a:p>
        </p:txBody>
      </p:sp>
    </p:spTree>
    <p:extLst>
      <p:ext uri="{BB962C8B-B14F-4D97-AF65-F5344CB8AC3E}">
        <p14:creationId xmlns:p14="http://schemas.microsoft.com/office/powerpoint/2010/main" val="28998610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08DA15A-EADA-4D2F-BD2D-2E349857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驗證之後的分組檢查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38393B3-39D0-488F-8388-6DC83A20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0532F640-6EEA-4065-AA62-0E755362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 驗證與改進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4D444B1-E3DD-4491-B0C5-6AC5C362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01　建立分組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FD2DF008-F172-4DDE-B69B-699CF4E4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809750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比對當期訓練資料，標記建案是否見過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2F6CBB77-627D-4E46-9DC8-EF09EFA04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02　分別評分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5E86FB21-EFD3-4288-A5BB-959C70F2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既有、新建案與缺失組，各自計算 MAE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455BDB38-C45E-4628-9DB9-ACC1B1DB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03　查看退步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5A7944AC-69B7-4A62-AEE2-5EE1775F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810000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檢查整體平均是否掩蓋某一群的問題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4B3819B-C91B-4F7A-838F-E82AF9D9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04　保留反證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B0540A05-EF1A-49C6-B368-E510CD86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810125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一起記錄跨期退步與不利對照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FDE858AA-886C-4527-94B5-FC40E0495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769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實際曾出現分群退步。歷史窗口已反覆使用，Private 成績仍未知。</a:t>
            </a:r>
          </a:p>
        </p:txBody>
      </p:sp>
    </p:spTree>
    <p:extLst>
      <p:ext uri="{BB962C8B-B14F-4D97-AF65-F5344CB8AC3E}">
        <p14:creationId xmlns:p14="http://schemas.microsoft.com/office/powerpoint/2010/main" val="9800051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CD62E1F-26C3-4F05-8ECA-B41EBA4E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大誤差案例與對應改進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C291C41-E637-44D6-A6C7-A086B7BF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23713CE8-347D-4A62-A144-E925225C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 驗證與改進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DC84867-26F3-47C6-A4CF-9590B5A2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同一驗證期的已知答案，只用來事後分析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D35F9-6D66-424C-9F08-EBD2BD62B8E9}"/>
              </a:ext>
            </a:extLst>
          </p:cNvPr>
          <p:cNvGraphicFramePr/>
          <p:nvPr/>
        </p:nvGraphicFramePr>
        <p:xfrm>
          <a:off xmlns:a="http://schemas.openxmlformats.org/drawingml/2006/main" x="762000" y="2000250"/>
          <a:ext xmlns:a="http://schemas.openxmlformats.org/drawingml/2006/main" cx="106680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52500"/>
                <a:gridCol w="4286250"/>
                <a:gridCol w="1809750"/>
                <a:gridCol w="1809750"/>
                <a:gridCol w="1809750"/>
              </a:tblGrid>
              <a:tr h="7620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案例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可觀察條件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絕對誤差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7620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廠辦 19,410 m²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訓練同建案 0 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299,000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280,337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18,663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7620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店面 831 m²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同建案130筆，全為住宅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25,600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16,270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9,330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9BB175F8-4C3A-4FAE-842B-5018AA1E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金額單位：萬元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74F3FF27-601C-4077-9E6A-347973B7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442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A  大型、特殊用途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659DD0D-32A2-4129-918B-7D2217E8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53050"/>
            <a:ext cx="5048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先核對面積與車位解析</a:t>
            </a:r>
          </a:p>
          <a:p xmlns:a="http://schemas.openxmlformats.org/drawingml/2006/main">
            <a:pPr algn="l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再固定特殊用途對照方案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DCB2B648-1486-454E-B2F5-4C0762A6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92442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B  同建案仍須可比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92DAB079-421A-45C3-9B52-0B5DDB24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53050"/>
            <a:ext cx="5048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既有用途分組內檢查面積／車位</a:t>
            </a:r>
          </a:p>
          <a:p xmlns:a="http://schemas.openxmlformats.org/drawingml/2006/main">
            <a:pPr algn="l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核對實際參考支持與回退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63ECC7C7-2AC6-4FA8-A5C3-609EA6CD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674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原因仍是待驗證假設。先固定改法，再用新時間留出與多seed比較，未改提交答案。</a:t>
            </a:r>
          </a:p>
        </p:txBody>
      </p:sp>
    </p:spTree>
    <p:extLst>
      <p:ext uri="{BB962C8B-B14F-4D97-AF65-F5344CB8AC3E}">
        <p14:creationId xmlns:p14="http://schemas.microsoft.com/office/powerpoint/2010/main" val="2587873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20</ap:Slides>
  <ap:Notes>20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2026-10-12T16:19:36.0590000Z</dcterms:created>
  <dcterms:modified xsi:type="dcterms:W3CDTF">2026-10-12T16:19:36.0590000Z</dcterms:modified>
</coreProperties>
</file>