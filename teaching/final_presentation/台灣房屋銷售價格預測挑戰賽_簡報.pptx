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554cd123948e6" /><Relationship Type="http://schemas.openxmlformats.org/officeDocument/2006/relationships/extended-properties" Target="/docProps/app.xml" Id="R90b15e04ca624d4f" /><Relationship Type="http://schemas.openxmlformats.org/officeDocument/2006/relationships/officeDocument" Target="/ppt/presentation.xml" Id="R661d93b8654247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9f62c7589405b"/>
  </p:sldMasterIdLst>
  <p:notesMasterIdLst>
    <p:notesMasterId xmlns:r="http://schemas.openxmlformats.org/officeDocument/2006/relationships" r:id="R6b2b89c422374256"/>
  </p:notesMasterIdLst>
  <p:sldIdLst>
    <p:sldId xmlns:r="http://schemas.openxmlformats.org/officeDocument/2006/relationships" id="256" r:id="R1ab370f792754673"/>
    <p:sldId xmlns:r="http://schemas.openxmlformats.org/officeDocument/2006/relationships" id="257" r:id="R9d706f7c82a24d2b"/>
    <p:sldId xmlns:r="http://schemas.openxmlformats.org/officeDocument/2006/relationships" id="258" r:id="R2cf66981bad64109"/>
    <p:sldId xmlns:r="http://schemas.openxmlformats.org/officeDocument/2006/relationships" id="259" r:id="R93aba89e277944b5"/>
    <p:sldId xmlns:r="http://schemas.openxmlformats.org/officeDocument/2006/relationships" id="260" r:id="R1269ccf85fb64735"/>
    <p:sldId xmlns:r="http://schemas.openxmlformats.org/officeDocument/2006/relationships" id="261" r:id="Rb7a5314c1fd54e68"/>
    <p:sldId xmlns:r="http://schemas.openxmlformats.org/officeDocument/2006/relationships" id="262" r:id="Ra26b705811fb4fee"/>
    <p:sldId xmlns:r="http://schemas.openxmlformats.org/officeDocument/2006/relationships" id="263" r:id="R6b7d623f7c70456b"/>
    <p:sldId xmlns:r="http://schemas.openxmlformats.org/officeDocument/2006/relationships" id="264" r:id="Rd114370bb11c4cde"/>
    <p:sldId xmlns:r="http://schemas.openxmlformats.org/officeDocument/2006/relationships" id="265" r:id="Rd32f1f7b7a1c463f"/>
    <p:sldId xmlns:r="http://schemas.openxmlformats.org/officeDocument/2006/relationships" id="266" r:id="R5dc1b8b4c9804211"/>
    <p:sldId xmlns:r="http://schemas.openxmlformats.org/officeDocument/2006/relationships" id="267" r:id="Rb5a9e1874d0f4edc"/>
    <p:sldId xmlns:r="http://schemas.openxmlformats.org/officeDocument/2006/relationships" id="268" r:id="R0b4e2d195f014af8"/>
    <p:sldId xmlns:r="http://schemas.openxmlformats.org/officeDocument/2006/relationships" id="269" r:id="Ra60032faf73e4994"/>
    <p:sldId xmlns:r="http://schemas.openxmlformats.org/officeDocument/2006/relationships" id="270" r:id="R83d5956f018c4873"/>
    <p:sldId xmlns:r="http://schemas.openxmlformats.org/officeDocument/2006/relationships" id="271" r:id="R6563d8f93af54a70"/>
    <p:sldId xmlns:r="http://schemas.openxmlformats.org/officeDocument/2006/relationships" id="272" r:id="Rb947ed69a99349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43bc473ebd4e5a" /><Relationship Type="http://schemas.openxmlformats.org/officeDocument/2006/relationships/slideMaster" Target="/ppt/slideMasters/slideMaster1.xml" Id="R0019f62c7589405b" /><Relationship Type="http://schemas.openxmlformats.org/officeDocument/2006/relationships/notesMaster" Target="/ppt/notesMasters/notesMaster1.xml" Id="R6b2b89c422374256" /><Relationship Type="http://schemas.openxmlformats.org/officeDocument/2006/relationships/presProps" Target="/ppt/presProps.xml" Id="R4c234a061ee54f7b" /><Relationship Type="http://schemas.openxmlformats.org/officeDocument/2006/relationships/tableStyles" Target="/ppt/tableStyles.xml" Id="R766a9985083b4e04" /><Relationship Type="http://schemas.openxmlformats.org/officeDocument/2006/relationships/slide" Target="/ppt/slides/slide1.xml" Id="R1ab370f792754673" /><Relationship Type="http://schemas.openxmlformats.org/officeDocument/2006/relationships/slide" Target="/ppt/slides/slide2.xml" Id="R9d706f7c82a24d2b" /><Relationship Type="http://schemas.openxmlformats.org/officeDocument/2006/relationships/slide" Target="/ppt/slides/slide3.xml" Id="R2cf66981bad64109" /><Relationship Type="http://schemas.openxmlformats.org/officeDocument/2006/relationships/slide" Target="/ppt/slides/slide4.xml" Id="R93aba89e277944b5" /><Relationship Type="http://schemas.openxmlformats.org/officeDocument/2006/relationships/slide" Target="/ppt/slides/slide5.xml" Id="R1269ccf85fb64735" /><Relationship Type="http://schemas.openxmlformats.org/officeDocument/2006/relationships/slide" Target="/ppt/slides/slide6.xml" Id="Rb7a5314c1fd54e68" /><Relationship Type="http://schemas.openxmlformats.org/officeDocument/2006/relationships/slide" Target="/ppt/slides/slide7.xml" Id="Ra26b705811fb4fee" /><Relationship Type="http://schemas.openxmlformats.org/officeDocument/2006/relationships/slide" Target="/ppt/slides/slide8.xml" Id="R6b7d623f7c70456b" /><Relationship Type="http://schemas.openxmlformats.org/officeDocument/2006/relationships/slide" Target="/ppt/slides/slide9.xml" Id="Rd114370bb11c4cde" /><Relationship Type="http://schemas.openxmlformats.org/officeDocument/2006/relationships/slide" Target="/ppt/slides/slide10.xml" Id="Rd32f1f7b7a1c463f" /><Relationship Type="http://schemas.openxmlformats.org/officeDocument/2006/relationships/slide" Target="/ppt/slides/slide11.xml" Id="R5dc1b8b4c9804211" /><Relationship Type="http://schemas.openxmlformats.org/officeDocument/2006/relationships/slide" Target="/ppt/slides/slide12.xml" Id="Rb5a9e1874d0f4edc" /><Relationship Type="http://schemas.openxmlformats.org/officeDocument/2006/relationships/slide" Target="/ppt/slides/slide13.xml" Id="R0b4e2d195f014af8" /><Relationship Type="http://schemas.openxmlformats.org/officeDocument/2006/relationships/slide" Target="/ppt/slides/slide14.xml" Id="Ra60032faf73e4994" /><Relationship Type="http://schemas.openxmlformats.org/officeDocument/2006/relationships/slide" Target="/ppt/slides/slide15.xml" Id="R83d5956f018c4873" /><Relationship Type="http://schemas.openxmlformats.org/officeDocument/2006/relationships/slide" Target="/ppt/slides/slide16.xml" Id="R6563d8f93af54a70" /><Relationship Type="http://schemas.openxmlformats.org/officeDocument/2006/relationships/slide" Target="/ppt/slides/slide17.xml" Id="Rb947ed69a993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d7d804850d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d0468f9f2b45d5" /><Relationship Type="http://schemas.openxmlformats.org/officeDocument/2006/relationships/notesMaster" Target="/ppt/notesMasters/notesMaster1.xml" Id="Rb2eb3f7b94f34d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25c4ea84a7474a" /><Relationship Type="http://schemas.openxmlformats.org/officeDocument/2006/relationships/notesMaster" Target="/ppt/notesMasters/notesMaster1.xml" Id="R8d32f41fa9824c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7c8d2680bd4b5f" /><Relationship Type="http://schemas.openxmlformats.org/officeDocument/2006/relationships/notesMaster" Target="/ppt/notesMasters/notesMaster1.xml" Id="R11faa61d99a742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8e5773efc54f82" /><Relationship Type="http://schemas.openxmlformats.org/officeDocument/2006/relationships/notesMaster" Target="/ppt/notesMasters/notesMaster1.xml" Id="R5b062d53913c41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5d8ae6fab1454e" /><Relationship Type="http://schemas.openxmlformats.org/officeDocument/2006/relationships/notesMaster" Target="/ppt/notesMasters/notesMaster1.xml" Id="Rc4cdb13bc51644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1888044cb8474a" /><Relationship Type="http://schemas.openxmlformats.org/officeDocument/2006/relationships/notesMaster" Target="/ppt/notesMasters/notesMaster1.xml" Id="R914fa08fecbf4f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3f9bd8f5404128" /><Relationship Type="http://schemas.openxmlformats.org/officeDocument/2006/relationships/notesMaster" Target="/ppt/notesMasters/notesMaster1.xml" Id="R41739f379b064c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9009030728413a" /><Relationship Type="http://schemas.openxmlformats.org/officeDocument/2006/relationships/notesMaster" Target="/ppt/notesMasters/notesMaster1.xml" Id="Refeec250863748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f9062f72a74e8e" /><Relationship Type="http://schemas.openxmlformats.org/officeDocument/2006/relationships/notesMaster" Target="/ppt/notesMasters/notesMaster1.xml" Id="R4bc3fbdc1d4d45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a99abeb08e4587" /><Relationship Type="http://schemas.openxmlformats.org/officeDocument/2006/relationships/notesMaster" Target="/ppt/notesMasters/notesMaster1.xml" Id="Rd81e79cae0054c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248660dc284b8b" /><Relationship Type="http://schemas.openxmlformats.org/officeDocument/2006/relationships/notesMaster" Target="/ppt/notesMasters/notesMaster1.xml" Id="R2374baa159d14c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e4f24806da4e59" /><Relationship Type="http://schemas.openxmlformats.org/officeDocument/2006/relationships/notesMaster" Target="/ppt/notesMasters/notesMaster1.xml" Id="R5a0634447e3f4b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22f042827d4752" /><Relationship Type="http://schemas.openxmlformats.org/officeDocument/2006/relationships/notesMaster" Target="/ppt/notesMasters/notesMaster1.xml" Id="Rbac6d24bd0b748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dccf0486a94208" /><Relationship Type="http://schemas.openxmlformats.org/officeDocument/2006/relationships/notesMaster" Target="/ppt/notesMasters/notesMaster1.xml" Id="R41344886c0624f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828e84438d4833" /><Relationship Type="http://schemas.openxmlformats.org/officeDocument/2006/relationships/notesMaster" Target="/ppt/notesMasters/notesMaster1.xml" Id="Ra2f86a77024942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844bbb29a64853" /><Relationship Type="http://schemas.openxmlformats.org/officeDocument/2006/relationships/notesMaster" Target="/ppt/notesMasters/notesMaster1.xml" Id="R5f4483e7e96a4c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57cae064934802" /><Relationship Type="http://schemas.openxmlformats.org/officeDocument/2006/relationships/notesMaster" Target="/ppt/notesMasters/notesMaster1.xml" Id="Rda5c40ad918b44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57532ef4048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06e55af884d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1282eb0644e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bddf8e18e42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ffdbd52734d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c651f9fd44e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6F40AD-B047-429D-BB85-5A370D3D6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DDD277-0CDC-4A39-B3C1-C4A98FF326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E93D1D-D629-4833-95E9-5E67F4029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033AE-64A8-4964-A600-C09BD459D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0D290E-74A8-46E0-BB0A-39D9FA4CB9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D190EA-A647-4961-A1BA-414C6B142E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BDAE3B-85AC-4E4B-929F-1ACF89CA55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DC12FD-4800-4FFA-998B-8E9F8ADE10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02F6DC-BBE5-40C5-868D-63D25AFE5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F3092F-43A3-4742-BB0B-C07FF13BAE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1eea9dc891442f" /><Relationship Type="http://schemas.openxmlformats.org/officeDocument/2006/relationships/slideLayout" Target="/ppt/slideLayouts/slideLayout1.xml" Id="Rdedf7eb15d384eae" /><Relationship Type="http://schemas.openxmlformats.org/officeDocument/2006/relationships/slideLayout" Target="/ppt/slideLayouts/slideLayout2.xml" Id="R8450c260b9f9465d" /><Relationship Type="http://schemas.openxmlformats.org/officeDocument/2006/relationships/slideLayout" Target="/ppt/slideLayouts/slideLayout3.xml" Id="Ra25bf8f228c04d1a" /><Relationship Type="http://schemas.openxmlformats.org/officeDocument/2006/relationships/slideLayout" Target="/ppt/slideLayouts/slideLayout4.xml" Id="R5b5bc4629e304bc6" /><Relationship Type="http://schemas.openxmlformats.org/officeDocument/2006/relationships/slideLayout" Target="/ppt/slideLayouts/slideLayout5.xml" Id="R581604e9ca2a4632" /><Relationship Type="http://schemas.openxmlformats.org/officeDocument/2006/relationships/slideLayout" Target="/ppt/slideLayouts/slideLayout6.xml" Id="Rc89eda3b2d8049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f7eb15d384eae"/>
    <p:sldLayoutId xmlns:r="http://schemas.openxmlformats.org/officeDocument/2006/relationships" id="2147483650" r:id="R8450c260b9f9465d"/>
    <p:sldLayoutId xmlns:r="http://schemas.openxmlformats.org/officeDocument/2006/relationships" id="2147483651" r:id="Ra25bf8f228c04d1a"/>
    <p:sldLayoutId xmlns:r="http://schemas.openxmlformats.org/officeDocument/2006/relationships" id="2147483652" r:id="R5b5bc4629e304bc6"/>
    <p:sldLayoutId xmlns:r="http://schemas.openxmlformats.org/officeDocument/2006/relationships" id="2147483653" r:id="R581604e9ca2a4632"/>
    <p:sldLayoutId xmlns:r="http://schemas.openxmlformats.org/officeDocument/2006/relationships" id="2147483654" r:id="Rc89eda3b2d8049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aa932d019431d" /><Relationship Type="http://schemas.openxmlformats.org/officeDocument/2006/relationships/notesSlide" Target="/ppt/notesSlides/notesSlide1.xml" Id="Rf08645724cec41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27fa3c6574331" /><Relationship Type="http://schemas.openxmlformats.org/officeDocument/2006/relationships/notesSlide" Target="/ppt/notesSlides/notesSlide2.xml" Id="R5876e9fd1f954b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c4ee6aefa4a80" /><Relationship Type="http://schemas.openxmlformats.org/officeDocument/2006/relationships/notesSlide" Target="/ppt/notesSlides/notesSlide3.xml" Id="R3293a8aac340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e9790d5284139" /><Relationship Type="http://schemas.openxmlformats.org/officeDocument/2006/relationships/image" Target="/ppt/media/image.png" Id="Radfdf0f5e0ec4a7b" /><Relationship Type="http://schemas.openxmlformats.org/officeDocument/2006/relationships/notesSlide" Target="/ppt/notesSlides/notesSlide4.xml" Id="Rd37aacaee4884d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1516ee2ba453c" /><Relationship Type="http://schemas.openxmlformats.org/officeDocument/2006/relationships/notesSlide" Target="/ppt/notesSlides/notesSlide5.xml" Id="R2ffbd0aaf4c0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dc774b8d64903" /><Relationship Type="http://schemas.openxmlformats.org/officeDocument/2006/relationships/chart" Target="/ppt/slides/charts/chart1.xml" Id="R4fb7f0d54bcc4ca5" /><Relationship Type="http://schemas.openxmlformats.org/officeDocument/2006/relationships/notesSlide" Target="/ppt/notesSlides/notesSlide6.xml" Id="Rbc3c66ecb7cb49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8dae4596041ba" /><Relationship Type="http://schemas.openxmlformats.org/officeDocument/2006/relationships/notesSlide" Target="/ppt/notesSlides/notesSlide7.xml" Id="R71f8ec6890c843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f48e9f628477a" /><Relationship Type="http://schemas.openxmlformats.org/officeDocument/2006/relationships/notesSlide" Target="/ppt/notesSlides/notesSlide8.xml" Id="R1069d092312b41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5e40133d34882" /><Relationship Type="http://schemas.openxmlformats.org/officeDocument/2006/relationships/notesSlide" Target="/ppt/notesSlides/notesSlide9.xml" Id="R76347434b6844b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a37a36c4b4ce1" /><Relationship Type="http://schemas.openxmlformats.org/officeDocument/2006/relationships/notesSlide" Target="/ppt/notesSlides/notesSlide10.xml" Id="R56913bb2b6404d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111a6a75b450d" /><Relationship Type="http://schemas.openxmlformats.org/officeDocument/2006/relationships/chart" Target="/ppt/slides/charts/chart2.xml" Id="Rcf5c0a37ffb94b57" /><Relationship Type="http://schemas.openxmlformats.org/officeDocument/2006/relationships/notesSlide" Target="/ppt/notesSlides/notesSlide11.xml" Id="R4b6cc0cb06a445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aa6a56f2b457e" /><Relationship Type="http://schemas.openxmlformats.org/officeDocument/2006/relationships/chart" Target="/ppt/slides/charts/chart3.xml" Id="R0fe000abde8f43d7" /><Relationship Type="http://schemas.openxmlformats.org/officeDocument/2006/relationships/notesSlide" Target="/ppt/notesSlides/notesSlide12.xml" Id="R8540e5bf349a49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fc12f408942bd" /><Relationship Type="http://schemas.openxmlformats.org/officeDocument/2006/relationships/notesSlide" Target="/ppt/notesSlides/notesSlide13.xml" Id="Ra2600bcce74d40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5c06ca0874b6c" /><Relationship Type="http://schemas.openxmlformats.org/officeDocument/2006/relationships/notesSlide" Target="/ppt/notesSlides/notesSlide14.xml" Id="Rd54c51f2e5ff4b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415b7bcff48db" /><Relationship Type="http://schemas.openxmlformats.org/officeDocument/2006/relationships/notesSlide" Target="/ppt/notesSlides/notesSlide15.xml" Id="Rd7f726abe41241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0f10c226d4ce1" /><Relationship Type="http://schemas.openxmlformats.org/officeDocument/2006/relationships/chart" Target="/ppt/slides/charts/chart4.xml" Id="R52e5db867c3149df" /><Relationship Type="http://schemas.openxmlformats.org/officeDocument/2006/relationships/notesSlide" Target="/ppt/notesSlides/notesSlide16.xml" Id="Re05600802c004a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51d200fda44db" /><Relationship Type="http://schemas.openxmlformats.org/officeDocument/2006/relationships/notesSlide" Target="/ppt/notesSlides/notesSlide17.xml" Id="R2f4ea1116d5b44f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76E68"/>
            </a:solidFill>
          </c:spPr>
          <c:cat>
            <c:strRef>
              <c:f>'Chart Data'!$A$2:$A$7</c:f>
              <c:strCache>
                <c:ptCount val="6"/>
                <c:pt idx="0">
                  <c:v>臺北市</c:v>
                </c:pt>
                <c:pt idx="1">
                  <c:v>新北市</c:v>
                </c:pt>
                <c:pt idx="2">
                  <c:v>臺中市</c:v>
                </c:pt>
                <c:pt idx="3">
                  <c:v>桃園市</c:v>
                </c:pt>
                <c:pt idx="4">
                  <c:v>新竹市</c:v>
                </c:pt>
                <c:pt idx="5">
                  <c:v>高雄市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2945</c:v>
                </c:pt>
                <c:pt idx="1">
                  <c:v>1480</c:v>
                </c:pt>
                <c:pt idx="2">
                  <c:v>1280</c:v>
                </c:pt>
                <c:pt idx="3">
                  <c:v>1161</c:v>
                </c:pt>
                <c:pt idx="4">
                  <c:v>1375</c:v>
                </c:pt>
                <c:pt idx="5">
                  <c:v>1050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23343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1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76E68"/>
            </a:solidFill>
          </c:spPr>
          <c:cat>
            <c:strRef>
              <c:f>'Chart Data'!$A$2:$A$3</c:f>
              <c:strCache>
                <c:ptCount val="2"/>
                <c:pt idx="0">
                  <c:v>50 m²</c:v>
                </c:pt>
                <c:pt idx="1">
                  <c:v>100 m²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50</c:v>
                </c:pt>
                <c:pt idx="1">
                  <c:v>100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23343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1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76E68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23343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1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較早訓練交易</c:v>
          </c:tx>
          <c:spPr>
            <a:ln xmlns:a="http://schemas.openxmlformats.org/drawingml/2006/main" w="33338">
              <a:solidFill>
                <a:srgbClr val="315D8A"/>
              </a:solidFill>
              <a:prstDash val="solid"/>
            </a:ln>
          </c:spPr>
          <c:marker>
            <c:symbol val="none"/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2235313.48343883</c:v>
                </c:pt>
                <c:pt idx="1">
                  <c:v>1832261.4188805</c:v>
                </c:pt>
                <c:pt idx="2">
                  <c:v>1591415.61656558</c:v>
                </c:pt>
                <c:pt idx="3">
                  <c:v>1510153.84501852</c:v>
                </c:pt>
                <c:pt idx="4">
                  <c:v>1311856.8984844</c:v>
                </c:pt>
                <c:pt idx="5">
                  <c:v>1185182.70776998</c:v>
                </c:pt>
                <c:pt idx="6">
                  <c:v>1148706.16631189</c:v>
                </c:pt>
                <c:pt idx="7">
                  <c:v>1125197.24966036</c:v>
                </c:pt>
                <c:pt idx="8">
                  <c:v>1012946.97397296</c:v>
                </c:pt>
                <c:pt idx="9">
                  <c:v>1051593.84038778</c:v>
                </c:pt>
                <c:pt idx="10">
                  <c:v>975804.995821139</c:v>
                </c:pt>
                <c:pt idx="11">
                  <c:v>925532.316399218</c:v>
                </c:pt>
                <c:pt idx="12">
                  <c:v>857222.787359282</c:v>
                </c:pt>
                <c:pt idx="13">
                  <c:v>830988.799595044</c:v>
                </c:pt>
                <c:pt idx="14">
                  <c:v>805182.482096218</c:v>
                </c:pt>
                <c:pt idx="15">
                  <c:v>842231.268894053</c:v>
                </c:pt>
                <c:pt idx="16">
                  <c:v>784054.076659313</c:v>
                </c:pt>
                <c:pt idx="17">
                  <c:v>803667.713204716</c:v>
                </c:pt>
                <c:pt idx="18">
                  <c:v>768591.063195035</c:v>
                </c:pt>
                <c:pt idx="19">
                  <c:v>765402.656387365</c:v>
                </c:pt>
                <c:pt idx="20">
                  <c:v>751954.601149785</c:v>
                </c:pt>
                <c:pt idx="21">
                  <c:v>753961.258588071</c:v>
                </c:pt>
                <c:pt idx="22">
                  <c:v>739706.724836986</c:v>
                </c:pt>
                <c:pt idx="23">
                  <c:v>728262.765757631</c:v>
                </c:pt>
                <c:pt idx="24">
                  <c:v>723131.753773548</c:v>
                </c:pt>
                <c:pt idx="25">
                  <c:v>719029.416399214</c:v>
                </c:pt>
                <c:pt idx="26">
                  <c:v>720744.088754497</c:v>
                </c:pt>
                <c:pt idx="27">
                  <c:v>715970.247165135</c:v>
                </c:pt>
                <c:pt idx="28">
                  <c:v>714630.710990997</c:v>
                </c:pt>
                <c:pt idx="29">
                  <c:v>715006.131355397</c:v>
                </c:pt>
              </c:numCache>
            </c:numRef>
          </c:yVal>
        </c:ser>
        <c:ser>
          <c:idx val="1"/>
          <c:order val="1"/>
          <c:tx>
            <c:v>後一年交易（未參與訓練）</c:v>
          </c:tx>
          <c:spPr>
            <a:ln xmlns:a="http://schemas.openxmlformats.org/drawingml/2006/main" w="33338">
              <a:solidFill>
                <a:srgbClr val="BA6548"/>
              </a:solidFill>
              <a:prstDash val="solid"/>
            </a:ln>
          </c:spPr>
          <c:marker>
            <c:symbol val="none"/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1981140.43488927</c:v>
                </c:pt>
                <c:pt idx="1">
                  <c:v>1927632.08130938</c:v>
                </c:pt>
                <c:pt idx="2">
                  <c:v>1809738.66013985</c:v>
                </c:pt>
                <c:pt idx="3">
                  <c:v>1954629.43221374</c:v>
                </c:pt>
                <c:pt idx="4">
                  <c:v>1896944.67968081</c:v>
                </c:pt>
                <c:pt idx="5">
                  <c:v>1867611.84546502</c:v>
                </c:pt>
                <c:pt idx="6">
                  <c:v>1915112.65992417</c:v>
                </c:pt>
                <c:pt idx="7">
                  <c:v>1947167.40665746</c:v>
                </c:pt>
                <c:pt idx="8">
                  <c:v>1876765.10207814</c:v>
                </c:pt>
                <c:pt idx="9">
                  <c:v>1899582.89506721</c:v>
                </c:pt>
                <c:pt idx="10">
                  <c:v>1895966.16637718</c:v>
                </c:pt>
                <c:pt idx="11">
                  <c:v>1800641.35546675</c:v>
                </c:pt>
                <c:pt idx="12">
                  <c:v>1830552.36974665</c:v>
                </c:pt>
                <c:pt idx="13">
                  <c:v>1796817.8718656</c:v>
                </c:pt>
                <c:pt idx="14">
                  <c:v>1762160.26849798</c:v>
                </c:pt>
                <c:pt idx="15">
                  <c:v>1828975.62324592</c:v>
                </c:pt>
                <c:pt idx="16">
                  <c:v>1772272.1199951</c:v>
                </c:pt>
                <c:pt idx="17">
                  <c:v>1789328.48447893</c:v>
                </c:pt>
                <c:pt idx="18">
                  <c:v>1775816.05141653</c:v>
                </c:pt>
                <c:pt idx="19">
                  <c:v>1840723.68747277</c:v>
                </c:pt>
                <c:pt idx="20">
                  <c:v>1796985.67935174</c:v>
                </c:pt>
                <c:pt idx="21">
                  <c:v>1809790.24604321</c:v>
                </c:pt>
                <c:pt idx="22">
                  <c:v>1774012.67498537</c:v>
                </c:pt>
                <c:pt idx="23">
                  <c:v>1770810.76091548</c:v>
                </c:pt>
                <c:pt idx="24">
                  <c:v>1781798.94944525</c:v>
                </c:pt>
                <c:pt idx="25">
                  <c:v>1792743.54911063</c:v>
                </c:pt>
                <c:pt idx="26">
                  <c:v>1781466.20557404</c:v>
                </c:pt>
                <c:pt idx="27">
                  <c:v>1788213.30648566</c:v>
                </c:pt>
                <c:pt idx="28">
                  <c:v>1786753.33411106</c:v>
                </c:pt>
                <c:pt idx="29">
                  <c:v>1777133.9759191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5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4"/>
              </a:solidFill>
            </a:ln>
          </c:spPr>
        </c:majorGridlines>
        <c:numFmt formatCode="0.0,,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30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3A4A4E"/>
                    </a:solidFill>
                    <a:latin typeface="Microsoft JhengHei"/>
                    <a:ea typeface="Microsoft JhengHei"/>
                    <a:cs typeface="Microsoft JhengHei"/>
                  </a:rPr>
                  <a:t>訓練輪數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A4A4E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E1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5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3A4A4E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7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58CCBD-B309-4AE4-AA5C-64909159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1CB3AA-5C26-4422-95C6-2E5C0937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668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台灣房屋銷售價格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預測挑戰賽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A58751E-1573-43F5-85D9-3CE95CC4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rPr>
              <a:t>姓名：廖子頤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rPr>
              <a:t>學號：315581048</a:t>
            </a:r>
          </a:p>
        </p:txBody>
      </p:sp>
    </p:spTree>
    <p:extLst>
      <p:ext uri="{BB962C8B-B14F-4D97-AF65-F5344CB8AC3E}">
        <p14:creationId xmlns:p14="http://schemas.microsoft.com/office/powerpoint/2010/main" val="646556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DAAF2F-10AC-4F03-8637-069D77AD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簡報大綱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71F24C-B3A1-4CDA-AE74-D40C93B2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B3B3630-E3B0-42B5-9254-2821954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從資料整理到估價檢查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44B58F3-9F15-47E8-9AA0-390FE7E0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792B96A-3B99-4CD2-967E-A85E73CF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050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資料準備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F8F3661-AA0A-4E2C-B330-C408FD2A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43125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程式流程、城市樣本、欄位與時間切分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16C5828-6BD6-4189-A36A-EF62878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9814686-9FC6-4367-9F18-960672C9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67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模型訓練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03B88CF-8E0B-4C4A-AD8A-7D036C5A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05150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價格目標、面積、日期與參考單價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4941DD7-8D9E-4E52-8996-1074044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2079726-6812-421B-ADAC-E0E36095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290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預測整合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133FABE-6878-4A9E-B967-636940DF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67175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組合不同模型，修正後取中位數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D4A7BA50-7F83-4CFA-9D93-B9D3E559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4C27393-828B-44E3-81E6-DC4920B6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911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驗證與總結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D42CB712-0133-44E3-BB8E-E7A5C83D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029200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學習曲線與方法總結</a:t>
            </a:r>
          </a:p>
        </p:txBody>
      </p:sp>
    </p:spTree>
    <p:extLst>
      <p:ext uri="{BB962C8B-B14F-4D97-AF65-F5344CB8AC3E}">
        <p14:creationId xmlns:p14="http://schemas.microsoft.com/office/powerpoint/2010/main" val="635897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F7DF3-011F-47E7-A777-F0C2B4A34CE2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4000500" y="45434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8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BD2CF-0D3D-44FF-90B4-B1B75C680B82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715250" y="45434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8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75153-A32E-49E4-9053-F5912223E25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810750" y="31051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8A14C-0F1E-4D4C-B4D7-595BDAF8FA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15250" y="2428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1D534-B4E1-49DA-B5D0-515C51299F6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00500" y="2428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E68"/>
            </a:solidFill>
            <a:prstDash val="solid"/>
            <a:tailEnd type="arrow" w="med" len="med"/>
          </a:ln>
        </p:spPr>
      </p:cxnSp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18F132-4BEF-4861-943E-28E29E3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資料到答案的程式方塊圖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D56BDD-028B-425E-8974-DD385E5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4296CAA-3750-489B-8673-3A53EC9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 資料準備</a:t>
            </a:r>
          </a:p>
        </p:txBody>
      </p:sp>
      <p:sp>
        <p:nvSpPr>
          <p:cNvPr id="4" name="program-flow-block">
            <a:extLst xmlns:a="http://schemas.openxmlformats.org/drawingml/2006/main">
              <a:ext uri="{FF2B5EF4-FFF2-40B4-BE49-F238E27FC236}">
                <a16:creationId xmlns:a16="http://schemas.microsoft.com/office/drawing/2014/main" id="{71AF3882-B517-4D26-A5AF-D438744A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4288">
            <a:solidFill>
              <a:srgbClr val="276E68"/>
            </a:solidFill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0B247C6-F4AB-459D-B6A4-17B73F82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01  讀取與清理</a:t>
            </a:r>
          </a:p>
        </p:txBody>
      </p:sp>
      <p:sp>
        <p:nvSpPr>
          <p:cNvPr id="7" name="program-flow-block">
            <a:extLst xmlns:a="http://schemas.openxmlformats.org/drawingml/2006/main">
              <a:ext uri="{FF2B5EF4-FFF2-40B4-BE49-F238E27FC236}">
                <a16:creationId xmlns:a16="http://schemas.microsoft.com/office/drawing/2014/main" id="{7E891964-5BFB-4D19-B5FD-26AD5714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4288">
            <a:solidFill>
              <a:srgbClr val="276E68"/>
            </a:solidFill>
            <a:prstDash val="solid"/>
          </a:ln>
        </p:spPr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66AA839-3738-44CD-A3DA-5AB72E30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02  欄位解析</a:t>
            </a:r>
          </a:p>
        </p:txBody>
      </p:sp>
      <p:sp>
        <p:nvSpPr>
          <p:cNvPr id="10" name="program-flow-block">
            <a:extLst xmlns:a="http://schemas.openxmlformats.org/drawingml/2006/main">
              <a:ext uri="{FF2B5EF4-FFF2-40B4-BE49-F238E27FC236}">
                <a16:creationId xmlns:a16="http://schemas.microsoft.com/office/drawing/2014/main" id="{9F998C89-6890-4D6C-9099-27EEF9D0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4288">
            <a:solidFill>
              <a:srgbClr val="276E68"/>
            </a:solidFill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836B2D9-2782-4E84-A465-33CDA756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03  依日期切分</a:t>
            </a:r>
          </a:p>
        </p:txBody>
      </p:sp>
      <p:sp>
        <p:nvSpPr>
          <p:cNvPr id="13" name="program-flow-block">
            <a:extLst xmlns:a="http://schemas.openxmlformats.org/drawingml/2006/main">
              <a:ext uri="{FF2B5EF4-FFF2-40B4-BE49-F238E27FC236}">
                <a16:creationId xmlns:a16="http://schemas.microsoft.com/office/drawing/2014/main" id="{D6A5AE15-469C-4119-9848-D8F5B3B3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4288">
            <a:solidFill>
              <a:srgbClr val="276E68"/>
            </a:solidFill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7C15FF7-55F7-4D1F-91CE-E3E4DB6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04  當期模型與規則</a:t>
            </a:r>
          </a:p>
        </p:txBody>
      </p:sp>
      <p:sp>
        <p:nvSpPr>
          <p:cNvPr id="16" name="program-flow-block">
            <a:extLst xmlns:a="http://schemas.openxmlformats.org/drawingml/2006/main">
              <a:ext uri="{FF2B5EF4-FFF2-40B4-BE49-F238E27FC236}">
                <a16:creationId xmlns:a16="http://schemas.microsoft.com/office/drawing/2014/main" id="{87C1742C-FBEF-4781-8870-E496194F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4288">
            <a:solidFill>
              <a:srgbClr val="276E68"/>
            </a:solidFill>
            <a:prstDash val="solid"/>
          </a:ln>
        </p:spPr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21E7AFA5-3126-4AA5-B0B1-E8D01FA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05  三分支與修正</a:t>
            </a:r>
          </a:p>
        </p:txBody>
      </p:sp>
      <p:sp>
        <p:nvSpPr>
          <p:cNvPr id="19" name="program-flow-block">
            <a:extLst xmlns:a="http://schemas.openxmlformats.org/drawingml/2006/main">
              <a:ext uri="{FF2B5EF4-FFF2-40B4-BE49-F238E27FC236}">
                <a16:creationId xmlns:a16="http://schemas.microsoft.com/office/drawing/2014/main" id="{C924EF57-FEFA-4358-AFA4-5C5CD99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4288">
            <a:solidFill>
              <a:srgbClr val="276E68"/>
            </a:solidFill>
            <a:prstDash val="solid"/>
          </a:ln>
        </p:spPr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59E63CEF-C14E-4EA7-B61A-BE254FF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06  評分或輸出</a:t>
            </a:r>
          </a:p>
        </p:txBody>
      </p:sp>
    </p:spTree>
    <p:extLst>
      <p:ext uri="{BB962C8B-B14F-4D97-AF65-F5344CB8AC3E}">
        <p14:creationId xmlns:p14="http://schemas.microsoft.com/office/powerpoint/2010/main" val="1541951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2B1B99-3EAF-45F9-8C17-3EBDDAF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房屋條件與價格答案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21EDA5-2887-43E9-AFCD-6B1109C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BF3031DC-1495-414D-B8AB-88CF2DAB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 資料準備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C5B764B-9543-4584-849A-BBC8A866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特徵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8E329B8-4D70-419C-9193-F053256C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地點、面積、樓層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建物類型、交易日期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956DE3B-3CC0-4D4B-A475-EC4A2749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24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標籤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3A4C1E5-0913-4F1E-A89B-7799083E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已知成交總價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CEF88CE-FE21-4E38-A725-443FAA53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訓練：用條件和答案調整規則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推論：用保存的規則估計新交易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B4946-F0A9-4E9C-8C64-3DD983780E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df0f5e0ec4a7b"/>
          <a:stretch xmlns:a="http://schemas.openxmlformats.org/drawingml/2006/main"/>
        </p:blipFill>
        <p:spPr>
          <a:xfrm xmlns:a="http://schemas.openxmlformats.org/drawingml/2006/main">
            <a:off x="7736661" y="3143250"/>
            <a:ext cx="2909928" cy="2619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7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978C9C-2217-44D7-8540-068E241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估價誤差與 MAE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E9BFD2-4E3D-4084-B455-21A2EB55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ECD0C1A2-43B7-4EA5-AAD2-D6260B8D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 資料準備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98834CE-70E0-48C7-A10A-CC84F711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每筆相差金額取絕對值，再求平均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29F31-D3C2-410E-8010-ACD6C0977E30}"/>
              </a:ext>
            </a:extLst>
          </p:cNvPr>
          <p:cNvGraphicFramePr/>
          <p:nvPr/>
        </p:nvGraphicFramePr>
        <p:xfrm>
          <a:off xmlns:a="http://schemas.openxmlformats.org/drawingml/2006/main" x="762000" y="2371725"/>
          <a:ext xmlns:a="http://schemas.openxmlformats.org/drawingml/2006/main" cx="68580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1809750"/>
                <a:gridCol w="1809750"/>
              </a:tblGrid>
              <a:tr h="7143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絕對誤差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7143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7143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A645AD0-F3F0-46BE-966F-CA093A03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050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MAE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CBDD0C5-B477-43E1-87B9-E5FF8299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76525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75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484C59A-B745-4FC5-ADA6-37CC6A9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9D51269-4F8D-4FCD-BEAB-86240928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6242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（100 + 50）÷ 2</a:t>
            </a:r>
          </a:p>
        </p:txBody>
      </p:sp>
    </p:spTree>
    <p:extLst>
      <p:ext uri="{BB962C8B-B14F-4D97-AF65-F5344CB8AC3E}">
        <p14:creationId xmlns:p14="http://schemas.microsoft.com/office/powerpoint/2010/main" val="1727266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5144AE-3935-45C6-A581-8E621D64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各城市的價格與樣本數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D87961-E6FE-40EB-A655-C7DAAAE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ED8FB7CD-A823-4C43-A601-226B0D97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 資料準備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2FB4740-594F-4E10-9DFA-2622AEB2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清理後課程train：455,255筆，圖表節選6個城市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042DA34-540A-4E4B-B437-2B8C3B487910}"/>
              </a:ext>
            </a:extLst>
          </p:cNvPr>
          <p:cNvGraphicFramePr/>
          <p:nvPr/>
        </p:nvGraphicFramePr>
        <p:xfrm>
          <a:off xmlns:a="http://schemas.openxmlformats.org/drawingml/2006/main" x="762000" y="2038350"/>
          <a:ext xmlns:a="http://schemas.openxmlformats.org/drawingml/2006/main" cx="709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b7f0d54bcc4ca5"/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C4C259D-B666-49FC-8DAE-685726D7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09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各城市成交總價的中位數（萬元）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DCFF8-783D-4336-A0FB-69E8ADC92508}"/>
              </a:ext>
            </a:extLst>
          </p:cNvPr>
          <p:cNvGraphicFramePr/>
          <p:nvPr/>
        </p:nvGraphicFramePr>
        <p:xfrm>
          <a:off xmlns:a="http://schemas.openxmlformats.org/drawingml/2006/main" x="8286750" y="2152650"/>
          <a:ext xmlns:a="http://schemas.openxmlformats.org/drawingml/2006/main" cx="314325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571625"/>
              </a:tblGrid>
              <a:tr h="4667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城市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72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交易筆數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4667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臺北市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20,023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4667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新北市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102,060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4667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臺中市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83,686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4667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桃園市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83,774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4667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9,493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4667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>
                        <a:buNone/>
                      </a:pPr>
                      <a:r>
                        <a:rPr sz="172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40,980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954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BC561B-5EF8-482C-9E80-B19BFC9D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原始文字的處理步驟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6ED5CA-BD7F-4307-AAC6-DDD4495E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DF07B0A-C2EA-4AF1-8361-C512063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 資料準備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6E237-68C6-40DE-8F9F-24A17A5AF27D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62500"/>
                <a:gridCol w="3810000"/>
              </a:tblGrid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原始欄位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我怎麼處理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整理後的資訊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去除逗號，再轉成數值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1,200.5 變成 1200.5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民國年加1911，再拆年月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112年變成2023年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中文數字轉數值，地下層記負數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十二層=12／地下二層=−2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台統一為臺，依名稱結尾拆欄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縣市／行政區／道路／段別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交易筆棟數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依土地、建物、車位擷取數字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土地1、建物1、車位0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496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3F5B45-00CA-4F47-BF61-ED34232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模型輸入欄位的選擇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F28976-2FC0-4293-B46B-68EBDBA5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DEA2A9F5-D8D5-4572-B1AC-BE794A94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 資料準備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8308168-0FBE-41F1-AFDB-6C25668B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先確認每個欄位在估價時能否使用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4FB55-4B95-4FD1-BB61-5153550683D6}"/>
              </a:ext>
            </a:extLst>
          </p:cNvPr>
          <p:cNvGraphicFramePr/>
          <p:nvPr/>
        </p:nvGraphicFramePr>
        <p:xfrm>
          <a:off xmlns:a="http://schemas.openxmlformats.org/drawingml/2006/main" x="762000" y="2162175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333750"/>
                <a:gridCol w="3476625"/>
              </a:tblGrid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資料欄位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實際做法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選擇的原因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面積、樓層、地點、日期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整理成模型輸入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描述房屋與交易條件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成交總價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另存為訓練答案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避免答案混入輸入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保留對齊，排除訓練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識別交易，不代表價格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完整備註、解約等資訊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排除全文與不可用欄位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避免價格或事後資訊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748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2C386D-4E67-4C1D-BCA6-5171880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用較早交易預測下一年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D1CA16-D36A-4862-85E0-F243F4AC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8A8D4C9F-93C0-45C7-A065-983B232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 資料準備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F6D68-0C15-43AD-916C-C9FBBC193112}"/>
              </a:ext>
            </a:extLst>
          </p:cNvPr>
          <p:cNvGraphicFramePr/>
          <p:nvPr/>
        </p:nvGraphicFramePr>
        <p:xfrm>
          <a:off xmlns:a="http://schemas.openxmlformats.org/drawingml/2006/main" x="762000" y="173355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858000"/>
              </a:tblGrid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訓練資料截止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後一年評分期間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2023-02-10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2023-02-11 至 2024-02-10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666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263C92-40ED-44EB-B803-073165AD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模型方法與價格目標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915EA8-881B-4F3B-96F1-4B7F1F4E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6B77665-03B2-4582-BF02-073AC9D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02 模型訓練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F07659E-5664-42D9-B633-A70CC99B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單價樹模型：訓練答案＝已知總價 ÷ 有效面積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B1025-56B2-4546-A26D-39E49FE0AC6B}"/>
              </a:ext>
            </a:extLst>
          </p:cNvPr>
          <p:cNvGraphicFramePr/>
          <p:nvPr/>
        </p:nvGraphicFramePr>
        <p:xfrm>
          <a:off xmlns:a="http://schemas.openxmlformats.org/drawingml/2006/main" x="762000" y="188595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857500"/>
                <a:gridCol w="3905250"/>
              </a:tblGrid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模型路線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先預測什麼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總價如何產生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單價樹模型、面積網路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每平方公尺單價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預測單價 × 有效面積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直接總價樹模型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直接換回總價元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對數總價樹模型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取對數後的總價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將預測值還原為總價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參考單價網路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相對參考價的倍率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參考單價 × 有效面積 × 倍率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1986DD8-1866-4EA2-AE96-517A1F51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CatBoost：逐步加樹修正誤差，內建類別處理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2E688CA-C321-4659-A19E-8918CD88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LightGBM：數值分箱，優先細分能降低誤差的葉節點</a:t>
            </a:r>
          </a:p>
        </p:txBody>
      </p:sp>
    </p:spTree>
    <p:extLst>
      <p:ext uri="{BB962C8B-B14F-4D97-AF65-F5344CB8AC3E}">
        <p14:creationId xmlns:p14="http://schemas.microsoft.com/office/powerpoint/2010/main" val="120002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6D012-6FB2-4ED4-BDD1-DEF5E273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面積與總價誤差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975E65-E3BB-4290-A2CF-185041E2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932988E-8BFD-49A4-B0EA-062092A6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02 模型訓練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62B1287-7629-426E-8E63-80D87BCE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總價 = 單價 × 有效面積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CC1926-BAC1-4C3D-B176-188F5A6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單價同樣估錯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每平方公尺1萬元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36A4894-60B7-409C-8D5E-1965981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面積越大，總價誤差越大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9D3FAA9-BB25-4115-8B0A-53D705BA3A08}"/>
              </a:ext>
            </a:extLst>
          </p:cNvPr>
          <p:cNvGraphicFramePr/>
          <p:nvPr/>
        </p:nvGraphicFramePr>
        <p:xfrm>
          <a:off xmlns:a="http://schemas.openxmlformats.org/drawingml/2006/main" x="6048375" y="2047875"/>
          <a:ext xmlns:a="http://schemas.openxmlformats.org/drawingml/2006/main" cx="5381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5c0a37ffb94b57"/>
          </a:graphicData>
        </a:graphic>
      </p:graphicFrame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389A2B6-FAD4-449D-8D0D-AE001BB5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049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總價誤差，單位：萬元</a:t>
            </a:r>
          </a:p>
        </p:txBody>
      </p:sp>
    </p:spTree>
    <p:extLst>
      <p:ext uri="{BB962C8B-B14F-4D97-AF65-F5344CB8AC3E}">
        <p14:creationId xmlns:p14="http://schemas.microsoft.com/office/powerpoint/2010/main" val="1398171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1B0D76-909B-4561-B5EA-04C4E51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新舊交易的學習影響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4EE246-BE80-404F-AAAF-0D70331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A2D8BD25-D2C5-4B8C-898B-5F78C8A6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02 模型訓練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1A8169A-2843-48C1-ABDC-B33CC71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房價會隨時間改變，因此讓近期成交有較大影響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7ECB1A8-5697-499B-AFA1-90D1A056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權重：一筆交易對模型學習的影響程度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3007627-6EF6-44A6-B18B-5A6330576AC0}"/>
              </a:ext>
            </a:extLst>
          </p:cNvPr>
          <p:cNvGraphicFramePr/>
          <p:nvPr/>
        </p:nvGraphicFramePr>
        <p:xfrm>
          <a:off xmlns:a="http://schemas.openxmlformats.org/drawingml/2006/main" x="762000" y="2381250"/>
          <a:ext xmlns:a="http://schemas.openxmlformats.org/drawingml/2006/main" cx="7048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e000abde8f43d7"/>
          </a:graphicData>
        </a:graphic>
      </p:graphicFrame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933EBC6-F0BE-4FC7-8688-3E15175A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每早一年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影響降為一半</a:t>
            </a:r>
          </a:p>
        </p:txBody>
      </p:sp>
    </p:spTree>
    <p:extLst>
      <p:ext uri="{BB962C8B-B14F-4D97-AF65-F5344CB8AC3E}">
        <p14:creationId xmlns:p14="http://schemas.microsoft.com/office/powerpoint/2010/main" val="6022527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1C474-0F43-4DC0-BE78-F4799F86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相似交易提供參考單價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E492FE-96E4-48F9-957F-7603A6D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557CAF62-21D9-4CC5-B956-96905DE3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02 模型訓練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19B5AA9-42BF-40CC-B88E-A1EB9387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用同類交易的中位單價作參考，近期交易影響較大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6F357D5-FDD5-4C7F-B10E-78D9AA23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教學假例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6ED182D-F388-420A-B295-FA937DBD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20萬/m²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C317185-DBC8-408C-88AA-72E0186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× 50m²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1AC47AB-4C22-4D11-AFFC-55BB60DD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× 1.1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28E2A5A-5FD4-49DF-9AD1-71028AA8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＝1,100萬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6BC64C1-CE31-48CC-BA02-F8E6C080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參考單價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1980ABB-3216-4B9D-B0D1-D5DD52A9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有效面積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13C70C7-78B8-4ED1-AE3F-E8679352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模型學到的倍率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13A4CE63-CB47-4BA6-BFC8-4DEE7946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預測總價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62B07E2-E05A-4B18-87FD-D7521EFE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參考價的分類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833761B7-5A07-4733-8B64-0F2C60E1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依地區、交易及建物類型整理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同類不足30筆，就逐層放寬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233FF17C-E1DA-400D-A506-ABF67DC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訓練時隔開答案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7E856546-0507-41B9-955C-A1615B22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4347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同建案放同組，分成5組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每組只參考其他4組的交易</a:t>
            </a:r>
          </a:p>
        </p:txBody>
      </p:sp>
    </p:spTree>
    <p:extLst>
      <p:ext uri="{BB962C8B-B14F-4D97-AF65-F5344CB8AC3E}">
        <p14:creationId xmlns:p14="http://schemas.microsoft.com/office/powerpoint/2010/main" val="1731292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E04C69-A4B2-4863-B0BB-3E23830E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六模型組成三條分支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664D8D-67ED-4DCF-BA80-77AAE38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68CAC9A-6706-4521-A7B6-141EEEF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03 預測整合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B6E3E3F-251C-460C-996B-ECD8E387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所有輸出先換回總價元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061D3-91C2-4C1F-A6B1-510717DDC03E}"/>
              </a:ext>
            </a:extLst>
          </p:cNvPr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106680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095875"/>
                <a:gridCol w="3429000"/>
              </a:tblGrid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 75%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共同部分 25%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LightGBM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NN、參考單價 NN 平均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 LightGBM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總價／對數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總價、對數 CatBoost 平均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 LightGBM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1274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44B949-4C19-497E-BC2A-1943BEEE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三路估價取中位數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8CB6E9-0CA3-480A-A1FE-CEE21559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D013E9AD-E057-4DB2-8481-67F27C8F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03 預測整合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61651CE-D8A2-4740-B784-A884FD1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三路先完成成交與空間修正，再取中位數（以下為假例）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0AD124A-2635-4F81-8684-E5B65CB8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單價分支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D26FD02-D7F3-4F89-8E61-643DB50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1,000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EF8E22B-3DB0-4924-9EDD-FAEE1FD2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038422B-3357-4B1D-BCF0-49F9E5D4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網路分支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1D63AD9-0807-44A3-ABA4-39FE1767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1,100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BA30AB6-9349-44E4-B614-CF78E985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48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B4C6DE05-AA06-4C92-BFF9-70E36F48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總價／對數分支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880A578-DD6F-44E8-A188-6E46870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1,600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71D25734-6090-4BC3-872F-ECDC89EE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48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</p:spTree>
    <p:extLst>
      <p:ext uri="{BB962C8B-B14F-4D97-AF65-F5344CB8AC3E}">
        <p14:creationId xmlns:p14="http://schemas.microsoft.com/office/powerpoint/2010/main" val="3254842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CDE0B-E070-4F80-9275-87BB2A4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用後一年交易檢查訓練過程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543480-9476-4DD6-B347-31C578B0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B7F6FD1-64A9-46E6-A9D3-B5ABFBC9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04 驗證與總結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F93BB83-8E60-4B20-AD32-CC7E5C7A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較早交易學習：321,550筆　後一年驗證：133,697筆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8DBDF38-51F3-41AA-987E-498EC690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訓練截至2023-08-10　驗證：2023-08-11 至 2024-08-10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C3D6CA0-7BF7-45FB-A603-25750434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86050"/>
            <a:ext cx="704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未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加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權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總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價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MAE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A6158B4-981B-4DC3-BACC-6DEE5CA8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百萬元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052E4C45-0020-4A6A-9F3A-E7C9EF05F4A0}"/>
              </a:ext>
            </a:extLst>
          </p:cNvPr>
          <p:cNvGraphicFramePr/>
          <p:nvPr/>
        </p:nvGraphicFramePr>
        <p:xfrm>
          <a:off xmlns:a="http://schemas.openxmlformats.org/drawingml/2006/main" x="971550" y="2047875"/>
          <a:ext xmlns:a="http://schemas.openxmlformats.org/drawingml/2006/main" cx="10458450" cy="3686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e5db867c3149df"/>
          </a:graphicData>
        </a:graphic>
      </p:graphicFrame>
    </p:spTree>
    <p:extLst>
      <p:ext uri="{BB962C8B-B14F-4D97-AF65-F5344CB8AC3E}">
        <p14:creationId xmlns:p14="http://schemas.microsoft.com/office/powerpoint/2010/main" val="12160793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0E7B28-7451-4E4B-8CC4-D689C500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總結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63C8E9-20E5-4EBA-8CEF-B789A833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C91BB019-4F86-424E-8D85-BA403299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04 驗證與總結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C6448AF-FCE6-4414-9906-79FF01FD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從房屋條件到總價估計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1FE5E7D-223D-4820-B10B-2FA540B5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資料：整理地點、面積與日期，用較早交易預測後一年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6573F1A-AB9B-4CA7-A0DB-4B401E68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方法：六模型還原總價，修正後取三路中位數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22BA6EC-EA02-4001-BF37-46FB5A0A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謝謝大家</a:t>
            </a:r>
          </a:p>
        </p:txBody>
      </p:sp>
    </p:spTree>
    <p:extLst>
      <p:ext uri="{BB962C8B-B14F-4D97-AF65-F5344CB8AC3E}">
        <p14:creationId xmlns:p14="http://schemas.microsoft.com/office/powerpoint/2010/main" val="1215481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2026-10-19T12:24:49.2450000Z</dcterms:created>
  <dcterms:modified xsi:type="dcterms:W3CDTF">2026-10-19T12:24:49.2450000Z</dcterms:modified>
</coreProperties>
</file>