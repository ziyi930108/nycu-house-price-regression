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c7f36790f64124" /><Relationship Type="http://schemas.openxmlformats.org/officeDocument/2006/relationships/extended-properties" Target="/docProps/app.xml" Id="R615de89c0af34cfe" /><Relationship Type="http://schemas.openxmlformats.org/officeDocument/2006/relationships/officeDocument" Target="/ppt/presentation.xml" Id="R7ef3c5e3e7d6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c01748ecb44b7"/>
  </p:sldMasterIdLst>
  <p:notesMasterIdLst>
    <p:notesMasterId xmlns:r="http://schemas.openxmlformats.org/officeDocument/2006/relationships" r:id="R89294cbad2754faa"/>
  </p:notesMasterIdLst>
  <p:sldIdLst>
    <p:sldId xmlns:r="http://schemas.openxmlformats.org/officeDocument/2006/relationships" id="256" r:id="R935d2442734647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e722ca5f046fd" /><Relationship Type="http://schemas.openxmlformats.org/officeDocument/2006/relationships/slideMaster" Target="/ppt/slideMasters/slideMaster1.xml" Id="R1dac01748ecb44b7" /><Relationship Type="http://schemas.openxmlformats.org/officeDocument/2006/relationships/notesMaster" Target="/ppt/notesMasters/notesMaster1.xml" Id="R89294cbad2754faa" /><Relationship Type="http://schemas.openxmlformats.org/officeDocument/2006/relationships/presProps" Target="/ppt/presProps.xml" Id="R2f735343788945db" /><Relationship Type="http://schemas.openxmlformats.org/officeDocument/2006/relationships/tableStyles" Target="/ppt/tableStyles.xml" Id="Reb96a61ae5bf4d98" /><Relationship Type="http://schemas.openxmlformats.org/officeDocument/2006/relationships/slide" Target="/ppt/slides/slide1.xml" Id="R935d2442734647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174bf6106149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8eee6ca874432" /><Relationship Type="http://schemas.openxmlformats.org/officeDocument/2006/relationships/notesMaster" Target="/ppt/notesMasters/notesMaster1.xml" Id="R19a53a9e5f0649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用v25配方另外做一次診斷重跑，補上老師要求的訓練與驗證曲線。原v25的模型和提交價格都保持，這不是它當時每一輪的原始軌跡。橫軸是同一個神經網路從第一輪到第三十輪的學習過程，模型大小一直相同。縱軸是平均總價誤差，單位是萬元，越低越好。藍線用模型學過的交易計算，橘線用時間較晚、沒有參與這期訓練的交易計算。每一輪都關閉 dropout，兩條線也都不用日期權重，讓誤差的單位一致。第三十輪時，訓練誤差約71.50萬元，時間驗證約177.71萬元。驗證後段有波動，沒有持續上升的典型U形，因此不能只憑這張圖斷言沒有過擬合。這張圖只看先驗神經網路的一個原生分量，還沒有加入其他模型、成交參考或中位數。另外，兩組的先驗建立方式不同，因此不能只看線與線的距離，就直接判定過擬合。原本的設定已固定三十輪，沒有看這張圖再挑最好的一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資料與範圍</a:t>
            </a:r>
          </a:p>
          <a:p xmlns:a="http://schemas.openxmlformats.org/drawingml/2006/main">
            <a:r>
              <a:t>curve: outputs/v25_training_curve_20261010/curve.json SHA256 8c02ac44b579db70f918db180f1f54f3b3f603ef225c57ec900a74ac5fff0b6a</a:t>
            </a:r>
          </a:p>
          <a:p xmlns:a="http://schemas.openxmlformats.org/drawingml/2006/main">
            <a:r>
              <a:t>fit_rows=321550; query_rows=133697</a:t>
            </a:r>
          </a:p>
          <a:p xmlns:a="http://schemas.openxmlformats.org/drawingml/2006/main">
            <a:r>
              <a:t>v25配方的一次診斷重跑，非原v25每epoch實際軌跡，原選定模型與CSV不改。原始資料以TWD保存，圖表除以10000顯示萬元。固定30epoch，非模型容量/VC dimension曲線，非v25 median或Kaggle分數。</a:t>
            </a:r>
          </a:p>
          <a:p xmlns:a="http://schemas.openxmlformats.org/drawingml/2006/main">
            <a:r>
              <a:t>學習loss為日期加權SmoothL1，但兩條診斷線均為epoch末eval模式的全資料unweighted總價MAE。</a:t>
            </a:r>
          </a:p>
          <a:p xmlns:a="http://schemas.openxmlformats.org/drawingml/2006/main">
            <a:r>
              <a:t>reports/v25_training_curve_plan_20261010.md SHA256 9fcafe852041782da3d274e91e2a9b6a34899824f5e477f5890a9ab3da5ac2be</a:t>
            </a:r>
          </a:p>
          <a:p xmlns:a="http://schemas.openxmlformats.org/drawingml/2006/main">
            <a:r>
              <a:t>outputs/v25_training_curve_20261010/request.json SHA256 7a99dd5fa4c5b79453089a5b7bfbd05fa8eedef405059003a0931247a9161599</a:t>
            </a:r>
          </a:p>
          <a:p xmlns:a="http://schemas.openxmlformats.org/drawingml/2006/main">
            <a:r>
              <a:t>outputs/v25_training_curve_20261010/seal.json SHA256 62b4bfb48ee0bafd44c3148f79f100bc0e24e3da24089d691fe10c6e8b74180f</a:t>
            </a:r>
          </a:p>
          <a:p xmlns:a="http://schemas.openxmlformats.org/drawingml/2006/main">
            <a:r>
              <a:t>outputs/v25_training_curve_20261010/model/training.json SHA256 88e07eee4ef8588be8a07ee7d979bcf6cee626b0db8c6af0331c8b640c0d1cf1</a:t>
            </a:r>
          </a:p>
          <a:p xmlns:a="http://schemas.openxmlformats.org/drawingml/2006/main">
            <a:r>
              <a:t>outputs/v25_training_curve_20261010/evaluation_labels.json SHA256 13809ed78d538b1ceaaa464408add9fcdbdad544f7c4958f1799dba25cbf16b9</a:t>
            </a:r>
          </a:p>
          <a:p xmlns:a="http://schemas.openxmlformats.org/drawingml/2006/main">
            <a:r>
              <a:t>outputs/v25_training_curve_20261010/private_prediction_manifest.json SHA256 fef1c2faf2461e85a740ff76a48857dcef732f9919e28af726a91088ecb03d68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94a7655b34c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9161d6bbd4f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eecc37ab64d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35ab08e7445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bb96a503a44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d8a3563f143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756EE0-4005-467D-854C-D60A5C1FB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7DF068-3FCD-42B5-87A3-519B53E7C5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946297-A0C2-4A00-BD7D-75AC3EAFC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E6C497-CACC-479B-AAAB-22199F8A6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AAE620-B4B2-4D02-A071-3EA8A60F19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355B17-5E06-4808-B637-124F54AFC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B705BB-941E-420A-88EC-79233A5EA2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26F8B5-2F65-46ED-B454-5D18FBF2DA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FEF8A-C7E4-4EE0-8458-771C1D10E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614AB2-94CB-4CC9-A9CC-F8F6A40E5A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ebbce2f8e4bfb" /><Relationship Type="http://schemas.openxmlformats.org/officeDocument/2006/relationships/slideLayout" Target="/ppt/slideLayouts/slideLayout1.xml" Id="R1d2d7e13776f47bb" /><Relationship Type="http://schemas.openxmlformats.org/officeDocument/2006/relationships/slideLayout" Target="/ppt/slideLayouts/slideLayout2.xml" Id="R84c1454fcd7b4e9a" /><Relationship Type="http://schemas.openxmlformats.org/officeDocument/2006/relationships/slideLayout" Target="/ppt/slideLayouts/slideLayout3.xml" Id="R1d795adf232b4d31" /><Relationship Type="http://schemas.openxmlformats.org/officeDocument/2006/relationships/slideLayout" Target="/ppt/slideLayouts/slideLayout4.xml" Id="R17f132a7b28c4c63" /><Relationship Type="http://schemas.openxmlformats.org/officeDocument/2006/relationships/slideLayout" Target="/ppt/slideLayouts/slideLayout5.xml" Id="R891e891a3eb24c57" /><Relationship Type="http://schemas.openxmlformats.org/officeDocument/2006/relationships/slideLayout" Target="/ppt/slideLayouts/slideLayout6.xml" Id="R74b770bef0cb4e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d7e13776f47bb"/>
    <p:sldLayoutId xmlns:r="http://schemas.openxmlformats.org/officeDocument/2006/relationships" id="2147483650" r:id="R84c1454fcd7b4e9a"/>
    <p:sldLayoutId xmlns:r="http://schemas.openxmlformats.org/officeDocument/2006/relationships" id="2147483651" r:id="R1d795adf232b4d31"/>
    <p:sldLayoutId xmlns:r="http://schemas.openxmlformats.org/officeDocument/2006/relationships" id="2147483652" r:id="R17f132a7b28c4c63"/>
    <p:sldLayoutId xmlns:r="http://schemas.openxmlformats.org/officeDocument/2006/relationships" id="2147483653" r:id="R891e891a3eb24c57"/>
    <p:sldLayoutId xmlns:r="http://schemas.openxmlformats.org/officeDocument/2006/relationships" id="2147483654" r:id="R74b770bef0cb4e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19ced77044e55" /><Relationship Type="http://schemas.openxmlformats.org/officeDocument/2006/relationships/chart" Target="/ppt/slides/charts/chart1.xml" Id="R96624563ce784ff5" /><Relationship Type="http://schemas.openxmlformats.org/officeDocument/2006/relationships/notesSlide" Target="/ppt/notesSlides/notesSlide1.xml" Id="Rf193e831fe0248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訓練資料</c:v>
          </c:tx>
          <c:spPr>
            <a:ln xmlns:a="http://schemas.openxmlformats.org/drawingml/2006/main" w="28575">
              <a:solidFill>
                <a:srgbClr val="2259CB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259C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Data'!$B$2:$B$31</c:f>
              <c:numCache>
                <c:formatCode>0.0</c:formatCode>
                <c:ptCount val="30"/>
                <c:pt idx="0">
                  <c:v>223.5313</c:v>
                </c:pt>
                <c:pt idx="1">
                  <c:v>183.2261</c:v>
                </c:pt>
                <c:pt idx="2">
                  <c:v>159.1416</c:v>
                </c:pt>
                <c:pt idx="3">
                  <c:v>151.0154</c:v>
                </c:pt>
                <c:pt idx="4">
                  <c:v>131.1857</c:v>
                </c:pt>
                <c:pt idx="5">
                  <c:v>118.5183</c:v>
                </c:pt>
                <c:pt idx="6">
                  <c:v>114.8706</c:v>
                </c:pt>
                <c:pt idx="7">
                  <c:v>112.5197</c:v>
                </c:pt>
                <c:pt idx="8">
                  <c:v>101.2947</c:v>
                </c:pt>
                <c:pt idx="9">
                  <c:v>105.1594</c:v>
                </c:pt>
                <c:pt idx="10">
                  <c:v>97.5805</c:v>
                </c:pt>
                <c:pt idx="11">
                  <c:v>92.5532</c:v>
                </c:pt>
                <c:pt idx="12">
                  <c:v>85.7223</c:v>
                </c:pt>
                <c:pt idx="13">
                  <c:v>83.0989</c:v>
                </c:pt>
                <c:pt idx="14">
                  <c:v>80.5182</c:v>
                </c:pt>
                <c:pt idx="15">
                  <c:v>84.2231</c:v>
                </c:pt>
                <c:pt idx="16">
                  <c:v>78.4054</c:v>
                </c:pt>
                <c:pt idx="17">
                  <c:v>80.3668</c:v>
                </c:pt>
                <c:pt idx="18">
                  <c:v>76.8591</c:v>
                </c:pt>
                <c:pt idx="19">
                  <c:v>76.5403</c:v>
                </c:pt>
                <c:pt idx="20">
                  <c:v>75.1955</c:v>
                </c:pt>
                <c:pt idx="21">
                  <c:v>75.3961</c:v>
                </c:pt>
                <c:pt idx="22">
                  <c:v>73.9707</c:v>
                </c:pt>
                <c:pt idx="23">
                  <c:v>72.8263</c:v>
                </c:pt>
                <c:pt idx="24">
                  <c:v>72.3132</c:v>
                </c:pt>
                <c:pt idx="25">
                  <c:v>71.9029</c:v>
                </c:pt>
                <c:pt idx="26">
                  <c:v>72.0744</c:v>
                </c:pt>
                <c:pt idx="27">
                  <c:v>71.597</c:v>
                </c:pt>
                <c:pt idx="28">
                  <c:v>71.4631</c:v>
                </c:pt>
                <c:pt idx="29">
                  <c:v>71.5006</c:v>
                </c:pt>
              </c:numCache>
            </c:numRef>
          </c:yVal>
        </c:ser>
        <c:ser>
          <c:idx val="1"/>
          <c:order val="1"/>
          <c:tx>
            <c:v>時間驗證</c:v>
          </c:tx>
          <c:spPr>
            <a:ln xmlns:a="http://schemas.openxmlformats.org/drawingml/2006/main" w="28575">
              <a:solidFill>
                <a:srgbClr val="AD4B2E"/>
              </a:solidFill>
              <a:prstDash val="solid"/>
            </a:ln>
          </c:spPr>
          <c:marker>
            <c:symbol val="diamond"/>
            <c:size val="3"/>
            <c:spPr>
              <a:solidFill xmlns:a="http://schemas.openxmlformats.org/drawingml/2006/main">
                <a:srgbClr val="AD4B2E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Data'!$D$2:$D$31</c:f>
              <c:numCache>
                <c:formatCode>0.0</c:formatCode>
                <c:ptCount val="30"/>
                <c:pt idx="0">
                  <c:v>198.114</c:v>
                </c:pt>
                <c:pt idx="1">
                  <c:v>192.7632</c:v>
                </c:pt>
                <c:pt idx="2">
                  <c:v>180.9739</c:v>
                </c:pt>
                <c:pt idx="3">
                  <c:v>195.4629</c:v>
                </c:pt>
                <c:pt idx="4">
                  <c:v>189.6945</c:v>
                </c:pt>
                <c:pt idx="5">
                  <c:v>186.7612</c:v>
                </c:pt>
                <c:pt idx="6">
                  <c:v>191.5113</c:v>
                </c:pt>
                <c:pt idx="7">
                  <c:v>194.7167</c:v>
                </c:pt>
                <c:pt idx="8">
                  <c:v>187.6765</c:v>
                </c:pt>
                <c:pt idx="9">
                  <c:v>189.9583</c:v>
                </c:pt>
                <c:pt idx="10">
                  <c:v>189.5966</c:v>
                </c:pt>
                <c:pt idx="11">
                  <c:v>180.0641</c:v>
                </c:pt>
                <c:pt idx="12">
                  <c:v>183.0552</c:v>
                </c:pt>
                <c:pt idx="13">
                  <c:v>179.6818</c:v>
                </c:pt>
                <c:pt idx="14">
                  <c:v>176.216</c:v>
                </c:pt>
                <c:pt idx="15">
                  <c:v>182.8976</c:v>
                </c:pt>
                <c:pt idx="16">
                  <c:v>177.2272</c:v>
                </c:pt>
                <c:pt idx="17">
                  <c:v>178.9328</c:v>
                </c:pt>
                <c:pt idx="18">
                  <c:v>177.5816</c:v>
                </c:pt>
                <c:pt idx="19">
                  <c:v>184.0724</c:v>
                </c:pt>
                <c:pt idx="20">
                  <c:v>179.6986</c:v>
                </c:pt>
                <c:pt idx="21">
                  <c:v>180.979</c:v>
                </c:pt>
                <c:pt idx="22">
                  <c:v>177.4013</c:v>
                </c:pt>
                <c:pt idx="23">
                  <c:v>177.0811</c:v>
                </c:pt>
                <c:pt idx="24">
                  <c:v>178.1799</c:v>
                </c:pt>
                <c:pt idx="25">
                  <c:v>179.2744</c:v>
                </c:pt>
                <c:pt idx="26">
                  <c:v>178.1466</c:v>
                </c:pt>
                <c:pt idx="27">
                  <c:v>178.8213</c:v>
                </c:pt>
                <c:pt idx="28">
                  <c:v>178.6753</c:v>
                </c:pt>
                <c:pt idx="29">
                  <c:v>177.7134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30435A"/>
                    </a:solidFill>
                    <a:latin typeface="Microsoft JhengHei"/>
                    <a:ea typeface="Microsoft JhengHei"/>
                    <a:cs typeface="Microsoft JhengHei"/>
                  </a:rPr>
                  <a:t>總價 MAE（萬元）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0435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40"/>
      </c:valAx>
      <c:valAx>
        <c:axId val="48650112"/>
        <c:scaling>
          <c:orientation val="minMax"/>
          <c:max val="30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30435A"/>
                    </a:solidFill>
                    <a:latin typeface="Microsoft JhengHei"/>
                    <a:ea typeface="Microsoft JhengHei"/>
                    <a:cs typeface="Microsoft JhengHei"/>
                  </a:rPr>
                  <a:t>訓練輪數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0435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5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30435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553C3C-E829-4AB9-B162-72098841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訓練輪數與時間驗證誤差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8151E3-2033-428A-BAB3-8E4F058C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v25配方診斷重跑，先驗神經網路的原生分量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F6899A4-FAED-42E7-A6C9-DBC0C99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學習：成交日期 &lt; 2023-08-11（321,550筆）　時間驗證：2023-08-11～2024-08-10（133,697筆）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0001E80-141E-4365-9408-C36FA95AA6D5}"/>
              </a:ext>
            </a:extLst>
          </p:cNvPr>
          <p:cNvGraphicFramePr/>
          <p:nvPr/>
        </p:nvGraphicFramePr>
        <p:xfrm>
          <a:off xmlns:a="http://schemas.openxmlformats.org/drawingml/2006/main" x="666750" y="2247900"/>
          <a:ext xmlns:a="http://schemas.openxmlformats.org/drawingml/2006/main" cx="108394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624563ce784ff5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1626C6E-44EF-442C-871D-29DCBAE7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兩線都用完整資料、關閉 dropout，計算不加權總價 MAE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9C53043-3966-4713-B559-86050B33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3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固定30輪，原v25模型與CSV保持。訓練先驗為分組OOF，驗證先驗來自完整fit。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C48D8C9-997E-449A-9850-4E7BC3A8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尚未加入其他分支、中位數或成交參考</a:t>
            </a:r>
          </a:p>
        </p:txBody>
      </p:sp>
    </p:spTree>
    <p:extLst>
      <p:ext uri="{BB962C8B-B14F-4D97-AF65-F5344CB8AC3E}">
        <p14:creationId xmlns:p14="http://schemas.microsoft.com/office/powerpoint/2010/main" val="1080926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2026-10-10T08:42:24.1030000Z</dcterms:created>
  <dcterms:modified xsi:type="dcterms:W3CDTF">2026-10-10T08:42:24.1030000Z</dcterms:modified>
</coreProperties>
</file>