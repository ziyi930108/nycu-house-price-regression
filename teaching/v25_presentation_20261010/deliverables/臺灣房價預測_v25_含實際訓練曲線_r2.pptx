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2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3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4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acb774411e4b9d" /><Relationship Type="http://schemas.openxmlformats.org/officeDocument/2006/relationships/extended-properties" Target="/docProps/app.xml" Id="R6752d9c68d964fac" /><Relationship Type="http://schemas.openxmlformats.org/officeDocument/2006/relationships/officeDocument" Target="/ppt/presentation.xml" Id="R3daba30ffd174a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c03758c8534707"/>
  </p:sldMasterIdLst>
  <p:notesMasterIdLst>
    <p:notesMasterId xmlns:r="http://schemas.openxmlformats.org/officeDocument/2006/relationships" r:id="R0ecaa4768b6245dc"/>
  </p:notesMasterIdLst>
  <p:sldIdLst>
    <p:sldId xmlns:r="http://schemas.openxmlformats.org/officeDocument/2006/relationships" id="256" r:id="R0e40d680c18b496a"/>
    <p:sldId xmlns:r="http://schemas.openxmlformats.org/officeDocument/2006/relationships" id="257" r:id="Rc3d14f098b5d4fa7"/>
    <p:sldId xmlns:r="http://schemas.openxmlformats.org/officeDocument/2006/relationships" id="258" r:id="R7c40fbcdb5e04dc0"/>
    <p:sldId xmlns:r="http://schemas.openxmlformats.org/officeDocument/2006/relationships" id="259" r:id="Ra3f11e441d1b454e"/>
    <p:sldId xmlns:r="http://schemas.openxmlformats.org/officeDocument/2006/relationships" id="260" r:id="Ra914dae0b89f4360"/>
    <p:sldId xmlns:r="http://schemas.openxmlformats.org/officeDocument/2006/relationships" id="261" r:id="R0ac957cc97e64e84"/>
    <p:sldId xmlns:r="http://schemas.openxmlformats.org/officeDocument/2006/relationships" id="262" r:id="R1e2403cd0c9d413b"/>
    <p:sldId xmlns:r="http://schemas.openxmlformats.org/officeDocument/2006/relationships" id="263" r:id="Rac77727bae1340a0"/>
    <p:sldId xmlns:r="http://schemas.openxmlformats.org/officeDocument/2006/relationships" id="264" r:id="R088be9db14a34188"/>
    <p:sldId xmlns:r="http://schemas.openxmlformats.org/officeDocument/2006/relationships" id="265" r:id="R078f3eb6aa304d7a"/>
    <p:sldId xmlns:r="http://schemas.openxmlformats.org/officeDocument/2006/relationships" id="266" r:id="R5d6936c9971847a0"/>
    <p:sldId xmlns:r="http://schemas.openxmlformats.org/officeDocument/2006/relationships" id="267" r:id="R6cc230392e3342b3"/>
    <p:sldId xmlns:r="http://schemas.openxmlformats.org/officeDocument/2006/relationships" id="268" r:id="R7fbbf3dab5eb4cfe"/>
    <p:sldId xmlns:r="http://schemas.openxmlformats.org/officeDocument/2006/relationships" id="269" r:id="R602ec89f11254016"/>
    <p:sldId xmlns:r="http://schemas.openxmlformats.org/officeDocument/2006/relationships" id="270" r:id="R14ade91a7c7b49d0"/>
    <p:sldId xmlns:r="http://schemas.openxmlformats.org/officeDocument/2006/relationships" id="271" r:id="R74d182b51b674661"/>
    <p:sldId xmlns:r="http://schemas.openxmlformats.org/officeDocument/2006/relationships" id="272" r:id="Rb88256cd32c34858"/>
    <p:sldId xmlns:r="http://schemas.openxmlformats.org/officeDocument/2006/relationships" id="273" r:id="Rffc17e36a4304589"/>
    <p:sldId xmlns:r="http://schemas.openxmlformats.org/officeDocument/2006/relationships" id="274" r:id="Rab2243ecc33145e0"/>
    <p:sldId xmlns:r="http://schemas.openxmlformats.org/officeDocument/2006/relationships" id="275" r:id="R37afab29eb084b56"/>
    <p:sldId xmlns:r="http://schemas.openxmlformats.org/officeDocument/2006/relationships" id="276" r:id="R3967b8b429b94eee"/>
    <p:sldId xmlns:r="http://schemas.openxmlformats.org/officeDocument/2006/relationships" id="277" r:id="Rd15b9718f97b4b53"/>
    <p:sldId xmlns:r="http://schemas.openxmlformats.org/officeDocument/2006/relationships" id="278" r:id="R9f09e3acbd6a412b"/>
    <p:sldId xmlns:r="http://schemas.openxmlformats.org/officeDocument/2006/relationships" id="279" r:id="R513141cbbd524c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af3bf42b094025" /><Relationship Type="http://schemas.openxmlformats.org/officeDocument/2006/relationships/slideMaster" Target="/ppt/slideMasters/slideMaster1.xml" Id="R8ec03758c8534707" /><Relationship Type="http://schemas.openxmlformats.org/officeDocument/2006/relationships/notesMaster" Target="/ppt/notesMasters/notesMaster1.xml" Id="R0ecaa4768b6245dc" /><Relationship Type="http://schemas.openxmlformats.org/officeDocument/2006/relationships/presProps" Target="/ppt/presProps.xml" Id="R8de0e61da3cc4329" /><Relationship Type="http://schemas.openxmlformats.org/officeDocument/2006/relationships/tableStyles" Target="/ppt/tableStyles.xml" Id="R41218f4f11f14dc1" /><Relationship Type="http://schemas.openxmlformats.org/officeDocument/2006/relationships/slide" Target="/ppt/slides/slide1.xml" Id="R0e40d680c18b496a" /><Relationship Type="http://schemas.openxmlformats.org/officeDocument/2006/relationships/slide" Target="/ppt/slides/slide2.xml" Id="Rc3d14f098b5d4fa7" /><Relationship Type="http://schemas.openxmlformats.org/officeDocument/2006/relationships/slide" Target="/ppt/slides/slide3.xml" Id="R7c40fbcdb5e04dc0" /><Relationship Type="http://schemas.openxmlformats.org/officeDocument/2006/relationships/slide" Target="/ppt/slides/slide4.xml" Id="Ra3f11e441d1b454e" /><Relationship Type="http://schemas.openxmlformats.org/officeDocument/2006/relationships/slide" Target="/ppt/slides/slide5.xml" Id="Ra914dae0b89f4360" /><Relationship Type="http://schemas.openxmlformats.org/officeDocument/2006/relationships/slide" Target="/ppt/slides/slide6.xml" Id="R0ac957cc97e64e84" /><Relationship Type="http://schemas.openxmlformats.org/officeDocument/2006/relationships/slide" Target="/ppt/slides/slide7.xml" Id="R1e2403cd0c9d413b" /><Relationship Type="http://schemas.openxmlformats.org/officeDocument/2006/relationships/slide" Target="/ppt/slides/slide8.xml" Id="Rac77727bae1340a0" /><Relationship Type="http://schemas.openxmlformats.org/officeDocument/2006/relationships/slide" Target="/ppt/slides/slide9.xml" Id="R088be9db14a34188" /><Relationship Type="http://schemas.openxmlformats.org/officeDocument/2006/relationships/slide" Target="/ppt/slides/slide10.xml" Id="R078f3eb6aa304d7a" /><Relationship Type="http://schemas.openxmlformats.org/officeDocument/2006/relationships/slide" Target="/ppt/slides/slide11.xml" Id="R5d6936c9971847a0" /><Relationship Type="http://schemas.openxmlformats.org/officeDocument/2006/relationships/slide" Target="/ppt/slides/slide12.xml" Id="R6cc230392e3342b3" /><Relationship Type="http://schemas.openxmlformats.org/officeDocument/2006/relationships/slide" Target="/ppt/slides/slide13.xml" Id="R7fbbf3dab5eb4cfe" /><Relationship Type="http://schemas.openxmlformats.org/officeDocument/2006/relationships/slide" Target="/ppt/slides/slide14.xml" Id="R602ec89f11254016" /><Relationship Type="http://schemas.openxmlformats.org/officeDocument/2006/relationships/slide" Target="/ppt/slides/slide15.xml" Id="R14ade91a7c7b49d0" /><Relationship Type="http://schemas.openxmlformats.org/officeDocument/2006/relationships/slide" Target="/ppt/slides/slide16.xml" Id="R74d182b51b674661" /><Relationship Type="http://schemas.openxmlformats.org/officeDocument/2006/relationships/slide" Target="/ppt/slides/slide17.xml" Id="Rb88256cd32c34858" /><Relationship Type="http://schemas.openxmlformats.org/officeDocument/2006/relationships/slide" Target="/ppt/slides/slide18.xml" Id="Rffc17e36a4304589" /><Relationship Type="http://schemas.openxmlformats.org/officeDocument/2006/relationships/slide" Target="/ppt/slides/slide19.xml" Id="Rab2243ecc33145e0" /><Relationship Type="http://schemas.openxmlformats.org/officeDocument/2006/relationships/slide" Target="/ppt/slides/slide20.xml" Id="R37afab29eb084b56" /><Relationship Type="http://schemas.openxmlformats.org/officeDocument/2006/relationships/slide" Target="/ppt/slides/slide21.xml" Id="R3967b8b429b94eee" /><Relationship Type="http://schemas.openxmlformats.org/officeDocument/2006/relationships/slide" Target="/ppt/slides/slide22.xml" Id="Rd15b9718f97b4b53" /><Relationship Type="http://schemas.openxmlformats.org/officeDocument/2006/relationships/slide" Target="/ppt/slides/slide23.xml" Id="R9f09e3acbd6a412b" /><Relationship Type="http://schemas.openxmlformats.org/officeDocument/2006/relationships/slide" Target="/ppt/slides/slide24.xml" Id="R513141cbbd524c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6f99fb408849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d64612d53a4540" /><Relationship Type="http://schemas.openxmlformats.org/officeDocument/2006/relationships/notesMaster" Target="/ppt/notesMasters/notesMaster1.xml" Id="R593d2c27d3e345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ff708132624bec" /><Relationship Type="http://schemas.openxmlformats.org/officeDocument/2006/relationships/notesMaster" Target="/ppt/notesMasters/notesMaster1.xml" Id="R5658739c5eb24b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ca7f5b05d0420c" /><Relationship Type="http://schemas.openxmlformats.org/officeDocument/2006/relationships/notesMaster" Target="/ppt/notesMasters/notesMaster1.xml" Id="R7e7bc8fcad1543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513590252d4e87" /><Relationship Type="http://schemas.openxmlformats.org/officeDocument/2006/relationships/notesMaster" Target="/ppt/notesMasters/notesMaster1.xml" Id="Rd7d78f6b43ac4b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0c51e86a454a31" /><Relationship Type="http://schemas.openxmlformats.org/officeDocument/2006/relationships/notesMaster" Target="/ppt/notesMasters/notesMaster1.xml" Id="Rb0cd8fa91b104e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8f8380dfcf47b6" /><Relationship Type="http://schemas.openxmlformats.org/officeDocument/2006/relationships/notesMaster" Target="/ppt/notesMasters/notesMaster1.xml" Id="Re2071031043a43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f091a9189942bb" /><Relationship Type="http://schemas.openxmlformats.org/officeDocument/2006/relationships/notesMaster" Target="/ppt/notesMasters/notesMaster1.xml" Id="Rcee403dab5dd47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410627047940a9" /><Relationship Type="http://schemas.openxmlformats.org/officeDocument/2006/relationships/notesMaster" Target="/ppt/notesMasters/notesMaster1.xml" Id="Re33e13d590354f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a559fb35a240b1" /><Relationship Type="http://schemas.openxmlformats.org/officeDocument/2006/relationships/notesMaster" Target="/ppt/notesMasters/notesMaster1.xml" Id="R3c514e9bcd2e488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fa6d5a78894f1e" /><Relationship Type="http://schemas.openxmlformats.org/officeDocument/2006/relationships/notesMaster" Target="/ppt/notesMasters/notesMaster1.xml" Id="R96802f72c04f4f1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c8ad0f513674dad" /><Relationship Type="http://schemas.openxmlformats.org/officeDocument/2006/relationships/notesMaster" Target="/ppt/notesMasters/notesMaster1.xml" Id="R6a6dfacf55ad48a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743dd69fd49488b" /><Relationship Type="http://schemas.openxmlformats.org/officeDocument/2006/relationships/notesMaster" Target="/ppt/notesMasters/notesMaster1.xml" Id="Rbd5a02b8d4c3435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ca1ddc703af40b1" /><Relationship Type="http://schemas.openxmlformats.org/officeDocument/2006/relationships/notesMaster" Target="/ppt/notesMasters/notesMaster1.xml" Id="R9d580a1a79ce40f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b226f3430304e95" /><Relationship Type="http://schemas.openxmlformats.org/officeDocument/2006/relationships/notesMaster" Target="/ppt/notesMasters/notesMaster1.xml" Id="R4445816cecc2418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219099c7c2e4de1" /><Relationship Type="http://schemas.openxmlformats.org/officeDocument/2006/relationships/notesMaster" Target="/ppt/notesMasters/notesMaster1.xml" Id="R79bfe44e1cb946f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0961770ca484148" /><Relationship Type="http://schemas.openxmlformats.org/officeDocument/2006/relationships/notesMaster" Target="/ppt/notesMasters/notesMaster1.xml" Id="Rd2295b84d4eb488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45529a1f75e4bf6" /><Relationship Type="http://schemas.openxmlformats.org/officeDocument/2006/relationships/notesMaster" Target="/ppt/notesMasters/notesMaster1.xml" Id="Rdc49873c157c46e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3f73856b3e24e8e" /><Relationship Type="http://schemas.openxmlformats.org/officeDocument/2006/relationships/notesMaster" Target="/ppt/notesMasters/notesMaster1.xml" Id="R045b80b2af4a46f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cd4d0d110cf4455" /><Relationship Type="http://schemas.openxmlformats.org/officeDocument/2006/relationships/notesMaster" Target="/ppt/notesMasters/notesMaster1.xml" Id="R73fb2d688feb4b5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2e18129530545a6" /><Relationship Type="http://schemas.openxmlformats.org/officeDocument/2006/relationships/notesMaster" Target="/ppt/notesMasters/notesMaster1.xml" Id="R8790019dfedd4c0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afaefc9f7b74f74" /><Relationship Type="http://schemas.openxmlformats.org/officeDocument/2006/relationships/notesMaster" Target="/ppt/notesMasters/notesMaster1.xml" Id="Rdba05a642d1543c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9bad14b54074c88" /><Relationship Type="http://schemas.openxmlformats.org/officeDocument/2006/relationships/notesMaster" Target="/ppt/notesMasters/notesMaster1.xml" Id="Reb00cd79b62e432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75a51b6b8f54b07" /><Relationship Type="http://schemas.openxmlformats.org/officeDocument/2006/relationships/notesMaster" Target="/ppt/notesMasters/notesMaster1.xml" Id="R8b2adf0cdf354b1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e99196c7a624e47" /><Relationship Type="http://schemas.openxmlformats.org/officeDocument/2006/relationships/notesMaster" Target="/ppt/notesMasters/notesMaster1.xml" Id="R8f50decd586443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大家好，今天介紹臺灣房屋總價預測。想像我們拿到一筆交易，知道面積、地點和成交日期，卻不知道總價。能不能從以前的成交資料，估出它大概多少錢？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今天只介紹已選定提交的模型，檔案裡叫版本二十五，不需要先學過機器學習。我會從電腦怎麼學估價開始，說明資料整理、方法組合與結果檢查，交代每步理由，以及證據還有哪些限制。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我們重點是了解一筆預測怎麼產生，不需要先記住工具名稱或公式。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reports/v25_method_and_code_20261010.md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金額是連續數值，預測這類數值叫回歸。機器學習可以想成：讓電腦從很多題目和答案中找估價規則。面積、樓層、地點是題目線索，叫特徵。已知成交總價是答案，叫標籤。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模型先估價格，比較和答案差多少，再調整規則。反覆練習後，把學好的規則保存起來。遇到沒有答案的新交易，就只看條件來估價。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學規則叫訓練，套用規則叫推論。採用這種方法，是因為地點、面積、建物型態會一起影響價格，很難用一條人工公式處理。但練習得好不夠，還要用沒參與學習的交易檢查。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reports/v25_method_and_code_20261010.md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怎麼知道估得好不好？比賽看平均絕對誤差，英文叫ＭＡＥ。我們算一個教學例子：兩間房的真價都是一千萬元，第一間估一千一百萬，多估一百萬。第二間估九百五十萬，少估五十萬。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只看差距大小，把一百萬和五十萬加起來，除以兩筆，得到七十五萬元。為什麼取絕對值？因為多估和少估都是誤差，不能互相抵銷。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分數越低，這批交易的平均金額差距越小。七十五萬元不是答對的百分比，也不是每筆都差七十五萬。後面讀分數，都要先看是哪一批交易，再看平均差多少錢。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reports/v25_method_and_code_20261010.md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四份資料各有用途。訓練檔約四十五萬六千列，有房屋條件和總價答案。驗證檔約一萬二千列，也有答案。這個提交模型是在最後完整訓練時，才把它加入。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測試檔共四萬七千零七十三筆，沒有總價，要全部估出來。提交範本規定欄位和編號順序，範例價格不能拿來學。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平台再把測試檔分成兩部分：約三成算公開分數，叫Public。其餘約七成算隱藏分數，叫Private。這個三比七分的是測試檔，不是有答案的驗證檔。分清用途，才能避免拿錯資料。隱藏部分的答案我們仍然不知道。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reports/v25_method_and_code_20261010.md</a:t>
            </a:r>
          </a:p>
          <a:p xmlns:a="http://schemas.openxmlformats.org/drawingml/2006/main">
            <a:r>
              <a:t>outputs/kaggle_feedback/public_v25_user_report_20261010.json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先看整條流程。第一步讀原始檔，確認欄位、筆數和順序。第二步處理格式問題和完全重複的內容。第三步，把日期、樓層和地址整理成模型能比較的線索。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接著用較早資料學習，再用後面一年的交易評分，檢查遇到之後的市場還行不行。確定方法後，才用最後可用的有答案資料建立模型，預測測試檔，檢查提交格式。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為什麼分這麼多關？因為跑得動不代表正確。例如順序錯開，就可能把這間房的條件配到另一間房的價格。因此資料順序、程式和保存模型，都要能追查。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reports/v25_method_and_code_20261010.md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原始訓練檔混入三列英文表頭，不是交易，先移除。接著把編號放一旁，比較其他所有原始欄位，總價也一起比。內容完全相同才算重複，移除了五百二十九列。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為什麼不照編號刪？因為編號相同，不一定代表內容完全一樣。最後加入有答案的驗證檔時，再移除二十八列跨檔重複，留下四十六萬七千二百二十一筆有標籤資料，避免同一內容反覆影響模型。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測試檔一筆也不能少，每個編號都要預測。其他缺失和異常按固定規則處理，不能因為某筆價格難估就刪掉。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reports/v25_method_and_code_20261010.md</a:t>
            </a:r>
          </a:p>
          <a:p xmlns:a="http://schemas.openxmlformats.org/drawingml/2006/main">
            <a:r>
              <a:t>src/prepare_data.py</a:t>
            </a:r>
          </a:p>
          <a:p xmlns:a="http://schemas.openxmlformats.org/drawingml/2006/main">
            <a:r>
              <a:t>src/model_common.py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整理房屋線索叫特徵工程。例如把民國日期換成可計算時間，中文樓層分出地下室或整棟，地址拆成行政區和道路，讓交易能用一致方式比較。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欄位不是越多越好。編號只用來對齊，總價是答案，不能當線索。完整備註可能含價格，解約資訊可能在交易後才出現，因此不直接輸入。備註只保留有限的條件旗標。建築完成年月不可用，管理組織全相同，也排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另外使用開放街圖道路位置，補充不含價格的地理資訊。單價CatBoost共有九十五欄，其中二十三欄是地區名稱這類分類文字。其他模型的編碼維度不同。道路位置只代表大致區域，不是精確門牌。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reports/v25_method_and_code_20261010.md</a:t>
            </a:r>
          </a:p>
          <a:p xmlns:a="http://schemas.openxmlformats.org/drawingml/2006/main">
            <a:r>
              <a:t>src/house_features.py</a:t>
            </a:r>
          </a:p>
          <a:p xmlns:a="http://schemas.openxmlformats.org/drawingml/2006/main">
            <a:r>
              <a:t>src/round6_geo.py</a:t>
            </a:r>
          </a:p>
          <a:p xmlns:a="http://schemas.openxmlformats.org/drawingml/2006/main">
            <a:r>
              <a:t>data_external/geography/ATTRIBUTION.md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模型如果只記住練習資料的偶然細節，換一批交易就失準，叫過擬合。房市會隨時間改變，因此每次只看評分期間以前的資料，再預測後面一年，共檢查三個年度。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這個時間界線不只管模型。文字編碼、價格先驗、成交參考和空間狀態，凡是要從資料建立的部分，都用當期訓練資料重建。否則後面的答案可能偷偷流入，叫資料洩漏。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三個年度能檢查跨期表現，但研究已反覆看過這些窗口，仍可能挑到剛好適合它們的配方。時間回測很重要，卻不能當成從沒看過的隱藏考卷。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reports/v25_method_and_code_20261010.md</a:t>
            </a:r>
          </a:p>
          <a:p xmlns:a="http://schemas.openxmlformats.org/drawingml/2006/main">
            <a:r>
              <a:t>outputs/round107/results.json</a:t>
            </a:r>
          </a:p>
          <a:p xmlns:a="http://schemas.openxmlformats.org/drawingml/2006/main">
            <a:r>
              <a:t>reports/round107_108_report.md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這次用了兩種模型。樹模型像一連串條件判斷，例如面積在哪個範圍、位在哪個地區。條件和門檻由資料學出來，再讓很多棵小樹接著修正誤差。兩套工具叫CatBoost和LightGBM。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另一種是神經網路。它把面積等數值、建案等分類資訊整理成數字，經過多層計算，學習條件一起出現時價格怎麼變。代表建案的數字也隨訓練調整，不是人工指定哪個建案高級。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兩種方式有機會互補，但模型多不一定更準。要看完整組合的回測，不能說每個零件都已單獨證明有效。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reports/v25_method_and_code_20261010.md</a:t>
            </a:r>
          </a:p>
          <a:p xmlns:a="http://schemas.openxmlformats.org/drawingml/2006/main">
            <a:r>
              <a:t>src/round47_nn_train.py</a:t>
            </a:r>
          </a:p>
          <a:p xmlns:a="http://schemas.openxmlformats.org/drawingml/2006/main">
            <a:r>
              <a:t>src/round79_recency_unit.py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價格有三種學法：直接學總價。或總價除以有效面積，先學每平方公尺單價，估完再乘回面積。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單價為什麼加面積權重？假設兩間房分別五十和一百平方公尺，單價都估錯一萬元，總價就錯五十萬和一百萬。如果把兩個單價誤差看得一樣重，就沒反映比賽關心的總價差距。因此面積越大，單價誤差在學習中的分量越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有效面積依固定規則選取：建物面積不可用時改用車位面積，再沒有才用一。第三種是對數，把大金額壓縮，提供另一個學習角度。訓練看的是對數尺度誤差。最後都要換回總價元，才能組合和評分。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reports/v25_method_and_code_20261010.md</a:t>
            </a:r>
          </a:p>
          <a:p xmlns:a="http://schemas.openxmlformats.org/drawingml/2006/main">
            <a:r>
              <a:t>src/round19_unit_geo.py</a:t>
            </a:r>
          </a:p>
          <a:p xmlns:a="http://schemas.openxmlformats.org/drawingml/2006/main">
            <a:r>
              <a:t>src/round12_log_geo.py</a:t>
            </a:r>
          </a:p>
          <a:p xmlns:a="http://schemas.openxmlformats.org/drawingml/2006/main">
            <a:r>
              <a:t>src/round79_recency_unit.py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近期成交可能更接近目前市場，所以特定模型讓近期資料對學習有較大影響，這個影響大小叫權重。它改變的是誤差有多重要，不是直接修改房價。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先看比例：最近成交算一，一年前零點五，兩年前零點二五。每過三百六十五天，較早交易的相對權重減半，叫半衰期。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合法日期再除以權重平均值，統一尺度，無效日期給一。單價樹模型另乘面積權重，先驗神經網路也使用保存的日期權重，其餘模型各有設定。不能說全部模型都加同一套權重。舊資料仍參與學習，只是單筆誤差的影響不同，效果還要用後面的交易檢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reports/v25_method_and_code_20261010.md</a:t>
            </a:r>
          </a:p>
          <a:p xmlns:a="http://schemas.openxmlformats.org/drawingml/2006/main">
            <a:r>
              <a:t>src/round60_recency_price_prior.py</a:t>
            </a:r>
          </a:p>
          <a:p xmlns:a="http://schemas.openxmlformats.org/drawingml/2006/main">
            <a:r>
              <a:t>src/round79_recency_unit.py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先驗可以想成估價前的參考單價，從訓練成交整理地區與建案資訊，再讓神經網路學價格的調整倍率。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訓練列的參考價包含自己建案答案，等於練習時偷看線索。所以按建案分五組，輪到第一組時，只用其他四組建立它的先驗。五組輪流排除自己，叫分組折外處理。它不是時間切分，不能說每筆都只參考當日以前。新交易的先驗則來自當期全部訓練資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這支網路使用日期加權的平滑絕對損失：差距在十萬元內，調整比較平順；大差距仍採線性懲罰。固定練三十輪，亂數種子四十二，不看驗證最低點選輪數。這是設計想法，不等於保證比原來準。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reports/v25_method_and_code_20261010.md</a:t>
            </a:r>
          </a:p>
          <a:p xmlns:a="http://schemas.openxmlformats.org/drawingml/2006/main">
            <a:r>
              <a:t>src/round60_recency_price_prior.py</a:t>
            </a:r>
          </a:p>
          <a:p xmlns:a="http://schemas.openxmlformats.org/drawingml/2006/main">
            <a:r>
              <a:t>src/round63_recency_weighted_prior_train.py</a:t>
            </a:r>
          </a:p>
          <a:p xmlns:a="http://schemas.openxmlformats.org/drawingml/2006/main">
            <a:r>
              <a:t>src/round107_weighted_smooth_train.py</a:t>
            </a:r>
          </a:p>
          <a:p xmlns:a="http://schemas.openxmlformats.org/drawingml/2006/main">
            <a:r>
              <a:t>outputs/round107/final/model/training.json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先把模型結果換回總價元，再看表格的三路。第一路以單價CatBoost為主。第二路先平均兩個神經網路。第三路先平均直接總價和對數總價兩個樹模型。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再看共同部分：三路都加入同一個LightGBM單價模型換回的總價。每一路，主要部分占七成五，共同模型占兩成五。合起來仍是四個樹模型、兩個神經網路，共六個模型。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例如主要部分估一千萬，共同模型估一千兩百萬，加權後是一千零五十萬。這還只是初估，下一頁各路分別修正，之後才替每筆交易取三路的中位數。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這樣安排希望保留不同學法的差異，固定比例沒有證明最佳，各支改善也不能直接相加。三路共用同一個模型，因此也不是完全獨立的估價者。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reports/v25_method_and_code_20261010.md</a:t>
            </a:r>
          </a:p>
          <a:p xmlns:a="http://schemas.openxmlformats.org/drawingml/2006/main">
            <a:r>
              <a:t>src/round107_final_candidate.py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三條分支各自做兩步修正，補充模型整體關係沒掌握的建案或街區差異。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第一步，找訓練資料裡同建案、同地址或同道路的可比成交，配合訓練資料估出的時間趨勢，調整初估。第二步，成交參考較弱時，用粗略道路位置附近的歷史資訊補充，並檢查城市、建物型態和用途是否相容。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步叫空間修正，同時讀原本初估和第一步的修正結果，依支持條件決定採用多少，資訊不足就回退。這些價格只來自當期訓練資料，沒有去外部實價登錄找測試答案。道路位置也不等於門牌。三支各自完成後，仍有三個總價，下一步才合成一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reports/v25_method_and_code_20261010.md</a:t>
            </a:r>
          </a:p>
          <a:p xmlns:a="http://schemas.openxmlformats.org/drawingml/2006/main">
            <a:r>
              <a:t>src/round2_neighborhood.py</a:t>
            </a:r>
          </a:p>
          <a:p xmlns:a="http://schemas.openxmlformats.org/drawingml/2006/main">
            <a:r>
              <a:t>src/round8_spatial_reference.py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把三個總價由小到大排好，取中間那個，叫中位數。教學例子中，三支修正後估九百八十萬、一千零二十萬和一千八百萬元，中間是一千零二十萬，就採用它。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如果一條估得特別高，平均會被往上拉。中位數能減少單一極端估價的影響。但假如那個高估價剛好正確，中位數也可能捨掉有用資訊。如果三條一起低估，取中間不會自動變準。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所以它沒有每次更好的保證。順序是先換回總價，各支完成成交與空間修正，最後取中位數。這時已經是總價，不能再乘一次面積。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reports/v25_method_and_code_20261010.md</a:t>
            </a:r>
          </a:p>
          <a:p xmlns:a="http://schemas.openxmlformats.org/drawingml/2006/main">
            <a:r>
              <a:t>src/round107_final_candidate.py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目前方法完整組合的三期結果，不只單一神經網路。最早一期預測二〇二一年八月到二〇二二年八月，平均絕對誤差約兩百三十一點零二萬元。中間一期約一百四十點六〇萬元。最新一期約一百三十八點一七萬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每期都用自己的當期資料建立方法，後一年才拿來評分。這三個點的交易和市場組成不同，因此不是同一模型越練越好的訓練曲線。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較新兩期對原基準小幅改善，但最早一期退步，不能只報最低的一期。季度、城市和新舊建案也分開檢查，整體變好時，某一群仍可能變差。這些不利結果同樣要保留。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reports/v25_method_and_code_20261010.md</a:t>
            </a:r>
          </a:p>
          <a:p xmlns:a="http://schemas.openxmlformats.org/drawingml/2006/main">
            <a:r>
              <a:t>outputs/round107/results.json</a:t>
            </a:r>
          </a:p>
          <a:p xmlns:a="http://schemas.openxmlformats.org/drawingml/2006/main">
            <a:r>
              <a:t>reports/round107_108_report.md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目前選定模型的公開平均誤差約一百九十九點五八萬元。它表示公開評分交易，每筆預測總價與真價的絕對差，平均是這個金額；不是準確率，也不是每間房都差在這個範圍內。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精確分數是提交者這次文字回報，已保存紀錄，沒有新截圖。公開部分約占測試資料三成，其餘約七成的隱藏分數仍未知。兩邊評分交易不同，也不能直接和上一頁的某年度相比。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相對原基準，公開誤差只小幅降低。選定這個模型，不代表已經證明它在隱藏資料最好。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reports/v25_method_and_code_20261010.md</a:t>
            </a:r>
          </a:p>
          <a:p xmlns:a="http://schemas.openxmlformats.org/drawingml/2006/main">
            <a:r>
              <a:t>outputs/kaggle_feedback/public_v25_user_report_20261010.json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把限制整理起來：歷史窗口反覆使用，配方可能越來越適合那幾份考卷。最近年度整體稍好，既有建案卻稍差，最早年度也退步，因此沒有通過原本的強推薦條件。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更有力的反證是另一個候選：離線窗口較好，公開成績反而更差。可見歷史表現不能直接推出未來或隱藏分數。模型多、取中位數，都不能消除共同偏差。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地理資訊也有限制，道路代表點不等於門牌，地址不一定匹配成功。各年度用對應的非價格道路快照，仍不是精確定位。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所以事前固定問題和時間切分，學習只看當期資料，同時檢查整體與分群，保留失敗方案。也不追著公開分數反覆改比例。這些做法減少風險，不能保證沒有過擬合。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reports/v25_method_and_code_20261010.md</a:t>
            </a:r>
          </a:p>
          <a:p xmlns:a="http://schemas.openxmlformats.org/drawingml/2006/main">
            <a:r>
              <a:t>data_external/geography/ATTRIBUTION.md</a:t>
            </a:r>
          </a:p>
          <a:p xmlns:a="http://schemas.openxmlformats.org/drawingml/2006/main">
            <a:r>
              <a:t>outputs/round107/results.json</a:t>
            </a:r>
          </a:p>
          <a:p xmlns:a="http://schemas.openxmlformats.org/drawingml/2006/main">
            <a:r>
              <a:t>reports/round107_108_report.md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是固定配方另跑一次的診斷，不是原提交當時的逐輪紀錄。用二〇二三年八月以前資料學習，後一年交易驗證。橫軸是輪數，模型大小固定，不是容量曲線。每輪關閉隨機丟棄，兩線都用完整資料算不加權總價誤差。最後一輪約七十一點五與一百七十七點七一萬元。驗證線有波動，未明顯持續上升，仍不能說沒有過擬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固定完成三十輪並封存，才讀驗證答案，沒有看最低點選輪數。圖上只有先驗神經網路，還沒加其他模型、成交修正與中位數。訓練先驗用其他建案組，驗證先驗用全訓練集，兩邊不同。曲線差距不能全部解讀成過擬合，也不能代表隱藏分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reports/v25_training_curve_plan_20261010.md</a:t>
            </a:r>
          </a:p>
          <a:p xmlns:a="http://schemas.openxmlformats.org/drawingml/2006/main">
            <a:r>
              <a:t>outputs/v25_training_curve_20261010/curve.json</a:t>
            </a:r>
          </a:p>
          <a:p xmlns:a="http://schemas.openxmlformats.org/drawingml/2006/main">
            <a:r>
              <a:t>src/v25_training_curve_20261010.py</a:t>
            </a:r>
          </a:p>
          <a:p xmlns:a="http://schemas.openxmlformats.org/drawingml/2006/main">
            <a:r>
              <a:t>curve SHA256 8c02ac44b579db70f918db180f1f54f3b3f603ef225c57ec900a74ac5fff0b6a</a:t>
            </a:r>
          </a:p>
          <a:p xmlns:a="http://schemas.openxmlformats.org/drawingml/2006/main">
            <a:r>
              <a:t>reports/v25_training_curve_plan_20261010.md SHA256 9fcafe852041782da3d274e91e2a9b6a34899824f5e477f5890a9ab3da5ac2be</a:t>
            </a:r>
          </a:p>
          <a:p xmlns:a="http://schemas.openxmlformats.org/drawingml/2006/main">
            <a:r>
              <a:t>outputs/v25_training_curve_20261010/request.json SHA256 7a99dd5fa4c5b79453089a5b7bfbd05fa8eedef405059003a0931247a9161599</a:t>
            </a:r>
          </a:p>
          <a:p xmlns:a="http://schemas.openxmlformats.org/drawingml/2006/main">
            <a:r>
              <a:t>outputs/v25_training_curve_20261010/seal.json SHA256 62b4bfb48ee0bafd44c3148f79f100bc0e24e3da24089d691fe10c6e8b74180f</a:t>
            </a:r>
          </a:p>
          <a:p xmlns:a="http://schemas.openxmlformats.org/drawingml/2006/main">
            <a:r>
              <a:t>outputs/v25_training_curve_20261010/model/training.json SHA256 88e07eee4ef8588be8a07ee7d979bcf6cee626b0db8c6af0331c8b640c0d1cf1</a:t>
            </a:r>
          </a:p>
          <a:p xmlns:a="http://schemas.openxmlformats.org/drawingml/2006/main">
            <a:r>
              <a:t>outputs/v25_training_curve_20261010/evaluation_labels.json SHA256 13809ed78d538b1ceaaa464408add9fcdbdad544f7c4958f1799dba25cbf16b9</a:t>
            </a:r>
          </a:p>
          <a:p xmlns:a="http://schemas.openxmlformats.org/drawingml/2006/main">
            <a:r>
              <a:t>outputs/v25_training_curve_20261010/private_prediction_manifest.json SHA256 fef1c2faf2461e85a740ff76a48857dcef732f9919e28af726a91088ecb03d68</a:t>
            </a:r>
          </a:p>
          <a:p xmlns:a="http://schemas.openxmlformats.org/drawingml/2006/main">
            <a:r>
              <a:t>範圍：另一次固定 confirmation 配方診斷，非原 v25 逐 epoch 軌跡；固定30輪，非模型容量或 VC dimension 曲線。兩線皆為 epoch 末 eval 模式、完整資料、不加權總價 MAE。訓練先驗為建案分組 OOF，query 先驗來自完整 fit；未加入成交／空間修正與三路中位數。原 v25 CSV 不改，Private 未知。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最終使用四十六萬七千二百二十一筆有答案資料，新增一次先驗神經網路訓練，其餘模型沿用保存狀態。預測全部四萬七千零七十三筆測試交易，替換對應分量，完成分支修正與中位數，最後才取整。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已核對新網路重新載入後，全部待預測輸出完全一致。提交檔兩欄是編號與總價元，逐列檢查筆數、順序、整數和檔案雜湊。畫面列的是訓練與發行來源，不是新的六模型一鍵推論入口。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目前保存程式、模型和發行證據可供追查。但從原始測試資料，在乾淨環境完整重跑六個模型，仍未完成。這個界線必須說清楚，不能把有檔案等同全部可重現。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reports/v25_method_and_code_20261010.md</a:t>
            </a:r>
          </a:p>
          <a:p xmlns:a="http://schemas.openxmlformats.org/drawingml/2006/main">
            <a:r>
              <a:t>src/round107_weighted_smooth_train.py</a:t>
            </a:r>
          </a:p>
          <a:p xmlns:a="http://schemas.openxmlformats.org/drawingml/2006/main">
            <a:r>
              <a:t>src/round107_full_release.py</a:t>
            </a:r>
          </a:p>
          <a:p xmlns:a="http://schemas.openxmlformats.org/drawingml/2006/main">
            <a:r>
              <a:t>outputs/round107/final/model/training.json</a:t>
            </a:r>
          </a:p>
          <a:p xmlns:a="http://schemas.openxmlformats.org/drawingml/2006/main">
            <a:r>
              <a:t>outputs/round107/final/release.json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到最初問題，只有房屋條件怎麼估總價？先清理資料，把條件整理成線索，再從已知成交學規則。不同模型學總價、單價和對數，面積權重對齊總價誤差，日期權重提高近期成交影響。先驗網路則用平滑損失調整學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六模型組三分支，各自完成成交與空間修正，最後取中位數。年度回測檢查完整方法，逐輪診斷只看一個網路，兩種圖回答不同問題。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目前公開平均誤差約一百九十九點五八萬元，隱藏分數仍未知。程式證據和限制都保留，以上是完整流程，謝謝大家。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reports/v25_method_and_code_20261010.md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頁供問答核對。每個模型符號都代表已經換回元的預測。神經網路分支先平均兩個網路，對數分支先平均直接總價與對數總價模型，再各占四分之三，加入四分之一的共同單價LightGBM。各條分支先經成交參考，再依原基準與參考結果做空間修正，最後逐筆取中位數。完整係數和面積、日期公式列在報告與程式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reports/v25_method_and_code_20261010.md</a:t>
            </a:r>
          </a:p>
          <a:p xmlns:a="http://schemas.openxmlformats.org/drawingml/2006/main">
            <a:r>
              <a:t>src/round107_final_candidate.py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頁供問答核對。先驗網路的損失是日期加權平滑絕對誤差，程式金額單位是百萬元，零點一代表十萬元。差距較小時採平方曲線，較大時仍是線性尾部。固定三十輪、種子四十二，沒有利用驗證答案挑輪數。單價樹模型仍用自己的絕對誤差與面積日期權重，不能說六個模型都用同一種損失。原訓練與發行程式依賴保存狀態，並有拒絕覆寫檢查，完整乾淨重現尚待另外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reports/v25_method_and_code_20261010.md</a:t>
            </a:r>
          </a:p>
          <a:p xmlns:a="http://schemas.openxmlformats.org/drawingml/2006/main">
            <a:r>
              <a:t>src/round107_weighted_smooth_train.py</a:t>
            </a:r>
          </a:p>
          <a:p xmlns:a="http://schemas.openxmlformats.org/drawingml/2006/main">
            <a:r>
              <a:t>src/round107_full_release.py</a:t>
            </a:r>
          </a:p>
          <a:p xmlns:a="http://schemas.openxmlformats.org/drawingml/2006/main">
            <a:r>
              <a:t>src/round79_recency_unit.py</a:t>
            </a:r>
          </a:p>
          <a:p xmlns:a="http://schemas.openxmlformats.org/drawingml/2006/main">
            <a:r>
              <a:t>outputs/round107/final/model/training.json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遇到名詞，可以先問它在流程中做什麼。特徵是房屋條件，標籤是已知價格。訓練或擬合，是利用有答案的資料調整模型。推論是把保存規則套用到待預測資料。編碼把文字或數值整理成模型輸入，價格先驗提供參考基準。泛化表示模型能處理沒練習過的交易，過擬合則是太貼合練習資料的細節。折外處理用其他組建立參考，中位數則是把數字排序後取中間那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reports/v25_method_and_code_20261010.md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bb3b2b857e4b0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f65046c0a5403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47ce146b8e4b3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d7c757e8d94e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e6a43bb55c4b3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555cd3f6654b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DA6022-1ECE-4EC3-8197-1693B20E2D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9E6416E-6C7A-44B9-9593-5209A650AE1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94E55BF-AF6C-4E84-8DD4-9C2F6C50FC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E0D580B-7EEC-4384-9511-DEF15E1B78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DF600B8-D614-407F-A953-D894F10EA4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AD89290-5AA5-4841-B591-B4D827C537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C066C08-0C17-46D9-905D-96A63797EF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F357EF6-69FE-4C19-9B98-C0CB3334268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787E94-229A-41FD-9FBE-3228274BF5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6E0C45B-9508-4723-A19C-2B53ADF2CD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bd2c8cef6c4995" /><Relationship Type="http://schemas.openxmlformats.org/officeDocument/2006/relationships/slideLayout" Target="/ppt/slideLayouts/slideLayout1.xml" Id="R2d8f9efb2cad4a9f" /><Relationship Type="http://schemas.openxmlformats.org/officeDocument/2006/relationships/slideLayout" Target="/ppt/slideLayouts/slideLayout2.xml" Id="Rb829f4c4a02e4f7b" /><Relationship Type="http://schemas.openxmlformats.org/officeDocument/2006/relationships/slideLayout" Target="/ppt/slideLayouts/slideLayout3.xml" Id="Ra0d70454a8df4053" /><Relationship Type="http://schemas.openxmlformats.org/officeDocument/2006/relationships/slideLayout" Target="/ppt/slideLayouts/slideLayout4.xml" Id="R97496cecf9534015" /><Relationship Type="http://schemas.openxmlformats.org/officeDocument/2006/relationships/slideLayout" Target="/ppt/slideLayouts/slideLayout5.xml" Id="R5a3dc2fcdab2445f" /><Relationship Type="http://schemas.openxmlformats.org/officeDocument/2006/relationships/slideLayout" Target="/ppt/slideLayouts/slideLayout6.xml" Id="Rbc72752d558049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8f9efb2cad4a9f"/>
    <p:sldLayoutId xmlns:r="http://schemas.openxmlformats.org/officeDocument/2006/relationships" id="2147483650" r:id="Rb829f4c4a02e4f7b"/>
    <p:sldLayoutId xmlns:r="http://schemas.openxmlformats.org/officeDocument/2006/relationships" id="2147483651" r:id="Ra0d70454a8df4053"/>
    <p:sldLayoutId xmlns:r="http://schemas.openxmlformats.org/officeDocument/2006/relationships" id="2147483652" r:id="R97496cecf9534015"/>
    <p:sldLayoutId xmlns:r="http://schemas.openxmlformats.org/officeDocument/2006/relationships" id="2147483653" r:id="R5a3dc2fcdab2445f"/>
    <p:sldLayoutId xmlns:r="http://schemas.openxmlformats.org/officeDocument/2006/relationships" id="2147483654" r:id="Rbc72752d558049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16d67de53f4800" /><Relationship Type="http://schemas.openxmlformats.org/officeDocument/2006/relationships/notesSlide" Target="/ppt/notesSlides/notesSlide1.xml" Id="R64debd298ca94f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c71d339fe74d5a" /><Relationship Type="http://schemas.openxmlformats.org/officeDocument/2006/relationships/notesSlide" Target="/ppt/notesSlides/notesSlide2.xml" Id="R6a2cf78ab83b43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cbaf4510574d26" /><Relationship Type="http://schemas.openxmlformats.org/officeDocument/2006/relationships/notesSlide" Target="/ppt/notesSlides/notesSlide3.xml" Id="R47f42889253d4f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3e9b177aef4775" /><Relationship Type="http://schemas.openxmlformats.org/officeDocument/2006/relationships/notesSlide" Target="/ppt/notesSlides/notesSlide4.xml" Id="R17a77493e24640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331e58c4974bf8" /><Relationship Type="http://schemas.openxmlformats.org/officeDocument/2006/relationships/notesSlide" Target="/ppt/notesSlides/notesSlide5.xml" Id="Refb9272dfc0a45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af1e3888774b4e" /><Relationship Type="http://schemas.openxmlformats.org/officeDocument/2006/relationships/notesSlide" Target="/ppt/notesSlides/notesSlide6.xml" Id="R104b664fb5ce44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799399df1b45f3" /><Relationship Type="http://schemas.openxmlformats.org/officeDocument/2006/relationships/notesSlide" Target="/ppt/notesSlides/notesSlide7.xml" Id="R4a7838068f574e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338a6c22ba40c0" /><Relationship Type="http://schemas.openxmlformats.org/officeDocument/2006/relationships/notesSlide" Target="/ppt/notesSlides/notesSlide8.xml" Id="R04b3be17dd9b4fb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0521688d124afe" /><Relationship Type="http://schemas.openxmlformats.org/officeDocument/2006/relationships/notesSlide" Target="/ppt/notesSlides/notesSlide9.xml" Id="Rc761f69880074f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fba66e018a44ae" /><Relationship Type="http://schemas.openxmlformats.org/officeDocument/2006/relationships/notesSlide" Target="/ppt/notesSlides/notesSlide10.xml" Id="R7bbc1c1bc8014fa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bafc6257a148eb" /><Relationship Type="http://schemas.openxmlformats.org/officeDocument/2006/relationships/chart" Target="/ppt/slides/charts/chart1.xml" Id="Re2bddc14f83d44dd" /><Relationship Type="http://schemas.openxmlformats.org/officeDocument/2006/relationships/notesSlide" Target="/ppt/notesSlides/notesSlide11.xml" Id="R2b831cace2e1490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a7eaac9bee41ae" /><Relationship Type="http://schemas.openxmlformats.org/officeDocument/2006/relationships/notesSlide" Target="/ppt/notesSlides/notesSlide12.xml" Id="Rb2de1a9b8151478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0a3f15b9fc457d" /><Relationship Type="http://schemas.openxmlformats.org/officeDocument/2006/relationships/notesSlide" Target="/ppt/notesSlides/notesSlide13.xml" Id="Ra0169ece9acd4b4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02a210cb7f439a" /><Relationship Type="http://schemas.openxmlformats.org/officeDocument/2006/relationships/notesSlide" Target="/ppt/notesSlides/notesSlide14.xml" Id="R0c25e307453d486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87fa2a67eb48df" /><Relationship Type="http://schemas.openxmlformats.org/officeDocument/2006/relationships/chart" Target="/ppt/slides/charts/chart2.xml" Id="Re238e0d7ec1249ff" /><Relationship Type="http://schemas.openxmlformats.org/officeDocument/2006/relationships/notesSlide" Target="/ppt/notesSlides/notesSlide15.xml" Id="Ra7f9c1f33dc0456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614f509b934beb" /><Relationship Type="http://schemas.openxmlformats.org/officeDocument/2006/relationships/chart" Target="/ppt/slides/charts/chart3.xml" Id="R1bc05d5b31b1407c" /><Relationship Type="http://schemas.openxmlformats.org/officeDocument/2006/relationships/notesSlide" Target="/ppt/notesSlides/notesSlide16.xml" Id="Rfc32adcbcbab460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583b29281045a7" /><Relationship Type="http://schemas.openxmlformats.org/officeDocument/2006/relationships/notesSlide" Target="/ppt/notesSlides/notesSlide17.xml" Id="Ra1e4036fd26e473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222fc7c90f41f8" /><Relationship Type="http://schemas.openxmlformats.org/officeDocument/2006/relationships/notesSlide" Target="/ppt/notesSlides/notesSlide18.xml" Id="R53eb7a8afeb747c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ba2fa64d9c402f" /><Relationship Type="http://schemas.openxmlformats.org/officeDocument/2006/relationships/chart" Target="/ppt/slides/charts/chart4.xml" Id="R1785f33c9adf4c5e" /><Relationship Type="http://schemas.openxmlformats.org/officeDocument/2006/relationships/notesSlide" Target="/ppt/notesSlides/notesSlide19.xml" Id="R929cbf8fe2bc4ff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93852732fe46d3" /><Relationship Type="http://schemas.openxmlformats.org/officeDocument/2006/relationships/notesSlide" Target="/ppt/notesSlides/notesSlide20.xml" Id="Re27a883c6f204cc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0c653377ec4199" /><Relationship Type="http://schemas.openxmlformats.org/officeDocument/2006/relationships/notesSlide" Target="/ppt/notesSlides/notesSlide21.xml" Id="Rce6c17226a62493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687e6f1e7f4b14" /><Relationship Type="http://schemas.openxmlformats.org/officeDocument/2006/relationships/notesSlide" Target="/ppt/notesSlides/notesSlide22.xml" Id="R43e5f945352b454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027df1ffdf450d" /><Relationship Type="http://schemas.openxmlformats.org/officeDocument/2006/relationships/notesSlide" Target="/ppt/notesSlides/notesSlide23.xml" Id="R43223276af6540d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6ff6f83ea6426f" /><Relationship Type="http://schemas.openxmlformats.org/officeDocument/2006/relationships/notesSlide" Target="/ppt/notesSlides/notesSlide24.xml" Id="R97ab9478c0ca4d2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數值</c:v>
          </c:tx>
          <c:spPr>
            <a:solidFill xmlns:a="http://schemas.openxmlformats.org/drawingml/2006/main">
              <a:srgbClr val="2259CB"/>
            </a:solidFill>
          </c:spPr>
          <c:cat>
            <c:strRef>
              <c:f>'Chart Data'!$A$2:$A$4</c:f>
              <c:strCache>
                <c:ptCount val="3"/>
                <c:pt idx="0">
                  <c:v>最新日期</c:v>
                </c:pt>
                <c:pt idx="1">
                  <c:v>早一年</c:v>
                </c:pt>
                <c:pt idx="2">
                  <c:v>早兩年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</c:v>
                </c:pt>
                <c:pt idx="1">
                  <c:v>0.5</c:v>
                </c:pt>
                <c:pt idx="2">
                  <c:v>0.25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122740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AC9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ax val="1.1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5F0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數值</c:v>
          </c:tx>
          <c:spPr>
            <a:solidFill xmlns:a="http://schemas.openxmlformats.org/drawingml/2006/main">
              <a:srgbClr val="2259CB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AD4B2E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分支 A</c:v>
                </c:pt>
                <c:pt idx="1">
                  <c:v>分支 B</c:v>
                </c:pt>
                <c:pt idx="2">
                  <c:v>分支 C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980</c:v>
                </c:pt>
                <c:pt idx="1">
                  <c:v>1020</c:v>
                </c:pt>
                <c:pt idx="2">
                  <c:v>1800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122740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AC9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ax val="22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5F0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數值</c:v>
          </c:tx>
          <c:spPr>
            <a:solidFill xmlns:a="http://schemas.openxmlformats.org/drawingml/2006/main">
              <a:srgbClr val="2259CB"/>
            </a:solidFill>
          </c:spPr>
          <c:cat>
            <c:strRef>
              <c:f>'Chart Data'!$A$2:$A$4</c:f>
              <c:strCache>
                <c:ptCount val="3"/>
                <c:pt idx="0">
                  <c:v>2021–2022</c:v>
                </c:pt>
                <c:pt idx="1">
                  <c:v>2022–2023</c:v>
                </c:pt>
                <c:pt idx="2">
                  <c:v>2023–2024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231.02</c:v>
                </c:pt>
                <c:pt idx="1">
                  <c:v>140.6</c:v>
                </c:pt>
                <c:pt idx="2">
                  <c:v>138.17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122740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AC9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ax val="2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5F0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訓練資料</c:v>
          </c:tx>
          <c:spPr>
            <a:ln xmlns:a="http://schemas.openxmlformats.org/drawingml/2006/main" w="28575">
              <a:solidFill>
                <a:srgbClr val="2259CB"/>
              </a:solidFill>
              <a:prstDash val="solid"/>
            </a:ln>
          </c:spPr>
          <c:marker>
            <c:symbol val="circle"/>
            <c:size val="3"/>
            <c:spPr>
              <a:solidFill xmlns:a="http://schemas.openxmlformats.org/drawingml/2006/main">
                <a:srgbClr val="2259CB"/>
              </a:solidFill>
            </c:spPr>
          </c:marker>
          <c:xVal>
            <c:numRef>
              <c:f>'Chart Data'!$A$2:$A$31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xVal>
          <c:yVal>
            <c:numRef>
              <c:f>'Chart Data'!$B$2:$B$31</c:f>
              <c:numCache>
                <c:formatCode>0.0</c:formatCode>
                <c:ptCount val="30"/>
                <c:pt idx="0">
                  <c:v>223.5313</c:v>
                </c:pt>
                <c:pt idx="1">
                  <c:v>183.2261</c:v>
                </c:pt>
                <c:pt idx="2">
                  <c:v>159.1416</c:v>
                </c:pt>
                <c:pt idx="3">
                  <c:v>151.0154</c:v>
                </c:pt>
                <c:pt idx="4">
                  <c:v>131.1857</c:v>
                </c:pt>
                <c:pt idx="5">
                  <c:v>118.5183</c:v>
                </c:pt>
                <c:pt idx="6">
                  <c:v>114.8706</c:v>
                </c:pt>
                <c:pt idx="7">
                  <c:v>112.5197</c:v>
                </c:pt>
                <c:pt idx="8">
                  <c:v>101.2947</c:v>
                </c:pt>
                <c:pt idx="9">
                  <c:v>105.1594</c:v>
                </c:pt>
                <c:pt idx="10">
                  <c:v>97.5805</c:v>
                </c:pt>
                <c:pt idx="11">
                  <c:v>92.5532</c:v>
                </c:pt>
                <c:pt idx="12">
                  <c:v>85.7223</c:v>
                </c:pt>
                <c:pt idx="13">
                  <c:v>83.0989</c:v>
                </c:pt>
                <c:pt idx="14">
                  <c:v>80.5182</c:v>
                </c:pt>
                <c:pt idx="15">
                  <c:v>84.2231</c:v>
                </c:pt>
                <c:pt idx="16">
                  <c:v>78.4054</c:v>
                </c:pt>
                <c:pt idx="17">
                  <c:v>80.3668</c:v>
                </c:pt>
                <c:pt idx="18">
                  <c:v>76.8591</c:v>
                </c:pt>
                <c:pt idx="19">
                  <c:v>76.5403</c:v>
                </c:pt>
                <c:pt idx="20">
                  <c:v>75.1955</c:v>
                </c:pt>
                <c:pt idx="21">
                  <c:v>75.3961</c:v>
                </c:pt>
                <c:pt idx="22">
                  <c:v>73.9707</c:v>
                </c:pt>
                <c:pt idx="23">
                  <c:v>72.8263</c:v>
                </c:pt>
                <c:pt idx="24">
                  <c:v>72.3132</c:v>
                </c:pt>
                <c:pt idx="25">
                  <c:v>71.9029</c:v>
                </c:pt>
                <c:pt idx="26">
                  <c:v>72.0744</c:v>
                </c:pt>
                <c:pt idx="27">
                  <c:v>71.597</c:v>
                </c:pt>
                <c:pt idx="28">
                  <c:v>71.4631</c:v>
                </c:pt>
                <c:pt idx="29">
                  <c:v>71.5006</c:v>
                </c:pt>
              </c:numCache>
            </c:numRef>
          </c:yVal>
        </c:ser>
        <c:ser>
          <c:idx val="1"/>
          <c:order val="1"/>
          <c:tx>
            <c:v>時間驗證</c:v>
          </c:tx>
          <c:spPr>
            <a:ln xmlns:a="http://schemas.openxmlformats.org/drawingml/2006/main" w="28575">
              <a:solidFill>
                <a:srgbClr val="AD4B2E"/>
              </a:solidFill>
              <a:prstDash val="solid"/>
            </a:ln>
          </c:spPr>
          <c:marker>
            <c:symbol val="diamond"/>
            <c:size val="3"/>
            <c:spPr>
              <a:solidFill xmlns:a="http://schemas.openxmlformats.org/drawingml/2006/main">
                <a:srgbClr val="AD4B2E"/>
              </a:solidFill>
            </c:spPr>
          </c:marker>
          <c:xVal>
            <c:numRef>
              <c:f>'Chart Data'!$C$2:$C$31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xVal>
          <c:yVal>
            <c:numRef>
              <c:f>'Chart Data'!$D$2:$D$31</c:f>
              <c:numCache>
                <c:formatCode>0.0</c:formatCode>
                <c:ptCount val="30"/>
                <c:pt idx="0">
                  <c:v>198.114</c:v>
                </c:pt>
                <c:pt idx="1">
                  <c:v>192.7632</c:v>
                </c:pt>
                <c:pt idx="2">
                  <c:v>180.9739</c:v>
                </c:pt>
                <c:pt idx="3">
                  <c:v>195.4629</c:v>
                </c:pt>
                <c:pt idx="4">
                  <c:v>189.6945</c:v>
                </c:pt>
                <c:pt idx="5">
                  <c:v>186.7612</c:v>
                </c:pt>
                <c:pt idx="6">
                  <c:v>191.5113</c:v>
                </c:pt>
                <c:pt idx="7">
                  <c:v>194.7167</c:v>
                </c:pt>
                <c:pt idx="8">
                  <c:v>187.6765</c:v>
                </c:pt>
                <c:pt idx="9">
                  <c:v>189.9583</c:v>
                </c:pt>
                <c:pt idx="10">
                  <c:v>189.5966</c:v>
                </c:pt>
                <c:pt idx="11">
                  <c:v>180.0641</c:v>
                </c:pt>
                <c:pt idx="12">
                  <c:v>183.0552</c:v>
                </c:pt>
                <c:pt idx="13">
                  <c:v>179.6818</c:v>
                </c:pt>
                <c:pt idx="14">
                  <c:v>176.216</c:v>
                </c:pt>
                <c:pt idx="15">
                  <c:v>182.8976</c:v>
                </c:pt>
                <c:pt idx="16">
                  <c:v>177.2272</c:v>
                </c:pt>
                <c:pt idx="17">
                  <c:v>178.9328</c:v>
                </c:pt>
                <c:pt idx="18">
                  <c:v>177.5816</c:v>
                </c:pt>
                <c:pt idx="19">
                  <c:v>184.0724</c:v>
                </c:pt>
                <c:pt idx="20">
                  <c:v>179.6986</c:v>
                </c:pt>
                <c:pt idx="21">
                  <c:v>180.979</c:v>
                </c:pt>
                <c:pt idx="22">
                  <c:v>177.4013</c:v>
                </c:pt>
                <c:pt idx="23">
                  <c:v>177.0811</c:v>
                </c:pt>
                <c:pt idx="24">
                  <c:v>178.1799</c:v>
                </c:pt>
                <c:pt idx="25">
                  <c:v>179.2744</c:v>
                </c:pt>
                <c:pt idx="26">
                  <c:v>178.1466</c:v>
                </c:pt>
                <c:pt idx="27">
                  <c:v>178.8213</c:v>
                </c:pt>
                <c:pt idx="28">
                  <c:v>178.6753</c:v>
                </c:pt>
                <c:pt idx="29">
                  <c:v>177.7134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JhengHei"/>
                  <a:ea typeface="Microsoft JhengHei"/>
                  <a:cs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5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30435A"/>
                    </a:solidFill>
                    <a:latin typeface="Microsoft JhengHei"/>
                    <a:ea typeface="Microsoft JhengHei"/>
                    <a:cs typeface="Microsoft JhengHei"/>
                  </a:rPr>
                  <a:t>總價 MAE（萬元）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30435A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majorUnit val="40"/>
      </c:valAx>
      <c:valAx>
        <c:axId val="48650112"/>
        <c:scaling>
          <c:orientation val="minMax"/>
          <c:max val="30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30435A"/>
                    </a:solidFill>
                    <a:latin typeface="Microsoft JhengHei"/>
                    <a:ea typeface="Microsoft JhengHei"/>
                    <a:cs typeface="Microsoft JhengHei"/>
                  </a:rPr>
                  <a:t>訓練輪數 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30435A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BAC9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  <c:majorUnit val="5"/>
      </c:valAx>
      <c:spPr>
        <a:noFill xmlns:a="http://schemas.openxmlformats.org/drawingml/2006/main"/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30435A"/>
              </a:solidFill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9FEA05-DA09-43FF-BC39-03B2E27E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5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55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5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臺灣房屋總價預測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1B2D435-5304-41EA-AB0C-60F51910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52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資料處理與回歸模型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AEA702BA-86DC-4C6A-940C-DF5FC69D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利用歷史成交資料，估計未知交易的總價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0F02543A-0FE3-4B2D-B49D-30AD8E22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完整流程  /  設計理由  /  結果與限制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0725AEB5-B70C-457A-B81B-F8F42A65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198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v25 專題報告</a:t>
            </a:r>
          </a:p>
        </p:txBody>
      </p:sp>
    </p:spTree>
    <p:extLst>
      <p:ext uri="{BB962C8B-B14F-4D97-AF65-F5344CB8AC3E}">
        <p14:creationId xmlns:p14="http://schemas.microsoft.com/office/powerpoint/2010/main" val="20139669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03C209-EA7D-4A24-BD45-76227028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回歸與模型學習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0EF283D-94DE-4284-9ACF-2DF89170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BDD93447-4931-4329-A212-AA589DB6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房屋條件（特徵）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48985767-6675-4DC9-9CC9-722F64B2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00200"/>
            <a:ext cx="47529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成交總價（標籤）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A9AC359-968E-4432-B038-358E356A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5219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地點、面積、樓層、交易日期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70D7D783-6DDA-4E32-BDF2-AE4C03D6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33650"/>
            <a:ext cx="4714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訓練時用來比較的答案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E11F16D1-839D-4132-A22B-42B866A7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7667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訓練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9672AAE6-F06D-4E0E-B550-DAC0EA70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876675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先估價，再與已知總價比較，調整模型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CBC7F756-D846-4D1E-AA4D-80CEF000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推論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AF9E2754-2753-4958-89D7-18933EDE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953000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只提供房屋條件，用保存模型估計未知價格</a:t>
            </a:r>
          </a:p>
        </p:txBody>
      </p:sp>
    </p:spTree>
    <p:extLst>
      <p:ext uri="{BB962C8B-B14F-4D97-AF65-F5344CB8AC3E}">
        <p14:creationId xmlns:p14="http://schemas.microsoft.com/office/powerpoint/2010/main" val="20611499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03EC4F-59F7-4896-B572-BD812EF8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平均絕對誤差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60FD35C-FBE4-4583-92B4-13416E42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A5BCBEB6-BCC0-4927-A4DA-A4298A9D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715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MAE = 每筆「差多少錢」的平均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12BC94-360D-4C6A-A4F7-2BB176290902}"/>
              </a:ext>
            </a:extLst>
          </p:cNvPr>
          <p:cNvGraphicFramePr/>
          <p:nvPr/>
        </p:nvGraphicFramePr>
        <p:xfrm>
          <a:off xmlns:a="http://schemas.openxmlformats.org/drawingml/2006/main" x="666750" y="2466975"/>
          <a:ext xmlns:a="http://schemas.openxmlformats.org/drawingml/2006/main" cx="10839450" cy="2457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2847975"/>
                <a:gridCol w="2847975"/>
                <a:gridCol w="2857500"/>
              </a:tblGrid>
              <a:tr h="81915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教學假設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真實總價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預測總價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差額絕對值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</a:tr>
              <a:tr h="81915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交易 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1,000 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1,100 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100 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交易 B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1,000 萬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950 萬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 萬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</a:tbl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0780DC48-4CCA-405C-B41B-1A1B4737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（100 萬 + 50 萬）÷ 2 = 75 萬元，越低越好</a:t>
            </a:r>
          </a:p>
        </p:txBody>
      </p:sp>
    </p:spTree>
    <p:extLst>
      <p:ext uri="{BB962C8B-B14F-4D97-AF65-F5344CB8AC3E}">
        <p14:creationId xmlns:p14="http://schemas.microsoft.com/office/powerpoint/2010/main" val="7175102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8019F0-A451-41BB-893E-1861D405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四份資料的用途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68D0510-9300-4C03-8E41-3574C794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70513-0519-4173-927E-54E11F467875}"/>
              </a:ext>
            </a:extLst>
          </p:cNvPr>
          <p:cNvGraphicFramePr/>
          <p:nvPr/>
        </p:nvGraphicFramePr>
        <p:xfrm>
          <a:off xmlns:a="http://schemas.openxmlformats.org/drawingml/2006/main" x="666750" y="1657350"/>
          <a:ext xmlns:a="http://schemas.openxmlformats.org/drawingml/2006/main" cx="1083945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1952625"/>
                <a:gridCol w="2076450"/>
                <a:gridCol w="4762500"/>
              </a:tblGrid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檔案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原始列數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已知總價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實際用途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</a:tr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train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455,787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學習與歷史回測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valid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11,994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最終全量訓練時併入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47,073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全部產生價格預測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sample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47,073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格式示例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提供欄名和編號順序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</a:tbl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5D29F6D3-CDC8-4254-A934-080A3F23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Kaggle 將 test 約分成 Public 30% 與 Private 70%</a:t>
            </a:r>
          </a:p>
        </p:txBody>
      </p:sp>
    </p:spTree>
    <p:extLst>
      <p:ext uri="{BB962C8B-B14F-4D97-AF65-F5344CB8AC3E}">
        <p14:creationId xmlns:p14="http://schemas.microsoft.com/office/powerpoint/2010/main" val="18633166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25FA39-2178-4B45-B58A-2D224A23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完整工作流程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1DA70AF-E3CB-4820-BDA2-5DDA72A1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78AE102-8A5A-4571-906E-B30C45D8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99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5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2819BE1-715B-4202-A6EB-577CDC17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647825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資料整理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B522C5FD-2918-4928-9116-77A8975F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676400"/>
            <a:ext cx="670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清理格式、去重、轉換特徵，先把資料對齊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25A3FDA8-9B85-4D9E-84FB-CDC27FCE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99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5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CBE584FD-A077-4AD2-80FB-1DB18423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609850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模型學習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C1C1CD75-58E1-4B39-AA61-B8EC5415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638425"/>
            <a:ext cx="670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用較早交易學習房屋條件與價格的關係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3B712B57-6961-47AF-A1BA-A54A6B31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99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5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86BD4C2F-3D55-49D0-89E9-6C1DB878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71875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歷史回測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C58C55AA-C33C-447A-B0F5-5E46613D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600450"/>
            <a:ext cx="670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預測較晚交易，檢查面對新資料的誤差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212D341A-39E0-4CE0-A143-57ABE873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99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5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3" name="body">
            <a:extLst xmlns:a="http://schemas.openxmlformats.org/drawingml/2006/main">
              <a:ext uri="{FF2B5EF4-FFF2-40B4-BE49-F238E27FC236}">
                <a16:creationId xmlns:a16="http://schemas.microsoft.com/office/drawing/2014/main" id="{0AD91777-A26D-40A6-B8C2-854217AA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533900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最終交付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A56FCE16-317E-4815-94E1-20EDC355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562475"/>
            <a:ext cx="670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確認方法後新增先驗NN訓練，再組合並核對CSV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14F10671-FCFC-47DB-9383-BA8A53FA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每一步都保留程式與結果，讓資料、模型與提交能互相核對</a:t>
            </a:r>
          </a:p>
        </p:txBody>
      </p:sp>
    </p:spTree>
    <p:extLst>
      <p:ext uri="{BB962C8B-B14F-4D97-AF65-F5344CB8AC3E}">
        <p14:creationId xmlns:p14="http://schemas.microsoft.com/office/powerpoint/2010/main" val="16061166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7EB473-BDD9-4BBF-9C7B-80EBC186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資料清理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607C34B-8B42-4B4F-88D8-DAC1762C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53523B-92E7-4806-AED4-07C6F03F44A4}"/>
              </a:ext>
            </a:extLst>
          </p:cNvPr>
          <p:cNvGraphicFramePr/>
          <p:nvPr/>
        </p:nvGraphicFramePr>
        <p:xfrm>
          <a:off xmlns:a="http://schemas.openxmlformats.org/drawingml/2006/main" x="666750" y="1676400"/>
          <a:ext xmlns:a="http://schemas.openxmlformats.org/drawingml/2006/main" cx="7048500" cy="3705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1809750"/>
              </a:tblGrid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整理動作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保留列數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</a:tr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原始 train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455,787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移除 3 列英文表頭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455,784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移除 529 列完全重複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455,255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加入 11,994 筆 valid，再去重 28 筆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467,221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</a:tbl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25D6BA1A-6917-4651-BC26-0CA2EC99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47875"/>
            <a:ext cx="3295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467,221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A8E36CB-8B04-458E-8C9C-2240424B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38475"/>
            <a:ext cx="31718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最終有標籤交易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5E4C77B8-9523-4E9E-BAC3-A838BE93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76725"/>
            <a:ext cx="32766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去重比對整列</a:t>
            </a:r>
          </a:p>
          <a:p xmlns:a="http://schemas.openxmlformats.org/drawingml/2006/main">
            <a:pPr algn="l">
              <a:defRPr sz="20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包含價格、排除編號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0FBC095F-373B-4DD6-9088-781ED3D4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修正格式與重複資訊，test 的 47,073 筆全數保留</a:t>
            </a:r>
          </a:p>
        </p:txBody>
      </p:sp>
    </p:spTree>
    <p:extLst>
      <p:ext uri="{BB962C8B-B14F-4D97-AF65-F5344CB8AC3E}">
        <p14:creationId xmlns:p14="http://schemas.microsoft.com/office/powerpoint/2010/main" val="412665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ADF66F-064F-4AB5-B60E-8EC84238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特徵工程與欄位取捨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47F4A87-7AD9-4441-9F69-09CCAD46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ED739-69E1-4DBA-9E2E-C7E87DF40A9B}"/>
              </a:ext>
            </a:extLst>
          </p:cNvPr>
          <p:cNvGraphicFramePr/>
          <p:nvPr/>
        </p:nvGraphicFramePr>
        <p:xfrm>
          <a:off xmlns:a="http://schemas.openxmlformats.org/drawingml/2006/main" x="666750" y="1676400"/>
          <a:ext xmlns:a="http://schemas.openxmlformats.org/drawingml/2006/main" cx="1083945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4314825"/>
                <a:gridCol w="3333750"/>
              </a:tblGrid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原始資料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交給模型的特徵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</a:tr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民國日期、中文樓層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交易時點、樓層數值與旗標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保留時間與樓層意義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土地、建物、車位面積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面積與比例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描述交易的規模與組成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地址、道路、建案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區域類別與粗略地理資訊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描述區位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編號、總價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編號對齊，總價作學習答案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不把這兩欄當輸入特徵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</a:tbl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9611BA93-D467-4B63-911E-FA088BB1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單價 CatBoost 使用 95 欄，其中 23 欄是類別；其他模型另有編碼</a:t>
            </a:r>
          </a:p>
        </p:txBody>
      </p:sp>
    </p:spTree>
    <p:extLst>
      <p:ext uri="{BB962C8B-B14F-4D97-AF65-F5344CB8AC3E}">
        <p14:creationId xmlns:p14="http://schemas.microsoft.com/office/powerpoint/2010/main" val="11141118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144D7D-D4F8-41B9-94FC-5313AB1E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時間回測與過擬合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C082F00-CFAE-4A57-9D6A-F5BE96D0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2AA106B8-33D1-4E3B-BA4E-D2947F8C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14475"/>
            <a:ext cx="10715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先學過去，再預測後一年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62D9E0-65D0-458D-A034-D713BF073952}"/>
              </a:ext>
            </a:extLst>
          </p:cNvPr>
          <p:cNvGraphicFramePr/>
          <p:nvPr/>
        </p:nvGraphicFramePr>
        <p:xfrm>
          <a:off xmlns:a="http://schemas.openxmlformats.org/drawingml/2006/main" x="666750" y="2609850"/>
          <a:ext xmlns:a="http://schemas.openxmlformats.org/drawingml/2006/main" cx="10839450" cy="2705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3429000"/>
                <a:gridCol w="5219700"/>
              </a:tblGrid>
              <a:tr h="67627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回測窗口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學習：截至這天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評分：接下來一年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</a:tr>
              <a:tr h="67627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較早窗口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2021-08-10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2021-08-11 至 2022-08-10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中間窗口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2022-08-10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2022-08-11 至 2023-08-10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  <a:tr h="67627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較新窗口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2023-08-10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2023-08-11 至 2024-08-10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BE275685-DECD-4178-91AC-1D721D8A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每個窗口都只用當期學習資料，重建模型、編碼與價格參考</a:t>
            </a:r>
          </a:p>
        </p:txBody>
      </p:sp>
    </p:spTree>
    <p:extLst>
      <p:ext uri="{BB962C8B-B14F-4D97-AF65-F5344CB8AC3E}">
        <p14:creationId xmlns:p14="http://schemas.microsoft.com/office/powerpoint/2010/main" val="1647330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B237F0-0796-4682-8F3C-6FF1C173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樹模型與神經網路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37B57D8-31DA-4A29-B4CD-B690CBB3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0A5F4FDF-3DE9-4642-BE78-1F79EE47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樹模型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2491A9FD-A242-4166-B543-445BC8CF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600200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依資料條件逐步分群，再估計價格</a:t>
            </a:r>
          </a:p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例如同區、面積、樓層共同影響估價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D44DBF9B-A14E-46AB-85A8-96FA81A9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876550"/>
            <a:ext cx="70199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CatBoost 與 LightGBM 會讓多棵樹逐步修正誤差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52E480D7-67DC-4C00-8586-C4CF3579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表格神經網路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D182EFA8-C715-45CC-AED1-4F659F7D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038600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把數值和類別轉成可學習的表示</a:t>
            </a:r>
          </a:p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再透過多層計算估計價格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0D282869-B30F-4D8D-9843-C0F9C5C5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使用多種模型的目的是嘗試不同估計方式，效果仍要靠回測</a:t>
            </a:r>
          </a:p>
        </p:txBody>
      </p:sp>
    </p:spTree>
    <p:extLst>
      <p:ext uri="{BB962C8B-B14F-4D97-AF65-F5344CB8AC3E}">
        <p14:creationId xmlns:p14="http://schemas.microsoft.com/office/powerpoint/2010/main" val="17330811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F5515A-9BFB-4BB4-B3FE-EE5F4390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總價、單價與對數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97BB264-34E0-4CFD-98EE-FB7A7153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24238654-9604-4CE8-9231-F333E1D5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95425"/>
            <a:ext cx="10839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總價 = 單價 × 面積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D9C0D9-7C75-441E-B334-A9340F354B76}"/>
              </a:ext>
            </a:extLst>
          </p:cNvPr>
          <p:cNvGraphicFramePr/>
          <p:nvPr/>
        </p:nvGraphicFramePr>
        <p:xfrm>
          <a:off xmlns:a="http://schemas.openxmlformats.org/drawingml/2006/main" x="666750" y="2466975"/>
          <a:ext xmlns:a="http://schemas.openxmlformats.org/drawingml/2006/main" cx="1083945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705225"/>
                <a:gridCol w="3705225"/>
              </a:tblGrid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教學假設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單價估錯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造成的總價誤差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</a:tr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 平方公尺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每平方公尺 1 萬元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 萬元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100 平方公尺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每平方公尺 1 萬元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100 萬元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</a:tbl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D2FA4BC3-9940-44AE-B39A-25FE7957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53025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面積權重讓單價模型更貼近「總共差多少錢」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D2219417-DDBC-4EF7-BC16-22F3C099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839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另一種表示使用 log 壓縮價格尺度，最後都還原成總價元</a:t>
            </a:r>
          </a:p>
        </p:txBody>
      </p:sp>
    </p:spTree>
    <p:extLst>
      <p:ext uri="{BB962C8B-B14F-4D97-AF65-F5344CB8AC3E}">
        <p14:creationId xmlns:p14="http://schemas.microsoft.com/office/powerpoint/2010/main" val="20980733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F783BA-085E-490F-872D-B7774F4A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近期成交權重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C8DC992-4A90-4A56-B400-65C1D2AF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0B81D2BC-1204-4BC1-A161-4412F457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083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相對日期權重，未正規化的示意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786CDD02-0CC4-4F77-861D-971E231C9F7D}"/>
              </a:ext>
            </a:extLst>
          </p:cNvPr>
          <p:cNvGraphicFramePr/>
          <p:nvPr/>
        </p:nvGraphicFramePr>
        <p:xfrm>
          <a:off xmlns:a="http://schemas.openxmlformats.org/drawingml/2006/main" x="666750" y="2152650"/>
          <a:ext xmlns:a="http://schemas.openxmlformats.org/drawingml/2006/main" cx="10668000" cy="29622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2bddc14f83d44dd"/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23821AA0-6D80-4EDE-9EBD-77E96774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365 日半衰期：單價 CatBoost 與先驗 NN 使用日期權重</a:t>
            </a:r>
          </a:p>
        </p:txBody>
      </p:sp>
    </p:spTree>
    <p:extLst>
      <p:ext uri="{BB962C8B-B14F-4D97-AF65-F5344CB8AC3E}">
        <p14:creationId xmlns:p14="http://schemas.microsoft.com/office/powerpoint/2010/main" val="4492024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9AAAC8C-567F-4A22-A5FC-91BB3527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價格先驗與分組學習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FA8E6CC-F3C9-4E58-9DE2-77919634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0E8E7BC-BFAB-494E-8894-3DBF360B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95425"/>
            <a:ext cx="10839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先驗 = 從訓練成交整理出的參考單價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F9FEEA41-774F-460E-B41D-17C29D93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按建案分 5 組；第 1 組使用其他四組建立自己的先驗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F20D6-1CD3-4D99-BD1C-50A2597ED883}"/>
              </a:ext>
            </a:extLst>
          </p:cNvPr>
          <p:cNvGraphicFramePr/>
          <p:nvPr/>
        </p:nvGraphicFramePr>
        <p:xfrm>
          <a:off xmlns:a="http://schemas.openxmlformats.org/drawingml/2006/main" x="666750" y="3000375"/>
          <a:ext xmlns:a="http://schemas.openxmlformats.org/drawingml/2006/main" cx="10839450" cy="1438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2175"/>
                <a:gridCol w="2162175"/>
                <a:gridCol w="2162175"/>
                <a:gridCol w="2162175"/>
                <a:gridCol w="2190750"/>
              </a:tblGrid>
              <a:tr h="7191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1 組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2 組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3 組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4 組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5 組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</a:tr>
              <a:tr h="7191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待建立先驗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提供成交價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提供成交價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提供成交價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提供成交價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B8B4EE5D-C4B2-43A4-98AA-A506A13E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訓練：分組 OOF，非時間切分；新交易：用完整當期 fit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CAE5F89F-2C56-4367-A37A-F9262FE6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38775"/>
            <a:ext cx="10839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先驗 NN：日期加權 SmoothL1，10 萬元轉折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FC940F16-24E4-4FDE-BA4D-964D9494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83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固定 30 輪、seed 42，不依驗證最低點選輪數</a:t>
            </a:r>
          </a:p>
        </p:txBody>
      </p:sp>
    </p:spTree>
    <p:extLst>
      <p:ext uri="{BB962C8B-B14F-4D97-AF65-F5344CB8AC3E}">
        <p14:creationId xmlns:p14="http://schemas.microsoft.com/office/powerpoint/2010/main" val="20967910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33F8BA-8744-4992-9DD0-315F42E6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六個模型與三條分支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06CBBDF-589D-4A1B-A855-9B6CAB89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08F9B2CF-285A-4799-BA0C-05842179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438275"/>
            <a:ext cx="107537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所有預測先換回總價元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70899E-2C7B-48AF-8A2C-B2A6F04A1C78}"/>
              </a:ext>
            </a:extLst>
          </p:cNvPr>
          <p:cNvGraphicFramePr/>
          <p:nvPr/>
        </p:nvGraphicFramePr>
        <p:xfrm>
          <a:off xmlns:a="http://schemas.openxmlformats.org/drawingml/2006/main" x="666750" y="2124075"/>
          <a:ext xmlns:a="http://schemas.openxmlformats.org/drawingml/2006/main" cx="10839450" cy="2771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19350"/>
                <a:gridCol w="4572000"/>
                <a:gridCol w="3848100"/>
              </a:tblGrid>
              <a:tr h="692944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分支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主要部分：占 75%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共同加入：占 25%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</a:tr>
              <a:tr h="692944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單價分支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 CatBoost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同一個單價 LightGBM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2944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神經網路分支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面積 NN、先驗 NN 先平均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同一個單價 LightGBM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  <a:tr h="692944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對數分支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總價、log CatBoost 先平均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同一個單價 LightGBM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BB1437C9-F92A-48C4-B819-4D7BB9F0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14925"/>
            <a:ext cx="10801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3 個 CatBoost + 1 個 LightGBM + 2 個 NN = 6 個模型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177508E8-F2E6-4A48-B796-5541B13E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10801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教學假設（萬元）：1,000×75% + 1,200×25% = 1,050</a:t>
            </a:r>
          </a:p>
        </p:txBody>
      </p:sp>
    </p:spTree>
    <p:extLst>
      <p:ext uri="{BB962C8B-B14F-4D97-AF65-F5344CB8AC3E}">
        <p14:creationId xmlns:p14="http://schemas.microsoft.com/office/powerpoint/2010/main" val="2326852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B71392-C189-48E9-8F82-CE00E1CD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成交參考與空間修正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58EBD5F-D5A7-4AE6-B514-0021506B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00E20FA-1112-49D7-A404-34E9F8DA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1104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1E89637B-9B4C-41F1-B52E-EA910040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54305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成交參考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A65D932A-38FC-4D8F-9B74-DEB33634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247900"/>
            <a:ext cx="9334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同建案、同地址、同道路的已知成交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C621BCF8-91FD-414A-945B-22DD1DAE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857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再比較物件條件與時間趨勢，結合原估價及參考價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2A03EBD1-74B1-44FF-9232-EDBD1970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104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65141518-B23F-4D3D-8801-C779190B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72427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空間修正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8F4447DD-DB5D-4572-B95A-B8D22C07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381500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參考支持較弱時才補充附近資訊，支持不足就回退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EFAA08AA-8677-4CCF-B444-1A8A0103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10839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每條分支各自修正，保留三個總價，下一步才取中位數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D3D15099-3EE8-4035-B16B-4EAD342F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價格只來自課程已知標籤；外部道路資料不提供成交答案</a:t>
            </a:r>
          </a:p>
        </p:txBody>
      </p:sp>
    </p:spTree>
    <p:extLst>
      <p:ext uri="{BB962C8B-B14F-4D97-AF65-F5344CB8AC3E}">
        <p14:creationId xmlns:p14="http://schemas.microsoft.com/office/powerpoint/2010/main" val="8891828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4F453F-A401-46B7-A9B8-70664986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逐筆取中位數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B22AB3C-A7CE-4672-9DDA-BBB69E47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D0C37BC-C1AB-462C-A710-5A416190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同一間房子的三個修正後估價，單位：萬元（教學假設）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3B912052-0895-4645-9C0F-528BD4B5414A}"/>
              </a:ext>
            </a:extLst>
          </p:cNvPr>
          <p:cNvGraphicFramePr/>
          <p:nvPr/>
        </p:nvGraphicFramePr>
        <p:xfrm>
          <a:off xmlns:a="http://schemas.openxmlformats.org/drawingml/2006/main" x="666750" y="2266950"/>
          <a:ext xmlns:a="http://schemas.openxmlformats.org/drawingml/2006/main" cx="10668000" cy="2838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238e0d7ec1249ff"/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EBB77411-DE6E-4E40-940A-871507C3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排序後取中間值 1,020 萬元，降低單一極端估價的影響</a:t>
            </a:r>
          </a:p>
        </p:txBody>
      </p:sp>
    </p:spTree>
    <p:extLst>
      <p:ext uri="{BB962C8B-B14F-4D97-AF65-F5344CB8AC3E}">
        <p14:creationId xmlns:p14="http://schemas.microsoft.com/office/powerpoint/2010/main" val="13119518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E703C0-6927-4FB9-BB65-E24F844A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三期時間回測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A2419FF-ECBD-49B2-93D0-09458E3C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4373F48-383C-402D-AABC-653A6430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10839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完整三分支中位數 MAE，單位：萬元，越低越好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2475C7DE-62ED-4378-BF0B-7E6FC7532A84}"/>
              </a:ext>
            </a:extLst>
          </p:cNvPr>
          <p:cNvGraphicFramePr/>
          <p:nvPr/>
        </p:nvGraphicFramePr>
        <p:xfrm>
          <a:off xmlns:a="http://schemas.openxmlformats.org/drawingml/2006/main" x="666750" y="2200275"/>
          <a:ext xmlns:a="http://schemas.openxmlformats.org/drawingml/2006/main" cx="10668000" cy="2876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c05d5b31b1407c"/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EE55CBA1-5E0E-4419-9953-FBB7569F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三個年度是不同評分集合，不能把下降解讀成同一批資料持續進步</a:t>
            </a:r>
          </a:p>
        </p:txBody>
      </p:sp>
    </p:spTree>
    <p:extLst>
      <p:ext uri="{BB962C8B-B14F-4D97-AF65-F5344CB8AC3E}">
        <p14:creationId xmlns:p14="http://schemas.microsoft.com/office/powerpoint/2010/main" val="43203648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C90EE72-8BFC-489F-92D3-E9250097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Kaggle 公開成績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70B9042-DF8C-4519-992E-763A2ED8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A6979BE7-975C-4794-9736-614B68F8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Public 平均絕對誤差（MAE）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990BF289-639C-49C4-B837-3413F6DB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95475"/>
            <a:ext cx="657225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10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810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10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199.58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D861A52-E5BA-4973-A1F4-0E05CD0F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438525"/>
            <a:ext cx="2762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2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萬元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951D423D-55DB-421C-8069-BDDBE8F3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90750"/>
            <a:ext cx="40195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公開 test 約 30%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34AC08DC-41AD-4568-B48C-649D6FB4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90875"/>
            <a:ext cx="39909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反映平均差距</a:t>
            </a:r>
          </a:p>
          <a:p xmlns:a="http://schemas.openxmlformats.org/drawingml/2006/main">
            <a:pPr algn="l">
              <a:defRPr sz="217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不是每筆誤差上限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6C2A26BC-A8AC-4D7F-A71E-B45FB5EF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924425"/>
            <a:ext cx="107727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完整分數：1,995,836.2136 元，依使用者文字回報；無新截圖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B08A4FB9-A61A-4F00-BD17-45F47A0C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810250"/>
            <a:ext cx="1064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其餘約 70% 是 Private，目前分數未知</a:t>
            </a:r>
          </a:p>
        </p:txBody>
      </p:sp>
    </p:spTree>
    <p:extLst>
      <p:ext uri="{BB962C8B-B14F-4D97-AF65-F5344CB8AC3E}">
        <p14:creationId xmlns:p14="http://schemas.microsoft.com/office/powerpoint/2010/main" val="67593445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F14478-D337-49B3-8097-C3ECDA11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限制與防過擬合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642EAF3-3DF5-40FB-AF6C-714F2814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516732CA-92E5-431A-BFAD-B2036448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9067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驗證重複使用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AE762DDD-3ACC-481A-BAEB-984018DD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590675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多次使用同一批歷史窗口，可能累積選型偏差</a:t>
            </a:r>
          </a:p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最早年與最近既有建案退步，原強條件未通過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705761D5-DA56-4CC2-8791-F573C387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整體平均的盲點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99C33915-AA23-4021-B26F-5C54B836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171825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另一候選離線較好，Public 卻更差</a:t>
            </a:r>
          </a:p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多分支與中位數也可能一起估錯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1BBD55DD-6CEC-41F2-8AFC-E88AD75B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5297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地理資訊的精度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7C90548F-D09A-4FF2-8672-41E0EB44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752975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每年用對應的非價格道路快照</a:t>
            </a:r>
          </a:p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道路代表點無法等同精確的住宅位置</a:t>
            </a:r>
          </a:p>
        </p:txBody>
      </p:sp>
    </p:spTree>
    <p:extLst>
      <p:ext uri="{BB962C8B-B14F-4D97-AF65-F5344CB8AC3E}">
        <p14:creationId xmlns:p14="http://schemas.microsoft.com/office/powerpoint/2010/main" val="47247215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2915C4-21C5-4291-8D01-84C08339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訓練輪數與時間驗證誤差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1452721-9AD3-4118-923D-9378508B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83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v25配方診斷重跑，先驗神經網路的原生分量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BB7C35A-F7B1-4840-97E1-3EFCD147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0839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學習：成交日期 &lt; 2023-08-11（321,550筆）　時間驗證：2023-08-11～2024-08-10（133,697筆）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C91D4838-64F5-4E54-AC3E-DCC97F387D39}"/>
              </a:ext>
            </a:extLst>
          </p:cNvPr>
          <p:cNvGraphicFramePr/>
          <p:nvPr/>
        </p:nvGraphicFramePr>
        <p:xfrm>
          <a:off xmlns:a="http://schemas.openxmlformats.org/drawingml/2006/main" x="666750" y="2247900"/>
          <a:ext xmlns:a="http://schemas.openxmlformats.org/drawingml/2006/main" cx="10839450" cy="3219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785f33c9adf4c5e"/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A616000F-1912-40C0-A320-7DFC65EF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91175"/>
            <a:ext cx="1083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兩線都用完整資料、關閉 dropout，計算不加權總價 MAE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C2E82034-C6B0-4B31-860C-2A87CD2D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67425"/>
            <a:ext cx="10839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固定30輪，原v25模型與CSV保持。訓練先驗為分組OOF，驗證先驗來自完整fit。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9A61A0A2-0ACA-4E2C-8C14-47DD5D25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67475"/>
            <a:ext cx="990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尚未加入其他分支、中位數或成交參考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3AA36A8E-98C5-4429-BF5B-DF747879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47124679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A07969F-6238-4C16-A9DC-3C0AF96E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最終訓練與程式證據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84C60F6-F0BA-45D3-AA0A-075808D8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92D1002-D866-4A7E-A397-3D3780DD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43050"/>
            <a:ext cx="10839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467,221 筆有標籤資料，新增一次先驗 NN fit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71B10BFF-9B80-45E3-99B3-0FA84D58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0839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47,073 筆 test，核對「編號、總價元」全部列與順序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BA13383A-E6E6-444B-BC40-A7DCF4AC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33775"/>
            <a:ext cx="10839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原訓練與發行來源（不是六模型一鍵推論）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986D85E5-19A5-4ED9-A4B7-C06FE5D7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108394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259CB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259C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259CB"/>
                </a:solidFill>
                <a:latin typeface="Consolas"/>
                <a:ea typeface="Consolas"/>
                <a:cs typeface="Consolas"/>
              </a:rPr>
              <a:t>src/round107_weighted_smooth_train.py</a:t>
            </a:r>
          </a:p>
          <a:p xmlns:a="http://schemas.openxmlformats.org/drawingml/2006/main">
            <a:pPr algn="l">
              <a:defRPr sz="2025" b="0">
                <a:solidFill>
                  <a:srgbClr val="2259C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259CB"/>
                </a:solidFill>
                <a:latin typeface="Consolas"/>
                <a:ea typeface="Consolas"/>
                <a:cs typeface="Consolas"/>
              </a:rPr>
              <a:t>src/round107_full_release.py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458C3DB8-7C5A-4C68-B451-7CD71C8F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1083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已核：新增 NN 完整 query 模型重載、CSV 全列與檔案雜湊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0E7FEB6A-C4A6-4EF5-B53B-46683120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0839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AD4B2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AD4B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AD4B2E"/>
                </a:solidFill>
                <a:latin typeface="Microsoft JhengHei"/>
                <a:ea typeface="Microsoft JhengHei"/>
                <a:cs typeface="Microsoft JhengHei"/>
              </a:rPr>
              <a:t>v25 六模型乾淨環境端到端重現尚未完成</a:t>
            </a:r>
          </a:p>
        </p:txBody>
      </p:sp>
    </p:spTree>
    <p:extLst>
      <p:ext uri="{BB962C8B-B14F-4D97-AF65-F5344CB8AC3E}">
        <p14:creationId xmlns:p14="http://schemas.microsoft.com/office/powerpoint/2010/main" val="14180160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227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D06DBF-045A-4D3F-A1BF-F6C53672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結論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68FEFA7-1EDE-402E-9ED6-35370279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EAF0F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EAF0F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EAF0F9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D0A76D65-CC4F-4F8F-8D4D-20E95AF7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8775"/>
            <a:ext cx="10839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用歷史交易學習房價規律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696819EC-878F-4025-BCC6-9599FE70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7025"/>
            <a:ext cx="1083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EAF0F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EAF0F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EAF0F9"/>
                </a:solidFill>
                <a:latin typeface="Microsoft JhengHei"/>
                <a:ea typeface="Microsoft JhengHei"/>
                <a:cs typeface="Microsoft JhengHei"/>
              </a:rPr>
              <a:t>清理資料、設計特徵，再用時間回測檢查誤差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B82DE86E-870A-4B58-92D9-3E88869B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0025"/>
            <a:ext cx="1083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EAF0F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EAF0F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EAF0F9"/>
                </a:solidFill>
                <a:latin typeface="Microsoft JhengHei"/>
                <a:ea typeface="Microsoft JhengHei"/>
                <a:cs typeface="Microsoft JhengHei"/>
              </a:rPr>
              <a:t>六模型形成三分支，修正後逐筆取中位數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D2834E95-D1A3-4142-853A-C2A0057C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108394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Public MAE 約 199.58 萬元，Private 分數仍未知</a:t>
            </a:r>
          </a:p>
        </p:txBody>
      </p:sp>
    </p:spTree>
    <p:extLst>
      <p:ext uri="{BB962C8B-B14F-4D97-AF65-F5344CB8AC3E}">
        <p14:creationId xmlns:p14="http://schemas.microsoft.com/office/powerpoint/2010/main" val="72242352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2536873-B873-40E7-B14E-BA7BEF0F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附錄：精確計算公式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BABC83C-043D-4D4B-A11A-3616BED4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E29C7385-EE05-4388-92DB-45F1BEA2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19225"/>
            <a:ext cx="1083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所有模型預測先還原成總價元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B0753AFD-CE29-43E8-A364-F46B7842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10820400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2274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2740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22740"/>
                </a:solidFill>
                <a:latin typeface="Consolas"/>
                <a:ea typeface="Consolas"/>
                <a:cs typeface="Consolas"/>
              </a:rPr>
              <a:t>B_unit = .75*C_unit + .25*L_unit</a:t>
            </a:r>
          </a:p>
          <a:p xmlns:a="http://schemas.openxmlformats.org/drawingml/2006/main">
            <a:pPr algn="l">
              <a:defRPr sz="2025" b="0">
                <a:solidFill>
                  <a:srgbClr val="122740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22740"/>
                </a:solidFill>
                <a:latin typeface="Consolas"/>
                <a:ea typeface="Consolas"/>
                <a:cs typeface="Consolas"/>
              </a:rPr>
              <a:t>B_nn   = .75*(.5*N_area + .5*N_prior_R107) + .25*L_unit</a:t>
            </a:r>
          </a:p>
          <a:p xmlns:a="http://schemas.openxmlformats.org/drawingml/2006/main">
            <a:pPr algn="l">
              <a:defRPr sz="2025" b="0">
                <a:solidFill>
                  <a:srgbClr val="122740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22740"/>
                </a:solidFill>
                <a:latin typeface="Consolas"/>
                <a:ea typeface="Consolas"/>
                <a:cs typeface="Consolas"/>
              </a:rPr>
              <a:t>B_log  = .75*(.5*C_raw  + .5*C_log)   + .25*L_unit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740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22740"/>
                </a:solidFill>
                <a:latin typeface="Consolas"/>
                <a:ea typeface="Consolas"/>
                <a:cs typeface="Consolas"/>
              </a:rPr>
              <a:t>U = S(B_unit, R(B_unit))</a:t>
            </a:r>
          </a:p>
          <a:p xmlns:a="http://schemas.openxmlformats.org/drawingml/2006/main">
            <a:pPr algn="l">
              <a:defRPr sz="2025" b="0">
                <a:solidFill>
                  <a:srgbClr val="122740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22740"/>
                </a:solidFill>
                <a:latin typeface="Consolas"/>
                <a:ea typeface="Consolas"/>
                <a:cs typeface="Consolas"/>
              </a:rPr>
              <a:t>N = S(B_nn,   R(B_nn))</a:t>
            </a:r>
          </a:p>
          <a:p xmlns:a="http://schemas.openxmlformats.org/drawingml/2006/main">
            <a:pPr algn="l">
              <a:defRPr sz="2025" b="0">
                <a:solidFill>
                  <a:srgbClr val="122740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22740"/>
                </a:solidFill>
                <a:latin typeface="Consolas"/>
                <a:ea typeface="Consolas"/>
                <a:cs typeface="Consolas"/>
              </a:rPr>
              <a:t>H = S(B_log,  R(B_log))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740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22740"/>
                </a:solidFill>
                <a:latin typeface="Consolas"/>
                <a:ea typeface="Consolas"/>
                <a:cs typeface="Consolas"/>
              </a:rPr>
              <a:t>prediction = median(N, H, U)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B62D5D8D-D894-4224-BED9-EE57E627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R 為成交參考與趨勢，S 為空間修正；R107 prior NN 用日期加權 SmoothL1</a:t>
            </a:r>
          </a:p>
        </p:txBody>
      </p:sp>
    </p:spTree>
    <p:extLst>
      <p:ext uri="{BB962C8B-B14F-4D97-AF65-F5344CB8AC3E}">
        <p14:creationId xmlns:p14="http://schemas.microsoft.com/office/powerpoint/2010/main" val="99326520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F41AF2-D7B0-435A-9997-26C5D5E1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附錄：損失、設定與程式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B15EB22-065A-4EA7-B698-9E35E42C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60E806-3A06-4A84-BF12-19B8B8331E78}"/>
              </a:ext>
            </a:extLst>
          </p:cNvPr>
          <p:cNvGraphicFramePr/>
          <p:nvPr/>
        </p:nvGraphicFramePr>
        <p:xfrm>
          <a:off xmlns:a="http://schemas.openxmlformats.org/drawingml/2006/main" x="666750" y="1743075"/>
          <a:ext xmlns:a="http://schemas.openxmlformats.org/drawingml/2006/main" cx="10839450" cy="3629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14650"/>
                <a:gridCol w="7924800"/>
              </a:tblGrid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保存設定／來源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先驗 NN loss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日期加權 SmoothL1，beta=0.1 百萬元，即 10 萬元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先驗 NN 訓練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固定 30 輪、seed 42；512 → 256 → 128；dropout 0.1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 CatBoost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MAE，2,999 棵樹，深度 8，學習率 0.065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先驗 NN source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src/round107_weighted_smooth_train.py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全量發行 source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src/round107_full_release.py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CFE9AB49-D1B7-4F15-9A76-8816A007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D4B2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D4B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AD4B2E"/>
                </a:solidFill>
                <a:latin typeface="Microsoft JhengHei"/>
                <a:ea typeface="Microsoft JhengHei"/>
                <a:cs typeface="Microsoft JhengHei"/>
              </a:rPr>
              <a:t>程式與發行證據可追溯；六模型乾淨環境端到端重現仍待完成</a:t>
            </a:r>
          </a:p>
        </p:txBody>
      </p:sp>
    </p:spTree>
    <p:extLst>
      <p:ext uri="{BB962C8B-B14F-4D97-AF65-F5344CB8AC3E}">
        <p14:creationId xmlns:p14="http://schemas.microsoft.com/office/powerpoint/2010/main" val="17679851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7F9B66-131B-4477-83A5-1F996554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附錄：常見名詞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CEEF8E8-C479-44C8-A1CC-82DC048D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D5BE94-57DC-4211-B697-3D4F58E8E563}"/>
              </a:ext>
            </a:extLst>
          </p:cNvPr>
          <p:cNvGraphicFramePr/>
          <p:nvPr/>
        </p:nvGraphicFramePr>
        <p:xfrm>
          <a:off xmlns:a="http://schemas.openxmlformats.org/drawingml/2006/main" x="666750" y="1685925"/>
          <a:ext xmlns:a="http://schemas.openxmlformats.org/drawingml/2006/main" cx="1083945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67025"/>
                <a:gridCol w="7972425"/>
              </a:tblGrid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名詞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白話意思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特徵與標籤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特徵是已知房屋條件，標籤是學習時的成交價答案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訓練與推論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訓練找規律，推論用保存的規律估計新交易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過擬合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過度貼近看過的資料，遇到新資料誤差可能變大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權重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某筆資料的誤差，在學習目標中占多少比重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先驗與 OOF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先建立參考價，並用其他組資料建立訓練特徵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集成與中位數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集成結合多個估計，中位數是排序後的中間值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98510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2026-10-10T08:38:41.8470000Z</dcterms:created>
  <dcterms:modified xsi:type="dcterms:W3CDTF">2026-10-10T08:38:41.8480000Z</dcterms:modified>
</coreProperties>
</file>