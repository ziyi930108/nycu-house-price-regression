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ef9ff877844408" /><Relationship Type="http://schemas.openxmlformats.org/officeDocument/2006/relationships/extended-properties" Target="/docProps/app.xml" Id="Rbe8d367a4917499c" /><Relationship Type="http://schemas.openxmlformats.org/officeDocument/2006/relationships/officeDocument" Target="/ppt/presentation.xml" Id="R0e870856c0494e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bf97a669d241ea"/>
  </p:sldMasterIdLst>
  <p:notesMasterIdLst>
    <p:notesMasterId xmlns:r="http://schemas.openxmlformats.org/officeDocument/2006/relationships" r:id="R01d8b04d2fc7423f"/>
  </p:notesMasterIdLst>
  <p:sldIdLst>
    <p:sldId xmlns:r="http://schemas.openxmlformats.org/officeDocument/2006/relationships" id="256" r:id="R21f60fa153ef4afd"/>
    <p:sldId xmlns:r="http://schemas.openxmlformats.org/officeDocument/2006/relationships" id="257" r:id="R29c36a9d01d64ccc"/>
    <p:sldId xmlns:r="http://schemas.openxmlformats.org/officeDocument/2006/relationships" id="258" r:id="R17d8d27ae66440da"/>
    <p:sldId xmlns:r="http://schemas.openxmlformats.org/officeDocument/2006/relationships" id="259" r:id="R3ad9e4716f0b4a4c"/>
    <p:sldId xmlns:r="http://schemas.openxmlformats.org/officeDocument/2006/relationships" id="260" r:id="Rd5b194f3d5eb44b0"/>
    <p:sldId xmlns:r="http://schemas.openxmlformats.org/officeDocument/2006/relationships" id="261" r:id="R9c2024495c944966"/>
    <p:sldId xmlns:r="http://schemas.openxmlformats.org/officeDocument/2006/relationships" id="262" r:id="R0d389558b3c54b21"/>
    <p:sldId xmlns:r="http://schemas.openxmlformats.org/officeDocument/2006/relationships" id="263" r:id="R32a2e2be8b5d4d7f"/>
    <p:sldId xmlns:r="http://schemas.openxmlformats.org/officeDocument/2006/relationships" id="264" r:id="R9c8ae29d59e84bc6"/>
    <p:sldId xmlns:r="http://schemas.openxmlformats.org/officeDocument/2006/relationships" id="265" r:id="Ra820572e50e54273"/>
    <p:sldId xmlns:r="http://schemas.openxmlformats.org/officeDocument/2006/relationships" id="266" r:id="R0818e88ec1804f68"/>
    <p:sldId xmlns:r="http://schemas.openxmlformats.org/officeDocument/2006/relationships" id="267" r:id="Rb51657eefe77432f"/>
    <p:sldId xmlns:r="http://schemas.openxmlformats.org/officeDocument/2006/relationships" id="268" r:id="Re4feb45264d94e66"/>
    <p:sldId xmlns:r="http://schemas.openxmlformats.org/officeDocument/2006/relationships" id="269" r:id="R0bbe7019404b4b99"/>
    <p:sldId xmlns:r="http://schemas.openxmlformats.org/officeDocument/2006/relationships" id="270" r:id="Re31a134dd3024fd5"/>
    <p:sldId xmlns:r="http://schemas.openxmlformats.org/officeDocument/2006/relationships" id="271" r:id="R845914cd54514823"/>
    <p:sldId xmlns:r="http://schemas.openxmlformats.org/officeDocument/2006/relationships" id="272" r:id="R5b53a5548c9a4a94"/>
    <p:sldId xmlns:r="http://schemas.openxmlformats.org/officeDocument/2006/relationships" id="273" r:id="R7f5e8c82172540a0"/>
    <p:sldId xmlns:r="http://schemas.openxmlformats.org/officeDocument/2006/relationships" id="274" r:id="R59a0716fea17459d"/>
    <p:sldId xmlns:r="http://schemas.openxmlformats.org/officeDocument/2006/relationships" id="275" r:id="R7a56151ef419446a"/>
    <p:sldId xmlns:r="http://schemas.openxmlformats.org/officeDocument/2006/relationships" id="276" r:id="Rcbe67a2ffd1b4760"/>
    <p:sldId xmlns:r="http://schemas.openxmlformats.org/officeDocument/2006/relationships" id="277" r:id="R30b894dec5a84826"/>
    <p:sldId xmlns:r="http://schemas.openxmlformats.org/officeDocument/2006/relationships" id="278" r:id="Rbe879a8962594c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8da914fc2c465f" /><Relationship Type="http://schemas.openxmlformats.org/officeDocument/2006/relationships/slideMaster" Target="/ppt/slideMasters/slideMaster1.xml" Id="Re8bf97a669d241ea" /><Relationship Type="http://schemas.openxmlformats.org/officeDocument/2006/relationships/notesMaster" Target="/ppt/notesMasters/notesMaster1.xml" Id="R01d8b04d2fc7423f" /><Relationship Type="http://schemas.openxmlformats.org/officeDocument/2006/relationships/presProps" Target="/ppt/presProps.xml" Id="Rdf87d5ccc9f849d7" /><Relationship Type="http://schemas.openxmlformats.org/officeDocument/2006/relationships/tableStyles" Target="/ppt/tableStyles.xml" Id="R934b53517ae54e4e" /><Relationship Type="http://schemas.openxmlformats.org/officeDocument/2006/relationships/slide" Target="/ppt/slides/slide1.xml" Id="R21f60fa153ef4afd" /><Relationship Type="http://schemas.openxmlformats.org/officeDocument/2006/relationships/slide" Target="/ppt/slides/slide2.xml" Id="R29c36a9d01d64ccc" /><Relationship Type="http://schemas.openxmlformats.org/officeDocument/2006/relationships/slide" Target="/ppt/slides/slide3.xml" Id="R17d8d27ae66440da" /><Relationship Type="http://schemas.openxmlformats.org/officeDocument/2006/relationships/slide" Target="/ppt/slides/slide4.xml" Id="R3ad9e4716f0b4a4c" /><Relationship Type="http://schemas.openxmlformats.org/officeDocument/2006/relationships/slide" Target="/ppt/slides/slide5.xml" Id="Rd5b194f3d5eb44b0" /><Relationship Type="http://schemas.openxmlformats.org/officeDocument/2006/relationships/slide" Target="/ppt/slides/slide6.xml" Id="R9c2024495c944966" /><Relationship Type="http://schemas.openxmlformats.org/officeDocument/2006/relationships/slide" Target="/ppt/slides/slide7.xml" Id="R0d389558b3c54b21" /><Relationship Type="http://schemas.openxmlformats.org/officeDocument/2006/relationships/slide" Target="/ppt/slides/slide8.xml" Id="R32a2e2be8b5d4d7f" /><Relationship Type="http://schemas.openxmlformats.org/officeDocument/2006/relationships/slide" Target="/ppt/slides/slide9.xml" Id="R9c8ae29d59e84bc6" /><Relationship Type="http://schemas.openxmlformats.org/officeDocument/2006/relationships/slide" Target="/ppt/slides/slide10.xml" Id="Ra820572e50e54273" /><Relationship Type="http://schemas.openxmlformats.org/officeDocument/2006/relationships/slide" Target="/ppt/slides/slide11.xml" Id="R0818e88ec1804f68" /><Relationship Type="http://schemas.openxmlformats.org/officeDocument/2006/relationships/slide" Target="/ppt/slides/slide12.xml" Id="Rb51657eefe77432f" /><Relationship Type="http://schemas.openxmlformats.org/officeDocument/2006/relationships/slide" Target="/ppt/slides/slide13.xml" Id="Re4feb45264d94e66" /><Relationship Type="http://schemas.openxmlformats.org/officeDocument/2006/relationships/slide" Target="/ppt/slides/slide14.xml" Id="R0bbe7019404b4b99" /><Relationship Type="http://schemas.openxmlformats.org/officeDocument/2006/relationships/slide" Target="/ppt/slides/slide15.xml" Id="Re31a134dd3024fd5" /><Relationship Type="http://schemas.openxmlformats.org/officeDocument/2006/relationships/slide" Target="/ppt/slides/slide16.xml" Id="R845914cd54514823" /><Relationship Type="http://schemas.openxmlformats.org/officeDocument/2006/relationships/slide" Target="/ppt/slides/slide17.xml" Id="R5b53a5548c9a4a94" /><Relationship Type="http://schemas.openxmlformats.org/officeDocument/2006/relationships/slide" Target="/ppt/slides/slide18.xml" Id="R7f5e8c82172540a0" /><Relationship Type="http://schemas.openxmlformats.org/officeDocument/2006/relationships/slide" Target="/ppt/slides/slide19.xml" Id="R59a0716fea17459d" /><Relationship Type="http://schemas.openxmlformats.org/officeDocument/2006/relationships/slide" Target="/ppt/slides/slide20.xml" Id="R7a56151ef419446a" /><Relationship Type="http://schemas.openxmlformats.org/officeDocument/2006/relationships/slide" Target="/ppt/slides/slide21.xml" Id="Rcbe67a2ffd1b4760" /><Relationship Type="http://schemas.openxmlformats.org/officeDocument/2006/relationships/slide" Target="/ppt/slides/slide22.xml" Id="R30b894dec5a84826" /><Relationship Type="http://schemas.openxmlformats.org/officeDocument/2006/relationships/slide" Target="/ppt/slides/slide23.xml" Id="Rbe879a8962594c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77d818e93b48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d9534a7eb2448c" /><Relationship Type="http://schemas.openxmlformats.org/officeDocument/2006/relationships/notesMaster" Target="/ppt/notesMasters/notesMaster1.xml" Id="R6f1c5a1da3614e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0bb898d64a4f2c" /><Relationship Type="http://schemas.openxmlformats.org/officeDocument/2006/relationships/notesMaster" Target="/ppt/notesMasters/notesMaster1.xml" Id="R0c688ba947e345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ae3462ffa54587" /><Relationship Type="http://schemas.openxmlformats.org/officeDocument/2006/relationships/notesMaster" Target="/ppt/notesMasters/notesMaster1.xml" Id="Rd027d9461e6f40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073c7b5fcf457c" /><Relationship Type="http://schemas.openxmlformats.org/officeDocument/2006/relationships/notesMaster" Target="/ppt/notesMasters/notesMaster1.xml" Id="R50cc5f3a387f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ed89ed17e84c7b" /><Relationship Type="http://schemas.openxmlformats.org/officeDocument/2006/relationships/notesMaster" Target="/ppt/notesMasters/notesMaster1.xml" Id="R14d17e92ca8f47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c83ef44013459b" /><Relationship Type="http://schemas.openxmlformats.org/officeDocument/2006/relationships/notesMaster" Target="/ppt/notesMasters/notesMaster1.xml" Id="Rc4e2ef01fac24c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fbb431f2024348" /><Relationship Type="http://schemas.openxmlformats.org/officeDocument/2006/relationships/notesMaster" Target="/ppt/notesMasters/notesMaster1.xml" Id="Rcba012590c5f46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4154c8d6e04938" /><Relationship Type="http://schemas.openxmlformats.org/officeDocument/2006/relationships/notesMaster" Target="/ppt/notesMasters/notesMaster1.xml" Id="Re820e7e4d42947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99493889f4331" /><Relationship Type="http://schemas.openxmlformats.org/officeDocument/2006/relationships/notesMaster" Target="/ppt/notesMasters/notesMaster1.xml" Id="R3ef44c2418cc48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527a371af24f06" /><Relationship Type="http://schemas.openxmlformats.org/officeDocument/2006/relationships/notesMaster" Target="/ppt/notesMasters/notesMaster1.xml" Id="Rdd49fb6a78f14c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426db46d4c4ded" /><Relationship Type="http://schemas.openxmlformats.org/officeDocument/2006/relationships/notesMaster" Target="/ppt/notesMasters/notesMaster1.xml" Id="R1f4f3abd51e446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76be949f484872" /><Relationship Type="http://schemas.openxmlformats.org/officeDocument/2006/relationships/notesMaster" Target="/ppt/notesMasters/notesMaster1.xml" Id="R36598eac9d8e48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ee245d1d9b46e5" /><Relationship Type="http://schemas.openxmlformats.org/officeDocument/2006/relationships/notesMaster" Target="/ppt/notesMasters/notesMaster1.xml" Id="R715367eefc654f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203a0778bb4140" /><Relationship Type="http://schemas.openxmlformats.org/officeDocument/2006/relationships/notesMaster" Target="/ppt/notesMasters/notesMaster1.xml" Id="Raa5a58d038ac477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bfcd4b2c4f4350" /><Relationship Type="http://schemas.openxmlformats.org/officeDocument/2006/relationships/notesMaster" Target="/ppt/notesMasters/notesMaster1.xml" Id="Rdcd4c43871fd4f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37a48c24412482a" /><Relationship Type="http://schemas.openxmlformats.org/officeDocument/2006/relationships/notesMaster" Target="/ppt/notesMasters/notesMaster1.xml" Id="R2218738683104d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fc2e7156c9475f" /><Relationship Type="http://schemas.openxmlformats.org/officeDocument/2006/relationships/notesMaster" Target="/ppt/notesMasters/notesMaster1.xml" Id="R54f19db0c2fd4b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102fdd1ef948f5" /><Relationship Type="http://schemas.openxmlformats.org/officeDocument/2006/relationships/notesMaster" Target="/ppt/notesMasters/notesMaster1.xml" Id="Rb2a760d0e28b407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68b7e65822e4c22" /><Relationship Type="http://schemas.openxmlformats.org/officeDocument/2006/relationships/notesMaster" Target="/ppt/notesMasters/notesMaster1.xml" Id="Rb2b6abe8e20a42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69f680703048f3" /><Relationship Type="http://schemas.openxmlformats.org/officeDocument/2006/relationships/notesMaster" Target="/ppt/notesMasters/notesMaster1.xml" Id="R02518b2333094c6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00908890f347cb" /><Relationship Type="http://schemas.openxmlformats.org/officeDocument/2006/relationships/notesMaster" Target="/ppt/notesMasters/notesMaster1.xml" Id="R8446b866a98f476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ec94cddf5b34d72" /><Relationship Type="http://schemas.openxmlformats.org/officeDocument/2006/relationships/notesMaster" Target="/ppt/notesMasters/notesMaster1.xml" Id="R340504a75fe844d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6b8c8268b84aee" /><Relationship Type="http://schemas.openxmlformats.org/officeDocument/2006/relationships/notesMaster" Target="/ppt/notesMasters/notesMaster1.xml" Id="Re3da18a328f54c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大家好，今天介紹臺灣房屋總價預測。想像我們拿到一筆交易，知道面積、地點和成交日期，卻不知道總價。能不能從以前的成交資料，估出它大概多少錢？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今天只介紹已選定提交的模型，檔案裡叫版本二十二，不需要先學過機器學習。我會從電腦怎麼學估價開始，說明資料整理、方法組合與結果檢查，交代每步理由，以及證據還有哪些限制。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我們重點是了解一筆預測怎麼產生，不需要先記住工具名稱或公式。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金額是連續數值，預測這類數值叫回歸。機器學習可以想成：讓電腦從很多題目和答案中找估價規則。面積、樓層、地點是題目線索，叫特徵。已知成交總價是答案，叫標籤。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模型先估價格，比較和答案差多少，再調整規則。反覆練習後，把學好的規則保存起來。遇到沒有答案的新交易，就只看條件來估價。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學規則叫訓練，套用規則叫推論。採用這種方法，是因為地點、面積、建物型態會一起影響價格，很難用一條人工公式處理。但練習得好不夠，還要用沒參與學習的交易檢查。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例如同樣一百平方公尺，地點不同，總價也可能差很多，模型要把這些條件一起看。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怎麼知道估得好不好？比賽看平均絕對誤差，英文叫ＭＡＥ。我們算一個教學例子：兩間房的真價都是一千萬元，第一間估一千一百萬，多估一百萬。第二間估九百五十萬，少估五十萬。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只看差距大小，把一百萬和五十萬加起來，除以兩筆，得到七十五萬元。為什麼取絕對值？因為多估和少估都是誤差，不能互相抵銷。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分數越低，這批交易的平均金額差距越小。七十五萬元不是答對的百分比，也不是每筆都差七十五萬。後面讀分數，都要先看是哪一批交易，再看平均差多少錢。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四份資料各有用途。訓練檔約四十五萬六千列，有房屋條件和總價答案。驗證檔約一萬二千列，也有答案。這個提交模型是在最後完整訓練時，才把它加入。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測試檔共四萬七千零七十三筆，沒有總價，要全部估出來。提交範本規定欄位和編號順序，範例價格不能拿來學。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平台再把測試檔分成兩部分：約三成算公開分數，叫Public。其餘約七成算隱藏分數，叫Private。這個三比七分的是測試檔，不是有答案的驗證檔。分清用途，才能避免拿錯資料。隱藏部分的答案我們仍然不知道。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先看整條流程。第一步讀原始檔，確認欄位、筆數和順序。第二步處理格式問題和完全重複的內容。第三步，把日期、樓層和地址整理成模型能比較的線索。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接著用較早資料學習，再用後面一年的交易評分，檢查遇到之後的市場還行不行。確定方法後，才用最後可用的有答案資料建立模型，預測測試檔，檢查提交格式。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為什麼分這麼多關？因為跑得動不代表正確。例如順序錯開，就可能把這間房的條件配到另一間房的價格。因此資料順序、程式和保存模型，都要能追查。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後面看到每個方法時，都可以放回這張流程圖，分清它在準備資料、學習，還是在估價。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原始訓練檔混入三列英文表頭，不是交易，先移除。接著把編號放一旁，比較其他所有原始欄位，總價也一起比。內容完全相同才算重複，移除了五百二十九列。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為什麼不照編號刪？因為編號相同，不一定代表內容完全一樣。最後加入有答案的驗證檔時，再移除二十八列跨檔重複，留下四十六萬七千二百二十一筆有標籤資料，避免同一內容反覆影響模型。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測試檔一筆也不能少，每個編號都要預測。其他缺失和異常按固定規則處理，不能因為某筆價格難估就刪掉。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src/prepare_data.py</a:t>
            </a:r>
          </a:p>
          <a:p xmlns:a="http://schemas.openxmlformats.org/drawingml/2006/main">
            <a:r>
              <a:t>src/model_common.py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整理房屋線索叫特徵工程。例如把民國日期換成可計算時間，中文樓層分出地下室或整棟，地址拆成行政區和道路，讓交易能用一致方式比較。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欄位不是越多越好。編號只用來對齊，總價是答案，不能當線索。完整備註可能含價格，解約資訊可能在交易後才出現，因此不直接輸入。備註只保留有限的條件旗標。建築完成年月不可用，管理組織全相同，也排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另外使用開放街圖道路位置，補充不含價格的地理資訊。單價CatBoost共有九十五欄，其中二十三欄是地區名稱這類分類文字。其他模型的編碼維度不同。道路位置只代表大致區域，不是精確門牌。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同一欄文字，經過不同編碼方式，可能變成不同數量的數字，所以不能把九十五欄當成所有模型共同規格。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src/house_features.py</a:t>
            </a:r>
          </a:p>
          <a:p xmlns:a="http://schemas.openxmlformats.org/drawingml/2006/main">
            <a:r>
              <a:t>src/round6_geo.py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模型如果只記住練習資料的偶然細節，換一批交易就失準，叫過擬合。房市會隨時間改變，因此每次只看評分期間以前的資料，再預測後面一年，共檢查三個年度。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這個時間界線不只管模型。文字編碼、價格先驗、成交參考和空間狀態，凡是要從資料建立的部分，都用當期訓練資料重建。否則後面的答案可能偷偷流入，叫資料洩漏。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三個年度能檢查跨期表現，但研究已反覆看過這些窗口，仍可能挑到剛好適合它們的配方。時間回測很重要，卻不能當成從沒看過的隱藏考卷。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src/round79_experiment.py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這次用了兩種模型。樹模型像一連串條件判斷，例如面積在哪個範圍、位在哪個地區。條件和門檻由資料學出來，再讓很多棵小樹接著修正誤差。兩套工具叫CatBoost和LightGBM。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另一種是神經網路。它把面積等數值、建案等分類資訊整理成數字，經過多層計算，學習條件一起出現時價格怎麼變。代表建案的數字也隨訓練調整，不是人工指定哪個建案高級。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兩種方式有機會互補，但模型多不一定更準。要看完整組合的回測，不能說每個零件都已單獨證明有效。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神經網路的多層計算不容易直接讀成幾條規則，因此更需要用保留資料檢查效果。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src/round47_nn_train.py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價格有三種學法：直接學總價。或總價除以有效面積，先學每平方公尺單價，估完再乘回面積。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單價為什麼加面積權重？假設兩間房分別五十和一百平方公尺，單價都估錯一萬元，總價就錯五十萬和一百萬。如果把兩個單價誤差看得一樣重，就沒反映比賽關心的總價差距。因此面積越大，單價誤差在學習中的分量越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有效面積依固定規則選取：建物面積不可用時改用車位面積，再沒有才用一。第三種是對數，把大金額壓縮，提供另一個學習角度。訓練看的是對數尺度誤差。最後都要換回總價元，才能組合和評分。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src/round19_unit_geo.py</a:t>
            </a:r>
          </a:p>
          <a:p xmlns:a="http://schemas.openxmlformats.org/drawingml/2006/main">
            <a:r>
              <a:t>src/round12_log_geo.py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近期成交可能更接近目前市場，所以單價CatBoost讓近期資料對學習有較大影響，這個影響大小叫權重。它改變的是誤差有多重要，不是直接修改房價。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先看比例：最近成交算一，一年前零點五，兩年前零點二五。每過三百六十五天，較早交易的相對權重減半，叫半衰期。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程式再把合法日期的權重除以這些權重的平均值，統一尺度。無效日期給一，作中性值，最後乘上面積權重。其他分支有自己的設定，不能說全部模型都加同一套新權重。近期資料也有雜訊，效果仍要回測確認。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權重較小，不等於刪除舊交易。舊資料仍參與學習，只是單筆誤差的影響不同。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src/round79_recency_unit.py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其中一個神經網路先用區域參考單價乘上有效面積，得到總價起點，再學要乘多少倍率。這個參考基準叫價格先驗，來自訓練資料。但如果用某筆答案算參考價，再拿來訓練同一筆，就可能偷看答案。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因此按建案分五組，同建案一定同組。輪到一組時，用另外四組建立它的訓練參考價，五組輪流做，避免自己的建案答案直接混入自己的先驗。這叫折外，縮寫ＯＯＦ。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真正預測新交易時，才使用該次全部訓練資料建立的保存先驗。這裡按建案分組，不是日期排序，不能說每筆參考價只來自更早成交，也不能說完全不會過擬合。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src/round63_recency_weighted_prior_train.py</a:t>
            </a:r>
          </a:p>
          <a:p xmlns:a="http://schemas.openxmlformats.org/drawingml/2006/main">
            <a:r>
              <a:t>deliverables/v22_github/src/nn_prepare.py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先把模型結果換回總價元，再看表格的三路。第一路以單價CatBoost為主。第二路先平均兩個神經網路。第三路先平均直接總價和對數總價兩個樹模型。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再看共同部分：三路都加入同一個LightGBM單價模型換回的總價。每一路，主要部分占七成五，共同模型占兩成五。合起來仍是四個樹模型、兩個神經網路，共六個模型。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例如主要部分估一千萬，共同模型估一千兩百萬，加權後是一千零五十萬。這還只是初估，下一頁各路分別修正，之後才替每筆交易取三路的中位數。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這樣安排希望保留不同學法的差異，固定比例沒有證明最佳，各支改善也不能直接相加。三路共用同一個模型，因此也不是完全獨立的估價者。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三條分支各自做兩步修正，補充模型整體關係沒掌握的建案或街區差異。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第一步，找訓練資料裡同建案、同地址或同道路的可比成交，配合訓練資料估出的時間趨勢，調整初估。第二步，成交參考較弱時，用粗略道路位置附近的歷史資訊補充，並檢查城市、建物型態和用途是否相容。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叫空間修正，同時讀原本初估和第一步的修正結果，依支持條件決定採用多少，資訊不足就回退。這些價格只來自當期訓練資料，沒有去外部實價登錄找測試答案。道路位置也不等於門牌。三支各自完成後，仍有三個總價，下一步才合成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這不是找到附近一筆就照抄。成交是否可比，比距離近不近還重要。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src/round2_neighborhood.py</a:t>
            </a:r>
          </a:p>
          <a:p xmlns:a="http://schemas.openxmlformats.org/drawingml/2006/main">
            <a:r>
              <a:t>src/round8_spatial_reference.py</a:t>
            </a:r>
          </a:p>
          <a:p xmlns:a="http://schemas.openxmlformats.org/drawingml/2006/main">
            <a:r>
              <a:t>deliverables/v22_github/src/tree_runtime.py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把三個總價由小到大排好，取中間那個，叫中位數。教學例子中，三支修正後估九百八十萬、一千零二十萬和一千八百萬元，中間是一千零二十萬，就採用它。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如果一條估得特別高，平均會被往上拉。中位數能減少單一極端估價的影響。但假如那個高估價剛好正確，中位數也可能捨掉有用資訊。如果三條一起低估，取中間不會自動變準。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所以它沒有每次更好的保證。順序是先換回總價，各支完成成交與空間修正，最後取中位數。這時已經是總價，不能再乘一次面積。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三期實際結果：最早一期預測二〇二一年八月到二〇二二年八月，平均絕對誤差約兩百三十點九四萬元。中間一期約一百四十點七四萬元。最新一期約一百三十八點三二萬元。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每期都只用當時以前資料建立完整方法，到評分時才比較後面一年的答案。數字下降，不能說模型逐年進步，因為各期交易、房屋組成和市場狀況不同。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這張表說明同一方法在三批歷史資料的表現，最低數字不能保證未來。我們也按季度、建案和價格群檢查，整體變好時某一群仍可能變差，不利結果同樣要留下。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平台公開成績的精確數字在畫面上，口頭說就是平均誤差接近兩百萬元。它表示公開評分那批交易，每筆預測總價和真價的絕對差，平均接近兩百萬，不表示每間房都差在兩百萬以內。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這是提交後的平台回報，已保存截圖。公開部分只約占測試資料三成，其餘約七成的Private仍未知。兩邊評分的交易不同，也不能拿它和上一頁某年度直接相比，說進步或退步。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目前這是已觀察成果。選定這個模型，不代表證明它在隱藏資料最好。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outputs/kaggle_feedback/public_submissions_v19_v24_20260927.json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把限制整理起來：歷史窗口反覆使用，配方可能越來越適合那幾份考卷。整體平均又會藏住局部退步，例如某些高價交易群。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地理資訊也有限制，道路代表點不等於門牌，地址不一定匹配成功。各年度雖有對應的非價格道路快照，仍不是精確定位或完整生活機能。多分支也可能一起估錯。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減少風險的做法，是事前固定問題和時間切分，所有要學的規則只看當期訓練資料，同時檢查整體及分群，保留失敗方案。公開分數可以參考，不能追著它反覆改比例。這些做法能減少過擬合，不能完全消除。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outputs/round79/results.json</a:t>
            </a:r>
          </a:p>
          <a:p xmlns:a="http://schemas.openxmlformats.org/drawingml/2006/main">
            <a:r>
              <a:t>reports/round83_delivery.md</a:t>
            </a:r>
          </a:p>
          <a:p xmlns:a="http://schemas.openxmlformats.org/drawingml/2006/main">
            <a:r>
              <a:t>data_external/geography/ATTRIBUTION.md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最後用四十六萬七千二百二十一筆有答案資料建立模型和保存規則，再預測全部四萬七千零七十三筆測試交易。提交檔只有編號和總價元，照範本順序，最後才一次取整成正整數。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統一推論入口從原始測試表重做特徵，載入六模型及保存的編碼、價格參考和地理狀態，算出三分支與最終結果。我們已實際重跑，全部預測及整份提交檔都與原件相同，證明保存模型能重新推論。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但這沒有從頭重訓全部模型，也沒驗證全新電腦的安裝流程。程式包附必要檔案清單，模型和交易資料仍要另外具備。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deliverables/v22_github/src/submission_io.py</a:t>
            </a:r>
          </a:p>
          <a:p xmlns:a="http://schemas.openxmlformats.org/drawingml/2006/main">
            <a:r>
              <a:t>deliverables/v22_github/evidence/reproduction/integration_verified.json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回到最初問題，只有房屋條件怎麼估總價？先清理資料，把條件整理成線索，再從已知成交學規則。不同模型學總價、單價和對數，單價的面積權重對齊總價誤差，特定模型的日期權重提高近期成交影響。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六模型組三分支，每支先成交、再空間修正，最後取中位數。用三期時間回測及平台公開分數檢查，也完成保存模型的推論重現。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每步都有理由，也有證據限制。目前公開平均誤差接近兩百萬元，Private仍未知。以上是完整流程，謝謝大家。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供問答核對。每個模型符號都代表已經換回元的預測。神經網路分支先平均兩個網路，對數分支先平均直接總價與對數總價模型，再各占四分之三，加入四分之一的共同單價LightGBM。各條分支先經成交參考，再依原基準與參考結果做空間修正，最後逐筆取中位數。完整係數和面積、日期公式列在報告與程式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單價 CatBoost的主要設定包括兩千九百九十九次迭代、深度八，以及學習率零點零六五。兩個神經網路使用相同的多層架構，但輸入編碼與學習目標不同。參數代表學習如何進行，不是準確率保證。若要實際重現，請依操作文件準備原始測試檔和保存狀態，並使用受測環境。單價訓練、先驗建立與最終推論各有對應程式，路徑可在報告查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src/round79_recency_unit.py</a:t>
            </a:r>
          </a:p>
          <a:p xmlns:a="http://schemas.openxmlformats.org/drawingml/2006/main">
            <a:r>
              <a:t>src/round60_recency_price_prior.py</a:t>
            </a:r>
          </a:p>
          <a:p xmlns:a="http://schemas.openxmlformats.org/drawingml/2006/main">
            <a:r>
              <a:t>deliverables/v22_github/src/predict_v22.py</a:t>
            </a:r>
          </a:p>
          <a:p xmlns:a="http://schemas.openxmlformats.org/drawingml/2006/main">
            <a:r>
              <a:t>deliverables/v22_github/docs/REPRODUCIBILITY.md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遇到名詞，可以先問它在流程中做什麼。特徵是房屋條件，標籤是已知價格。訓練或擬合，是利用有答案的資料調整模型。推論是把保存規則套用到待預測資料。編碼把文字或數值整理成模型輸入，價格先驗提供參考基準。泛化表示模型能處理沒練習過的交易，過擬合則是太貼合練習資料的細節。折外處理用其他組建立參考，中位數則是把數字排序後取中間那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資料來源</a:t>
            </a:r>
          </a:p>
          <a:p xmlns:a="http://schemas.openxmlformats.org/drawingml/2006/main">
            <a:r>
              <a:t>deliverables/v22_github/REPORT.md</a:t>
            </a:r>
          </a:p>
          <a:p xmlns:a="http://schemas.openxmlformats.org/drawingml/2006/main">
            <a:r>
              <a:t>deliverables/v22_github/src/predict_v22.py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2fc89a21346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80bbf465984740" /><Relationship Type="http://schemas.openxmlformats.org/officeDocument/2006/relationships/slideLayout" Target="/ppt/slideLayouts/slideLayout1.xml" Id="Rd04ad5e94d5a4f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4ad5e94d5a4f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dd775cc1c4d25" /><Relationship Type="http://schemas.openxmlformats.org/officeDocument/2006/relationships/notesSlide" Target="/ppt/notesSlides/notesSlide1.xml" Id="R617f582f85074f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a118ab9564241" /><Relationship Type="http://schemas.openxmlformats.org/officeDocument/2006/relationships/notesSlide" Target="/ppt/notesSlides/notesSlide2.xml" Id="Rfb8497157c0d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09c9ae810457b" /><Relationship Type="http://schemas.openxmlformats.org/officeDocument/2006/relationships/chart" Target="/ppt/slides/charts/chart1.xml" Id="Rcc08a4bf3d9c436e" /><Relationship Type="http://schemas.openxmlformats.org/officeDocument/2006/relationships/notesSlide" Target="/ppt/notesSlides/notesSlide3.xml" Id="R2b6d0d3b971649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891bd22b146fc" /><Relationship Type="http://schemas.openxmlformats.org/officeDocument/2006/relationships/notesSlide" Target="/ppt/notesSlides/notesSlide4.xml" Id="R31336bcd312f47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770ecd46e47cb" /><Relationship Type="http://schemas.openxmlformats.org/officeDocument/2006/relationships/notesSlide" Target="/ppt/notesSlides/notesSlide5.xml" Id="Rd4c1e09d1e5b47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72f5d1ec34145" /><Relationship Type="http://schemas.openxmlformats.org/officeDocument/2006/relationships/notesSlide" Target="/ppt/notesSlides/notesSlide6.xml" Id="Rb0644532fd564b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4c7194e8c46ce" /><Relationship Type="http://schemas.openxmlformats.org/officeDocument/2006/relationships/notesSlide" Target="/ppt/notesSlides/notesSlide7.xml" Id="R1755ceed2bcc49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82be0ddfa4a5b" /><Relationship Type="http://schemas.openxmlformats.org/officeDocument/2006/relationships/notesSlide" Target="/ppt/notesSlides/notesSlide8.xml" Id="R5d4af22a32274f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71b039c2c4830" /><Relationship Type="http://schemas.openxmlformats.org/officeDocument/2006/relationships/notesSlide" Target="/ppt/notesSlides/notesSlide9.xml" Id="R4deeb567ea5b4a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b033615924091" /><Relationship Type="http://schemas.openxmlformats.org/officeDocument/2006/relationships/notesSlide" Target="/ppt/notesSlides/notesSlide10.xml" Id="R5dd161fbdc8c48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85f9d76b84200" /><Relationship Type="http://schemas.openxmlformats.org/officeDocument/2006/relationships/chart" Target="/ppt/slides/charts/chart2.xml" Id="Rfefd85e4a0484746" /><Relationship Type="http://schemas.openxmlformats.org/officeDocument/2006/relationships/notesSlide" Target="/ppt/notesSlides/notesSlide11.xml" Id="R4ce2113811b84b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6fb68876e45db" /><Relationship Type="http://schemas.openxmlformats.org/officeDocument/2006/relationships/notesSlide" Target="/ppt/notesSlides/notesSlide12.xml" Id="Rf917b722c97c42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da6d804a74315" /><Relationship Type="http://schemas.openxmlformats.org/officeDocument/2006/relationships/notesSlide" Target="/ppt/notesSlides/notesSlide13.xml" Id="Rb510d68af2fb41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5883134db41e0" /><Relationship Type="http://schemas.openxmlformats.org/officeDocument/2006/relationships/notesSlide" Target="/ppt/notesSlides/notesSlide14.xml" Id="R16938b02c61b4d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03b07c3434d8e" /><Relationship Type="http://schemas.openxmlformats.org/officeDocument/2006/relationships/chart" Target="/ppt/slides/charts/chart3.xml" Id="R78114c3ceedf41f9" /><Relationship Type="http://schemas.openxmlformats.org/officeDocument/2006/relationships/notesSlide" Target="/ppt/notesSlides/notesSlide15.xml" Id="Rf1a78657474146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26ac5370b4665" /><Relationship Type="http://schemas.openxmlformats.org/officeDocument/2006/relationships/chart" Target="/ppt/slides/charts/chart4.xml" Id="R0b06188af0c94f6d" /><Relationship Type="http://schemas.openxmlformats.org/officeDocument/2006/relationships/notesSlide" Target="/ppt/notesSlides/notesSlide16.xml" Id="R0d3a4667751541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5280bc1bd4435" /><Relationship Type="http://schemas.openxmlformats.org/officeDocument/2006/relationships/notesSlide" Target="/ppt/notesSlides/notesSlide17.xml" Id="R4fce081ef80d48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813c7c86d44f4" /><Relationship Type="http://schemas.openxmlformats.org/officeDocument/2006/relationships/notesSlide" Target="/ppt/notesSlides/notesSlide18.xml" Id="R440077396e254c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43e973ed444af" /><Relationship Type="http://schemas.openxmlformats.org/officeDocument/2006/relationships/notesSlide" Target="/ppt/notesSlides/notesSlide19.xml" Id="R6d30378ab83742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992d16b424e62" /><Relationship Type="http://schemas.openxmlformats.org/officeDocument/2006/relationships/notesSlide" Target="/ppt/notesSlides/notesSlide20.xml" Id="Rd9266fc8c4964f6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903a6e73f4b62" /><Relationship Type="http://schemas.openxmlformats.org/officeDocument/2006/relationships/notesSlide" Target="/ppt/notesSlides/notesSlide21.xml" Id="R6729ca4f5ed2460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341a79bd749c6" /><Relationship Type="http://schemas.openxmlformats.org/officeDocument/2006/relationships/notesSlide" Target="/ppt/notesSlides/notesSlide22.xml" Id="Ref10db0ccfd5498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709c413214961" /><Relationship Type="http://schemas.openxmlformats.org/officeDocument/2006/relationships/notesSlide" Target="/ppt/notesSlides/notesSlide23.xml" Id="Rdf109387d289400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64E8D3"/>
            </a:solidFill>
          </c:spPr>
          <c:cat>
            <c:strRef>
              <c:f>'Chart Data'!$A$2:$A$3</c:f>
              <c:strCache>
                <c:ptCount val="2"/>
                <c:pt idx="0">
                  <c:v>交易 A</c:v>
                </c:pt>
                <c:pt idx="1">
                  <c:v>交易 B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100</c:v>
                </c:pt>
                <c:pt idx="1">
                  <c:v>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4F8F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0758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A5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64E8D3"/>
            </a:solidFill>
          </c:spPr>
          <c:cat>
            <c:strRef>
              <c:f>'Chart Data'!$A$2:$A$4</c:f>
              <c:strCache>
                <c:ptCount val="3"/>
                <c:pt idx="0">
                  <c:v>最新日期</c:v>
                </c:pt>
                <c:pt idx="1">
                  <c:v>早一年</c:v>
                </c:pt>
                <c:pt idx="2">
                  <c:v>早兩年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4F8F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0758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A5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64E8D3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FFB77B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分支 A</c:v>
                </c:pt>
                <c:pt idx="1">
                  <c:v>分支 B</c:v>
                </c:pt>
                <c:pt idx="2">
                  <c:v>分支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980</c:v>
                </c:pt>
                <c:pt idx="1">
                  <c:v>1020</c:v>
                </c:pt>
                <c:pt idx="2">
                  <c:v>1800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4F8F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0758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A54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數值</c:v>
          </c:tx>
          <c:spPr>
            <a:solidFill xmlns:a="http://schemas.openxmlformats.org/drawingml/2006/main">
              <a:srgbClr val="64E8D3"/>
            </a:solidFill>
          </c:spPr>
          <c:cat>
            <c:strRef>
              <c:f>'Chart Data'!$A$2:$A$4</c:f>
              <c:strCache>
                <c:ptCount val="3"/>
                <c:pt idx="0">
                  <c:v>2021–2022</c:v>
                </c:pt>
                <c:pt idx="1">
                  <c:v>2022–2023</c:v>
                </c:pt>
                <c:pt idx="2">
                  <c:v>2023–2024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230.94</c:v>
                </c:pt>
                <c:pt idx="1">
                  <c:v>140.74</c:v>
                </c:pt>
                <c:pt idx="2">
                  <c:v>138.32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F4F8FF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0758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A54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0FA1BD-2B18-41C9-9D02-2A36071C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992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90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臺灣房屋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BD5A6E8-009B-47F5-BEDC-3E9197C7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8299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9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9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總價預測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5ECC949-8733-461D-BF7C-E5B6891C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從已知成交學習，估計下一筆交易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B59DF93-DCEA-40B6-A289-7EC8D9E1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19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資料處理與回歸模型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4BFE3BF-A568-4037-B59D-97F80270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4198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v22 專題報告</a:t>
            </a:r>
          </a:p>
        </p:txBody>
      </p:sp>
    </p:spTree>
    <p:extLst>
      <p:ext uri="{BB962C8B-B14F-4D97-AF65-F5344CB8AC3E}">
        <p14:creationId xmlns:p14="http://schemas.microsoft.com/office/powerpoint/2010/main" val="2007462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72B2DE-3E1D-44DF-9E73-03C982A7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回歸與模型學習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77664E-8074-4AB7-9150-D6234F19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614B7BC-F5B4-4B04-8A91-797A2AF5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房屋條件（特徵）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CE75CAA2-5E44-48CD-8A54-BA7CB23F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75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成交總價（標籤）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1AF4995-52C7-4989-897A-93E1B376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地點、面積、樓層、交易日期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2BAAF7C-92D3-47C2-BB97-3D64EF11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訓練時用來比較的答案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8D6050C-BAD3-4785-A29B-9B19E42E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訓練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A5E2D14-2A51-4DF0-830B-881A32D8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76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先估價，再與已知總價比較，調整模型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2EBC661-3214-4596-B0F8-AE51D58E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推論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7E8E641-D96F-436F-862F-9CC9FF15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530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只提供房屋條件，用保存模型估計未知價格</a:t>
            </a:r>
          </a:p>
        </p:txBody>
      </p:sp>
    </p:spTree>
    <p:extLst>
      <p:ext uri="{BB962C8B-B14F-4D97-AF65-F5344CB8AC3E}">
        <p14:creationId xmlns:p14="http://schemas.microsoft.com/office/powerpoint/2010/main" val="517256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6A4863-E715-460A-B2A0-14AEABB2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平均絕對誤差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259BA7-BD0D-4805-94FA-F4A15DA5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A23306C-C201-4206-979B-E451DB0B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590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每筆差額絕對值（萬元）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BA5AD49-FFBE-4403-9242-DB7414B5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61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8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75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3103FBF-C39C-43F2-97D1-F69AD46C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004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B2D94331-4742-4FEF-B6BD-D286F2C2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4171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（100 + 50）÷ 2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457825" y="2009775"/>
          <a:ext xmlns:a="http://schemas.openxmlformats.org/drawingml/2006/main" cx="5905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08a4bf3d9c436e"/>
          </a:graphicData>
        </a:graphic>
      </p:graphicFrame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CECF18A-08DD-43D9-96DC-2AB58FEC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114925"/>
            <a:ext cx="595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教學假設：真價均為 1,000 萬元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A8C93153-4522-4B6A-8886-527B5C60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72125"/>
            <a:ext cx="595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A 預測 1,100 萬；B 預測 950 萬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E93F311-D7B5-49B4-96B5-70AF825D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81675"/>
            <a:ext cx="4572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越低越好；高估與低估不互抵</a:t>
            </a:r>
          </a:p>
        </p:txBody>
      </p:sp>
    </p:spTree>
    <p:extLst>
      <p:ext uri="{BB962C8B-B14F-4D97-AF65-F5344CB8AC3E}">
        <p14:creationId xmlns:p14="http://schemas.microsoft.com/office/powerpoint/2010/main" val="338053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1606EA-50CC-40A5-B05B-F91BB0E5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四份資料的用途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4DE955-F39F-4C48-9032-91CB1058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394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1952625"/>
                <a:gridCol w="2076450"/>
                <a:gridCol w="4762500"/>
              </a:tblGrid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檔案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原始列數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已知總價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實際用途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學習與歷史回測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valid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11,994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最終全量訓練時併入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全部產生價格預測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3342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sample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47,073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格式示例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提供欄名和編號順序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2CD8EA4-DEC9-4E4E-A46C-1BB17EB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Kaggle 將 test 約分成 Public 30% 與 Private 70%</a:t>
            </a:r>
          </a:p>
        </p:txBody>
      </p:sp>
    </p:spTree>
    <p:extLst>
      <p:ext uri="{BB962C8B-B14F-4D97-AF65-F5344CB8AC3E}">
        <p14:creationId xmlns:p14="http://schemas.microsoft.com/office/powerpoint/2010/main" val="1935162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1332A8-2285-4A61-A008-C4A9BB16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完整工作流程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0869C0-2494-45D3-A1F9-1C0743C3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48601AA-6037-4438-BACE-280778DF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9654DF87-8407-439E-8A2A-E0822FF5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64782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資料整理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9DEEBC4-BFE0-45A8-BBA7-6C09A550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67640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清理格式、去重、轉換特徵，先把資料對齊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657457F-6D67-4220-9CB9-720F8255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F472D91-7DDB-4541-AA88-01CB92F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模型學習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071F14F-621A-4885-B057-3AF414E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3842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用較早交易學習房屋條件與價格的關係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825757C8-EBCC-4F9B-B07F-74EA3E05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18E7E6D-C54A-4D0F-8283-3CBCF104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71875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歷史回測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31EAF059-3F25-4A15-9B3E-B2483997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00450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預測較晚交易，檢查面對新資料的誤差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57AD12EE-AA93-43D4-815C-B57BE4B8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990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5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DAC46E40-C4F5-4132-A3F9-A70E329E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533900"/>
            <a:ext cx="2428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最終交付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005234F8-DAE5-4350-9B2C-0BB18B5A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62475"/>
            <a:ext cx="6705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確認方法後全量訓練，再推論並核對CSV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E8A939F1-CE69-493C-917E-D8A5D069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每一步都保留程式與結果，讓資料、模型與提交能互相核對</a:t>
            </a:r>
          </a:p>
        </p:txBody>
      </p:sp>
    </p:spTree>
    <p:extLst>
      <p:ext uri="{BB962C8B-B14F-4D97-AF65-F5344CB8AC3E}">
        <p14:creationId xmlns:p14="http://schemas.microsoft.com/office/powerpoint/2010/main" val="8342224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7DC7CC-F213-412A-9716-A7EF5963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資料清理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E7A08B-F9FB-4E68-B6F0-5A568629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7048500" cy="3705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1809750"/>
              </a:tblGrid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整理動作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保留列數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 train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455,787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3 列英文表頭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455,784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 529 列完全重複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455,255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4104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加入 11,994 筆 valid，再去重 28 筆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467,221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4B693D2-FB0F-4BEC-865F-AFC31858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3295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467,221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726BFBB-10E2-4BF5-93FB-8FDD4462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31718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最終有標籤交易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4F69DF8-3777-43BB-83C1-AEA2C35B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276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去重比對整列</a:t>
            </a:r>
          </a:p>
          <a:p xmlns:a="http://schemas.openxmlformats.org/drawingml/2006/main">
            <a:pPr algn="l">
              <a:defRPr sz="20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包含價格、排除編號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31D47FF-9248-48D8-BD5A-D0919132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修正格式與重複資訊，test 的 47,073 筆全數保留</a:t>
            </a:r>
          </a:p>
        </p:txBody>
      </p:sp>
    </p:spTree>
    <p:extLst>
      <p:ext uri="{BB962C8B-B14F-4D97-AF65-F5344CB8AC3E}">
        <p14:creationId xmlns:p14="http://schemas.microsoft.com/office/powerpoint/2010/main" val="15920426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DE0473-8FD1-45F5-9E85-118EF1A7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特徵工程與欄位取捨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567AB6-B40F-4775-90FB-675F17BB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76400"/>
          <a:ext xmlns:a="http://schemas.openxmlformats.org/drawingml/2006/main" cx="1083945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4314825"/>
                <a:gridCol w="3333750"/>
              </a:tblGrid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原始資料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交給模型的特徵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民國日期、中文樓層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交易時點、樓層數值與旗標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保留時間與樓層意義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土地、建物、車位面積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面積與比例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描述交易的規模與組成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地址、道路、建案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區域類別與粗略地理資訊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描述區位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3533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編號、總價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編號對齊，總價作學習答案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不把這兩欄當輸入特徵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A6E7E77-4C51-4E68-B0DE-5A8AE74E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單價 CatBoost 使用 95 欄，其中 23 欄是類別；其他模型另有編碼</a:t>
            </a:r>
          </a:p>
        </p:txBody>
      </p:sp>
    </p:spTree>
    <p:extLst>
      <p:ext uri="{BB962C8B-B14F-4D97-AF65-F5344CB8AC3E}">
        <p14:creationId xmlns:p14="http://schemas.microsoft.com/office/powerpoint/2010/main" val="13687614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3586AF-1624-47EF-A958-E829E6FB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時間回測與過擬合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65B959-A81C-4236-BA4B-9E956C3D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25C89F6-7FE8-4A2F-9E44-97C01BA4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1071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先學過去，再預測後一年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3945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429000"/>
                <a:gridCol w="5219700"/>
              </a:tblGrid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回測窗口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學習：截至這天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評分：接下來一年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較早窗口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2021-08-10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2021-08-11 至 2022-08-10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中間窗口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2022-08-10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2022-08-11 至 2023-08-10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76275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較新窗口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2023-08-10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2023-08-11 至 2024-08-10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A731210-01AD-4FCE-95D1-D1F6B88F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每個窗口都只用當期學習資料，重建模型、編碼與價格參考</a:t>
            </a:r>
          </a:p>
        </p:txBody>
      </p:sp>
    </p:spTree>
    <p:extLst>
      <p:ext uri="{BB962C8B-B14F-4D97-AF65-F5344CB8AC3E}">
        <p14:creationId xmlns:p14="http://schemas.microsoft.com/office/powerpoint/2010/main" val="906176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F2063C-252A-4B42-802B-CEEABC19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樹模型與神經網路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114912-66E0-4D9C-81FC-A41C8E94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C1820B9-FA2A-43DB-BEDC-9727BB53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樹模型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DCFD3026-4F28-4E70-823E-7D4411FB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002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依資料條件逐步分群，再估計價格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例如同區、面積、樓層共同影響估價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2096D6A-A676-4FC6-BD2E-A9D7E56A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76550"/>
            <a:ext cx="7019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CatBoost 與 LightGBM 會讓多棵樹逐步修正誤差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A8AFA19-5622-465B-BDCB-4CF70A7E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表格神經網路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D9E7A5B-4DA0-4601-8BFF-711FD542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38600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把數值和類別轉成可學習的表示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再透過多層計算估計價格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15D2EE5B-BF20-4820-97AA-2D6AD62B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使用多種模型的目的是嘗試不同估計方式，效果仍要靠回測</a:t>
            </a:r>
          </a:p>
        </p:txBody>
      </p:sp>
    </p:spTree>
    <p:extLst>
      <p:ext uri="{BB962C8B-B14F-4D97-AF65-F5344CB8AC3E}">
        <p14:creationId xmlns:p14="http://schemas.microsoft.com/office/powerpoint/2010/main" val="7486939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EE2D5A-DE3D-44EF-B5A4-61A0B4BF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總價、單價與對數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F3BC7D-D9D2-40C5-AACB-D3E547CF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32D308E-9A8B-40C3-BEB7-0075473F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總價 = 單價 × 面積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466975"/>
          <a:ext xmlns:a="http://schemas.openxmlformats.org/drawingml/2006/main" cx="108394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05225"/>
                <a:gridCol w="3705225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教學假設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單價估錯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造成的總價誤差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平方公尺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50 萬元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平方公尺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每平方公尺 1 萬元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100 萬元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3891782-0453-4177-8C6C-823592DA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39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面積權重讓單價模型更貼近「總共差多少錢」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D87C137-652D-4A7E-B3E2-EA6ED466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另一種表示使用 log 壓縮價格尺度，最後都還原成總價元</a:t>
            </a:r>
          </a:p>
        </p:txBody>
      </p:sp>
    </p:spTree>
    <p:extLst>
      <p:ext uri="{BB962C8B-B14F-4D97-AF65-F5344CB8AC3E}">
        <p14:creationId xmlns:p14="http://schemas.microsoft.com/office/powerpoint/2010/main" val="470300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8646B7-7C30-40A8-BC8C-CB73326B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近期成交權重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E8DB76-1AF3-43B9-826B-7BBA628D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6AE10D2-F033-4476-A411-44370B0F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3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相對日期權重，未正規化的示意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10668000" cy="2962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fd85e4a0484746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0219E41-BBB4-45BF-AC7A-B39E58E9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365 日半衰期：較近的成交在訓練中占較大比重</a:t>
            </a:r>
          </a:p>
        </p:txBody>
      </p:sp>
    </p:spTree>
    <p:extLst>
      <p:ext uri="{BB962C8B-B14F-4D97-AF65-F5344CB8AC3E}">
        <p14:creationId xmlns:p14="http://schemas.microsoft.com/office/powerpoint/2010/main" val="17429349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2651A6-5F7B-4F3C-8827-C872400E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價格先驗與分組學習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3E9DAD-4C6C-4BED-8738-C1F35714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9CFE479-AA85-4569-A990-A57BEBC6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95425"/>
            <a:ext cx="1083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先驗 = 從訓練成交整理出的參考單價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B040A791-E9F4-4832-B0A1-1BF910BE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按建案分成 5 組，每組包含多個建案；以第 1 組為例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162300"/>
          <a:ext xmlns:a="http://schemas.openxmlformats.org/drawingml/2006/main" cx="1083945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2162175"/>
                <a:gridCol w="2162175"/>
                <a:gridCol w="2162175"/>
                <a:gridCol w="2190750"/>
              </a:tblGrid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2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4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組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762000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待建立先驗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提供成交價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102BC34-C7DD-4800-A25E-8B5BFE9C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39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五組輪流排除自身建案；這是分組 OOF，不是時間切分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44B7502-C5E2-4960-A167-B7BE1BC1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839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新交易推論：使用當期全部訓練資料建立的保存先驗</a:t>
            </a:r>
          </a:p>
        </p:txBody>
      </p:sp>
    </p:spTree>
    <p:extLst>
      <p:ext uri="{BB962C8B-B14F-4D97-AF65-F5344CB8AC3E}">
        <p14:creationId xmlns:p14="http://schemas.microsoft.com/office/powerpoint/2010/main" val="5497790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CA070D-74A8-43A5-8708-65168DD5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六個模型與三條分支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C1EB6C1-AA80-401B-AEB2-8F02E13E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3EE4D9E-4C35-4A17-895C-343E958E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7537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所有預測先換回總價元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" y="2124075"/>
          <a:ext xmlns:a="http://schemas.openxmlformats.org/drawingml/2006/main" cx="1083945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572000"/>
                <a:gridCol w="3848100"/>
              </a:tblGrid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分支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主要部分：占 75%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共同加入：占 25%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單價分支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神經網路分支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面積 NN、先驗 NN 先平均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92944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對數分支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總價、log CatBoost 先平均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同一個單價 LightGBM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07C79A89-2A2F-408E-9CCE-47F05E27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10801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3 個 CatBoost + 1 個 LightGBM + 2 個 NN = 6 個模型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69A7664-0EFB-43C4-9446-7B4C4914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1080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教學假設（萬元）：1,000×75% + 1,200×25% = 1,050</a:t>
            </a:r>
          </a:p>
        </p:txBody>
      </p:sp>
    </p:spTree>
    <p:extLst>
      <p:ext uri="{BB962C8B-B14F-4D97-AF65-F5344CB8AC3E}">
        <p14:creationId xmlns:p14="http://schemas.microsoft.com/office/powerpoint/2010/main" val="16080246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9763DA-22A2-42EF-999D-B5945652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成交參考與空間修正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C49814-5212-45D9-984B-0C618332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E80AC8F-ED81-4712-B11F-BA581B6A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D593856-0A39-4238-A0B9-1D0EAEED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430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成交參考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B0AFD6A-0C34-4039-98B5-531EA791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247900"/>
            <a:ext cx="933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同建案、同地址、同道路的已知成交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0D076ED-E243-4AC9-9217-AF732CD1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857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再比較物件條件與時間趨勢，結合原估價及參考價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88F9B7E-F389-4EFE-BC32-B06FC3C7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B84184F-37F9-4782-819E-06649659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242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空間修正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6E12C2EA-A7A9-4C11-8B8F-EB8FF3F4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381500"/>
            <a:ext cx="933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參考支持較弱時才補充附近資訊，支持不足就回退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D0070E12-104F-45FF-AF04-93D6F11E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3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每條分支各自修正，保留三個總價，下一步才取中位數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9ABD5219-C396-4CD7-A60B-9E8B9586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價格只來自課程已知標籤；外部道路資料不提供成交答案</a:t>
            </a:r>
          </a:p>
        </p:txBody>
      </p:sp>
    </p:spTree>
    <p:extLst>
      <p:ext uri="{BB962C8B-B14F-4D97-AF65-F5344CB8AC3E}">
        <p14:creationId xmlns:p14="http://schemas.microsoft.com/office/powerpoint/2010/main" val="9542941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80DA89-8847-47A3-B164-E3FC1242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逐筆取中位數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A57164-1568-4277-AB14-8FBE5415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F2E40C07-7CD6-467B-A2D1-536427D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同一間房子的三個修正後估價，單位：萬元（教學假設）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66950"/>
          <a:ext xmlns:a="http://schemas.openxmlformats.org/drawingml/2006/main" cx="106680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114c3ceedf41f9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43D63A3-3F55-43E3-A0F1-E836A73A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排序後取中間值 1,020 萬元，降低單一極端估價的影響</a:t>
            </a:r>
          </a:p>
        </p:txBody>
      </p:sp>
    </p:spTree>
    <p:extLst>
      <p:ext uri="{BB962C8B-B14F-4D97-AF65-F5344CB8AC3E}">
        <p14:creationId xmlns:p14="http://schemas.microsoft.com/office/powerpoint/2010/main" val="5314229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59ACB0-6F61-405F-8FDB-E50A0501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三期時間回測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C4F1D6-FE0A-416E-9C94-228F035B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01B07A5-901A-4F49-A277-A930AEE2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MAE，單位：萬元，越低越好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2200275"/>
          <a:ext xmlns:a="http://schemas.openxmlformats.org/drawingml/2006/main" cx="10668000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06188af0c94f6d"/>
          </a:graphicData>
        </a:graphic>
      </p:graphicFrame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80A4B88-0573-40D1-A6AC-55E0D8E0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三個年度是不同評分集合，不能把下降解讀成同一批資料持續進步</a:t>
            </a:r>
          </a:p>
        </p:txBody>
      </p:sp>
    </p:spTree>
    <p:extLst>
      <p:ext uri="{BB962C8B-B14F-4D97-AF65-F5344CB8AC3E}">
        <p14:creationId xmlns:p14="http://schemas.microsoft.com/office/powerpoint/2010/main" val="9544271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6579FD-54D8-428C-A505-A66725DA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Kaggle 公開成績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B947A3-3267-4BE7-ABF2-4D9AFA87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68908E7-F6D8-4EAA-B22F-2227661D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Public 平均絕對誤差（MAE）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7E5550B3-0693-4C4E-A57F-46C71953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95475"/>
            <a:ext cx="6572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10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199.86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922F3B6-B334-4F28-BC26-238F5B95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38525"/>
            <a:ext cx="2762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萬元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21328CC-2F4E-4898-9C61-3DB86E7F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40195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公開 test 約 30%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6324E19-65A1-42B5-A292-3E39CF92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39909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反映平均差距</a:t>
            </a:r>
          </a:p>
          <a:p xmlns:a="http://schemas.openxmlformats.org/drawingml/2006/main">
            <a:pPr algn="l">
              <a:def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不是每筆誤差上限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2FF56E7-F0FA-4905-ADE2-9E139632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924425"/>
            <a:ext cx="107727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完整分數：1,998,568.5706 元，依使用者提供的 Kaggle 截圖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5C64030-B08D-4F5E-9F1F-D53DB6DE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10250"/>
            <a:ext cx="1064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其餘約 70% 是 Private，目前分數未知</a:t>
            </a:r>
          </a:p>
        </p:txBody>
      </p:sp>
    </p:spTree>
    <p:extLst>
      <p:ext uri="{BB962C8B-B14F-4D97-AF65-F5344CB8AC3E}">
        <p14:creationId xmlns:p14="http://schemas.microsoft.com/office/powerpoint/2010/main" val="24152838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69A59D-5FD5-45BC-ADEF-6406B4F9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限制與防過擬合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B6FCDB-5344-47EA-8A41-19C99359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CFDB07AC-0BDE-42B1-B4EB-C6EADAD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驗證重複使用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553CE7E-44D4-4B98-93EF-EAA14D9D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906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研究多次看過同一批歷史窗口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選擇方法時仍可能逐漸貼近那些資料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436D96F-071E-4EA5-9E98-72E6F31F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整體平均的盲點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F2E1CBC-2A91-47E7-A066-C75AB480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7182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某些高價群或新建案仍可能更差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中位數也無法消除三條分支共同的偏差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25049520-41FB-4020-878A-9163C957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地理資訊的精度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961E1E4C-C970-4B70-BEF4-58F4A35B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52975"/>
            <a:ext cx="7000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各年度使用對應的非價格道路快照</a:t>
            </a:r>
          </a:p>
          <a:p xmlns:a="http://schemas.openxmlformats.org/drawingml/2006/main">
            <a:pPr algn="l">
              <a:def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道路代表點無法等同精確的住宅位置</a:t>
            </a:r>
          </a:p>
        </p:txBody>
      </p:sp>
    </p:spTree>
    <p:extLst>
      <p:ext uri="{BB962C8B-B14F-4D97-AF65-F5344CB8AC3E}">
        <p14:creationId xmlns:p14="http://schemas.microsoft.com/office/powerpoint/2010/main" val="67882860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497FF8-2336-48D1-8971-0A5B0824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最終訓練與程式重現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1CE3E8-F81C-4FDE-A7C2-CA503E01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1290BA6-2B58-463F-9D02-EC0ABBDC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10839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467,221 筆有標籤資料完成最終學習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973AA08-C682-413C-A1CB-CDE1D54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10839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47,073 筆 test 全部保留並輸出「編號、總價元」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A8E6833-A5AB-4F1F-AD06-E259A6F2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程式入口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1D57846-71FF-4F75-9F0B-6E649D6E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95700"/>
            <a:ext cx="804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64E8D3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64E8D3"/>
                </a:solidFill>
                <a:latin typeface="Consolas"/>
                <a:ea typeface="Consolas"/>
                <a:cs typeface="Consolas"/>
              </a:rPr>
              <a:t>src/predict_v22.py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8230A4A7-D0F6-4E5A-8590-B267218A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8394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保存模型加原始 test 重新推論，47,073 筆及 CSV 完全一致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0032C37-6469-4908-AC0A-79F2DC2D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B77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FFB77B"/>
                </a:solidFill>
                <a:latin typeface="Microsoft JhengHei"/>
                <a:ea typeface="Microsoft JhengHei"/>
                <a:cs typeface="Microsoft JhengHei"/>
              </a:rPr>
              <a:t>已驗證的是保存模型推論；全新環境安裝與從零重訓尚未驗證</a:t>
            </a:r>
          </a:p>
        </p:txBody>
      </p:sp>
    </p:spTree>
    <p:extLst>
      <p:ext uri="{BB962C8B-B14F-4D97-AF65-F5344CB8AC3E}">
        <p14:creationId xmlns:p14="http://schemas.microsoft.com/office/powerpoint/2010/main" val="4805884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AAB67F-DAE3-4E4B-8B80-1CF86CD3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870952F-4662-4C48-80DC-734E63E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F4E2AD9-F7CB-448A-BA5F-A623B0E5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1083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用歷史交易學習房價規律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4AF62BF-F6F5-49CA-A2E5-89E8DFA9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清理資料、設計特徵，再用時間回測檢查誤差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C79669D-0289-483B-B40B-014A6DFD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0">
                <a:solidFill>
                  <a:srgbClr val="D8E3F2"/>
                </a:solidFill>
                <a:latin typeface="Microsoft JhengHei"/>
                <a:ea typeface="Microsoft JhengHei"/>
                <a:cs typeface="Microsoft JhengHei"/>
              </a:rPr>
              <a:t>六模型形成三分支，修正後逐筆取中位數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90CBDC5-6766-4B0D-8461-081D6014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39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Public MAE 約 199.86 萬元，Private 分數仍未知</a:t>
            </a:r>
          </a:p>
        </p:txBody>
      </p:sp>
    </p:spTree>
    <p:extLst>
      <p:ext uri="{BB962C8B-B14F-4D97-AF65-F5344CB8AC3E}">
        <p14:creationId xmlns:p14="http://schemas.microsoft.com/office/powerpoint/2010/main" val="14909524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0AB1EC-782F-4F8D-A17E-B11471D4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附錄：精確計算公式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6E254F-24D5-4785-8727-C0CAA3B1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844F132-3573-4225-9EC0-8B5EBF4C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1922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所有模型預測先還原成總價元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33D15AB-6502-4F01-8A11-C721FD31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0820400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B_unit = .75*C_unit + .25*L_unit</a:t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B_nn   = .75*(.5*N_area + .5*N_prior) + .25*L_unit</a:t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B_log  = .75*(.5*C_raw  + .5*C_log)   + .25*L_unit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U = S(B_unit, R(B_unit))</a:t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N = S(B_nn,   R(B_nn))</a:t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H = S(B_log,  R(B_log))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F4F8FF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4F8FF"/>
                </a:solidFill>
                <a:latin typeface="Consolas"/>
                <a:ea typeface="Consolas"/>
                <a:cs typeface="Consolas"/>
              </a:rPr>
              <a:t>prediction = median(N, H, U)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15B8B06E-5BE1-4EB0-96DC-EA8B2160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R 代表成交參考與時間趨勢，S 代表固定空間修正</a:t>
            </a:r>
          </a:p>
        </p:txBody>
      </p:sp>
    </p:spTree>
    <p:extLst>
      <p:ext uri="{BB962C8B-B14F-4D97-AF65-F5344CB8AC3E}">
        <p14:creationId xmlns:p14="http://schemas.microsoft.com/office/powerpoint/2010/main" val="7356300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C4CC8C-372C-4581-8844-2CF0A6BE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附錄：參數與程式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C10049-FE02-4403-B90B-B1920F97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3945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14650"/>
                <a:gridCol w="7924800"/>
              </a:tblGrid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保存設定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 CatBoost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MAE，2,999 棵樹，深度 8，學習率 0.065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單價目標與權重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目標 y / (A × 10,000)，權重 A / 100 × 日期權重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有效面積 A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正且有限：先建物面積，再車位面積，否則 1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v22 推論入口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deliverables/v22_github/src/predict_v22.py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604838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主要訓練來源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src/round79_recency_unit.py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</a:tbl>
          </a:graphicData>
        </a:graphic>
      </p:graphicFrame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78BAC72-F572-426C-BE9C-95FD31D5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64E8D3"/>
                </a:solidFill>
                <a:latin typeface="Microsoft JhengHei"/>
                <a:ea typeface="Microsoft JhengHei"/>
                <a:cs typeface="Microsoft JhengHei"/>
              </a:rPr>
              <a:t>精確環境、依賴與完整指令見隨附報告及 GitHub 重現文件</a:t>
            </a:r>
          </a:p>
        </p:txBody>
      </p:sp>
    </p:spTree>
    <p:extLst>
      <p:ext uri="{BB962C8B-B14F-4D97-AF65-F5344CB8AC3E}">
        <p14:creationId xmlns:p14="http://schemas.microsoft.com/office/powerpoint/2010/main" val="3279264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7F59AE-C7C5-4AE6-B000-23F148D1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10896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F4F8FF"/>
                </a:solidFill>
                <a:latin typeface="Microsoft JhengHei"/>
                <a:ea typeface="Microsoft JhengHei"/>
                <a:cs typeface="Microsoft JhengHei"/>
              </a:rPr>
              <a:t>附錄：常見名詞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A4E0F1-3A52-49BD-9AFF-B16792FC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AABBD2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685925"/>
          <a:ext xmlns:a="http://schemas.openxmlformats.org/drawingml/2006/main" cx="108394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67025"/>
                <a:gridCol w="7972425"/>
              </a:tblGrid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名詞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64E8D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白話意思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特徵與標籤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特徵是已知房屋條件，標籤是學習時的成交價答案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訓練與推論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訓練找規律，推論用保存的規律估計新交易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過擬合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過度貼近看過的資料，遇到新資料誤差可能變大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某筆資料的誤差，在學習目標中占多少比重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先驗與 OOF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先建立參考價，並用其他組資料建立訓練特徵</a:t>
                      </a:r>
                    </a:p>
                  </a:txBody>
                  <a:tcPr marL="91440" marR="91440" marT="45720" marB="45720" anchor="ctr">
                    <a:solidFill>
                      <a:srgbClr val="0B1426"/>
                    </a:solidFill>
                  </a:tcPr>
                </a:tc>
              </a:tr>
              <a:tr h="568779"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集成與中位數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  <a:tc>
                  <a:txBody>
                    <a:bodyPr lIns="152400" tIns="85725" rIns="11430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D8E3F2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集成結合多個估計，中位數是排序後的中間值</a:t>
                      </a:r>
                    </a:p>
                  </a:txBody>
                  <a:tcPr marL="91440" marR="91440" marT="45720" marB="45720" anchor="ctr">
                    <a:solidFill>
                      <a:srgbClr val="15243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845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2026-10-01T02:11:48.2880000Z</dcterms:created>
  <dcterms:modified xsi:type="dcterms:W3CDTF">2026-10-01T02:11:48.2880000Z</dcterms:modified>
</coreProperties>
</file>