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0d14a8f354e4c" /><Relationship Type="http://schemas.openxmlformats.org/officeDocument/2006/relationships/extended-properties" Target="/docProps/app.xml" Id="R7834df1c628843ae" /><Relationship Type="http://schemas.openxmlformats.org/officeDocument/2006/relationships/officeDocument" Target="/ppt/presentation.xml" Id="R01639fbd764748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f371ab74194e4c"/>
  </p:sldMasterIdLst>
  <p:notesMasterIdLst>
    <p:notesMasterId xmlns:r="http://schemas.openxmlformats.org/officeDocument/2006/relationships" r:id="Re759e282a8944500"/>
  </p:notesMasterIdLst>
  <p:sldIdLst>
    <p:sldId xmlns:r="http://schemas.openxmlformats.org/officeDocument/2006/relationships" id="256" r:id="Rf74fc5eda495467b"/>
    <p:sldId xmlns:r="http://schemas.openxmlformats.org/officeDocument/2006/relationships" id="257" r:id="R3ed202a149144076"/>
    <p:sldId xmlns:r="http://schemas.openxmlformats.org/officeDocument/2006/relationships" id="258" r:id="R3fc8540b9be34350"/>
    <p:sldId xmlns:r="http://schemas.openxmlformats.org/officeDocument/2006/relationships" id="259" r:id="R8efebfd8644a4081"/>
    <p:sldId xmlns:r="http://schemas.openxmlformats.org/officeDocument/2006/relationships" id="260" r:id="R11db56a43d444ec1"/>
    <p:sldId xmlns:r="http://schemas.openxmlformats.org/officeDocument/2006/relationships" id="261" r:id="R4ed659901c54431a"/>
    <p:sldId xmlns:r="http://schemas.openxmlformats.org/officeDocument/2006/relationships" id="262" r:id="R27c87c02ee6f4d17"/>
    <p:sldId xmlns:r="http://schemas.openxmlformats.org/officeDocument/2006/relationships" id="263" r:id="R7cdd2b43d5284867"/>
    <p:sldId xmlns:r="http://schemas.openxmlformats.org/officeDocument/2006/relationships" id="264" r:id="Rb9d0cd3b70b54160"/>
    <p:sldId xmlns:r="http://schemas.openxmlformats.org/officeDocument/2006/relationships" id="265" r:id="R0b5e6fe68ed646c8"/>
    <p:sldId xmlns:r="http://schemas.openxmlformats.org/officeDocument/2006/relationships" id="266" r:id="R735ab3d916414516"/>
    <p:sldId xmlns:r="http://schemas.openxmlformats.org/officeDocument/2006/relationships" id="267" r:id="R11471f8f30de4cef"/>
    <p:sldId xmlns:r="http://schemas.openxmlformats.org/officeDocument/2006/relationships" id="268" r:id="R7ce9b4813f6649ae"/>
    <p:sldId xmlns:r="http://schemas.openxmlformats.org/officeDocument/2006/relationships" id="269" r:id="Rca2c6571d4094354"/>
    <p:sldId xmlns:r="http://schemas.openxmlformats.org/officeDocument/2006/relationships" id="270" r:id="R420e3534d23c48d9"/>
    <p:sldId xmlns:r="http://schemas.openxmlformats.org/officeDocument/2006/relationships" id="271" r:id="R95635f2ff7a04612"/>
    <p:sldId xmlns:r="http://schemas.openxmlformats.org/officeDocument/2006/relationships" id="272" r:id="Rf3361c2797404fbd"/>
    <p:sldId xmlns:r="http://schemas.openxmlformats.org/officeDocument/2006/relationships" id="273" r:id="Rd8656ced47e043f0"/>
    <p:sldId xmlns:r="http://schemas.openxmlformats.org/officeDocument/2006/relationships" id="274" r:id="R63518f0fccc44478"/>
    <p:sldId xmlns:r="http://schemas.openxmlformats.org/officeDocument/2006/relationships" id="275" r:id="Raf07ebb220aa4e28"/>
    <p:sldId xmlns:r="http://schemas.openxmlformats.org/officeDocument/2006/relationships" id="276" r:id="R4f07ab02d0d84722"/>
    <p:sldId xmlns:r="http://schemas.openxmlformats.org/officeDocument/2006/relationships" id="277" r:id="R803d809c8f144937"/>
    <p:sldId xmlns:r="http://schemas.openxmlformats.org/officeDocument/2006/relationships" id="278" r:id="R5c22df9bf7af41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9c287fb8d4843" /><Relationship Type="http://schemas.openxmlformats.org/officeDocument/2006/relationships/slideMaster" Target="/ppt/slideMasters/slideMaster1.xml" Id="Raef371ab74194e4c" /><Relationship Type="http://schemas.openxmlformats.org/officeDocument/2006/relationships/notesMaster" Target="/ppt/notesMasters/notesMaster1.xml" Id="Re759e282a8944500" /><Relationship Type="http://schemas.openxmlformats.org/officeDocument/2006/relationships/presProps" Target="/ppt/presProps.xml" Id="R5a00f02a8f114dca" /><Relationship Type="http://schemas.openxmlformats.org/officeDocument/2006/relationships/tableStyles" Target="/ppt/tableStyles.xml" Id="Rd24d7c8608154470" /><Relationship Type="http://schemas.openxmlformats.org/officeDocument/2006/relationships/slide" Target="/ppt/slides/slide1.xml" Id="Rf74fc5eda495467b" /><Relationship Type="http://schemas.openxmlformats.org/officeDocument/2006/relationships/slide" Target="/ppt/slides/slide2.xml" Id="R3ed202a149144076" /><Relationship Type="http://schemas.openxmlformats.org/officeDocument/2006/relationships/slide" Target="/ppt/slides/slide3.xml" Id="R3fc8540b9be34350" /><Relationship Type="http://schemas.openxmlformats.org/officeDocument/2006/relationships/slide" Target="/ppt/slides/slide4.xml" Id="R8efebfd8644a4081" /><Relationship Type="http://schemas.openxmlformats.org/officeDocument/2006/relationships/slide" Target="/ppt/slides/slide5.xml" Id="R11db56a43d444ec1" /><Relationship Type="http://schemas.openxmlformats.org/officeDocument/2006/relationships/slide" Target="/ppt/slides/slide6.xml" Id="R4ed659901c54431a" /><Relationship Type="http://schemas.openxmlformats.org/officeDocument/2006/relationships/slide" Target="/ppt/slides/slide7.xml" Id="R27c87c02ee6f4d17" /><Relationship Type="http://schemas.openxmlformats.org/officeDocument/2006/relationships/slide" Target="/ppt/slides/slide8.xml" Id="R7cdd2b43d5284867" /><Relationship Type="http://schemas.openxmlformats.org/officeDocument/2006/relationships/slide" Target="/ppt/slides/slide9.xml" Id="Rb9d0cd3b70b54160" /><Relationship Type="http://schemas.openxmlformats.org/officeDocument/2006/relationships/slide" Target="/ppt/slides/slide10.xml" Id="R0b5e6fe68ed646c8" /><Relationship Type="http://schemas.openxmlformats.org/officeDocument/2006/relationships/slide" Target="/ppt/slides/slide11.xml" Id="R735ab3d916414516" /><Relationship Type="http://schemas.openxmlformats.org/officeDocument/2006/relationships/slide" Target="/ppt/slides/slide12.xml" Id="R11471f8f30de4cef" /><Relationship Type="http://schemas.openxmlformats.org/officeDocument/2006/relationships/slide" Target="/ppt/slides/slide13.xml" Id="R7ce9b4813f6649ae" /><Relationship Type="http://schemas.openxmlformats.org/officeDocument/2006/relationships/slide" Target="/ppt/slides/slide14.xml" Id="Rca2c6571d4094354" /><Relationship Type="http://schemas.openxmlformats.org/officeDocument/2006/relationships/slide" Target="/ppt/slides/slide15.xml" Id="R420e3534d23c48d9" /><Relationship Type="http://schemas.openxmlformats.org/officeDocument/2006/relationships/slide" Target="/ppt/slides/slide16.xml" Id="R95635f2ff7a04612" /><Relationship Type="http://schemas.openxmlformats.org/officeDocument/2006/relationships/slide" Target="/ppt/slides/slide17.xml" Id="Rf3361c2797404fbd" /><Relationship Type="http://schemas.openxmlformats.org/officeDocument/2006/relationships/slide" Target="/ppt/slides/slide18.xml" Id="Rd8656ced47e043f0" /><Relationship Type="http://schemas.openxmlformats.org/officeDocument/2006/relationships/slide" Target="/ppt/slides/slide19.xml" Id="R63518f0fccc44478" /><Relationship Type="http://schemas.openxmlformats.org/officeDocument/2006/relationships/slide" Target="/ppt/slides/slide20.xml" Id="Raf07ebb220aa4e28" /><Relationship Type="http://schemas.openxmlformats.org/officeDocument/2006/relationships/slide" Target="/ppt/slides/slide21.xml" Id="R4f07ab02d0d84722" /><Relationship Type="http://schemas.openxmlformats.org/officeDocument/2006/relationships/slide" Target="/ppt/slides/slide22.xml" Id="R803d809c8f144937" /><Relationship Type="http://schemas.openxmlformats.org/officeDocument/2006/relationships/slide" Target="/ppt/slides/slide23.xml" Id="R5c22df9bf7af41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2cfae1d783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0f9b800684bad" /><Relationship Type="http://schemas.openxmlformats.org/officeDocument/2006/relationships/notesMaster" Target="/ppt/notesMasters/notesMaster1.xml" Id="R5d72a28cc8ba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a3664b21041d6" /><Relationship Type="http://schemas.openxmlformats.org/officeDocument/2006/relationships/notesMaster" Target="/ppt/notesMasters/notesMaster1.xml" Id="R65b879c65e7344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07bba1f7ee442d" /><Relationship Type="http://schemas.openxmlformats.org/officeDocument/2006/relationships/notesMaster" Target="/ppt/notesMasters/notesMaster1.xml" Id="R49dd7dc98602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2e91e8e7e540ff" /><Relationship Type="http://schemas.openxmlformats.org/officeDocument/2006/relationships/notesMaster" Target="/ppt/notesMasters/notesMaster1.xml" Id="Rf82b0c590ef64a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2c26961884181" /><Relationship Type="http://schemas.openxmlformats.org/officeDocument/2006/relationships/notesMaster" Target="/ppt/notesMasters/notesMaster1.xml" Id="R64b580e84ef741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103a2f4f7c4bfb" /><Relationship Type="http://schemas.openxmlformats.org/officeDocument/2006/relationships/notesMaster" Target="/ppt/notesMasters/notesMaster1.xml" Id="Rbb71f914bf2f44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f9ee4f1c6a4295" /><Relationship Type="http://schemas.openxmlformats.org/officeDocument/2006/relationships/notesMaster" Target="/ppt/notesMasters/notesMaster1.xml" Id="R9a97cfa83e124d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da6c0cb1d49f6" /><Relationship Type="http://schemas.openxmlformats.org/officeDocument/2006/relationships/notesMaster" Target="/ppt/notesMasters/notesMaster1.xml" Id="R0ed2efc873ab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21a56513ac4c0a" /><Relationship Type="http://schemas.openxmlformats.org/officeDocument/2006/relationships/notesMaster" Target="/ppt/notesMasters/notesMaster1.xml" Id="R74b64f4d229b4a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dbe44c29ba4753" /><Relationship Type="http://schemas.openxmlformats.org/officeDocument/2006/relationships/notesMaster" Target="/ppt/notesMasters/notesMaster1.xml" Id="R769cb76879584c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87e358708b46f8" /><Relationship Type="http://schemas.openxmlformats.org/officeDocument/2006/relationships/notesMaster" Target="/ppt/notesMasters/notesMaster1.xml" Id="R1e786c072ede4a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997d935f674b1c" /><Relationship Type="http://schemas.openxmlformats.org/officeDocument/2006/relationships/notesMaster" Target="/ppt/notesMasters/notesMaster1.xml" Id="R89180189322946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3af4af97c34342" /><Relationship Type="http://schemas.openxmlformats.org/officeDocument/2006/relationships/notesMaster" Target="/ppt/notesMasters/notesMaster1.xml" Id="Ra59d4bebb21748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0fdd88da484872" /><Relationship Type="http://schemas.openxmlformats.org/officeDocument/2006/relationships/notesMaster" Target="/ppt/notesMasters/notesMaster1.xml" Id="R297ae489c8d249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4d4b9e168c4663" /><Relationship Type="http://schemas.openxmlformats.org/officeDocument/2006/relationships/notesMaster" Target="/ppt/notesMasters/notesMaster1.xml" Id="Rf82184b7dbd14f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c24aae59464e00" /><Relationship Type="http://schemas.openxmlformats.org/officeDocument/2006/relationships/notesMaster" Target="/ppt/notesMasters/notesMaster1.xml" Id="R8adc2b0483e142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be84fc19df458d" /><Relationship Type="http://schemas.openxmlformats.org/officeDocument/2006/relationships/notesMaster" Target="/ppt/notesMasters/notesMaster1.xml" Id="Rb443e57b3caf4d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c2733ebd5d421a" /><Relationship Type="http://schemas.openxmlformats.org/officeDocument/2006/relationships/notesMaster" Target="/ppt/notesMasters/notesMaster1.xml" Id="Rdd0251c8780747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271807b4ce4ab2" /><Relationship Type="http://schemas.openxmlformats.org/officeDocument/2006/relationships/notesMaster" Target="/ppt/notesMasters/notesMaster1.xml" Id="Rf45d2b0174da46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bc17b0f1a14f44" /><Relationship Type="http://schemas.openxmlformats.org/officeDocument/2006/relationships/notesMaster" Target="/ppt/notesMasters/notesMaster1.xml" Id="R6f1003e512304a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ede6f7608146ea" /><Relationship Type="http://schemas.openxmlformats.org/officeDocument/2006/relationships/notesMaster" Target="/ppt/notesMasters/notesMaster1.xml" Id="Rf4cce02a23554b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0c5f208cbd4789" /><Relationship Type="http://schemas.openxmlformats.org/officeDocument/2006/relationships/notesMaster" Target="/ppt/notesMasters/notesMaster1.xml" Id="R56edb4c927c545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ca44f3869f48b5" /><Relationship Type="http://schemas.openxmlformats.org/officeDocument/2006/relationships/notesMaster" Target="/ppt/notesMasters/notesMaster1.xml" Id="Rae714bbeeb76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大家好，今天介紹臺灣房屋總價預測。想像我們拿到一筆交易，知道面積、地點和成交日期，卻不知道總價。能不能從以前的成交資料，估出它大概多少錢？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今天只介紹已選定提交的模型，檔案裡叫版本二十二，不需要先學過機器學習。我會從電腦怎麼學估價開始，說明資料整理、方法組合與結果檢查，交代每步理由，以及證據還有哪些限制。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我們重點是了解一筆預測怎麼產生，不需要先記住工具名稱或公式。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Photo: Markus Winkler, Taipei. https://unsplash.com/photos/gray-concrete-building-vztbnMlTDNs ; Unsplash License. Contextual image, not a competition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金額是連續數值，預測這類數值叫回歸。機器學習可以想成：讓電腦從很多題目和答案中找估價規則。面積、樓層、地點是題目線索，叫特徵。已知成交總價是答案，叫標籤。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模型先估價格，比較和答案差多少，再調整規則。反覆練習後，把學好的規則保存起來。遇到沒有答案的新交易，就只看條件來估價。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學規則叫訓練，套用規則叫推論。採用這種方法，是因為地點、面積、建物型態會一起影響價格，很難用一條人工公式處理。但練習得好不夠，還要用沒參與學習的交易檢查。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例如同樣一百平方公尺，地點不同，總價也可能差很多，模型要把這些條件一起看。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怎麼知道估得好不好？比賽看平均絕對誤差，英文叫ＭＡＥ。我們算一個教學例子：兩間房的真價都是一千萬元，第一間估一千一百萬，多估一百萬。第二間估九百五十萬，少估五十萬。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只看差距大小，把一百萬和五十萬加起來，除以兩筆，得到七十五萬元。為什麼取絕對值？因為多估和少估都是誤差，不能互相抵銷。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分數越低，這批交易的平均金額差距越小。七十五萬元不是答對的百分比，也不是每筆都差七十五萬。後面讀分數，都要先看是哪一批交易，再看平均差多少錢。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四份資料各有用途。訓練檔約四十五萬六千列，有房屋條件和總價答案。驗證檔約一萬二千列，也有答案。這個提交模型是在最後完整訓練時，才把它加入。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測試檔共四萬七千零七十三筆，沒有總價，要全部估出來。提交範本規定欄位和編號順序，範例價格不能拿來學。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平台再把測試檔分成兩部分：約三成算公開分數，叫Public。其餘約七成算隱藏分數，叫Private。這個三比七分的是測試檔，不是有答案的驗證檔。分清用途，才能避免拿錯資料。隱藏部分的答案我們仍然不知道。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先看整條流程。第一步讀原始檔，確認欄位、筆數和順序。第二步處理格式問題和完全重複的內容。第三步，把日期、樓層和地址整理成模型能比較的線索。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接著用較早資料學習，再用後面一年的交易評分，檢查遇到之後的市場還行不行。確定方法後，才用最後可用的有答案資料建立模型，預測測試檔，檢查提交格式。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為什麼分這麼多關？因為跑得動不代表正確。例如順序錯開，就可能把這間房的條件配到另一間房的價格。因此資料順序、程式和保存模型，都要能追查。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後面看到每個方法時，都可以放回這張流程圖，分清它在準備資料、學習，還是在估價。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原始訓練檔混入三列英文表頭，不是交易，先移除。接著把編號放一旁，比較其他所有原始欄位，總價也一起比。內容完全相同才算重複，移除了五百二十九列。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為什麼不照編號刪？因為編號相同，不一定代表內容完全一樣。最後加入有答案的驗證檔時，再移除二十八列跨檔重複，留下四十六萬七千二百二十一筆有標籤資料，避免同一內容反覆影響模型。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測試檔一筆也不能少，每個編號都要預測。其他缺失和異常按固定規則處理，不能因為某筆價格難估就刪掉。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整理房屋線索叫特徵工程。例如把民國日期換成可計算時間，中文樓層分出地下室或整棟，地址拆成行政區和道路，讓交易能用一致方式比較。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欄位不是越多越好。編號只用來對齊，總價是答案，不能當線索。完整備註可能含價格，解約資訊可能在交易後才出現，因此不直接輸入。備註只保留有限的條件旗標。建築完成年月不可用，管理組織全相同，也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另外使用開放街圖道路位置，補充不含價格的地理資訊。單價CatBoost共有九十五欄，其中二十三欄是地區名稱這類分類文字。其他模型的編碼維度不同。道路位置只代表大致區域，不是精確門牌。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同一欄文字，經過不同編碼方式，可能變成不同數量的數字，所以不能把九十五欄當成所有模型共同規格。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模型如果只記住練習資料的偶然細節，換一批交易就失準，叫過擬合。房市會隨時間改變，因此每次只看評分期間以前的資料，再預測後面一年，共檢查三個年度。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這個時間界線不只管模型。文字編碼、價格先驗、成交參考和空間狀態，凡是要從資料建立的部分，都用當期訓練資料重建。否則後面的答案可能偷偷流入，叫資料洩漏。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三個年度能檢查跨期表現，但研究已反覆看過這些窗口，仍可能挑到剛好適合它們的配方。時間回測很重要，卻不能當成從沒看過的隱藏考卷。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這次用了兩種模型。樹模型像一連串條件判斷，例如面積在哪個範圍、位在哪個地區。條件和門檻由資料學出來，再讓很多棵小樹接著修正誤差。兩套工具叫CatBoost和LightGBM。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另一種是神經網路。它把面積等數值、建案等分類資訊整理成數字，經過多層計算，學習條件一起出現時價格怎麼變。代表建案的數字也隨訓練調整，不是人工指定哪個建案高級。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兩種方式有機會互補，但模型多不一定更準。要看完整組合的回測，不能說每個零件都已單獨證明有效。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神經網路的多層計算不容易直接讀成幾條規則，因此更需要用保留資料檢查效果。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價格有三種學法：直接學總價。或總價除以有效面積，先學每平方公尺單價，估完再乘回面積。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為什麼加面積權重？假設兩間房分別五十和一百平方公尺，單價都估錯一萬元，總價就錯五十萬和一百萬。如果把兩個單價誤差看得一樣重，就沒反映比賽關心的總價差距。因此面積越大，單價誤差在學習中的分量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有效面積依固定規則選取：建物面積不可用時改用車位面積，再沒有才用一。第三種是對數，把大金額壓縮，提供另一個學習角度。訓練看的是對數尺度誤差。最後都要換回總價元，才能組合和評分。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近期成交可能更接近目前市場，所以單價CatBoost讓近期資料對學習有較大影響，這個影響大小叫權重。它改變的是誤差有多重要，不是直接修改房價。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先看比例：最近成交算一，一年前零點五，兩年前零點二五。每過三百六十五天，較早交易的相對權重減半，叫半衰期。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程式再把合法日期的權重除以這些權重的平均值，統一尺度。無效日期給一，作中性值，最後乘上面積權重。其他分支有自己的設定，不能說全部模型都加同一套新權重。近期資料也有雜訊，效果仍要回測確認。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權重較小，不等於刪除舊交易。舊資料仍參與學習，只是單筆誤差的影響不同。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其中一個神經網路先用區域參考單價乘上有效面積，得到總價起點，再學要乘多少倍率。這個參考基準叫價格先驗，來自訓練資料。但如果用某筆答案算參考價，再拿來訓練同一筆，就可能偷看答案。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因此按建案分五組，同建案一定同組。輪到一組時，用另外四組建立它的訓練參考價，五組輪流做，避免自己的建案答案直接混入自己的先驗。這叫折外，縮寫ＯＯＦ。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真正預測新交易時，才使用該次全部訓練資料建立的保存先驗。這裡按建案分組，不是日期排序，不能說每筆參考價只來自更早成交，也不能說完全不會過擬合。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先把模型結果換回總價元，再看表格的三路。第一路以單價CatBoost為主。第二路先平均兩個神經網路。第三路先平均直接總價和對數總價兩個樹模型。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再看共同部分：三路都加入同一個LightGBM單價模型換回的總價。每一路，主要部分占七成五，共同模型占兩成五。合起來仍是四個樹模型、兩個神經網路，共六個模型。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例如主要部分估一千萬，共同模型估一千兩百萬，加權後是一千零五十萬。這還只是初估，下一頁各路分別修正，之後才替每筆交易取三路的中位數。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這樣安排希望保留不同學法的差異，固定比例沒有證明最佳，各支改善也不能直接相加。三路共用同一個模型，因此也不是完全獨立的估價者。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三條分支各自做兩步修正，補充模型整體關係沒掌握的建案或街區差異。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第一步，找訓練資料裡同建案、同地址或同道路的可比成交，配合訓練資料估出的時間趨勢，調整初估。第二步，成交參考較弱時，用粗略道路位置附近的歷史資訊補充，並檢查城市、建物型態和用途是否相容。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叫空間修正，同時讀原本初估和第一步的修正結果，依支持條件決定採用多少，資訊不足就回退。這些價格只來自當期訓練資料，沒有去外部實價登錄找測試答案。道路位置也不等於門牌。三支各自完成後，仍有三個總價，下一步才合成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這不是找到附近一筆就照抄。成交是否可比，比距離近不近還重要。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把三個總價由小到大排好，取中間那個，叫中位數。教學例子中，三支修正後估九百八十萬、一千零二十萬和一千八百萬元，中間是一千零二十萬，就採用它。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如果一條估得特別高，平均會被往上拉。中位數能減少單一極端估價的影響。但假如那個高估價剛好正確，中位數也可能捨掉有用資訊。如果三條一起低估，取中間不會自動變準。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所以它沒有每次更好的保證。順序是先換回總價，各支完成成交與空間修正，最後取中位數。這時已經是總價，不能再乘一次面積。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三期實際結果：最早一期預測二〇二一年八月到二〇二二年八月，平均絕對誤差約兩百三十點九四萬元。中間一期約一百四十點七四萬元。最新一期約一百三十八點三二萬元。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每期都只用當時以前資料建立完整方法，到評分時才比較後面一年的答案。數字下降，不能說模型逐年進步，因為各期交易、房屋組成和市場狀況不同。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這張表說明同一方法在三批歷史資料的表現，最低數字不能保證未來。我們也按季度、建案和價格群檢查，整體變好時某一群仍可能變差，不利結果同樣要留下。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平台公開成績的精確數字在畫面上，口頭說就是平均誤差接近兩百萬元。它表示公開評分那批交易，每筆預測總價和真價的絕對差，平均接近兩百萬，不表示每間房都差在兩百萬以內。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這是提交後的平台回報，已保存截圖。公開部分只約占測試資料三成，其餘約七成的Private仍未知。兩邊評分的交易不同，也不能拿它和上一頁某年度直接相比，說進步或退步。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目前這是已觀察成果。選定這個模型，不代表證明它在隱藏資料最好。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把限制整理起來：歷史窗口反覆使用，配方可能越來越適合那幾份考卷。整體平均又會藏住局部退步，例如某些高價交易群。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地理資訊也有限制，道路代表點不等於門牌，地址不一定匹配成功。各年度雖有對應的非價格道路快照，仍不是精確定位或完整生活機能。多分支也可能一起估錯。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減少風險的做法，是事前固定問題和時間切分，所有要學的規則只看當期訓練資料，同時檢查整體及分群，保留失敗方案。公開分數可以參考，不能追著它反覆改比例。這些做法能減少過擬合，不能完全消除。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最後用四十六萬七千二百二十一筆有答案資料建立模型和保存規則，再預測全部四萬七千零七十三筆測試交易。提交檔只有編號和總價元，照範本順序，最後才一次取整成正整數。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統一推論入口從原始測試表重做特徵，載入六模型及保存的編碼、價格參考和地理狀態，算出三分支與最終結果。我們已實際重跑，全部預測及整份提交檔都與原件相同，證明保存模型能重新推論。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但這沒有從頭重訓全部模型，也沒驗證全新電腦的安裝流程。程式包附必要檔案清單，模型和交易資料仍要另外具備。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回到最初問題，只有房屋條件怎麼估總價？先清理資料，把條件整理成線索，再從已知成交學規則。不同模型學總價、單價和對數，單價的面積權重對齊總價誤差，特定模型的日期權重提高近期成交影響。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六模型組三分支，每支先成交、再空間修正，最後取中位數。用三期時間回測及平台公開分數檢查，也完成保存模型的推論重現。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每步都有理由，也有證據限制。目前公開平均誤差接近兩百萬元，Private仍未知。以上是完整流程，謝謝大家。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9fe40880040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4ac822efb4e1f" /><Relationship Type="http://schemas.openxmlformats.org/officeDocument/2006/relationships/slideLayout" Target="/ppt/slideLayouts/slideLayout1.xml" Id="R5c8ef620396b41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8ef620396b41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4486657684a2d" /><Relationship Type="http://schemas.openxmlformats.org/officeDocument/2006/relationships/image" Target="/ppt/media/image.jpeg" Id="R1f7d20086b7a41b3" /><Relationship Type="http://schemas.openxmlformats.org/officeDocument/2006/relationships/notesSlide" Target="/ppt/notesSlides/notesSlide1.xml" Id="Rcecd229bceb640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af0d0f7b14a83" /><Relationship Type="http://schemas.openxmlformats.org/officeDocument/2006/relationships/notesSlide" Target="/ppt/notesSlides/notesSlide2.xml" Id="R92030be7934f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7b42b84704bec" /><Relationship Type="http://schemas.openxmlformats.org/officeDocument/2006/relationships/notesSlide" Target="/ppt/notesSlides/notesSlide3.xml" Id="R8d52e5b2809f42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39a2f6b4143d4" /><Relationship Type="http://schemas.openxmlformats.org/officeDocument/2006/relationships/notesSlide" Target="/ppt/notesSlides/notesSlide4.xml" Id="Rd6416c75a38b46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e62ea7d5f40b5" /><Relationship Type="http://schemas.openxmlformats.org/officeDocument/2006/relationships/notesSlide" Target="/ppt/notesSlides/notesSlide5.xml" Id="Rea8ce31651af41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f2a8afdc24eaf" /><Relationship Type="http://schemas.openxmlformats.org/officeDocument/2006/relationships/notesSlide" Target="/ppt/notesSlides/notesSlide6.xml" Id="Rcf977e1318ea43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3e24259b04554" /><Relationship Type="http://schemas.openxmlformats.org/officeDocument/2006/relationships/notesSlide" Target="/ppt/notesSlides/notesSlide7.xml" Id="R76a965c7baa04a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8a19aac1422f" /><Relationship Type="http://schemas.openxmlformats.org/officeDocument/2006/relationships/notesSlide" Target="/ppt/notesSlides/notesSlide8.xml" Id="Rc68fadd9fb1c4e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4b1a2f8bf4bb8" /><Relationship Type="http://schemas.openxmlformats.org/officeDocument/2006/relationships/notesSlide" Target="/ppt/notesSlides/notesSlide9.xml" Id="Rf8217f9c6c494a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e6a1cf596433c" /><Relationship Type="http://schemas.openxmlformats.org/officeDocument/2006/relationships/notesSlide" Target="/ppt/notesSlides/notesSlide10.xml" Id="R8b8778e974cd4f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3cac010714f3e" /><Relationship Type="http://schemas.openxmlformats.org/officeDocument/2006/relationships/chart" Target="/ppt/slides/charts/chart1.xml" Id="R1e5c499718494e3c" /><Relationship Type="http://schemas.openxmlformats.org/officeDocument/2006/relationships/notesSlide" Target="/ppt/notesSlides/notesSlide11.xml" Id="R569b7d7af85943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d7abc8f534793" /><Relationship Type="http://schemas.openxmlformats.org/officeDocument/2006/relationships/notesSlide" Target="/ppt/notesSlides/notesSlide12.xml" Id="R27d5d4a8ed6445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a19bbd6242ce" /><Relationship Type="http://schemas.openxmlformats.org/officeDocument/2006/relationships/notesSlide" Target="/ppt/notesSlides/notesSlide13.xml" Id="R505aa600c4fc49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6d52fc7ad48bc" /><Relationship Type="http://schemas.openxmlformats.org/officeDocument/2006/relationships/notesSlide" Target="/ppt/notesSlides/notesSlide14.xml" Id="R1880271351b949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8af1547b54517" /><Relationship Type="http://schemas.openxmlformats.org/officeDocument/2006/relationships/chart" Target="/ppt/slides/charts/chart2.xml" Id="Rd3e7eedd8db049da" /><Relationship Type="http://schemas.openxmlformats.org/officeDocument/2006/relationships/notesSlide" Target="/ppt/notesSlides/notesSlide15.xml" Id="R1a062e77e49b46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c3260b06444bc" /><Relationship Type="http://schemas.openxmlformats.org/officeDocument/2006/relationships/chart" Target="/ppt/slides/charts/chart3.xml" Id="R9b13a47ddf6147a1" /><Relationship Type="http://schemas.openxmlformats.org/officeDocument/2006/relationships/notesSlide" Target="/ppt/notesSlides/notesSlide16.xml" Id="R31f6717e34194e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089a91d0a44bf" /><Relationship Type="http://schemas.openxmlformats.org/officeDocument/2006/relationships/notesSlide" Target="/ppt/notesSlides/notesSlide17.xml" Id="Raa604f6471d548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fb21f6d7a4cc9" /><Relationship Type="http://schemas.openxmlformats.org/officeDocument/2006/relationships/notesSlide" Target="/ppt/notesSlides/notesSlide18.xml" Id="Re521591345e64d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443d864a40f8" /><Relationship Type="http://schemas.openxmlformats.org/officeDocument/2006/relationships/notesSlide" Target="/ppt/notesSlides/notesSlide19.xml" Id="R88a13e568fdb4a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de4d930b74382" /><Relationship Type="http://schemas.openxmlformats.org/officeDocument/2006/relationships/notesSlide" Target="/ppt/notesSlides/notesSlide20.xml" Id="R6d222b2aea3645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1ff0390541ec" /><Relationship Type="http://schemas.openxmlformats.org/officeDocument/2006/relationships/notesSlide" Target="/ppt/notesSlides/notesSlide21.xml" Id="R7f4c0c2ea3a645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2925168fb4982" /><Relationship Type="http://schemas.openxmlformats.org/officeDocument/2006/relationships/notesSlide" Target="/ppt/notesSlides/notesSlide22.xml" Id="R9e1d6f55230b4c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4609ab602436c" /><Relationship Type="http://schemas.openxmlformats.org/officeDocument/2006/relationships/notesSlide" Target="/ppt/notesSlides/notesSlide23.xml" Id="R767cea105fc7430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647663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d20086b7a41b3"/>
          <a:srcRect xmlns:a="http://schemas.openxmlformats.org/drawingml/2006/main" l="25893" t="0" r="25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571500"/>
            <a:ext cx="3962400" cy="5476875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2F01B7-A5ED-4789-ACE5-4409421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81075"/>
            <a:ext cx="638175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7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667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臺灣房屋</a:t>
            </a:r>
          </a:p>
          <a:p xmlns:a="http://schemas.openxmlformats.org/drawingml/2006/main">
            <a:pPr algn="l">
              <a:defRPr sz="667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667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總價預測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1142F0E-240D-470E-A796-8F7C29B3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6305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2625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一筆交易，如何變成一個估價？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70967A2-DDE4-4699-AFD5-D2F2561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864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02A422B-9E0A-46FD-BB6E-F224AB9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115866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80FD44-667A-4D49-B257-C2673F46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85D9B0-B182-4994-BB38-F6778563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4457D64-BF21-4D71-B567-E246F6F3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032C80D-468A-454E-9079-9B32A9B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0A6EF93-C289-4E2A-BA78-34B636E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CBAB432-CF7F-4EC6-B647-25BB870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F3E77B9-6452-499E-8B96-B748E76D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1794B69-715B-489E-9D74-DDAAE15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02C6BA9-1EBC-429A-AF78-CE08F20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A16DC81-2B00-4E53-9EF1-C960DCA8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1510430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CDEEFC-EE37-4499-A55B-2D8C66AD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E17C81-51AB-4A06-AD2C-2A303FC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5A6C0A-91EE-4FAC-89B9-5120FF71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MAE = 每筆「差多少錢」的平均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14375" y="2352675"/>
          <a:ext xmlns:a="http://schemas.openxmlformats.org/drawingml/2006/main" cx="714375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3050"/>
                <a:gridCol w="1838325"/>
                <a:gridCol w="1838325"/>
                <a:gridCol w="1924050"/>
              </a:tblGrid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差額絕對值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C75A7E-1D63-419B-A9BB-41AB879F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76475"/>
            <a:ext cx="3086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7950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75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2FACB7C-D6D9-4717-8D92-4847A06A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67125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544740"/>
                </a:solidFill>
                <a:latin typeface="PMingLiU"/>
                <a:ea typeface="PMingLiU"/>
                <a:cs typeface="PMingLiU"/>
              </a:defRPr>
            </a:pPr>
            <a:r>
              <a:rPr sz="3375" b="0">
                <a:solidFill>
                  <a:srgbClr val="544740"/>
                </a:solidFill>
                <a:latin typeface="PMingLiU"/>
                <a:ea typeface="PMingLiU"/>
                <a:cs typeface="PMingLiU"/>
              </a:rPr>
              <a:t>萬元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3171774-F37D-4B2E-A3A7-B225174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38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2700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（100 萬 + 50 萬）÷ 2 = 75 萬元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BF57DA9-474E-4B10-907F-35E682E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取每筆差額的絕對值再平均，越低越好</a:t>
            </a:r>
          </a:p>
        </p:txBody>
      </p:sp>
    </p:spTree>
    <p:extLst>
      <p:ext uri="{BB962C8B-B14F-4D97-AF65-F5344CB8AC3E}">
        <p14:creationId xmlns:p14="http://schemas.microsoft.com/office/powerpoint/2010/main" val="1263278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E8363E-2402-4D8D-9B8A-263CAC7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60FC87-B775-4742-8048-A69DC15F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181F4DA-6BED-4156-A555-BD79070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025002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7593CB-2B08-46D3-8925-5E15E05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9FD193-3872-443D-9693-A40F90B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3917E90-7869-4401-A79F-7EFE27C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502CE23-6486-4F4B-8CE1-7B414306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4AC6AF1-D3D6-4A7B-9975-181E55F9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D32FEE5-0084-4B8F-8525-9576451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718EC33-7F1B-45A4-B26B-ED703B1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31310CA-C348-4F8A-BB16-496841B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DAF98B1-A50E-454B-B608-77F7EF8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5F4C701-AEF6-4578-AF6B-475496FD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B2C9ECB-91F8-40B1-AD69-D1DB84F1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F24148B-CC3B-409E-A008-1DD164C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E3BA325A-B277-4DE3-A5F6-B5AC5C8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F9AA7DC0-69EC-428D-AB73-78010058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40D2ABA-0ED1-481F-8FDE-C8D76E46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1202428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8174DB-5001-4CF7-BA8B-8DD77E2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98618E-71E0-4ED5-85D7-933255BD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82A76E1-120D-40E8-A3D6-F7E186E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5025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EE599DF-8205-46AB-A917-CEAEA73B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4DC42FE-EE28-4077-BECC-0572CD2B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B7BEB6F-2921-4B39-837A-7F1CE68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2173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B8BAC9-32AB-46F4-90E4-7DFD7650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61AC85-78BE-4D9B-9C14-E526F31D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AB683A5-4FD3-4AEB-8C43-1D76363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1089675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33B300-01B6-4461-972D-48CF54B2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9695AD-5D00-420E-8E90-597AAAB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707D60A-0100-41E9-9E04-AFE91BB9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7C4034F-CD9E-4A52-B109-0789847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146910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2EAD81-6AE5-4539-9C71-E5947C9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528C81-DCDE-4F8C-969B-04AD3DC3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5387E49-E11B-47DA-B2D9-3541905C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B280579-5B13-47D9-AD6F-5A8587F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61EAA54-258B-4B08-9F62-C0C54A8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989EA42-6FE7-40D0-B8AD-479FCA3A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9BAA5C0-462D-472B-8E85-C75D7F5D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DBB311E-C5A6-4691-A0CC-BE08F118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1935829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D920CF-E816-4746-AC65-B6549D02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F3A16F-8E9E-4269-9B34-16AAE647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20A9E1D-7118-4857-B64B-A482D193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0411727-1FCC-409A-BCA2-5D722CC8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3997011-A01C-4AA9-9CB2-06167DDB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1303119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DBBFC-947F-47FC-9DDF-4C4A154B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329E8F-475C-471C-B912-54E26E95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433DE13-BAE0-41FC-B2A2-00F271D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5c499718494e3c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E6358E-40C2-4C83-9EB3-47334818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5086855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9932A9-E2CD-4659-B682-CE358A29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004AA6-69DC-48FA-825A-E4110546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A311E0A-DA3D-4DA4-B1F2-F2FE52D3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05AC140-41E8-43E0-A88D-FF34BCD7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FBB7D8F-6866-4877-B048-AB95048F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67E93FB-E34B-48A5-9A89-D3DBE1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1338511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EECDAD-F8AD-4E81-ADA3-75064AE4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F8342D-C957-40B9-94C9-07D0530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8F747A6-7E8F-4749-9B3B-139ABA8D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68B9E0B-6775-4D91-BE2B-CB53631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9098C89-1343-4B57-8342-EE8736AF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21267412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02CE2B-D69B-47E2-81BF-166B88F2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E1E9F7-617E-452D-936A-E9567CB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0D1844-8DBB-4BFC-A485-CFE52CD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B0C01AF-5134-4939-A803-0CB75DF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3F05378-9B68-4317-B930-D553B70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1285A38-0240-437F-876F-23F71077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F21193F-4741-41F2-9F10-4F41B5A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1932D53-D451-4C1A-BC73-8EA1FE9B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AF70B15-DC2B-4893-9E9A-D6CBB931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2AC1D48-CBD8-4CF3-AA82-996D103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8B235F0-DB9B-4774-9A07-3FAB5B1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2113813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5E6A1E-119E-4F44-8DD9-CE205AE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94AC16-9E68-4DA8-9541-BD9C521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D8ED1A-C0E3-4C80-B2AE-85972C47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e7eedd8db049da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D1C98CE-391F-4285-896A-33A03F93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1999982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8576BE-9629-478D-8DBF-4793BCA1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80755A-5883-4D22-9285-854196DF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BE02601-F2D4-4627-95E1-C9301BF9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13a47ddf6147a1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FF389C3-6556-46B8-9050-D4729A1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11711998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908834-ACD6-4EF7-ABC9-0D2BACB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CCF69D-629E-4A80-A102-792819A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FE83020-3934-407B-92D3-1BD0821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CA6542F-C863-4C2C-866C-E1413A07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8400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DEF99EF-0808-438C-845F-CA80BEA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544740"/>
                </a:solidFill>
                <a:latin typeface="PMingLiU"/>
                <a:ea typeface="PMingLiU"/>
                <a:cs typeface="PMingLiU"/>
              </a:defRPr>
            </a:pPr>
            <a:r>
              <a:rPr sz="3225" b="0">
                <a:solidFill>
                  <a:srgbClr val="544740"/>
                </a:solidFill>
                <a:latin typeface="PMingLiU"/>
                <a:ea typeface="PMingLiU"/>
                <a:cs typeface="PMingLiU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9B1178E-C0CF-45AB-B62F-E94A9CB8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0AA3470-5AC7-4036-A611-4860F269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8DFF5C4-CDCF-44FC-897B-F290200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8C90687-7557-4AFE-B81C-DECA64EF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6795941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B992A2-09CA-4D58-A0F7-5D275E0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CEB13E-2DF3-4B15-B93B-F77BDB84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D29AFA-7C57-4AA8-9746-0262CAC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D54C99D-8A74-47A7-98A8-E30514EC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DB3899-23F9-4E7C-AC00-E4CBFF1B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1A7D44F-4706-4F59-8986-2B72B42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2D1CA9A-5702-4140-826E-AA8EA2E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D0CAA98-8C1F-45D9-A55C-E82C3378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5740097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609035-61EC-46C4-AAF9-683B055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AC99D6-3C17-43FF-AB32-05119D03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38E1628-FCDE-4BF2-AD65-57D021E0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5575689-1C33-4E9A-BF67-D97B2A4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43E9286-8FA9-45D2-817E-8A542609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C2471B0-E61F-4BA4-BA4E-42EBA8C7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AC482F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AC482F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4A3E1B3-61BC-4041-A040-BCCDD39F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B52F572-43B0-4D4F-A055-6B344079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6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7663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14955473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352E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CC50DE-6932-4468-AD8F-717B71A4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FFFFFF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FFFFFF"/>
                </a:solidFill>
                <a:latin typeface="PMingLiU"/>
                <a:ea typeface="PMingLiU"/>
                <a:cs typeface="PMingLiU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2EF42B-4FDF-4B01-8DFB-2393E46C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8DDFC17-0E26-4086-AA66-DF530219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0A17059-A772-4D87-8D8C-D20E037E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6067923-B529-4A56-B295-81BDAB5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6E44309-5A37-440B-B21E-A1E2C45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10778968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AEE988-EB2F-44BC-BFF1-C6D5A996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558180-92E1-4AA8-8A92-C72827F0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247907A-4A1D-4B5C-A97A-EFFD9D2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B754ADA-C1F5-4ACB-AD14-0B8F3FEC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6BA925A-0192-4572-B223-4CCFB533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6334378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0BF0E9-6DC6-4B6E-8114-9F8D445C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949970-E9DF-4F70-B38D-5021E846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85AF5CB-1D27-402E-B45B-699EE0BE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10236328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CDC6F8-922F-404C-88AD-623568FD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C72127-7682-4272-A71D-AAD9635B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777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2026-10-01T02:11:59.4550000Z</dcterms:created>
  <dcterms:modified xsi:type="dcterms:W3CDTF">2026-10-01T02:11:59.4550000Z</dcterms:modified>
</coreProperties>
</file>